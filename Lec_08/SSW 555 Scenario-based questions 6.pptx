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80" r:id="rId2"/>
    <p:sldId id="940" r:id="rId3"/>
    <p:sldId id="979" r:id="rId4"/>
    <p:sldId id="980" r:id="rId5"/>
    <p:sldId id="981" r:id="rId6"/>
    <p:sldId id="982" r:id="rId7"/>
    <p:sldId id="983" r:id="rId8"/>
    <p:sldId id="984" r:id="rId9"/>
    <p:sldId id="985" r:id="rId10"/>
    <p:sldId id="986" r:id="rId11"/>
    <p:sldId id="987" r:id="rId12"/>
    <p:sldId id="988" r:id="rId13"/>
    <p:sldId id="989" r:id="rId14"/>
    <p:sldId id="990" r:id="rId15"/>
    <p:sldId id="991" r:id="rId16"/>
    <p:sldId id="992" r:id="rId17"/>
    <p:sldId id="993" r:id="rId18"/>
    <p:sldId id="994" r:id="rId19"/>
    <p:sldId id="995" r:id="rId20"/>
    <p:sldId id="996" r:id="rId21"/>
    <p:sldId id="997" r:id="rId22"/>
    <p:sldId id="998" r:id="rId23"/>
    <p:sldId id="999" r:id="rId24"/>
    <p:sldId id="1000" r:id="rId25"/>
    <p:sldId id="1001" r:id="rId26"/>
    <p:sldId id="1002" r:id="rId27"/>
    <p:sldId id="846" r:id="rId28"/>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74" autoAdjust="0"/>
    <p:restoredTop sz="72607" autoAdjust="0"/>
  </p:normalViewPr>
  <p:slideViewPr>
    <p:cSldViewPr snapToGrid="0" snapToObjects="1">
      <p:cViewPr varScale="1">
        <p:scale>
          <a:sx n="80" d="100"/>
          <a:sy n="80" d="100"/>
        </p:scale>
        <p:origin x="147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3/13/2025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4" y="2504926"/>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7" y="4591375"/>
            <a:ext cx="7041743"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1" y="5690091"/>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16213" y="6342039"/>
            <a:ext cx="1114407"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3"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06273" y="6342039"/>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53" y="0"/>
            <a:ext cx="11893551" cy="6858000"/>
          </a:xfrm>
          <a:prstGeom prst="rect">
            <a:avLst/>
          </a:prstGeom>
        </p:spPr>
      </p:pic>
      <p:sp>
        <p:nvSpPr>
          <p:cNvPr id="10"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9" y="6362191"/>
            <a:ext cx="1084591"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15" name="TextBox 14"/>
          <p:cNvSpPr txBox="1"/>
          <p:nvPr userDrawn="1"/>
        </p:nvSpPr>
        <p:spPr>
          <a:xfrm>
            <a:off x="912816" y="1325695"/>
            <a:ext cx="4215776" cy="5135445"/>
          </a:xfrm>
          <a:prstGeom prst="rect">
            <a:avLst/>
          </a:prstGeom>
          <a:noFill/>
        </p:spPr>
        <p:txBody>
          <a:bodyPr wrap="square" rtlCol="0">
            <a:spAutoFit/>
          </a:bodyPr>
          <a:lstStyle/>
          <a:p>
            <a:r>
              <a:rPr lang="en-US" sz="1800" b="1" dirty="0">
                <a:latin typeface="IBM Plex Sans" panose="020B0503050203000203" pitchFamily="34" charset="0"/>
              </a:rPr>
              <a:t>INSTRUCTIONS TO REPLACE IMAGE:</a:t>
            </a:r>
          </a:p>
          <a:p>
            <a:endParaRPr lang="en-US" sz="1800" b="1" dirty="0">
              <a:latin typeface="IBM Plex Sans" panose="020B0503050203000203" pitchFamily="34" charset="0"/>
            </a:endParaRPr>
          </a:p>
          <a:p>
            <a:pPr marL="342891" indent="-342891">
              <a:lnSpc>
                <a:spcPct val="150000"/>
              </a:lnSpc>
              <a:buFont typeface="+mj-lt"/>
              <a:buAutoNum type="arabicPeriod"/>
            </a:pPr>
            <a:r>
              <a:rPr lang="en-US" sz="1400" b="0" dirty="0">
                <a:latin typeface="IBM Plex Sans" panose="020B0503050203000203" pitchFamily="34" charset="0"/>
              </a:rPr>
              <a:t>Go to View&gt;Slide Master</a:t>
            </a:r>
          </a:p>
          <a:p>
            <a:pPr marL="342891" indent="-342891">
              <a:lnSpc>
                <a:spcPct val="150000"/>
              </a:lnSpc>
              <a:buFont typeface="+mj-lt"/>
              <a:buAutoNum type="arabicPeriod"/>
            </a:pPr>
            <a:r>
              <a:rPr lang="en-US" sz="1400" b="0" dirty="0">
                <a:latin typeface="IBM Plex Sans" panose="020B0503050203000203" pitchFamily="34" charset="0"/>
              </a:rPr>
              <a:t>Locate this layout and duplicate it</a:t>
            </a:r>
          </a:p>
          <a:p>
            <a:pPr marL="342891" indent="-342891">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891" indent="-342891">
              <a:lnSpc>
                <a:spcPct val="150000"/>
              </a:lnSpc>
              <a:buFont typeface="+mj-lt"/>
              <a:buAutoNum type="arabicPeriod"/>
            </a:pPr>
            <a:r>
              <a:rPr lang="en-US" sz="1400" b="0" dirty="0">
                <a:latin typeface="IBM Plex Sans" panose="020B0503050203000203" pitchFamily="34" charset="0"/>
              </a:rPr>
              <a:t>Scroll to “Change Picture”</a:t>
            </a:r>
          </a:p>
          <a:p>
            <a:pPr marL="342891" indent="-342891">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891" indent="-342891">
              <a:lnSpc>
                <a:spcPct val="150000"/>
              </a:lnSpc>
              <a:buFont typeface="+mj-lt"/>
              <a:buAutoNum type="arabicPeriod"/>
            </a:pPr>
            <a:r>
              <a:rPr lang="en-US" sz="1400" b="0" dirty="0">
                <a:latin typeface="IBM Plex Sans" panose="020B0503050203000203" pitchFamily="34" charset="0"/>
              </a:rPr>
              <a:t>Select desired image</a:t>
            </a:r>
          </a:p>
          <a:p>
            <a:pPr marL="342891" indent="-342891">
              <a:lnSpc>
                <a:spcPct val="150000"/>
              </a:lnSpc>
              <a:buFont typeface="+mj-lt"/>
              <a:buAutoNum type="arabicPeriod"/>
            </a:pPr>
            <a:r>
              <a:rPr lang="en-US" sz="1400" b="0" dirty="0">
                <a:latin typeface="IBM Plex Sans" panose="020B0503050203000203" pitchFamily="34" charset="0"/>
              </a:rPr>
              <a:t>Resize and crop image as necessary</a:t>
            </a:r>
          </a:p>
          <a:p>
            <a:pPr marL="342891" indent="-342891">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891" indent="-342891">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title" hasCustomPrompt="1"/>
          </p:nvPr>
        </p:nvSpPr>
        <p:spPr>
          <a:xfrm>
            <a:off x="6617373" y="974043"/>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6" y="5394971"/>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594" indent="-228594">
              <a:defRPr/>
            </a:lvl1pPr>
            <a:lvl2pPr marL="502907" indent="-228594">
              <a:buSzPct val="100000"/>
              <a:buFont typeface="System Font Regular"/>
              <a:buChar char="-"/>
              <a:defRPr/>
            </a:lvl2pPr>
            <a:lvl3pPr marL="777221" indent="-228594">
              <a:buSzPct val="100000"/>
              <a:buFont typeface="System Font Regular"/>
              <a:buChar char="-"/>
              <a:defRPr/>
            </a:lvl3pPr>
            <a:lvl4pPr marL="1005815" indent="-228594">
              <a:buSzPct val="100000"/>
              <a:buFont typeface="System Font Regular"/>
              <a:buChar char="-"/>
              <a:defRPr/>
            </a:lvl4pPr>
            <a:lvl5pPr marL="1280128" indent="-228594">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5" y="2202880"/>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7"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7"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7"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7"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91"/>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45"/>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3"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3"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3"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34"/>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34"/>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3"/>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33"/>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3"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6" y="3144278"/>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6" y="5170424"/>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no Subhea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fld id="{12342C3A-DD85-7843-B416-BD52AB030D59}" type="slidenum">
              <a:rPr lang="en-US" smtClean="0"/>
              <a:pPr/>
              <a:t>‹#›</a:t>
            </a:fld>
            <a:endParaRPr lang="en-US" dirty="0"/>
          </a:p>
        </p:txBody>
      </p:sp>
      <p:sp>
        <p:nvSpPr>
          <p:cNvPr id="6" name="Text Placeholder 2"/>
          <p:cNvSpPr>
            <a:spLocks noGrp="1"/>
          </p:cNvSpPr>
          <p:nvPr>
            <p:ph type="body" sz="quarter" idx="12" hasCustomPrompt="1"/>
          </p:nvPr>
        </p:nvSpPr>
        <p:spPr>
          <a:xfrm>
            <a:off x="302684" y="1112109"/>
            <a:ext cx="11588749" cy="4981786"/>
          </a:xfrm>
          <a:prstGeom prst="rect">
            <a:avLst/>
          </a:prstGeom>
        </p:spPr>
        <p:txBody>
          <a:bodyPr vert="horz"/>
          <a:lstStyle>
            <a:lvl1pPr marL="0" indent="0">
              <a:spcBef>
                <a:spcPts val="0"/>
              </a:spcBef>
              <a:spcAft>
                <a:spcPts val="1200"/>
              </a:spcAft>
              <a:buFontTx/>
              <a:buNone/>
              <a:defRPr sz="1600" b="0" i="0">
                <a:latin typeface="Arial"/>
                <a:cs typeface="Arial"/>
              </a:defRPr>
            </a:lvl1pPr>
            <a:lvl2pPr marL="457200" indent="0">
              <a:spcBef>
                <a:spcPts val="0"/>
              </a:spcBef>
              <a:spcAft>
                <a:spcPts val="1200"/>
              </a:spcAft>
              <a:buFontTx/>
              <a:buNone/>
              <a:defRPr sz="1600" b="0" i="0">
                <a:latin typeface="Arial"/>
                <a:cs typeface="Arial"/>
              </a:defRPr>
            </a:lvl2pPr>
            <a:lvl3pPr marL="914400" indent="0">
              <a:spcBef>
                <a:spcPts val="0"/>
              </a:spcBef>
              <a:spcAft>
                <a:spcPts val="1200"/>
              </a:spcAft>
              <a:buFontTx/>
              <a:buNone/>
              <a:defRPr sz="1400" b="0" i="0" baseline="0">
                <a:latin typeface="Arial"/>
                <a:cs typeface="Arial"/>
              </a:defRPr>
            </a:lvl3pPr>
            <a:lvl4pPr marL="1371600" indent="0">
              <a:spcBef>
                <a:spcPts val="0"/>
              </a:spcBef>
              <a:spcAft>
                <a:spcPts val="1200"/>
              </a:spcAft>
              <a:buFontTx/>
              <a:buNone/>
              <a:defRPr sz="1200" b="0" i="0" baseline="0">
                <a:latin typeface="Arial"/>
                <a:cs typeface="Arial"/>
              </a:defRPr>
            </a:lvl4pPr>
            <a:lvl5pPr marL="1828800" indent="0">
              <a:spcBef>
                <a:spcPts val="0"/>
              </a:spcBef>
              <a:spcAft>
                <a:spcPts val="1200"/>
              </a:spcAft>
              <a:buFontTx/>
              <a:buNone/>
              <a:defRPr sz="1000" b="0" i="0">
                <a:latin typeface="Arial"/>
                <a:cs typeface="Arial"/>
              </a:defRPr>
            </a:lvl5pPr>
          </a:lstStyle>
          <a:p>
            <a:pPr lvl="0"/>
            <a:r>
              <a:rPr lang="en-US" dirty="0"/>
              <a:t>Insert Text Here</a:t>
            </a:r>
          </a:p>
        </p:txBody>
      </p:sp>
      <p:sp>
        <p:nvSpPr>
          <p:cNvPr id="8" name="Title 1"/>
          <p:cNvSpPr>
            <a:spLocks noGrp="1"/>
          </p:cNvSpPr>
          <p:nvPr>
            <p:ph type="title" hasCustomPrompt="1"/>
          </p:nvPr>
        </p:nvSpPr>
        <p:spPr>
          <a:xfrm>
            <a:off x="302684" y="418354"/>
            <a:ext cx="9737787" cy="535863"/>
          </a:xfrm>
          <a:prstGeom prst="rect">
            <a:avLst/>
          </a:prstGeom>
        </p:spPr>
        <p:txBody>
          <a:bodyPr/>
          <a:lstStyle>
            <a:lvl1pPr>
              <a:defRPr sz="3000" b="1" i="0">
                <a:latin typeface="Arial"/>
                <a:cs typeface="Arial"/>
              </a:defRPr>
            </a:lvl1pPr>
          </a:lstStyle>
          <a:p>
            <a:r>
              <a:rPr lang="en-US" dirty="0"/>
              <a:t>Insert Slide Title</a:t>
            </a:r>
          </a:p>
        </p:txBody>
      </p:sp>
    </p:spTree>
    <p:extLst>
      <p:ext uri="{BB962C8B-B14F-4D97-AF65-F5344CB8AC3E}">
        <p14:creationId xmlns:p14="http://schemas.microsoft.com/office/powerpoint/2010/main" val="2515202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644775" y="365129"/>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5"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6"/>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4" r:id="rId24"/>
  </p:sldLayoutIdLst>
  <p:hf hdr="0" ftr="0"/>
  <p:txStyles>
    <p:titleStyle>
      <a:lvl1pPr algn="l" defTabSz="913742"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594" indent="-228594" algn="l" defTabSz="913742"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07" indent="-228594" algn="l" defTabSz="913742"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21"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15"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28" indent="-228594" algn="l" defTabSz="913742"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537"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726"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914"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103"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42" rtl="0" eaLnBrk="1" latinLnBrk="0" hangingPunct="1">
        <a:defRPr sz="1800" kern="1200">
          <a:solidFill>
            <a:schemeClr val="tx1"/>
          </a:solidFill>
          <a:latin typeface="+mn-lt"/>
          <a:ea typeface="+mn-ea"/>
          <a:cs typeface="+mn-cs"/>
        </a:defRPr>
      </a:lvl1pPr>
      <a:lvl2pPr marL="457189" algn="l" defTabSz="913742" rtl="0" eaLnBrk="1" latinLnBrk="0" hangingPunct="1">
        <a:defRPr sz="1800" kern="1200">
          <a:solidFill>
            <a:schemeClr val="tx1"/>
          </a:solidFill>
          <a:latin typeface="+mn-lt"/>
          <a:ea typeface="+mn-ea"/>
          <a:cs typeface="+mn-cs"/>
        </a:defRPr>
      </a:lvl2pPr>
      <a:lvl3pPr marL="914377" algn="l" defTabSz="913742" rtl="0" eaLnBrk="1" latinLnBrk="0" hangingPunct="1">
        <a:defRPr sz="1800" kern="1200">
          <a:solidFill>
            <a:schemeClr val="tx1"/>
          </a:solidFill>
          <a:latin typeface="+mn-lt"/>
          <a:ea typeface="+mn-ea"/>
          <a:cs typeface="+mn-cs"/>
        </a:defRPr>
      </a:lvl3pPr>
      <a:lvl4pPr marL="1371566" algn="l" defTabSz="913742" rtl="0" eaLnBrk="1" latinLnBrk="0" hangingPunct="1">
        <a:defRPr sz="1800" kern="1200">
          <a:solidFill>
            <a:schemeClr val="tx1"/>
          </a:solidFill>
          <a:latin typeface="+mn-lt"/>
          <a:ea typeface="+mn-ea"/>
          <a:cs typeface="+mn-cs"/>
        </a:defRPr>
      </a:lvl4pPr>
      <a:lvl5pPr marL="1828754" algn="l" defTabSz="913742" rtl="0" eaLnBrk="1" latinLnBrk="0" hangingPunct="1">
        <a:defRPr sz="1800" kern="1200">
          <a:solidFill>
            <a:schemeClr val="tx1"/>
          </a:solidFill>
          <a:latin typeface="+mn-lt"/>
          <a:ea typeface="+mn-ea"/>
          <a:cs typeface="+mn-cs"/>
        </a:defRPr>
      </a:lvl5pPr>
      <a:lvl6pPr marL="2285943" algn="l" defTabSz="913742" rtl="0" eaLnBrk="1" latinLnBrk="0" hangingPunct="1">
        <a:defRPr sz="1800" kern="1200">
          <a:solidFill>
            <a:schemeClr val="tx1"/>
          </a:solidFill>
          <a:latin typeface="+mn-lt"/>
          <a:ea typeface="+mn-ea"/>
          <a:cs typeface="+mn-cs"/>
        </a:defRPr>
      </a:lvl6pPr>
      <a:lvl7pPr marL="2743131" algn="l" defTabSz="913742" rtl="0" eaLnBrk="1" latinLnBrk="0" hangingPunct="1">
        <a:defRPr sz="1800" kern="1200">
          <a:solidFill>
            <a:schemeClr val="tx1"/>
          </a:solidFill>
          <a:latin typeface="+mn-lt"/>
          <a:ea typeface="+mn-ea"/>
          <a:cs typeface="+mn-cs"/>
        </a:defRPr>
      </a:lvl7pPr>
      <a:lvl8pPr marL="3200320" algn="l" defTabSz="913742" rtl="0" eaLnBrk="1" latinLnBrk="0" hangingPunct="1">
        <a:defRPr sz="1800" kern="1200">
          <a:solidFill>
            <a:schemeClr val="tx1"/>
          </a:solidFill>
          <a:latin typeface="+mn-lt"/>
          <a:ea typeface="+mn-ea"/>
          <a:cs typeface="+mn-cs"/>
        </a:defRPr>
      </a:lvl8pPr>
      <a:lvl9pPr marL="3657509" algn="l" defTabSz="9137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Arial Bold" panose="020B0604020202090204" charset="0"/>
              </a:rPr>
              <a:t>Scenario-based </a:t>
            </a:r>
            <a:r>
              <a:rPr lang="en-US" sz="3200" b="1">
                <a:latin typeface="Arial Bold" panose="020B0604020202090204" charset="0"/>
              </a:rPr>
              <a:t>questions 6</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8A9A4-25EA-78A9-2A9C-E746AFFF2904}"/>
              </a:ext>
            </a:extLst>
          </p:cNvPr>
          <p:cNvSpPr>
            <a:spLocks noGrp="1"/>
          </p:cNvSpPr>
          <p:nvPr>
            <p:ph type="sldNum" sz="quarter" idx="13"/>
          </p:nvPr>
        </p:nvSpPr>
        <p:spPr/>
        <p:txBody>
          <a:bodyPr/>
          <a:lstStyle/>
          <a:p>
            <a:fld id="{12342C3A-DD85-7843-B416-BD52AB030D59}" type="slidenum">
              <a:rPr lang="en-US" smtClean="0"/>
              <a:pPr/>
              <a:t>2</a:t>
            </a:fld>
            <a:endParaRPr lang="en-US" dirty="0"/>
          </a:p>
        </p:txBody>
      </p:sp>
      <p:sp>
        <p:nvSpPr>
          <p:cNvPr id="3" name="Text Placeholder 2">
            <a:extLst>
              <a:ext uri="{FF2B5EF4-FFF2-40B4-BE49-F238E27FC236}">
                <a16:creationId xmlns:a16="http://schemas.microsoft.com/office/drawing/2014/main" id="{8973CC4F-820B-7586-B9BA-208F083DE618}"/>
              </a:ext>
            </a:extLst>
          </p:cNvPr>
          <p:cNvSpPr>
            <a:spLocks noGrp="1"/>
          </p:cNvSpPr>
          <p:nvPr>
            <p:ph type="body" sz="quarter" idx="12"/>
          </p:nvPr>
        </p:nvSpPr>
        <p:spPr>
          <a:xfrm>
            <a:off x="398937" y="1732547"/>
            <a:ext cx="11588749" cy="5125453"/>
          </a:xfrm>
        </p:spPr>
        <p:txBody>
          <a:bodyPr>
            <a:normAutofit/>
          </a:bodyPr>
          <a:lstStyle/>
          <a:p>
            <a:r>
              <a:rPr lang="en-US" sz="2400" dirty="0"/>
              <a:t>A small business needs a CRM system urgently to manage customer data, sales leads, and marketing campaigns. The business does not have extensive IT resources and needs a system ready within a month. Which software development methodology would be most appropriate, and why?</a:t>
            </a:r>
            <a:endParaRPr lang="en-US" sz="2000" dirty="0"/>
          </a:p>
        </p:txBody>
      </p:sp>
      <p:sp>
        <p:nvSpPr>
          <p:cNvPr id="4" name="Title 3">
            <a:extLst>
              <a:ext uri="{FF2B5EF4-FFF2-40B4-BE49-F238E27FC236}">
                <a16:creationId xmlns:a16="http://schemas.microsoft.com/office/drawing/2014/main" id="{CD80AB5C-E24C-7B7F-F5B4-8B8C3C1D42D9}"/>
              </a:ext>
            </a:extLst>
          </p:cNvPr>
          <p:cNvSpPr>
            <a:spLocks noGrp="1"/>
          </p:cNvSpPr>
          <p:nvPr>
            <p:ph type="title"/>
          </p:nvPr>
        </p:nvSpPr>
        <p:spPr/>
        <p:txBody>
          <a:bodyPr>
            <a:normAutofit fontScale="90000"/>
          </a:bodyPr>
          <a:lstStyle/>
          <a:p>
            <a:r>
              <a:rPr lang="en-US" dirty="0"/>
              <a:t>Scenario 1: CRM System Development for a Small Business</a:t>
            </a:r>
          </a:p>
        </p:txBody>
      </p:sp>
    </p:spTree>
    <p:extLst>
      <p:ext uri="{BB962C8B-B14F-4D97-AF65-F5344CB8AC3E}">
        <p14:creationId xmlns:p14="http://schemas.microsoft.com/office/powerpoint/2010/main" val="3321895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660E58-DF03-36C8-2AAA-DDFDE7CF8F61}"/>
              </a:ext>
            </a:extLst>
          </p:cNvPr>
          <p:cNvSpPr>
            <a:spLocks noGrp="1"/>
          </p:cNvSpPr>
          <p:nvPr>
            <p:ph type="sldNum" sz="quarter" idx="13"/>
          </p:nvPr>
        </p:nvSpPr>
        <p:spPr/>
        <p:txBody>
          <a:bodyPr/>
          <a:lstStyle/>
          <a:p>
            <a:fld id="{12342C3A-DD85-7843-B416-BD52AB030D59}" type="slidenum">
              <a:rPr lang="en-US" smtClean="0"/>
              <a:pPr/>
              <a:t>3</a:t>
            </a:fld>
            <a:endParaRPr lang="en-US" dirty="0"/>
          </a:p>
        </p:txBody>
      </p:sp>
      <p:sp>
        <p:nvSpPr>
          <p:cNvPr id="3" name="Text Placeholder 2">
            <a:extLst>
              <a:ext uri="{FF2B5EF4-FFF2-40B4-BE49-F238E27FC236}">
                <a16:creationId xmlns:a16="http://schemas.microsoft.com/office/drawing/2014/main" id="{06ED6E41-46E9-07FD-C41C-33A13F78F36E}"/>
              </a:ext>
            </a:extLst>
          </p:cNvPr>
          <p:cNvSpPr>
            <a:spLocks noGrp="1"/>
          </p:cNvSpPr>
          <p:nvPr>
            <p:ph type="body" sz="quarter" idx="12"/>
          </p:nvPr>
        </p:nvSpPr>
        <p:spPr>
          <a:xfrm>
            <a:off x="302684" y="1431757"/>
            <a:ext cx="11588749" cy="4662137"/>
          </a:xfrm>
        </p:spPr>
        <p:txBody>
          <a:bodyPr>
            <a:normAutofit/>
          </a:bodyPr>
          <a:lstStyle/>
          <a:p>
            <a:pPr>
              <a:buNone/>
            </a:pPr>
            <a:endParaRPr lang="en-US" sz="2400" dirty="0"/>
          </a:p>
          <a:p>
            <a:pPr marL="285750" indent="-285750">
              <a:buFont typeface="Arial" panose="020B0604020202020204" pitchFamily="34" charset="0"/>
              <a:buChar char="•"/>
            </a:pPr>
            <a:r>
              <a:rPr lang="en-US" sz="2400" b="1" dirty="0"/>
              <a:t>RAD</a:t>
            </a:r>
            <a:r>
              <a:rPr lang="en-US" sz="2400" dirty="0"/>
              <a:t> is most appropriate because: </a:t>
            </a:r>
          </a:p>
          <a:p>
            <a:pPr marL="742950" lvl="1" indent="-285750">
              <a:buFont typeface="Arial" panose="020B0604020202020204" pitchFamily="34" charset="0"/>
              <a:buChar char="•"/>
            </a:pPr>
            <a:r>
              <a:rPr lang="en-US" sz="2400" b="1" dirty="0"/>
              <a:t>Fast delivery</a:t>
            </a:r>
            <a:r>
              <a:rPr lang="en-US" sz="2400" dirty="0"/>
              <a:t>: RAD allows for rapid prototyping and quick iteration, which is ideal for delivering an initial working system within a short time.</a:t>
            </a:r>
          </a:p>
          <a:p>
            <a:pPr marL="742950" lvl="1" indent="-285750">
              <a:buFont typeface="Arial" panose="020B0604020202020204" pitchFamily="34" charset="0"/>
              <a:buChar char="•"/>
            </a:pPr>
            <a:r>
              <a:rPr lang="en-US" sz="2400" b="1" dirty="0"/>
              <a:t>User feedback</a:t>
            </a:r>
            <a:r>
              <a:rPr lang="en-US" sz="2400" dirty="0"/>
              <a:t>: The business users can give feedback on the prototype, ensuring the CRM system meets their specific needs.</a:t>
            </a:r>
          </a:p>
          <a:p>
            <a:pPr marL="742950" lvl="1" indent="-285750">
              <a:buFont typeface="Arial" panose="020B0604020202020204" pitchFamily="34" charset="0"/>
              <a:buChar char="•"/>
            </a:pPr>
            <a:r>
              <a:rPr lang="en-US" sz="2400" b="1" dirty="0"/>
              <a:t>Minimal resources</a:t>
            </a:r>
            <a:r>
              <a:rPr lang="en-US" sz="2400" dirty="0"/>
              <a:t>: RAD minimizes the need for extensive planning and documentation, making it feasible for smaller teams and limited resources.</a:t>
            </a:r>
          </a:p>
          <a:p>
            <a:pPr marL="742950" lvl="1" indent="-285750">
              <a:buFont typeface="Arial" panose="020B0604020202020204" pitchFamily="34" charset="0"/>
              <a:buChar char="•"/>
            </a:pPr>
            <a:r>
              <a:rPr lang="en-US" sz="2400" b="1" dirty="0"/>
              <a:t>Iterative improvements</a:t>
            </a:r>
            <a:r>
              <a:rPr lang="en-US" sz="2400" dirty="0"/>
              <a:t>: Even if not all features are present in the first version, the system can evolve quickly based on user feedback.</a:t>
            </a:r>
          </a:p>
          <a:p>
            <a:pPr marL="800100" lvl="1" indent="-342900">
              <a:buFont typeface="Arial" panose="020B0604020202020204" pitchFamily="34" charset="0"/>
              <a:buChar char="•"/>
            </a:pPr>
            <a:endParaRPr lang="en-US" sz="3200" dirty="0"/>
          </a:p>
        </p:txBody>
      </p:sp>
      <p:sp>
        <p:nvSpPr>
          <p:cNvPr id="4" name="Title 3">
            <a:extLst>
              <a:ext uri="{FF2B5EF4-FFF2-40B4-BE49-F238E27FC236}">
                <a16:creationId xmlns:a16="http://schemas.microsoft.com/office/drawing/2014/main" id="{BD2AB27D-9509-3741-CF90-F491ECC4EF0C}"/>
              </a:ext>
            </a:extLst>
          </p:cNvPr>
          <p:cNvSpPr>
            <a:spLocks noGrp="1"/>
          </p:cNvSpPr>
          <p:nvPr>
            <p:ph type="title"/>
          </p:nvPr>
        </p:nvSpPr>
        <p:spPr/>
        <p:txBody>
          <a:bodyPr>
            <a:normAutofit fontScale="90000"/>
          </a:bodyPr>
          <a:lstStyle/>
          <a:p>
            <a:r>
              <a:rPr lang="en-US" dirty="0"/>
              <a:t>Scenario 1: CRM System Development for a Small Business</a:t>
            </a:r>
          </a:p>
        </p:txBody>
      </p:sp>
    </p:spTree>
    <p:extLst>
      <p:ext uri="{BB962C8B-B14F-4D97-AF65-F5344CB8AC3E}">
        <p14:creationId xmlns:p14="http://schemas.microsoft.com/office/powerpoint/2010/main" val="391041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C6C70A-BCA9-B0BC-FD1A-CC74066040AD}"/>
              </a:ext>
            </a:extLst>
          </p:cNvPr>
          <p:cNvSpPr>
            <a:spLocks noGrp="1"/>
          </p:cNvSpPr>
          <p:nvPr>
            <p:ph type="sldNum" sz="quarter" idx="13"/>
          </p:nvPr>
        </p:nvSpPr>
        <p:spPr/>
        <p:txBody>
          <a:bodyPr/>
          <a:lstStyle/>
          <a:p>
            <a:fld id="{12342C3A-DD85-7843-B416-BD52AB030D59}" type="slidenum">
              <a:rPr lang="en-US" smtClean="0"/>
              <a:pPr/>
              <a:t>4</a:t>
            </a:fld>
            <a:endParaRPr lang="en-US" dirty="0"/>
          </a:p>
        </p:txBody>
      </p:sp>
      <p:sp>
        <p:nvSpPr>
          <p:cNvPr id="3" name="Text Placeholder 2">
            <a:extLst>
              <a:ext uri="{FF2B5EF4-FFF2-40B4-BE49-F238E27FC236}">
                <a16:creationId xmlns:a16="http://schemas.microsoft.com/office/drawing/2014/main" id="{6ED20242-B93D-2F84-50F8-B64D7968A858}"/>
              </a:ext>
            </a:extLst>
          </p:cNvPr>
          <p:cNvSpPr>
            <a:spLocks noGrp="1"/>
          </p:cNvSpPr>
          <p:nvPr>
            <p:ph type="body" sz="quarter" idx="12"/>
          </p:nvPr>
        </p:nvSpPr>
        <p:spPr/>
        <p:txBody>
          <a:bodyPr>
            <a:normAutofit/>
          </a:bodyPr>
          <a:lstStyle/>
          <a:p>
            <a:r>
              <a:rPr lang="en-US" sz="2400" dirty="0"/>
              <a:t>A startup wants to develop a mobile app to manage events, including registration, schedules, and attendee communication. They want to deliver a simple version of the app in three weeks, with additional features rolled out over the next few months. How should the development process be approached?</a:t>
            </a:r>
            <a:endParaRPr lang="en-US" sz="2000" dirty="0"/>
          </a:p>
        </p:txBody>
      </p:sp>
      <p:sp>
        <p:nvSpPr>
          <p:cNvPr id="4" name="Title 3">
            <a:extLst>
              <a:ext uri="{FF2B5EF4-FFF2-40B4-BE49-F238E27FC236}">
                <a16:creationId xmlns:a16="http://schemas.microsoft.com/office/drawing/2014/main" id="{F59F56A8-6EDF-1B5C-2360-F1C6B3B57325}"/>
              </a:ext>
            </a:extLst>
          </p:cNvPr>
          <p:cNvSpPr>
            <a:spLocks noGrp="1"/>
          </p:cNvSpPr>
          <p:nvPr>
            <p:ph type="title"/>
          </p:nvPr>
        </p:nvSpPr>
        <p:spPr/>
        <p:txBody>
          <a:bodyPr/>
          <a:lstStyle/>
          <a:p>
            <a:r>
              <a:rPr lang="en-US" dirty="0"/>
              <a:t>Scenario 2: Mobile App for Event Management</a:t>
            </a:r>
          </a:p>
        </p:txBody>
      </p:sp>
    </p:spTree>
    <p:extLst>
      <p:ext uri="{BB962C8B-B14F-4D97-AF65-F5344CB8AC3E}">
        <p14:creationId xmlns:p14="http://schemas.microsoft.com/office/powerpoint/2010/main" val="3647086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D455A6-8ABF-BC41-DF30-97EE4CF5F6A4}"/>
              </a:ext>
            </a:extLst>
          </p:cNvPr>
          <p:cNvSpPr>
            <a:spLocks noGrp="1"/>
          </p:cNvSpPr>
          <p:nvPr>
            <p:ph type="sldNum" sz="quarter" idx="13"/>
          </p:nvPr>
        </p:nvSpPr>
        <p:spPr/>
        <p:txBody>
          <a:bodyPr/>
          <a:lstStyle/>
          <a:p>
            <a:fld id="{12342C3A-DD85-7843-B416-BD52AB030D59}" type="slidenum">
              <a:rPr lang="en-US" smtClean="0"/>
              <a:pPr/>
              <a:t>5</a:t>
            </a:fld>
            <a:endParaRPr lang="en-US" dirty="0"/>
          </a:p>
        </p:txBody>
      </p:sp>
      <p:sp>
        <p:nvSpPr>
          <p:cNvPr id="3" name="Text Placeholder 2">
            <a:extLst>
              <a:ext uri="{FF2B5EF4-FFF2-40B4-BE49-F238E27FC236}">
                <a16:creationId xmlns:a16="http://schemas.microsoft.com/office/drawing/2014/main" id="{E435FE77-DBDC-2BDF-C594-597632108FA2}"/>
              </a:ext>
            </a:extLst>
          </p:cNvPr>
          <p:cNvSpPr>
            <a:spLocks noGrp="1"/>
          </p:cNvSpPr>
          <p:nvPr>
            <p:ph type="body" sz="quarter" idx="12"/>
          </p:nvPr>
        </p:nvSpPr>
        <p:spPr/>
        <p:txBody>
          <a:bodyPr>
            <a:normAutofit/>
          </a:bodyPr>
          <a:lstStyle/>
          <a:p>
            <a:pPr>
              <a:buNone/>
            </a:pPr>
            <a:endParaRPr lang="en-US" sz="2400" dirty="0"/>
          </a:p>
          <a:p>
            <a:pPr marL="285750" indent="-285750">
              <a:buFont typeface="Arial" panose="020B0604020202020204" pitchFamily="34" charset="0"/>
              <a:buChar char="•"/>
            </a:pPr>
            <a:r>
              <a:rPr lang="en-US" sz="2400" b="1" dirty="0"/>
              <a:t>RAD Approach</a:t>
            </a:r>
            <a:r>
              <a:rPr lang="en-US" sz="2400" dirty="0"/>
              <a:t>: </a:t>
            </a:r>
          </a:p>
          <a:p>
            <a:pPr marL="742950" lvl="1" indent="-285750">
              <a:buFont typeface="Arial" panose="020B0604020202020204" pitchFamily="34" charset="0"/>
              <a:buChar char="•"/>
            </a:pPr>
            <a:r>
              <a:rPr lang="en-US" sz="2400" b="1" dirty="0"/>
              <a:t>Prototype-driven development</a:t>
            </a:r>
            <a:r>
              <a:rPr lang="en-US" sz="2400" dirty="0"/>
              <a:t>: Start by creating a simple prototype of the event registration feature to quickly provide value to users.</a:t>
            </a:r>
          </a:p>
          <a:p>
            <a:pPr marL="742950" lvl="1" indent="-285750">
              <a:buFont typeface="Arial" panose="020B0604020202020204" pitchFamily="34" charset="0"/>
              <a:buChar char="•"/>
            </a:pPr>
            <a:r>
              <a:rPr lang="en-US" sz="2400" b="1" dirty="0"/>
              <a:t>User involvement</a:t>
            </a:r>
            <a:r>
              <a:rPr lang="en-US" sz="2400" dirty="0"/>
              <a:t>: Involve event organizers early on to give feedback on the initial features, ensuring their needs are met.</a:t>
            </a:r>
          </a:p>
          <a:p>
            <a:pPr marL="742950" lvl="1" indent="-285750">
              <a:buFont typeface="Arial" panose="020B0604020202020204" pitchFamily="34" charset="0"/>
              <a:buChar char="•"/>
            </a:pPr>
            <a:r>
              <a:rPr lang="en-US" sz="2400" b="1" dirty="0"/>
              <a:t>Timeboxing</a:t>
            </a:r>
            <a:r>
              <a:rPr lang="en-US" sz="2400" dirty="0"/>
              <a:t>: Focus on delivering the basic functionality (e.g., registration and schedule) in the first three weeks and build on it in subsequent iterations.</a:t>
            </a:r>
          </a:p>
          <a:p>
            <a:pPr marL="742950" lvl="1" indent="-285750">
              <a:buFont typeface="Arial" panose="020B0604020202020204" pitchFamily="34" charset="0"/>
              <a:buChar char="•"/>
            </a:pPr>
            <a:r>
              <a:rPr lang="en-US" sz="2400" b="1" dirty="0"/>
              <a:t>Flexibility</a:t>
            </a:r>
            <a:r>
              <a:rPr lang="en-US" sz="2400" dirty="0"/>
              <a:t>: As new features (e.g., attendee communication) are developed, the app can be updated iteratively based on feedback.</a:t>
            </a:r>
          </a:p>
          <a:p>
            <a:endParaRPr lang="en-US" sz="3600" dirty="0"/>
          </a:p>
        </p:txBody>
      </p:sp>
      <p:sp>
        <p:nvSpPr>
          <p:cNvPr id="4" name="Title 3">
            <a:extLst>
              <a:ext uri="{FF2B5EF4-FFF2-40B4-BE49-F238E27FC236}">
                <a16:creationId xmlns:a16="http://schemas.microsoft.com/office/drawing/2014/main" id="{09E86AF3-B885-54E5-84A2-71CE5B7D3E83}"/>
              </a:ext>
            </a:extLst>
          </p:cNvPr>
          <p:cNvSpPr>
            <a:spLocks noGrp="1"/>
          </p:cNvSpPr>
          <p:nvPr>
            <p:ph type="title"/>
          </p:nvPr>
        </p:nvSpPr>
        <p:spPr/>
        <p:txBody>
          <a:bodyPr/>
          <a:lstStyle/>
          <a:p>
            <a:r>
              <a:rPr lang="en-US" dirty="0"/>
              <a:t>Scenario 2: Mobile App for Event Management</a:t>
            </a:r>
          </a:p>
        </p:txBody>
      </p:sp>
    </p:spTree>
    <p:extLst>
      <p:ext uri="{BB962C8B-B14F-4D97-AF65-F5344CB8AC3E}">
        <p14:creationId xmlns:p14="http://schemas.microsoft.com/office/powerpoint/2010/main" val="205120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E31C5-EF9F-BCF2-3587-85AD0FC7C39A}"/>
              </a:ext>
            </a:extLst>
          </p:cNvPr>
          <p:cNvSpPr>
            <a:spLocks noGrp="1"/>
          </p:cNvSpPr>
          <p:nvPr>
            <p:ph type="sldNum" sz="quarter" idx="13"/>
          </p:nvPr>
        </p:nvSpPr>
        <p:spPr/>
        <p:txBody>
          <a:bodyPr/>
          <a:lstStyle/>
          <a:p>
            <a:fld id="{12342C3A-DD85-7843-B416-BD52AB030D59}" type="slidenum">
              <a:rPr lang="en-US" smtClean="0"/>
              <a:pPr/>
              <a:t>6</a:t>
            </a:fld>
            <a:endParaRPr lang="en-US" dirty="0"/>
          </a:p>
        </p:txBody>
      </p:sp>
      <p:sp>
        <p:nvSpPr>
          <p:cNvPr id="3" name="Text Placeholder 2">
            <a:extLst>
              <a:ext uri="{FF2B5EF4-FFF2-40B4-BE49-F238E27FC236}">
                <a16:creationId xmlns:a16="http://schemas.microsoft.com/office/drawing/2014/main" id="{46C84E62-6FC0-E7CB-DF73-DD7B6281A784}"/>
              </a:ext>
            </a:extLst>
          </p:cNvPr>
          <p:cNvSpPr>
            <a:spLocks noGrp="1"/>
          </p:cNvSpPr>
          <p:nvPr>
            <p:ph type="body" sz="quarter" idx="12"/>
          </p:nvPr>
        </p:nvSpPr>
        <p:spPr/>
        <p:txBody>
          <a:bodyPr>
            <a:normAutofit/>
          </a:bodyPr>
          <a:lstStyle/>
          <a:p>
            <a:r>
              <a:rPr lang="en-US" sz="2400" dirty="0"/>
              <a:t>A retail business wants to build an e-commerce website but needs to balance speed and quality. The business expects the platform to be developed in phases over several months, with core features delivered first. Which development methodology would be the best choice?</a:t>
            </a:r>
            <a:endParaRPr lang="en-US" sz="2000" dirty="0"/>
          </a:p>
        </p:txBody>
      </p:sp>
      <p:sp>
        <p:nvSpPr>
          <p:cNvPr id="4" name="Title 3">
            <a:extLst>
              <a:ext uri="{FF2B5EF4-FFF2-40B4-BE49-F238E27FC236}">
                <a16:creationId xmlns:a16="http://schemas.microsoft.com/office/drawing/2014/main" id="{69C73946-4CB1-370D-5F20-28AF772B4609}"/>
              </a:ext>
            </a:extLst>
          </p:cNvPr>
          <p:cNvSpPr>
            <a:spLocks noGrp="1"/>
          </p:cNvSpPr>
          <p:nvPr>
            <p:ph type="title"/>
          </p:nvPr>
        </p:nvSpPr>
        <p:spPr/>
        <p:txBody>
          <a:bodyPr>
            <a:normAutofit fontScale="90000"/>
          </a:bodyPr>
          <a:lstStyle/>
          <a:p>
            <a:r>
              <a:rPr lang="en-US" dirty="0"/>
              <a:t>Scenario 3: E-Commerce Website for a Retail Business</a:t>
            </a:r>
          </a:p>
        </p:txBody>
      </p:sp>
    </p:spTree>
    <p:extLst>
      <p:ext uri="{BB962C8B-B14F-4D97-AF65-F5344CB8AC3E}">
        <p14:creationId xmlns:p14="http://schemas.microsoft.com/office/powerpoint/2010/main" val="2476115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FA6BF9-6AAE-9A7A-45C5-A4BFF0BE12CF}"/>
              </a:ext>
            </a:extLst>
          </p:cNvPr>
          <p:cNvSpPr>
            <a:spLocks noGrp="1"/>
          </p:cNvSpPr>
          <p:nvPr>
            <p:ph type="sldNum" sz="quarter" idx="13"/>
          </p:nvPr>
        </p:nvSpPr>
        <p:spPr/>
        <p:txBody>
          <a:bodyPr/>
          <a:lstStyle/>
          <a:p>
            <a:fld id="{12342C3A-DD85-7843-B416-BD52AB030D59}" type="slidenum">
              <a:rPr lang="en-US" smtClean="0"/>
              <a:pPr/>
              <a:t>7</a:t>
            </a:fld>
            <a:endParaRPr lang="en-US" dirty="0"/>
          </a:p>
        </p:txBody>
      </p:sp>
      <p:sp>
        <p:nvSpPr>
          <p:cNvPr id="3" name="Text Placeholder 2">
            <a:extLst>
              <a:ext uri="{FF2B5EF4-FFF2-40B4-BE49-F238E27FC236}">
                <a16:creationId xmlns:a16="http://schemas.microsoft.com/office/drawing/2014/main" id="{B1EDAC35-F759-59D0-7BBC-A71C467C10C8}"/>
              </a:ext>
            </a:extLst>
          </p:cNvPr>
          <p:cNvSpPr>
            <a:spLocks noGrp="1"/>
          </p:cNvSpPr>
          <p:nvPr>
            <p:ph type="body" sz="quarter" idx="12"/>
          </p:nvPr>
        </p:nvSpPr>
        <p:spPr/>
        <p:txBody>
          <a:bodyPr>
            <a:normAutofit/>
          </a:bodyPr>
          <a:lstStyle/>
          <a:p>
            <a:pPr>
              <a:buNone/>
            </a:pPr>
            <a:endParaRPr lang="en-US" sz="2400" dirty="0"/>
          </a:p>
          <a:p>
            <a:pPr marL="285750" indent="-285750">
              <a:buFont typeface="Arial" panose="020B0604020202020204" pitchFamily="34" charset="0"/>
              <a:buChar char="•"/>
            </a:pPr>
            <a:r>
              <a:rPr lang="en-US" sz="2400" b="1" dirty="0"/>
              <a:t>DSDM</a:t>
            </a:r>
            <a:r>
              <a:rPr lang="en-US" sz="2400" dirty="0"/>
              <a:t> is the best choice because: </a:t>
            </a:r>
          </a:p>
          <a:p>
            <a:pPr marL="742950" lvl="1" indent="-285750">
              <a:buFont typeface="Arial" panose="020B0604020202020204" pitchFamily="34" charset="0"/>
              <a:buChar char="•"/>
            </a:pPr>
            <a:r>
              <a:rPr lang="en-US" sz="2400" b="1" dirty="0"/>
              <a:t>Iterative development</a:t>
            </a:r>
            <a:r>
              <a:rPr lang="en-US" sz="2400" dirty="0"/>
              <a:t>: DSDM allows for phased development, delivering key features (e.g., product catalog, payment integration) in short cycles.</a:t>
            </a:r>
          </a:p>
          <a:p>
            <a:pPr marL="742950" lvl="1" indent="-285750">
              <a:buFont typeface="Arial" panose="020B0604020202020204" pitchFamily="34" charset="0"/>
              <a:buChar char="•"/>
            </a:pPr>
            <a:r>
              <a:rPr lang="en-US" sz="2400" b="1" dirty="0"/>
              <a:t>Active user involvement</a:t>
            </a:r>
            <a:r>
              <a:rPr lang="en-US" sz="2400" dirty="0"/>
              <a:t>: Stakeholders and users actively participate throughout the project, ensuring the website aligns with business goals and user needs.</a:t>
            </a:r>
          </a:p>
          <a:p>
            <a:pPr marL="742950" lvl="1" indent="-285750">
              <a:buFont typeface="Arial" panose="020B0604020202020204" pitchFamily="34" charset="0"/>
              <a:buChar char="•"/>
            </a:pPr>
            <a:r>
              <a:rPr lang="en-US" sz="2400" b="1" dirty="0"/>
              <a:t>Timeboxing</a:t>
            </a:r>
            <a:r>
              <a:rPr lang="en-US" sz="2400" dirty="0"/>
              <a:t>: Ensures each feature is completed within a defined timebox, keeping the project on track and delivering results early.</a:t>
            </a:r>
          </a:p>
          <a:p>
            <a:pPr marL="742950" lvl="1" indent="-285750">
              <a:buFont typeface="Arial" panose="020B0604020202020204" pitchFamily="34" charset="0"/>
              <a:buChar char="•"/>
            </a:pPr>
            <a:r>
              <a:rPr lang="en-US" sz="2400" b="1" dirty="0"/>
              <a:t>Prioritization</a:t>
            </a:r>
            <a:r>
              <a:rPr lang="en-US" sz="2400" dirty="0"/>
              <a:t>: Focuses on delivering the most important features first, which helps meet the business’s immediate needs while building the platform over time.</a:t>
            </a:r>
          </a:p>
        </p:txBody>
      </p:sp>
      <p:sp>
        <p:nvSpPr>
          <p:cNvPr id="4" name="Title 3">
            <a:extLst>
              <a:ext uri="{FF2B5EF4-FFF2-40B4-BE49-F238E27FC236}">
                <a16:creationId xmlns:a16="http://schemas.microsoft.com/office/drawing/2014/main" id="{67B9B8DD-8F63-FFA2-EBDC-CACAD61777CE}"/>
              </a:ext>
            </a:extLst>
          </p:cNvPr>
          <p:cNvSpPr>
            <a:spLocks noGrp="1"/>
          </p:cNvSpPr>
          <p:nvPr>
            <p:ph type="title"/>
          </p:nvPr>
        </p:nvSpPr>
        <p:spPr/>
        <p:txBody>
          <a:bodyPr>
            <a:normAutofit fontScale="90000"/>
          </a:bodyPr>
          <a:lstStyle/>
          <a:p>
            <a:r>
              <a:rPr lang="en-US" dirty="0"/>
              <a:t>Scenario 3: E-Commerce Website for a Retail Business</a:t>
            </a:r>
          </a:p>
        </p:txBody>
      </p:sp>
    </p:spTree>
    <p:extLst>
      <p:ext uri="{BB962C8B-B14F-4D97-AF65-F5344CB8AC3E}">
        <p14:creationId xmlns:p14="http://schemas.microsoft.com/office/powerpoint/2010/main" val="158110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D75A72-8CE6-08F4-4C67-665074A76317}"/>
              </a:ext>
            </a:extLst>
          </p:cNvPr>
          <p:cNvSpPr>
            <a:spLocks noGrp="1"/>
          </p:cNvSpPr>
          <p:nvPr>
            <p:ph type="sldNum" sz="quarter" idx="13"/>
          </p:nvPr>
        </p:nvSpPr>
        <p:spPr/>
        <p:txBody>
          <a:bodyPr/>
          <a:lstStyle/>
          <a:p>
            <a:fld id="{12342C3A-DD85-7843-B416-BD52AB030D59}" type="slidenum">
              <a:rPr lang="en-US" smtClean="0"/>
              <a:pPr/>
              <a:t>8</a:t>
            </a:fld>
            <a:endParaRPr lang="en-US" dirty="0"/>
          </a:p>
        </p:txBody>
      </p:sp>
      <p:sp>
        <p:nvSpPr>
          <p:cNvPr id="3" name="Text Placeholder 2">
            <a:extLst>
              <a:ext uri="{FF2B5EF4-FFF2-40B4-BE49-F238E27FC236}">
                <a16:creationId xmlns:a16="http://schemas.microsoft.com/office/drawing/2014/main" id="{EF1C8EE0-7343-EF2F-E829-DA1020C07208}"/>
              </a:ext>
            </a:extLst>
          </p:cNvPr>
          <p:cNvSpPr>
            <a:spLocks noGrp="1"/>
          </p:cNvSpPr>
          <p:nvPr>
            <p:ph type="body" sz="quarter" idx="12"/>
          </p:nvPr>
        </p:nvSpPr>
        <p:spPr/>
        <p:txBody>
          <a:bodyPr>
            <a:normAutofit/>
          </a:bodyPr>
          <a:lstStyle/>
          <a:p>
            <a:r>
              <a:rPr lang="en-US" sz="2400" dirty="0"/>
              <a:t>A company is developing a data analytics dashboard for internal use. The project is expected to evolve as new data sources are integrated over time, and the users will frequently change requirements. What development methodology would be most suitable?</a:t>
            </a:r>
            <a:endParaRPr lang="en-US" sz="2000" dirty="0"/>
          </a:p>
        </p:txBody>
      </p:sp>
      <p:sp>
        <p:nvSpPr>
          <p:cNvPr id="4" name="Title 3">
            <a:extLst>
              <a:ext uri="{FF2B5EF4-FFF2-40B4-BE49-F238E27FC236}">
                <a16:creationId xmlns:a16="http://schemas.microsoft.com/office/drawing/2014/main" id="{109FD9E1-B571-C7FB-E92B-E14DE396DFC4}"/>
              </a:ext>
            </a:extLst>
          </p:cNvPr>
          <p:cNvSpPr>
            <a:spLocks noGrp="1"/>
          </p:cNvSpPr>
          <p:nvPr>
            <p:ph type="title"/>
          </p:nvPr>
        </p:nvSpPr>
        <p:spPr/>
        <p:txBody>
          <a:bodyPr/>
          <a:lstStyle/>
          <a:p>
            <a:r>
              <a:rPr lang="en-US" dirty="0"/>
              <a:t>Scenario 4: Building a Dashboard for Data Analytics</a:t>
            </a:r>
          </a:p>
        </p:txBody>
      </p:sp>
    </p:spTree>
    <p:extLst>
      <p:ext uri="{BB962C8B-B14F-4D97-AF65-F5344CB8AC3E}">
        <p14:creationId xmlns:p14="http://schemas.microsoft.com/office/powerpoint/2010/main" val="3135085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62A630-D722-3B63-5178-DDA69CCC0556}"/>
              </a:ext>
            </a:extLst>
          </p:cNvPr>
          <p:cNvSpPr>
            <a:spLocks noGrp="1"/>
          </p:cNvSpPr>
          <p:nvPr>
            <p:ph type="sldNum" sz="quarter" idx="13"/>
          </p:nvPr>
        </p:nvSpPr>
        <p:spPr/>
        <p:txBody>
          <a:bodyPr/>
          <a:lstStyle/>
          <a:p>
            <a:fld id="{12342C3A-DD85-7843-B416-BD52AB030D59}" type="slidenum">
              <a:rPr lang="en-US" smtClean="0"/>
              <a:pPr/>
              <a:t>9</a:t>
            </a:fld>
            <a:endParaRPr lang="en-US" dirty="0"/>
          </a:p>
        </p:txBody>
      </p:sp>
      <p:sp>
        <p:nvSpPr>
          <p:cNvPr id="3" name="Text Placeholder 2">
            <a:extLst>
              <a:ext uri="{FF2B5EF4-FFF2-40B4-BE49-F238E27FC236}">
                <a16:creationId xmlns:a16="http://schemas.microsoft.com/office/drawing/2014/main" id="{89DC7A27-C4DA-6A60-1BFE-FF76E2C798A5}"/>
              </a:ext>
            </a:extLst>
          </p:cNvPr>
          <p:cNvSpPr>
            <a:spLocks noGrp="1"/>
          </p:cNvSpPr>
          <p:nvPr>
            <p:ph type="body" sz="quarter" idx="12"/>
          </p:nvPr>
        </p:nvSpPr>
        <p:spPr/>
        <p:txBody>
          <a:bodyPr>
            <a:normAutofit/>
          </a:bodyPr>
          <a:lstStyle/>
          <a:p>
            <a:pPr>
              <a:buNone/>
            </a:pPr>
            <a:endParaRPr lang="en-US" sz="2400" dirty="0"/>
          </a:p>
          <a:p>
            <a:pPr marL="285750" indent="-285750">
              <a:buFont typeface="Arial" panose="020B0604020202020204" pitchFamily="34" charset="0"/>
              <a:buChar char="•"/>
            </a:pPr>
            <a:r>
              <a:rPr lang="en-US" sz="2400" b="1" dirty="0"/>
              <a:t>DSDM</a:t>
            </a:r>
            <a:r>
              <a:rPr lang="en-US" sz="2400" dirty="0"/>
              <a:t> is suitable because: </a:t>
            </a:r>
          </a:p>
          <a:p>
            <a:pPr marL="742950" lvl="1" indent="-285750">
              <a:buFont typeface="Arial" panose="020B0604020202020204" pitchFamily="34" charset="0"/>
              <a:buChar char="•"/>
            </a:pPr>
            <a:r>
              <a:rPr lang="en-US" sz="2400" b="1" dirty="0"/>
              <a:t>Flexibility</a:t>
            </a:r>
            <a:r>
              <a:rPr lang="en-US" sz="2400" dirty="0"/>
              <a:t>: DSDM allows for adjustments to requirements throughout the development process, which is ideal for evolving needs.</a:t>
            </a:r>
          </a:p>
          <a:p>
            <a:pPr marL="742950" lvl="1" indent="-285750">
              <a:buFont typeface="Arial" panose="020B0604020202020204" pitchFamily="34" charset="0"/>
              <a:buChar char="•"/>
            </a:pPr>
            <a:r>
              <a:rPr lang="en-US" sz="2400" b="1" dirty="0"/>
              <a:t>Iterative and incremental</a:t>
            </a:r>
            <a:r>
              <a:rPr lang="en-US" sz="2400" dirty="0"/>
              <a:t>: The dashboard can be developed in incremental phases, with users providing feedback on each iteration, ensuring the final product meets their needs.</a:t>
            </a:r>
          </a:p>
          <a:p>
            <a:pPr marL="742950" lvl="1" indent="-285750">
              <a:buFont typeface="Arial" panose="020B0604020202020204" pitchFamily="34" charset="0"/>
              <a:buChar char="•"/>
            </a:pPr>
            <a:r>
              <a:rPr lang="en-US" sz="2400" b="1" dirty="0"/>
              <a:t>Active involvement of stakeholders</a:t>
            </a:r>
            <a:r>
              <a:rPr lang="en-US" sz="2400" dirty="0"/>
              <a:t>: Users (e.g., data analysts) are closely involved in the project, ensuring that their input drives the development of each feature.</a:t>
            </a:r>
          </a:p>
          <a:p>
            <a:pPr marL="742950" lvl="1" indent="-285750">
              <a:buFont typeface="Arial" panose="020B0604020202020204" pitchFamily="34" charset="0"/>
              <a:buChar char="•"/>
            </a:pPr>
            <a:r>
              <a:rPr lang="en-US" sz="2400" b="1" dirty="0"/>
              <a:t>Timeboxing</a:t>
            </a:r>
            <a:r>
              <a:rPr lang="en-US" sz="2400" dirty="0"/>
              <a:t>: The use of timeboxes helps maintain focus on delivering specific features within set periods, avoiding scope creep.</a:t>
            </a:r>
          </a:p>
          <a:p>
            <a:pPr marL="800100" lvl="1" indent="-342900">
              <a:buFont typeface="Arial" panose="020B0604020202020204" pitchFamily="34" charset="0"/>
              <a:buChar char="•"/>
            </a:pPr>
            <a:endParaRPr lang="en-US" sz="3200" dirty="0"/>
          </a:p>
        </p:txBody>
      </p:sp>
      <p:sp>
        <p:nvSpPr>
          <p:cNvPr id="4" name="Title 3">
            <a:extLst>
              <a:ext uri="{FF2B5EF4-FFF2-40B4-BE49-F238E27FC236}">
                <a16:creationId xmlns:a16="http://schemas.microsoft.com/office/drawing/2014/main" id="{72E1EB54-0C87-AE62-4DB8-F2E8CA8ECBF1}"/>
              </a:ext>
            </a:extLst>
          </p:cNvPr>
          <p:cNvSpPr>
            <a:spLocks noGrp="1"/>
          </p:cNvSpPr>
          <p:nvPr>
            <p:ph type="title"/>
          </p:nvPr>
        </p:nvSpPr>
        <p:spPr/>
        <p:txBody>
          <a:bodyPr/>
          <a:lstStyle/>
          <a:p>
            <a:r>
              <a:rPr lang="en-US" dirty="0"/>
              <a:t>Scenario 4: Building a Dashboard for Data Analytics</a:t>
            </a:r>
          </a:p>
        </p:txBody>
      </p:sp>
    </p:spTree>
    <p:extLst>
      <p:ext uri="{BB962C8B-B14F-4D97-AF65-F5344CB8AC3E}">
        <p14:creationId xmlns:p14="http://schemas.microsoft.com/office/powerpoint/2010/main" val="3120641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27458C-98D7-D10B-6A3C-0681F239E5C3}"/>
              </a:ext>
            </a:extLst>
          </p:cNvPr>
          <p:cNvSpPr>
            <a:spLocks noGrp="1"/>
          </p:cNvSpPr>
          <p:nvPr>
            <p:ph type="sldNum" sz="quarter" idx="13"/>
          </p:nvPr>
        </p:nvSpPr>
        <p:spPr/>
        <p:txBody>
          <a:bodyPr/>
          <a:lstStyle/>
          <a:p>
            <a:fld id="{12342C3A-DD85-7843-B416-BD52AB030D59}" type="slidenum">
              <a:rPr lang="en-US" smtClean="0"/>
              <a:pPr/>
              <a:t>10</a:t>
            </a:fld>
            <a:endParaRPr lang="en-US" dirty="0"/>
          </a:p>
        </p:txBody>
      </p:sp>
      <p:sp>
        <p:nvSpPr>
          <p:cNvPr id="3" name="Text Placeholder 2">
            <a:extLst>
              <a:ext uri="{FF2B5EF4-FFF2-40B4-BE49-F238E27FC236}">
                <a16:creationId xmlns:a16="http://schemas.microsoft.com/office/drawing/2014/main" id="{FB945534-B354-0AC4-EC11-1D364D2E6AB0}"/>
              </a:ext>
            </a:extLst>
          </p:cNvPr>
          <p:cNvSpPr>
            <a:spLocks noGrp="1"/>
          </p:cNvSpPr>
          <p:nvPr>
            <p:ph type="body" sz="quarter" idx="12"/>
          </p:nvPr>
        </p:nvSpPr>
        <p:spPr>
          <a:xfrm>
            <a:off x="302684" y="1467853"/>
            <a:ext cx="11588749" cy="4626042"/>
          </a:xfrm>
        </p:spPr>
        <p:txBody>
          <a:bodyPr>
            <a:normAutofit/>
          </a:bodyPr>
          <a:lstStyle/>
          <a:p>
            <a:r>
              <a:rPr lang="en-US" sz="2400" dirty="0"/>
              <a:t>A company wants to develop a customizable online survey tool that allows users to create and distribute surveys, track responses, and analyze data. They need to release a basic version of the tool in a few weeks but will continue adding features as they receive feedback from initial users. Which methodology would you choose, and why?</a:t>
            </a:r>
            <a:endParaRPr lang="en-US" sz="2000" dirty="0"/>
          </a:p>
        </p:txBody>
      </p:sp>
      <p:sp>
        <p:nvSpPr>
          <p:cNvPr id="4" name="Title 3">
            <a:extLst>
              <a:ext uri="{FF2B5EF4-FFF2-40B4-BE49-F238E27FC236}">
                <a16:creationId xmlns:a16="http://schemas.microsoft.com/office/drawing/2014/main" id="{CDDB1506-2D34-F7DB-ACD2-DBBA5858E5B1}"/>
              </a:ext>
            </a:extLst>
          </p:cNvPr>
          <p:cNvSpPr>
            <a:spLocks noGrp="1"/>
          </p:cNvSpPr>
          <p:nvPr>
            <p:ph type="title"/>
          </p:nvPr>
        </p:nvSpPr>
        <p:spPr/>
        <p:txBody>
          <a:bodyPr>
            <a:normAutofit fontScale="90000"/>
          </a:bodyPr>
          <a:lstStyle/>
          <a:p>
            <a:r>
              <a:rPr lang="en-US" dirty="0"/>
              <a:t>Scenario 5: Developing a Customizable Online Survey Tool</a:t>
            </a:r>
          </a:p>
        </p:txBody>
      </p:sp>
    </p:spTree>
    <p:extLst>
      <p:ext uri="{BB962C8B-B14F-4D97-AF65-F5344CB8AC3E}">
        <p14:creationId xmlns:p14="http://schemas.microsoft.com/office/powerpoint/2010/main" val="2800056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F51171-C14A-A9CC-5C44-37000983D9F8}"/>
              </a:ext>
            </a:extLst>
          </p:cNvPr>
          <p:cNvSpPr>
            <a:spLocks noGrp="1"/>
          </p:cNvSpPr>
          <p:nvPr>
            <p:ph type="sldNum" sz="quarter" idx="13"/>
          </p:nvPr>
        </p:nvSpPr>
        <p:spPr/>
        <p:txBody>
          <a:bodyPr/>
          <a:lstStyle/>
          <a:p>
            <a:fld id="{12342C3A-DD85-7843-B416-BD52AB030D59}" type="slidenum">
              <a:rPr lang="en-US" smtClean="0"/>
              <a:pPr/>
              <a:t>11</a:t>
            </a:fld>
            <a:endParaRPr lang="en-US" dirty="0"/>
          </a:p>
        </p:txBody>
      </p:sp>
      <p:sp>
        <p:nvSpPr>
          <p:cNvPr id="3" name="Text Placeholder 2">
            <a:extLst>
              <a:ext uri="{FF2B5EF4-FFF2-40B4-BE49-F238E27FC236}">
                <a16:creationId xmlns:a16="http://schemas.microsoft.com/office/drawing/2014/main" id="{6D24F625-2604-5426-1896-02D0347C7AD9}"/>
              </a:ext>
            </a:extLst>
          </p:cNvPr>
          <p:cNvSpPr>
            <a:spLocks noGrp="1"/>
          </p:cNvSpPr>
          <p:nvPr>
            <p:ph type="body" sz="quarter" idx="12"/>
          </p:nvPr>
        </p:nvSpPr>
        <p:spPr>
          <a:xfrm>
            <a:off x="302684" y="1395663"/>
            <a:ext cx="11588749" cy="4698232"/>
          </a:xfrm>
        </p:spPr>
        <p:txBody>
          <a:bodyPr>
            <a:normAutofit/>
          </a:bodyPr>
          <a:lstStyle/>
          <a:p>
            <a:pPr>
              <a:buFont typeface="Arial" panose="020B0604020202020204" pitchFamily="34" charset="0"/>
              <a:buChar char="•"/>
            </a:pPr>
            <a:endParaRPr lang="en-US" sz="2800" dirty="0"/>
          </a:p>
          <a:p>
            <a:pPr marL="742950" lvl="1" indent="-285750">
              <a:buFont typeface="Arial" panose="020B0604020202020204" pitchFamily="34" charset="0"/>
              <a:buChar char="•"/>
            </a:pPr>
            <a:r>
              <a:rPr lang="en-US" sz="2800" b="1" dirty="0"/>
              <a:t>RAD</a:t>
            </a:r>
            <a:r>
              <a:rPr lang="en-US" sz="2800" dirty="0"/>
              <a:t> is the ideal choice because: </a:t>
            </a:r>
          </a:p>
          <a:p>
            <a:pPr marL="1143000" lvl="2" indent="-228600">
              <a:buFont typeface="Arial" panose="020B0604020202020204" pitchFamily="34" charset="0"/>
              <a:buChar char="•"/>
            </a:pPr>
            <a:r>
              <a:rPr lang="en-US" sz="2400" b="1" dirty="0"/>
              <a:t>Fast prototyping</a:t>
            </a:r>
            <a:r>
              <a:rPr lang="en-US" sz="2400" dirty="0"/>
              <a:t>: The company can quickly create a prototype of the survey creation feature, allowing users to start testing and providing feedback immediately.</a:t>
            </a:r>
          </a:p>
          <a:p>
            <a:pPr marL="1143000" lvl="2" indent="-228600">
              <a:buFont typeface="Arial" panose="020B0604020202020204" pitchFamily="34" charset="0"/>
              <a:buChar char="•"/>
            </a:pPr>
            <a:r>
              <a:rPr lang="en-US" sz="2400" b="1" dirty="0"/>
              <a:t>User feedback</a:t>
            </a:r>
            <a:r>
              <a:rPr lang="en-US" sz="2400" dirty="0"/>
              <a:t>: Continuous feedback ensures the tool evolves in line with user needs and preferences.</a:t>
            </a:r>
          </a:p>
          <a:p>
            <a:pPr marL="1143000" lvl="2" indent="-228600">
              <a:buFont typeface="Arial" panose="020B0604020202020204" pitchFamily="34" charset="0"/>
              <a:buChar char="•"/>
            </a:pPr>
            <a:r>
              <a:rPr lang="en-US" sz="2400" b="1" dirty="0"/>
              <a:t>Quick iterations</a:t>
            </a:r>
            <a:r>
              <a:rPr lang="en-US" sz="2400" dirty="0"/>
              <a:t>: New features (e.g., reporting tools, advanced question types) can be added in future iterations based on user input.</a:t>
            </a:r>
          </a:p>
        </p:txBody>
      </p:sp>
      <p:sp>
        <p:nvSpPr>
          <p:cNvPr id="4" name="Title 3">
            <a:extLst>
              <a:ext uri="{FF2B5EF4-FFF2-40B4-BE49-F238E27FC236}">
                <a16:creationId xmlns:a16="http://schemas.microsoft.com/office/drawing/2014/main" id="{9406B06C-8F3F-E0B2-C06B-883C2FC9CDCF}"/>
              </a:ext>
            </a:extLst>
          </p:cNvPr>
          <p:cNvSpPr>
            <a:spLocks noGrp="1"/>
          </p:cNvSpPr>
          <p:nvPr>
            <p:ph type="title"/>
          </p:nvPr>
        </p:nvSpPr>
        <p:spPr/>
        <p:txBody>
          <a:bodyPr>
            <a:noAutofit/>
          </a:bodyPr>
          <a:lstStyle/>
          <a:p>
            <a:r>
              <a:rPr lang="en-US" sz="2800" dirty="0"/>
              <a:t>Scenario 5: Developing a Customizable Online Survey Tool</a:t>
            </a:r>
          </a:p>
        </p:txBody>
      </p:sp>
    </p:spTree>
    <p:extLst>
      <p:ext uri="{BB962C8B-B14F-4D97-AF65-F5344CB8AC3E}">
        <p14:creationId xmlns:p14="http://schemas.microsoft.com/office/powerpoint/2010/main" val="2045099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122C8D-70A7-A72E-038D-7A0358B272B9}"/>
              </a:ext>
            </a:extLst>
          </p:cNvPr>
          <p:cNvSpPr>
            <a:spLocks noGrp="1"/>
          </p:cNvSpPr>
          <p:nvPr>
            <p:ph type="sldNum" sz="quarter" idx="13"/>
          </p:nvPr>
        </p:nvSpPr>
        <p:spPr/>
        <p:txBody>
          <a:bodyPr/>
          <a:lstStyle/>
          <a:p>
            <a:fld id="{12342C3A-DD85-7843-B416-BD52AB030D59}" type="slidenum">
              <a:rPr lang="en-US" smtClean="0"/>
              <a:pPr/>
              <a:t>12</a:t>
            </a:fld>
            <a:endParaRPr lang="en-US" dirty="0"/>
          </a:p>
        </p:txBody>
      </p:sp>
      <p:sp>
        <p:nvSpPr>
          <p:cNvPr id="3" name="Text Placeholder 2">
            <a:extLst>
              <a:ext uri="{FF2B5EF4-FFF2-40B4-BE49-F238E27FC236}">
                <a16:creationId xmlns:a16="http://schemas.microsoft.com/office/drawing/2014/main" id="{E1B75B50-49B7-6945-E3F1-73D0F7415830}"/>
              </a:ext>
            </a:extLst>
          </p:cNvPr>
          <p:cNvSpPr>
            <a:spLocks noGrp="1"/>
          </p:cNvSpPr>
          <p:nvPr>
            <p:ph type="body" sz="quarter" idx="12"/>
          </p:nvPr>
        </p:nvSpPr>
        <p:spPr>
          <a:xfrm>
            <a:off x="302684" y="1588167"/>
            <a:ext cx="11588749" cy="4505727"/>
          </a:xfrm>
        </p:spPr>
        <p:txBody>
          <a:bodyPr>
            <a:normAutofit/>
          </a:bodyPr>
          <a:lstStyle/>
          <a:p>
            <a:r>
              <a:rPr lang="en-US" sz="2400" dirty="0"/>
              <a:t>A bank needs to develop a financial management system with multiple features like account tracking, transactions, budgeting tools, and data security measures. The system needs to be highly reliable and must be built with full user involvement to ensure it meets the bank’s compliance requirements. What approach would you recommend?</a:t>
            </a:r>
            <a:endParaRPr lang="en-US" sz="2000" dirty="0"/>
          </a:p>
        </p:txBody>
      </p:sp>
      <p:sp>
        <p:nvSpPr>
          <p:cNvPr id="4" name="Title 3">
            <a:extLst>
              <a:ext uri="{FF2B5EF4-FFF2-40B4-BE49-F238E27FC236}">
                <a16:creationId xmlns:a16="http://schemas.microsoft.com/office/drawing/2014/main" id="{2B04EF8C-B943-E252-14EB-CE114A390BB3}"/>
              </a:ext>
            </a:extLst>
          </p:cNvPr>
          <p:cNvSpPr>
            <a:spLocks noGrp="1"/>
          </p:cNvSpPr>
          <p:nvPr>
            <p:ph type="title"/>
          </p:nvPr>
        </p:nvSpPr>
        <p:spPr/>
        <p:txBody>
          <a:bodyPr>
            <a:normAutofit fontScale="90000"/>
          </a:bodyPr>
          <a:lstStyle/>
          <a:p>
            <a:r>
              <a:rPr lang="en-US" dirty="0"/>
              <a:t>Scenario 6: Developing a Financial Management System for a Bank</a:t>
            </a:r>
          </a:p>
        </p:txBody>
      </p:sp>
    </p:spTree>
    <p:extLst>
      <p:ext uri="{BB962C8B-B14F-4D97-AF65-F5344CB8AC3E}">
        <p14:creationId xmlns:p14="http://schemas.microsoft.com/office/powerpoint/2010/main" val="3261909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8FEED0-6439-2D22-C7A8-34556EE30227}"/>
              </a:ext>
            </a:extLst>
          </p:cNvPr>
          <p:cNvSpPr>
            <a:spLocks noGrp="1"/>
          </p:cNvSpPr>
          <p:nvPr>
            <p:ph type="sldNum" sz="quarter" idx="13"/>
          </p:nvPr>
        </p:nvSpPr>
        <p:spPr/>
        <p:txBody>
          <a:bodyPr/>
          <a:lstStyle/>
          <a:p>
            <a:fld id="{12342C3A-DD85-7843-B416-BD52AB030D59}" type="slidenum">
              <a:rPr lang="en-US" smtClean="0"/>
              <a:pPr/>
              <a:t>13</a:t>
            </a:fld>
            <a:endParaRPr lang="en-US" dirty="0"/>
          </a:p>
        </p:txBody>
      </p:sp>
      <p:sp>
        <p:nvSpPr>
          <p:cNvPr id="3" name="Text Placeholder 2">
            <a:extLst>
              <a:ext uri="{FF2B5EF4-FFF2-40B4-BE49-F238E27FC236}">
                <a16:creationId xmlns:a16="http://schemas.microsoft.com/office/drawing/2014/main" id="{4D8945AF-8027-5594-ED0F-2FA2006A9471}"/>
              </a:ext>
            </a:extLst>
          </p:cNvPr>
          <p:cNvSpPr>
            <a:spLocks noGrp="1"/>
          </p:cNvSpPr>
          <p:nvPr>
            <p:ph type="body" sz="quarter" idx="12"/>
          </p:nvPr>
        </p:nvSpPr>
        <p:spPr>
          <a:xfrm>
            <a:off x="302684" y="1552073"/>
            <a:ext cx="11588749" cy="4541821"/>
          </a:xfrm>
        </p:spPr>
        <p:txBody>
          <a:bodyPr>
            <a:normAutofit fontScale="92500" lnSpcReduction="10000"/>
          </a:bodyPr>
          <a:lstStyle/>
          <a:p>
            <a:pPr>
              <a:buNone/>
            </a:pPr>
            <a:endParaRPr lang="en-US" sz="2400" dirty="0"/>
          </a:p>
          <a:p>
            <a:pPr marL="285750" indent="-285750">
              <a:buFont typeface="Arial" panose="020B0604020202020204" pitchFamily="34" charset="0"/>
              <a:buChar char="•"/>
            </a:pPr>
            <a:r>
              <a:rPr lang="en-US" sz="2400" b="1" dirty="0"/>
              <a:t>DSDM</a:t>
            </a:r>
            <a:r>
              <a:rPr lang="en-US" sz="2400" dirty="0"/>
              <a:t> is the best choice because: </a:t>
            </a:r>
          </a:p>
          <a:p>
            <a:pPr marL="742950" lvl="1" indent="-285750">
              <a:buFont typeface="Arial" panose="020B0604020202020204" pitchFamily="34" charset="0"/>
              <a:buChar char="•"/>
            </a:pPr>
            <a:r>
              <a:rPr lang="en-US" sz="2400" b="1" dirty="0"/>
              <a:t>High user involvement</a:t>
            </a:r>
            <a:r>
              <a:rPr lang="en-US" sz="2400" dirty="0"/>
              <a:t>: DSDM requires active participation from stakeholders, ensuring the system meets regulatory and business requirements.</a:t>
            </a:r>
          </a:p>
          <a:p>
            <a:pPr marL="742950" lvl="1" indent="-285750">
              <a:buFont typeface="Arial" panose="020B0604020202020204" pitchFamily="34" charset="0"/>
              <a:buChar char="•"/>
            </a:pPr>
            <a:r>
              <a:rPr lang="en-US" sz="2400" b="1" dirty="0"/>
              <a:t>Prioritization of features</a:t>
            </a:r>
            <a:r>
              <a:rPr lang="en-US" sz="2400" dirty="0"/>
              <a:t>: Core functionalities (e.g., account tracking) can be delivered early, while additional features (e.g., budgeting tools) are added in future phases.</a:t>
            </a:r>
          </a:p>
          <a:p>
            <a:pPr marL="742950" lvl="1" indent="-285750">
              <a:buFont typeface="Arial" panose="020B0604020202020204" pitchFamily="34" charset="0"/>
              <a:buChar char="•"/>
            </a:pPr>
            <a:r>
              <a:rPr lang="en-US" sz="2400" b="1" dirty="0"/>
              <a:t>Iterative delivery</a:t>
            </a:r>
            <a:r>
              <a:rPr lang="en-US" sz="2400" dirty="0"/>
              <a:t>: DSDM ensures that the system is developed in manageable increments, with feedback incorporated into each phase to meet evolving business needs.</a:t>
            </a:r>
          </a:p>
          <a:p>
            <a:pPr marL="742950" lvl="1" indent="-285750">
              <a:buFont typeface="Arial" panose="020B0604020202020204" pitchFamily="34" charset="0"/>
              <a:buChar char="•"/>
            </a:pPr>
            <a:r>
              <a:rPr lang="en-US" sz="2400" b="1" dirty="0"/>
              <a:t>Timeboxing</a:t>
            </a:r>
            <a:r>
              <a:rPr lang="en-US" sz="2400" dirty="0"/>
              <a:t>: Ensures that each phase stays on track and is completed within the set time, allowing the system to be delivered on schedule.</a:t>
            </a:r>
          </a:p>
          <a:p>
            <a:pPr marL="800100" lvl="1" indent="-342900">
              <a:buFont typeface="Arial" panose="020B0604020202020204" pitchFamily="34" charset="0"/>
              <a:buChar char="•"/>
            </a:pPr>
            <a:endParaRPr lang="en-US" sz="3200" dirty="0"/>
          </a:p>
        </p:txBody>
      </p:sp>
      <p:sp>
        <p:nvSpPr>
          <p:cNvPr id="4" name="Title 3">
            <a:extLst>
              <a:ext uri="{FF2B5EF4-FFF2-40B4-BE49-F238E27FC236}">
                <a16:creationId xmlns:a16="http://schemas.microsoft.com/office/drawing/2014/main" id="{462FEF5F-63FF-8444-7163-31FF6A1885FB}"/>
              </a:ext>
            </a:extLst>
          </p:cNvPr>
          <p:cNvSpPr>
            <a:spLocks noGrp="1"/>
          </p:cNvSpPr>
          <p:nvPr>
            <p:ph type="title"/>
          </p:nvPr>
        </p:nvSpPr>
        <p:spPr/>
        <p:txBody>
          <a:bodyPr>
            <a:normAutofit fontScale="90000"/>
          </a:bodyPr>
          <a:lstStyle/>
          <a:p>
            <a:r>
              <a:rPr lang="en-US" dirty="0"/>
              <a:t>Scenario 6: Developing a Financial Management System for a Bank</a:t>
            </a:r>
          </a:p>
        </p:txBody>
      </p:sp>
    </p:spTree>
    <p:extLst>
      <p:ext uri="{BB962C8B-B14F-4D97-AF65-F5344CB8AC3E}">
        <p14:creationId xmlns:p14="http://schemas.microsoft.com/office/powerpoint/2010/main" val="912352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B67FED-1A72-8727-1E48-5C926C461D0C}"/>
              </a:ext>
            </a:extLst>
          </p:cNvPr>
          <p:cNvSpPr>
            <a:spLocks noGrp="1"/>
          </p:cNvSpPr>
          <p:nvPr>
            <p:ph type="sldNum" sz="quarter" idx="13"/>
          </p:nvPr>
        </p:nvSpPr>
        <p:spPr/>
        <p:txBody>
          <a:bodyPr/>
          <a:lstStyle/>
          <a:p>
            <a:fld id="{12342C3A-DD85-7843-B416-BD52AB030D59}" type="slidenum">
              <a:rPr lang="en-US" smtClean="0"/>
              <a:pPr/>
              <a:t>14</a:t>
            </a:fld>
            <a:endParaRPr lang="en-US" dirty="0"/>
          </a:p>
        </p:txBody>
      </p:sp>
      <p:sp>
        <p:nvSpPr>
          <p:cNvPr id="3" name="Text Placeholder 2">
            <a:extLst>
              <a:ext uri="{FF2B5EF4-FFF2-40B4-BE49-F238E27FC236}">
                <a16:creationId xmlns:a16="http://schemas.microsoft.com/office/drawing/2014/main" id="{BDE1F4B2-77AB-F9DD-C349-45A0F6136319}"/>
              </a:ext>
            </a:extLst>
          </p:cNvPr>
          <p:cNvSpPr>
            <a:spLocks noGrp="1"/>
          </p:cNvSpPr>
          <p:nvPr>
            <p:ph type="body" sz="quarter" idx="12"/>
          </p:nvPr>
        </p:nvSpPr>
        <p:spPr/>
        <p:txBody>
          <a:bodyPr>
            <a:normAutofit/>
          </a:bodyPr>
          <a:lstStyle/>
          <a:p>
            <a:r>
              <a:rPr lang="en-US" sz="2400" dirty="0"/>
              <a:t>A hospital is developing a new healthcare management system to handle patient records, appointments, and billing. The project has limited resources and must be delivered quickly. How can the </a:t>
            </a:r>
            <a:r>
              <a:rPr lang="en-US" sz="2400" dirty="0" err="1"/>
              <a:t>MoSCoW</a:t>
            </a:r>
            <a:r>
              <a:rPr lang="en-US" sz="2400" dirty="0"/>
              <a:t> technique be applied to prioritize features?</a:t>
            </a:r>
          </a:p>
        </p:txBody>
      </p:sp>
      <p:sp>
        <p:nvSpPr>
          <p:cNvPr id="4" name="Title 3">
            <a:extLst>
              <a:ext uri="{FF2B5EF4-FFF2-40B4-BE49-F238E27FC236}">
                <a16:creationId xmlns:a16="http://schemas.microsoft.com/office/drawing/2014/main" id="{670EB524-8A4F-3250-8672-E3FF9AA49AA8}"/>
              </a:ext>
            </a:extLst>
          </p:cNvPr>
          <p:cNvSpPr>
            <a:spLocks noGrp="1"/>
          </p:cNvSpPr>
          <p:nvPr>
            <p:ph type="title"/>
          </p:nvPr>
        </p:nvSpPr>
        <p:spPr/>
        <p:txBody>
          <a:bodyPr>
            <a:normAutofit fontScale="90000"/>
          </a:bodyPr>
          <a:lstStyle/>
          <a:p>
            <a:r>
              <a:rPr lang="en-US" dirty="0"/>
              <a:t>Scenario 7: Developing a Healthcare Management System</a:t>
            </a:r>
          </a:p>
        </p:txBody>
      </p:sp>
    </p:spTree>
    <p:extLst>
      <p:ext uri="{BB962C8B-B14F-4D97-AF65-F5344CB8AC3E}">
        <p14:creationId xmlns:p14="http://schemas.microsoft.com/office/powerpoint/2010/main" val="2911181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F8148C-485B-336D-92CD-B3667BDA1CF2}"/>
              </a:ext>
            </a:extLst>
          </p:cNvPr>
          <p:cNvSpPr>
            <a:spLocks noGrp="1"/>
          </p:cNvSpPr>
          <p:nvPr>
            <p:ph type="sldNum" sz="quarter" idx="13"/>
          </p:nvPr>
        </p:nvSpPr>
        <p:spPr/>
        <p:txBody>
          <a:bodyPr/>
          <a:lstStyle/>
          <a:p>
            <a:fld id="{12342C3A-DD85-7843-B416-BD52AB030D59}" type="slidenum">
              <a:rPr lang="en-US" smtClean="0"/>
              <a:pPr/>
              <a:t>15</a:t>
            </a:fld>
            <a:endParaRPr lang="en-US" dirty="0"/>
          </a:p>
        </p:txBody>
      </p:sp>
      <p:sp>
        <p:nvSpPr>
          <p:cNvPr id="3" name="Text Placeholder 2">
            <a:extLst>
              <a:ext uri="{FF2B5EF4-FFF2-40B4-BE49-F238E27FC236}">
                <a16:creationId xmlns:a16="http://schemas.microsoft.com/office/drawing/2014/main" id="{39B4EA90-7D5E-E8C3-ADCE-AD6BA4E3399D}"/>
              </a:ext>
            </a:extLst>
          </p:cNvPr>
          <p:cNvSpPr>
            <a:spLocks noGrp="1"/>
          </p:cNvSpPr>
          <p:nvPr>
            <p:ph type="body" sz="quarter" idx="12"/>
          </p:nvPr>
        </p:nvSpPr>
        <p:spPr>
          <a:xfrm>
            <a:off x="302684" y="954217"/>
            <a:ext cx="11588749" cy="5139678"/>
          </a:xfrm>
        </p:spPr>
        <p:txBody>
          <a:bodyPr>
            <a:normAutofit fontScale="92500" lnSpcReduction="10000"/>
          </a:bodyPr>
          <a:lstStyle/>
          <a:p>
            <a:endParaRPr lang="en-US" sz="1800" dirty="0"/>
          </a:p>
          <a:p>
            <a:pPr marL="742950" lvl="1" indent="-285750">
              <a:buFont typeface="Arial" panose="020B0604020202020204" pitchFamily="34" charset="0"/>
              <a:buChar char="•"/>
            </a:pPr>
            <a:r>
              <a:rPr lang="en-US" sz="1800" b="1" dirty="0"/>
              <a:t>Must Have</a:t>
            </a:r>
            <a:r>
              <a:rPr lang="en-US" sz="1800" dirty="0"/>
              <a:t>: </a:t>
            </a:r>
          </a:p>
          <a:p>
            <a:pPr marL="1143000" lvl="2" indent="-228600">
              <a:buFont typeface="Arial" panose="020B0604020202020204" pitchFamily="34" charset="0"/>
              <a:buChar char="•"/>
            </a:pPr>
            <a:r>
              <a:rPr lang="en-US" sz="1600" dirty="0"/>
              <a:t>Patient record management (critical for functionality).</a:t>
            </a:r>
          </a:p>
          <a:p>
            <a:pPr marL="1143000" lvl="2" indent="-228600">
              <a:buFont typeface="Arial" panose="020B0604020202020204" pitchFamily="34" charset="0"/>
              <a:buChar char="•"/>
            </a:pPr>
            <a:r>
              <a:rPr lang="en-US" sz="1600" dirty="0"/>
              <a:t>Appointment scheduling (essential for patient flow).</a:t>
            </a:r>
          </a:p>
          <a:p>
            <a:pPr marL="742950" lvl="1" indent="-285750">
              <a:buFont typeface="Arial" panose="020B0604020202020204" pitchFamily="34" charset="0"/>
              <a:buChar char="•"/>
            </a:pPr>
            <a:r>
              <a:rPr lang="en-US" sz="1800" b="1" dirty="0"/>
              <a:t>Should Have</a:t>
            </a:r>
            <a:r>
              <a:rPr lang="en-US" sz="1800" dirty="0"/>
              <a:t>: </a:t>
            </a:r>
          </a:p>
          <a:p>
            <a:pPr marL="1143000" lvl="2" indent="-228600">
              <a:buFont typeface="Arial" panose="020B0604020202020204" pitchFamily="34" charset="0"/>
              <a:buChar char="•"/>
            </a:pPr>
            <a:r>
              <a:rPr lang="en-US" sz="1600" dirty="0"/>
              <a:t>Billing system integration (important but can be deferred for now).</a:t>
            </a:r>
          </a:p>
          <a:p>
            <a:pPr marL="1143000" lvl="2" indent="-228600">
              <a:buFont typeface="Arial" panose="020B0604020202020204" pitchFamily="34" charset="0"/>
              <a:buChar char="•"/>
            </a:pPr>
            <a:r>
              <a:rPr lang="en-US" sz="1600" dirty="0"/>
              <a:t>Patient history tracking (valuable but not immediately necessary).</a:t>
            </a:r>
          </a:p>
          <a:p>
            <a:pPr marL="742950" lvl="1" indent="-285750">
              <a:buFont typeface="Arial" panose="020B0604020202020204" pitchFamily="34" charset="0"/>
              <a:buChar char="•"/>
            </a:pPr>
            <a:r>
              <a:rPr lang="en-US" sz="1800" b="1" dirty="0"/>
              <a:t>Could Have</a:t>
            </a:r>
            <a:r>
              <a:rPr lang="en-US" sz="1800" dirty="0"/>
              <a:t>: </a:t>
            </a:r>
          </a:p>
          <a:p>
            <a:pPr marL="1143000" lvl="2" indent="-228600">
              <a:buFont typeface="Arial" panose="020B0604020202020204" pitchFamily="34" charset="0"/>
              <a:buChar char="•"/>
            </a:pPr>
            <a:r>
              <a:rPr lang="en-US" sz="1600" dirty="0"/>
              <a:t>User profile customization (nice to have, but not crucial for initial release).</a:t>
            </a:r>
          </a:p>
          <a:p>
            <a:pPr marL="1143000" lvl="2" indent="-228600">
              <a:buFont typeface="Arial" panose="020B0604020202020204" pitchFamily="34" charset="0"/>
              <a:buChar char="•"/>
            </a:pPr>
            <a:r>
              <a:rPr lang="en-US" sz="1600" dirty="0"/>
              <a:t>Patient feedback surveys (not a priority for the initial phase).</a:t>
            </a:r>
          </a:p>
          <a:p>
            <a:pPr marL="742950" lvl="1" indent="-285750">
              <a:buFont typeface="Arial" panose="020B0604020202020204" pitchFamily="34" charset="0"/>
              <a:buChar char="•"/>
            </a:pPr>
            <a:r>
              <a:rPr lang="en-US" sz="1800" b="1" dirty="0"/>
              <a:t>Won't Have</a:t>
            </a:r>
            <a:r>
              <a:rPr lang="en-US" sz="1800" dirty="0"/>
              <a:t>: </a:t>
            </a:r>
          </a:p>
          <a:p>
            <a:pPr marL="1143000" lvl="2" indent="-228600">
              <a:buFont typeface="Arial" panose="020B0604020202020204" pitchFamily="34" charset="0"/>
              <a:buChar char="•"/>
            </a:pPr>
            <a:r>
              <a:rPr lang="en-US" sz="1600" dirty="0"/>
              <a:t>Integration with external medical systems (can be postponed for future phases).</a:t>
            </a:r>
          </a:p>
          <a:p>
            <a:pPr marL="1143000" lvl="2" indent="-228600">
              <a:buFont typeface="Arial" panose="020B0604020202020204" pitchFamily="34" charset="0"/>
              <a:buChar char="•"/>
            </a:pPr>
            <a:r>
              <a:rPr lang="en-US" sz="1600" dirty="0"/>
              <a:t>Telemedicine support (can be implemented after the core features are stable).</a:t>
            </a:r>
          </a:p>
          <a:p>
            <a:pPr marL="285750" indent="-285750">
              <a:buFont typeface="Arial" panose="020B0604020202020204" pitchFamily="34" charset="0"/>
              <a:buChar char="•"/>
            </a:pPr>
            <a:r>
              <a:rPr lang="en-US" sz="1800" b="1" dirty="0"/>
              <a:t>Why</a:t>
            </a:r>
            <a:r>
              <a:rPr lang="en-US" sz="1800" dirty="0"/>
              <a:t>: </a:t>
            </a:r>
            <a:r>
              <a:rPr lang="en-US" sz="1800" dirty="0" err="1"/>
              <a:t>MoSCoW</a:t>
            </a:r>
            <a:r>
              <a:rPr lang="en-US" sz="1800" dirty="0"/>
              <a:t> ensures that essential features are delivered first, aligning development with business priorities.</a:t>
            </a:r>
          </a:p>
          <a:p>
            <a:endParaRPr lang="en-US" sz="1800" dirty="0"/>
          </a:p>
        </p:txBody>
      </p:sp>
      <p:sp>
        <p:nvSpPr>
          <p:cNvPr id="4" name="Title 3">
            <a:extLst>
              <a:ext uri="{FF2B5EF4-FFF2-40B4-BE49-F238E27FC236}">
                <a16:creationId xmlns:a16="http://schemas.microsoft.com/office/drawing/2014/main" id="{209BE3D6-A37F-7305-4D15-1E9DC114653A}"/>
              </a:ext>
            </a:extLst>
          </p:cNvPr>
          <p:cNvSpPr>
            <a:spLocks noGrp="1"/>
          </p:cNvSpPr>
          <p:nvPr>
            <p:ph type="title"/>
          </p:nvPr>
        </p:nvSpPr>
        <p:spPr/>
        <p:txBody>
          <a:bodyPr>
            <a:normAutofit fontScale="90000"/>
          </a:bodyPr>
          <a:lstStyle/>
          <a:p>
            <a:r>
              <a:rPr lang="en-US" dirty="0"/>
              <a:t>Scenario 7: Developing a Healthcare Management System</a:t>
            </a:r>
          </a:p>
        </p:txBody>
      </p:sp>
    </p:spTree>
    <p:extLst>
      <p:ext uri="{BB962C8B-B14F-4D97-AF65-F5344CB8AC3E}">
        <p14:creationId xmlns:p14="http://schemas.microsoft.com/office/powerpoint/2010/main" val="3002651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70AE1E-851B-CF77-C7BD-2668756A53A7}"/>
              </a:ext>
            </a:extLst>
          </p:cNvPr>
          <p:cNvSpPr>
            <a:spLocks noGrp="1"/>
          </p:cNvSpPr>
          <p:nvPr>
            <p:ph type="sldNum" sz="quarter" idx="13"/>
          </p:nvPr>
        </p:nvSpPr>
        <p:spPr/>
        <p:txBody>
          <a:bodyPr/>
          <a:lstStyle/>
          <a:p>
            <a:fld id="{12342C3A-DD85-7843-B416-BD52AB030D59}" type="slidenum">
              <a:rPr lang="en-US" smtClean="0"/>
              <a:pPr/>
              <a:t>16</a:t>
            </a:fld>
            <a:endParaRPr lang="en-US" dirty="0"/>
          </a:p>
        </p:txBody>
      </p:sp>
      <p:sp>
        <p:nvSpPr>
          <p:cNvPr id="3" name="Text Placeholder 2">
            <a:extLst>
              <a:ext uri="{FF2B5EF4-FFF2-40B4-BE49-F238E27FC236}">
                <a16:creationId xmlns:a16="http://schemas.microsoft.com/office/drawing/2014/main" id="{1B3725F0-794A-CDBB-973F-37F6634ACDD6}"/>
              </a:ext>
            </a:extLst>
          </p:cNvPr>
          <p:cNvSpPr>
            <a:spLocks noGrp="1"/>
          </p:cNvSpPr>
          <p:nvPr>
            <p:ph type="body" sz="quarter" idx="12"/>
          </p:nvPr>
        </p:nvSpPr>
        <p:spPr/>
        <p:txBody>
          <a:bodyPr>
            <a:normAutofit/>
          </a:bodyPr>
          <a:lstStyle/>
          <a:p>
            <a:r>
              <a:rPr lang="en-US" sz="2400" dirty="0"/>
              <a:t>A startup is developing a social media app for user interaction, posting updates, and notifications. They are using timeboxing for their sprints. How would timeboxing be applied to ensure timely delivery?</a:t>
            </a:r>
          </a:p>
        </p:txBody>
      </p:sp>
      <p:sp>
        <p:nvSpPr>
          <p:cNvPr id="4" name="Title 3">
            <a:extLst>
              <a:ext uri="{FF2B5EF4-FFF2-40B4-BE49-F238E27FC236}">
                <a16:creationId xmlns:a16="http://schemas.microsoft.com/office/drawing/2014/main" id="{6CF4C56E-A3CC-5726-5DE5-6596B5E3235E}"/>
              </a:ext>
            </a:extLst>
          </p:cNvPr>
          <p:cNvSpPr>
            <a:spLocks noGrp="1"/>
          </p:cNvSpPr>
          <p:nvPr>
            <p:ph type="title"/>
          </p:nvPr>
        </p:nvSpPr>
        <p:spPr/>
        <p:txBody>
          <a:bodyPr/>
          <a:lstStyle/>
          <a:p>
            <a:r>
              <a:rPr lang="en-US" dirty="0"/>
              <a:t>Scenario 8: Developing a Social Media Application</a:t>
            </a:r>
          </a:p>
        </p:txBody>
      </p:sp>
    </p:spTree>
    <p:extLst>
      <p:ext uri="{BB962C8B-B14F-4D97-AF65-F5344CB8AC3E}">
        <p14:creationId xmlns:p14="http://schemas.microsoft.com/office/powerpoint/2010/main" val="2200824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64CB72-8ACD-645F-BECD-09B853156645}"/>
              </a:ext>
            </a:extLst>
          </p:cNvPr>
          <p:cNvSpPr>
            <a:spLocks noGrp="1"/>
          </p:cNvSpPr>
          <p:nvPr>
            <p:ph type="sldNum" sz="quarter" idx="13"/>
          </p:nvPr>
        </p:nvSpPr>
        <p:spPr/>
        <p:txBody>
          <a:bodyPr/>
          <a:lstStyle/>
          <a:p>
            <a:fld id="{12342C3A-DD85-7843-B416-BD52AB030D59}" type="slidenum">
              <a:rPr lang="en-US" smtClean="0"/>
              <a:pPr/>
              <a:t>17</a:t>
            </a:fld>
            <a:endParaRPr lang="en-US" dirty="0"/>
          </a:p>
        </p:txBody>
      </p:sp>
      <p:sp>
        <p:nvSpPr>
          <p:cNvPr id="3" name="Text Placeholder 2">
            <a:extLst>
              <a:ext uri="{FF2B5EF4-FFF2-40B4-BE49-F238E27FC236}">
                <a16:creationId xmlns:a16="http://schemas.microsoft.com/office/drawing/2014/main" id="{65646983-BAE2-9FF3-423F-843B3553EC02}"/>
              </a:ext>
            </a:extLst>
          </p:cNvPr>
          <p:cNvSpPr>
            <a:spLocks noGrp="1"/>
          </p:cNvSpPr>
          <p:nvPr>
            <p:ph type="body" sz="quarter" idx="12"/>
          </p:nvPr>
        </p:nvSpPr>
        <p:spPr/>
        <p:txBody>
          <a:bodyPr>
            <a:normAutofit lnSpcReduction="10000"/>
          </a:bodyPr>
          <a:lstStyle/>
          <a:p>
            <a:pPr marL="285750" indent="-285750">
              <a:buFont typeface="Arial" panose="020B0604020202020204" pitchFamily="34" charset="0"/>
              <a:buChar char="•"/>
            </a:pPr>
            <a:r>
              <a:rPr lang="en-US" sz="2000" b="1" dirty="0"/>
              <a:t>Timebox for each feature</a:t>
            </a:r>
            <a:r>
              <a:rPr lang="en-US" sz="2000" dirty="0"/>
              <a:t>:</a:t>
            </a:r>
          </a:p>
          <a:p>
            <a:pPr marL="742950" lvl="1" indent="-285750">
              <a:buFont typeface="Arial" panose="020B0604020202020204" pitchFamily="34" charset="0"/>
              <a:buChar char="•"/>
            </a:pPr>
            <a:r>
              <a:rPr lang="en-US" sz="2000" dirty="0"/>
              <a:t>For each sprint (e.g., two weeks), allocate a fixed amount of time to work on specific features (e.g., user profiles, posting updates).</a:t>
            </a:r>
          </a:p>
          <a:p>
            <a:pPr marL="285750" indent="-285750">
              <a:buFont typeface="Arial" panose="020B0604020202020204" pitchFamily="34" charset="0"/>
              <a:buChar char="•"/>
            </a:pPr>
            <a:r>
              <a:rPr lang="en-US" sz="2000" b="1" dirty="0"/>
              <a:t>Fixed scope</a:t>
            </a:r>
            <a:r>
              <a:rPr lang="en-US" sz="2000" dirty="0"/>
              <a:t>:</a:t>
            </a:r>
          </a:p>
          <a:p>
            <a:pPr marL="742950" lvl="1" indent="-285750">
              <a:buFont typeface="Arial" panose="020B0604020202020204" pitchFamily="34" charset="0"/>
              <a:buChar char="•"/>
            </a:pPr>
            <a:r>
              <a:rPr lang="en-US" sz="2000" dirty="0"/>
              <a:t>Limit the number of features or functionalities that can be worked on within the timebox. Prioritize core features and defer secondary features (like advanced settings or customizations) for later sprints.</a:t>
            </a:r>
          </a:p>
          <a:p>
            <a:pPr marL="285750" indent="-285750">
              <a:buFont typeface="Arial" panose="020B0604020202020204" pitchFamily="34" charset="0"/>
              <a:buChar char="•"/>
            </a:pPr>
            <a:r>
              <a:rPr lang="en-US" sz="2000" b="1" dirty="0"/>
              <a:t>Iterative feedback</a:t>
            </a:r>
            <a:r>
              <a:rPr lang="en-US" sz="2000" dirty="0"/>
              <a:t>:</a:t>
            </a:r>
          </a:p>
          <a:p>
            <a:pPr marL="742950" lvl="1" indent="-285750">
              <a:buFont typeface="Arial" panose="020B0604020202020204" pitchFamily="34" charset="0"/>
              <a:buChar char="•"/>
            </a:pPr>
            <a:r>
              <a:rPr lang="en-US" sz="2000" dirty="0"/>
              <a:t>At the end of each timebox, demonstrate the completed features to stakeholders, gather feedback, and adjust priorities for the next timebox.</a:t>
            </a:r>
          </a:p>
          <a:p>
            <a:pPr marL="285750" indent="-285750">
              <a:buFont typeface="Arial" panose="020B0604020202020204" pitchFamily="34" charset="0"/>
              <a:buChar char="•"/>
            </a:pPr>
            <a:r>
              <a:rPr lang="en-US" sz="2000" b="1" dirty="0"/>
              <a:t>Focus on completion</a:t>
            </a:r>
            <a:r>
              <a:rPr lang="en-US" sz="2000" dirty="0"/>
              <a:t>:</a:t>
            </a:r>
          </a:p>
          <a:p>
            <a:pPr marL="742950" lvl="1" indent="-285750">
              <a:buFont typeface="Arial" panose="020B0604020202020204" pitchFamily="34" charset="0"/>
              <a:buChar char="•"/>
            </a:pPr>
            <a:r>
              <a:rPr lang="en-US" sz="2000" dirty="0"/>
              <a:t>If time runs out before a feature is fully developed, it is deferred to the next iteration, keeping the process moving forward without overextending the timeline.</a:t>
            </a:r>
          </a:p>
          <a:p>
            <a:pPr marL="285750" indent="-285750">
              <a:buFont typeface="Arial" panose="020B0604020202020204" pitchFamily="34" charset="0"/>
              <a:buChar char="•"/>
            </a:pPr>
            <a:r>
              <a:rPr lang="en-US" sz="2000" b="1" dirty="0"/>
              <a:t>Why</a:t>
            </a:r>
            <a:r>
              <a:rPr lang="en-US" sz="2000" dirty="0"/>
              <a:t>: Timeboxing ensures that development stays on schedule, delivering incremental value while managing expectations and resources effectively.</a:t>
            </a:r>
          </a:p>
        </p:txBody>
      </p:sp>
      <p:sp>
        <p:nvSpPr>
          <p:cNvPr id="4" name="Title 3">
            <a:extLst>
              <a:ext uri="{FF2B5EF4-FFF2-40B4-BE49-F238E27FC236}">
                <a16:creationId xmlns:a16="http://schemas.microsoft.com/office/drawing/2014/main" id="{69832E29-069C-534C-EE63-931656551C20}"/>
              </a:ext>
            </a:extLst>
          </p:cNvPr>
          <p:cNvSpPr>
            <a:spLocks noGrp="1"/>
          </p:cNvSpPr>
          <p:nvPr>
            <p:ph type="title"/>
          </p:nvPr>
        </p:nvSpPr>
        <p:spPr/>
        <p:txBody>
          <a:bodyPr/>
          <a:lstStyle/>
          <a:p>
            <a:r>
              <a:rPr lang="en-US" dirty="0"/>
              <a:t>Scenario 8: Developing a Social Media Application</a:t>
            </a:r>
          </a:p>
        </p:txBody>
      </p:sp>
    </p:spTree>
    <p:extLst>
      <p:ext uri="{BB962C8B-B14F-4D97-AF65-F5344CB8AC3E}">
        <p14:creationId xmlns:p14="http://schemas.microsoft.com/office/powerpoint/2010/main" val="880021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306B96-F748-1A8A-6C31-77D3EE7873CE}"/>
              </a:ext>
            </a:extLst>
          </p:cNvPr>
          <p:cNvSpPr>
            <a:spLocks noGrp="1"/>
          </p:cNvSpPr>
          <p:nvPr>
            <p:ph type="sldNum" sz="quarter" idx="13"/>
          </p:nvPr>
        </p:nvSpPr>
        <p:spPr/>
        <p:txBody>
          <a:bodyPr/>
          <a:lstStyle/>
          <a:p>
            <a:fld id="{12342C3A-DD85-7843-B416-BD52AB030D59}" type="slidenum">
              <a:rPr lang="en-US" smtClean="0"/>
              <a:pPr/>
              <a:t>18</a:t>
            </a:fld>
            <a:endParaRPr lang="en-US" dirty="0"/>
          </a:p>
        </p:txBody>
      </p:sp>
      <p:sp>
        <p:nvSpPr>
          <p:cNvPr id="3" name="Text Placeholder 2">
            <a:extLst>
              <a:ext uri="{FF2B5EF4-FFF2-40B4-BE49-F238E27FC236}">
                <a16:creationId xmlns:a16="http://schemas.microsoft.com/office/drawing/2014/main" id="{D2273CF0-0222-DD11-9BD0-CB2F60A273C8}"/>
              </a:ext>
            </a:extLst>
          </p:cNvPr>
          <p:cNvSpPr>
            <a:spLocks noGrp="1"/>
          </p:cNvSpPr>
          <p:nvPr>
            <p:ph type="body" sz="quarter" idx="12"/>
          </p:nvPr>
        </p:nvSpPr>
        <p:spPr>
          <a:xfrm>
            <a:off x="302684" y="1576137"/>
            <a:ext cx="11588749" cy="4517758"/>
          </a:xfrm>
        </p:spPr>
        <p:txBody>
          <a:bodyPr>
            <a:normAutofit/>
          </a:bodyPr>
          <a:lstStyle/>
          <a:p>
            <a:r>
              <a:rPr lang="en-US" sz="2400" dirty="0"/>
              <a:t>A marketing team needs a customizable CRM system to track leads and campaigns. The requirements are unclear at the start, and the system needs to evolve based on user feedback. How would evolutionary prototyping be used?</a:t>
            </a:r>
          </a:p>
        </p:txBody>
      </p:sp>
      <p:sp>
        <p:nvSpPr>
          <p:cNvPr id="4" name="Title 3">
            <a:extLst>
              <a:ext uri="{FF2B5EF4-FFF2-40B4-BE49-F238E27FC236}">
                <a16:creationId xmlns:a16="http://schemas.microsoft.com/office/drawing/2014/main" id="{32C60976-3214-0DE1-42F2-1C5B8CC41ECB}"/>
              </a:ext>
            </a:extLst>
          </p:cNvPr>
          <p:cNvSpPr>
            <a:spLocks noGrp="1"/>
          </p:cNvSpPr>
          <p:nvPr>
            <p:ph type="title"/>
          </p:nvPr>
        </p:nvSpPr>
        <p:spPr/>
        <p:txBody>
          <a:bodyPr>
            <a:normAutofit fontScale="90000"/>
          </a:bodyPr>
          <a:lstStyle/>
          <a:p>
            <a:r>
              <a:rPr lang="en-US" dirty="0"/>
              <a:t>Scenario 9: Developing a Customizable CRM System for a Marketing Team</a:t>
            </a:r>
          </a:p>
        </p:txBody>
      </p:sp>
    </p:spTree>
    <p:extLst>
      <p:ext uri="{BB962C8B-B14F-4D97-AF65-F5344CB8AC3E}">
        <p14:creationId xmlns:p14="http://schemas.microsoft.com/office/powerpoint/2010/main" val="2473838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17345-C097-6705-88A7-7C55271AECE4}"/>
              </a:ext>
            </a:extLst>
          </p:cNvPr>
          <p:cNvSpPr>
            <a:spLocks noGrp="1"/>
          </p:cNvSpPr>
          <p:nvPr>
            <p:ph type="sldNum" sz="quarter" idx="13"/>
          </p:nvPr>
        </p:nvSpPr>
        <p:spPr/>
        <p:txBody>
          <a:bodyPr/>
          <a:lstStyle/>
          <a:p>
            <a:fld id="{12342C3A-DD85-7843-B416-BD52AB030D59}" type="slidenum">
              <a:rPr lang="en-US" smtClean="0"/>
              <a:pPr/>
              <a:t>19</a:t>
            </a:fld>
            <a:endParaRPr lang="en-US" dirty="0"/>
          </a:p>
        </p:txBody>
      </p:sp>
      <p:sp>
        <p:nvSpPr>
          <p:cNvPr id="3" name="Text Placeholder 2">
            <a:extLst>
              <a:ext uri="{FF2B5EF4-FFF2-40B4-BE49-F238E27FC236}">
                <a16:creationId xmlns:a16="http://schemas.microsoft.com/office/drawing/2014/main" id="{0C7D7924-2D08-CA0F-4C26-E12CA6DCAEAD}"/>
              </a:ext>
            </a:extLst>
          </p:cNvPr>
          <p:cNvSpPr>
            <a:spLocks noGrp="1"/>
          </p:cNvSpPr>
          <p:nvPr>
            <p:ph type="body" sz="quarter" idx="12"/>
          </p:nvPr>
        </p:nvSpPr>
        <p:spPr>
          <a:xfrm>
            <a:off x="302684" y="1528011"/>
            <a:ext cx="11588749" cy="4565884"/>
          </a:xfrm>
        </p:spPr>
        <p:txBody>
          <a:bodyPr>
            <a:normAutofit fontScale="92500" lnSpcReduction="10000"/>
          </a:bodyPr>
          <a:lstStyle/>
          <a:p>
            <a:pPr marL="285750" indent="-285750">
              <a:buFont typeface="Arial" panose="020B0604020202020204" pitchFamily="34" charset="0"/>
              <a:buChar char="•"/>
            </a:pPr>
            <a:r>
              <a:rPr lang="en-US" sz="2000" b="1" dirty="0"/>
              <a:t>Initial prototype</a:t>
            </a:r>
            <a:r>
              <a:rPr lang="en-US" sz="2000" dirty="0"/>
              <a:t>:</a:t>
            </a:r>
          </a:p>
          <a:p>
            <a:pPr marL="742950" lvl="1" indent="-285750">
              <a:buFont typeface="Arial" panose="020B0604020202020204" pitchFamily="34" charset="0"/>
              <a:buChar char="•"/>
            </a:pPr>
            <a:r>
              <a:rPr lang="en-US" sz="2000" dirty="0"/>
              <a:t>Develop a basic, working version of the CRM system with core functionalities, like lead tracking and campaign monitoring.</a:t>
            </a:r>
          </a:p>
          <a:p>
            <a:pPr marL="285750" indent="-285750">
              <a:buFont typeface="Arial" panose="020B0604020202020204" pitchFamily="34" charset="0"/>
              <a:buChar char="•"/>
            </a:pPr>
            <a:r>
              <a:rPr lang="en-US" sz="2000" b="1" dirty="0"/>
              <a:t>User feedback</a:t>
            </a:r>
            <a:r>
              <a:rPr lang="en-US" sz="2000" dirty="0"/>
              <a:t>:</a:t>
            </a:r>
          </a:p>
          <a:p>
            <a:pPr marL="742950" lvl="1" indent="-285750">
              <a:buFont typeface="Arial" panose="020B0604020202020204" pitchFamily="34" charset="0"/>
              <a:buChar char="•"/>
            </a:pPr>
            <a:r>
              <a:rPr lang="en-US" sz="2000" dirty="0"/>
              <a:t>Have the marketing team use the prototype and gather detailed feedback on usability, features, and gaps.</a:t>
            </a:r>
          </a:p>
          <a:p>
            <a:pPr marL="285750" indent="-285750">
              <a:buFont typeface="Arial" panose="020B0604020202020204" pitchFamily="34" charset="0"/>
              <a:buChar char="•"/>
            </a:pPr>
            <a:r>
              <a:rPr lang="en-US" sz="2000" b="1" dirty="0"/>
              <a:t>Iterative improvements</a:t>
            </a:r>
            <a:r>
              <a:rPr lang="en-US" sz="2000" dirty="0"/>
              <a:t>:</a:t>
            </a:r>
          </a:p>
          <a:p>
            <a:pPr marL="742950" lvl="1" indent="-285750">
              <a:buFont typeface="Arial" panose="020B0604020202020204" pitchFamily="34" charset="0"/>
              <a:buChar char="•"/>
            </a:pPr>
            <a:r>
              <a:rPr lang="en-US" sz="2000" dirty="0"/>
              <a:t>Based on feedback, refine and add new features in future iterations (e.g., email integration, analytics dashboard, custom reporting tools).</a:t>
            </a:r>
          </a:p>
          <a:p>
            <a:pPr marL="285750" indent="-285750">
              <a:buFont typeface="Arial" panose="020B0604020202020204" pitchFamily="34" charset="0"/>
              <a:buChar char="•"/>
            </a:pPr>
            <a:r>
              <a:rPr lang="en-US" sz="2000" b="1" dirty="0"/>
              <a:t>Continuous evolution</a:t>
            </a:r>
            <a:r>
              <a:rPr lang="en-US" sz="2000" dirty="0"/>
              <a:t>:</a:t>
            </a:r>
          </a:p>
          <a:p>
            <a:pPr marL="742950" lvl="1" indent="-285750">
              <a:buFont typeface="Arial" panose="020B0604020202020204" pitchFamily="34" charset="0"/>
              <a:buChar char="•"/>
            </a:pPr>
            <a:r>
              <a:rPr lang="en-US" sz="2000" dirty="0"/>
              <a:t>The system evolves over time, allowing users to influence the development direction and ensuring the system meets their needs at each step.</a:t>
            </a:r>
          </a:p>
          <a:p>
            <a:pPr marL="285750" indent="-285750">
              <a:buFont typeface="Arial" panose="020B0604020202020204" pitchFamily="34" charset="0"/>
              <a:buChar char="•"/>
            </a:pPr>
            <a:r>
              <a:rPr lang="en-US" sz="2000" b="1" dirty="0"/>
              <a:t>Why</a:t>
            </a:r>
            <a:r>
              <a:rPr lang="en-US" sz="2000" dirty="0"/>
              <a:t>: Evolutionary prototyping allows the CRM system to adapt to changing needs, providing users with an evolving solution that improves over time.</a:t>
            </a:r>
          </a:p>
        </p:txBody>
      </p:sp>
      <p:sp>
        <p:nvSpPr>
          <p:cNvPr id="4" name="Title 3">
            <a:extLst>
              <a:ext uri="{FF2B5EF4-FFF2-40B4-BE49-F238E27FC236}">
                <a16:creationId xmlns:a16="http://schemas.microsoft.com/office/drawing/2014/main" id="{74F323E8-B2AA-B5DA-B06A-83A784EC7D9B}"/>
              </a:ext>
            </a:extLst>
          </p:cNvPr>
          <p:cNvSpPr>
            <a:spLocks noGrp="1"/>
          </p:cNvSpPr>
          <p:nvPr>
            <p:ph type="title"/>
          </p:nvPr>
        </p:nvSpPr>
        <p:spPr/>
        <p:txBody>
          <a:bodyPr>
            <a:normAutofit fontScale="90000"/>
          </a:bodyPr>
          <a:lstStyle/>
          <a:p>
            <a:r>
              <a:rPr lang="en-US" dirty="0"/>
              <a:t>Scenario 9: Developing a Customizable CRM System for a Marketing Team</a:t>
            </a:r>
          </a:p>
        </p:txBody>
      </p:sp>
    </p:spTree>
    <p:extLst>
      <p:ext uri="{BB962C8B-B14F-4D97-AF65-F5344CB8AC3E}">
        <p14:creationId xmlns:p14="http://schemas.microsoft.com/office/powerpoint/2010/main" val="2869932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B61EEE-C934-2FFC-B2F8-80EF3CC8EC85}"/>
              </a:ext>
            </a:extLst>
          </p:cNvPr>
          <p:cNvSpPr>
            <a:spLocks noGrp="1"/>
          </p:cNvSpPr>
          <p:nvPr>
            <p:ph type="sldNum" sz="quarter" idx="13"/>
          </p:nvPr>
        </p:nvSpPr>
        <p:spPr/>
        <p:txBody>
          <a:bodyPr/>
          <a:lstStyle/>
          <a:p>
            <a:fld id="{12342C3A-DD85-7843-B416-BD52AB030D59}" type="slidenum">
              <a:rPr lang="en-US" smtClean="0"/>
              <a:pPr/>
              <a:t>20</a:t>
            </a:fld>
            <a:endParaRPr lang="en-US" dirty="0"/>
          </a:p>
        </p:txBody>
      </p:sp>
      <p:sp>
        <p:nvSpPr>
          <p:cNvPr id="3" name="Text Placeholder 2">
            <a:extLst>
              <a:ext uri="{FF2B5EF4-FFF2-40B4-BE49-F238E27FC236}">
                <a16:creationId xmlns:a16="http://schemas.microsoft.com/office/drawing/2014/main" id="{ADB2183A-ECCA-81B6-1FAF-944CB37FAB6D}"/>
              </a:ext>
            </a:extLst>
          </p:cNvPr>
          <p:cNvSpPr>
            <a:spLocks noGrp="1"/>
          </p:cNvSpPr>
          <p:nvPr>
            <p:ph type="body" sz="quarter" idx="12"/>
          </p:nvPr>
        </p:nvSpPr>
        <p:spPr/>
        <p:txBody>
          <a:bodyPr>
            <a:normAutofit/>
          </a:bodyPr>
          <a:lstStyle/>
          <a:p>
            <a:r>
              <a:rPr lang="en-US" sz="2400" dirty="0"/>
              <a:t>A bank wants to develop a mobile banking application that allows users to check balances, transfer money, and apply for loans. To ensure that all stakeholders (business analysts, developers, and end-users) align on requirements, how can Facilitated Joint Workshops (JAD) be utilized?</a:t>
            </a:r>
          </a:p>
        </p:txBody>
      </p:sp>
      <p:sp>
        <p:nvSpPr>
          <p:cNvPr id="4" name="Title 3">
            <a:extLst>
              <a:ext uri="{FF2B5EF4-FFF2-40B4-BE49-F238E27FC236}">
                <a16:creationId xmlns:a16="http://schemas.microsoft.com/office/drawing/2014/main" id="{13FDBAC8-3D71-BAB5-7456-3913D06FAC3C}"/>
              </a:ext>
            </a:extLst>
          </p:cNvPr>
          <p:cNvSpPr>
            <a:spLocks noGrp="1"/>
          </p:cNvSpPr>
          <p:nvPr>
            <p:ph type="title"/>
          </p:nvPr>
        </p:nvSpPr>
        <p:spPr/>
        <p:txBody>
          <a:bodyPr>
            <a:normAutofit fontScale="90000"/>
          </a:bodyPr>
          <a:lstStyle/>
          <a:p>
            <a:r>
              <a:rPr lang="en-US" dirty="0"/>
              <a:t>Scenario 10: Developing a Mobile Banking Application</a:t>
            </a:r>
          </a:p>
        </p:txBody>
      </p:sp>
    </p:spTree>
    <p:extLst>
      <p:ext uri="{BB962C8B-B14F-4D97-AF65-F5344CB8AC3E}">
        <p14:creationId xmlns:p14="http://schemas.microsoft.com/office/powerpoint/2010/main" val="3941936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BCA2AA-2951-40EE-A0B2-1F7C7CE85FB0}"/>
              </a:ext>
            </a:extLst>
          </p:cNvPr>
          <p:cNvSpPr>
            <a:spLocks noGrp="1"/>
          </p:cNvSpPr>
          <p:nvPr>
            <p:ph type="sldNum" sz="quarter" idx="13"/>
          </p:nvPr>
        </p:nvSpPr>
        <p:spPr/>
        <p:txBody>
          <a:bodyPr/>
          <a:lstStyle/>
          <a:p>
            <a:fld id="{12342C3A-DD85-7843-B416-BD52AB030D59}" type="slidenum">
              <a:rPr lang="en-US" smtClean="0"/>
              <a:pPr/>
              <a:t>21</a:t>
            </a:fld>
            <a:endParaRPr lang="en-US" dirty="0"/>
          </a:p>
        </p:txBody>
      </p:sp>
      <p:sp>
        <p:nvSpPr>
          <p:cNvPr id="3" name="Text Placeholder 2">
            <a:extLst>
              <a:ext uri="{FF2B5EF4-FFF2-40B4-BE49-F238E27FC236}">
                <a16:creationId xmlns:a16="http://schemas.microsoft.com/office/drawing/2014/main" id="{1E91E0CA-584D-34AE-6A17-0AE4D53489BC}"/>
              </a:ext>
            </a:extLst>
          </p:cNvPr>
          <p:cNvSpPr>
            <a:spLocks noGrp="1"/>
          </p:cNvSpPr>
          <p:nvPr>
            <p:ph type="body" sz="quarter" idx="12"/>
          </p:nvPr>
        </p:nvSpPr>
        <p:spPr/>
        <p:txBody>
          <a:bodyPr>
            <a:normAutofit fontScale="92500" lnSpcReduction="20000"/>
          </a:bodyPr>
          <a:lstStyle/>
          <a:p>
            <a:pPr marL="285750" indent="-285750">
              <a:buFont typeface="Arial" panose="020B0604020202020204" pitchFamily="34" charset="0"/>
              <a:buChar char="•"/>
            </a:pPr>
            <a:r>
              <a:rPr lang="en-US" sz="1800" b="1" dirty="0"/>
              <a:t>Stakeholder collaboration</a:t>
            </a:r>
            <a:r>
              <a:rPr lang="en-US" sz="1800" dirty="0"/>
              <a:t>:</a:t>
            </a:r>
          </a:p>
          <a:p>
            <a:pPr marL="742950" lvl="1" indent="-285750">
              <a:buFont typeface="Arial" panose="020B0604020202020204" pitchFamily="34" charset="0"/>
              <a:buChar char="•"/>
            </a:pPr>
            <a:r>
              <a:rPr lang="en-US" sz="1800" dirty="0"/>
              <a:t>Organize a series of JAD workshops with key stakeholders (business representatives, developers, end-users) to define requirements and features for the mobile app.</a:t>
            </a:r>
          </a:p>
          <a:p>
            <a:pPr marL="285750" indent="-285750">
              <a:buFont typeface="Arial" panose="020B0604020202020204" pitchFamily="34" charset="0"/>
              <a:buChar char="•"/>
            </a:pPr>
            <a:r>
              <a:rPr lang="en-US" sz="1800" b="1" dirty="0"/>
              <a:t>Facilitator role</a:t>
            </a:r>
            <a:r>
              <a:rPr lang="en-US" sz="1800" dirty="0"/>
              <a:t>:</a:t>
            </a:r>
          </a:p>
          <a:p>
            <a:pPr marL="742950" lvl="1" indent="-285750">
              <a:buFont typeface="Arial" panose="020B0604020202020204" pitchFamily="34" charset="0"/>
              <a:buChar char="•"/>
            </a:pPr>
            <a:r>
              <a:rPr lang="en-US" sz="1800" dirty="0"/>
              <a:t>A facilitator guides the workshops to ensure productive discussions, manage time, and keep focus on gathering key requirements.</a:t>
            </a:r>
          </a:p>
          <a:p>
            <a:pPr marL="285750" indent="-285750">
              <a:buFont typeface="Arial" panose="020B0604020202020204" pitchFamily="34" charset="0"/>
              <a:buChar char="•"/>
            </a:pPr>
            <a:r>
              <a:rPr lang="en-US" sz="1800" b="1" dirty="0"/>
              <a:t>Requirement gathering</a:t>
            </a:r>
            <a:r>
              <a:rPr lang="en-US" sz="1800" dirty="0"/>
              <a:t>:</a:t>
            </a:r>
          </a:p>
          <a:p>
            <a:pPr marL="742950" lvl="1" indent="-285750">
              <a:buFont typeface="Arial" panose="020B0604020202020204" pitchFamily="34" charset="0"/>
              <a:buChar char="•"/>
            </a:pPr>
            <a:r>
              <a:rPr lang="en-US" sz="1800" dirty="0"/>
              <a:t>During the workshops, gather input on essential features such as account management, security requirements, and loan application process.</a:t>
            </a:r>
          </a:p>
          <a:p>
            <a:pPr marL="285750" indent="-285750">
              <a:buFont typeface="Arial" panose="020B0604020202020204" pitchFamily="34" charset="0"/>
              <a:buChar char="•"/>
            </a:pPr>
            <a:r>
              <a:rPr lang="en-US" sz="1800" b="1" dirty="0"/>
              <a:t>Consensus building</a:t>
            </a:r>
            <a:r>
              <a:rPr lang="en-US" sz="1800" dirty="0"/>
              <a:t>:</a:t>
            </a:r>
          </a:p>
          <a:p>
            <a:pPr marL="742950" lvl="1" indent="-285750">
              <a:buFont typeface="Arial" panose="020B0604020202020204" pitchFamily="34" charset="0"/>
              <a:buChar char="•"/>
            </a:pPr>
            <a:r>
              <a:rPr lang="en-US" sz="1800" dirty="0"/>
              <a:t>Facilitate decision-making to ensure consensus on the most critical features, prioritizing user needs and business goals.</a:t>
            </a:r>
          </a:p>
          <a:p>
            <a:pPr marL="285750" indent="-285750">
              <a:buFont typeface="Arial" panose="020B0604020202020204" pitchFamily="34" charset="0"/>
              <a:buChar char="•"/>
            </a:pPr>
            <a:r>
              <a:rPr lang="en-US" sz="1800" b="1" dirty="0"/>
              <a:t>Documentation</a:t>
            </a:r>
            <a:r>
              <a:rPr lang="en-US" sz="1800" dirty="0"/>
              <a:t>:</a:t>
            </a:r>
          </a:p>
          <a:p>
            <a:pPr marL="742950" lvl="1" indent="-285750">
              <a:buFont typeface="Arial" panose="020B0604020202020204" pitchFamily="34" charset="0"/>
              <a:buChar char="•"/>
            </a:pPr>
            <a:r>
              <a:rPr lang="en-US" sz="1800" dirty="0"/>
              <a:t>Capture the results of the workshops to create a clear set of functional and non-functional requirements for the app.</a:t>
            </a:r>
          </a:p>
          <a:p>
            <a:pPr marL="285750" indent="-285750">
              <a:buFont typeface="Arial" panose="020B0604020202020204" pitchFamily="34" charset="0"/>
              <a:buChar char="•"/>
            </a:pPr>
            <a:r>
              <a:rPr lang="en-US" sz="1800" b="1" dirty="0"/>
              <a:t>Why</a:t>
            </a:r>
            <a:r>
              <a:rPr lang="en-US" sz="1800" dirty="0"/>
              <a:t>: JAD workshops provide a structured environment for cross-functional teams to collaborate, reducing miscommunication and ensuring that the app meets both business and user expectations.</a:t>
            </a:r>
          </a:p>
        </p:txBody>
      </p:sp>
      <p:sp>
        <p:nvSpPr>
          <p:cNvPr id="4" name="Title 3">
            <a:extLst>
              <a:ext uri="{FF2B5EF4-FFF2-40B4-BE49-F238E27FC236}">
                <a16:creationId xmlns:a16="http://schemas.microsoft.com/office/drawing/2014/main" id="{B542C095-3E33-01AD-3EB7-76391C1B678F}"/>
              </a:ext>
            </a:extLst>
          </p:cNvPr>
          <p:cNvSpPr>
            <a:spLocks noGrp="1"/>
          </p:cNvSpPr>
          <p:nvPr>
            <p:ph type="title"/>
          </p:nvPr>
        </p:nvSpPr>
        <p:spPr/>
        <p:txBody>
          <a:bodyPr>
            <a:normAutofit fontScale="90000"/>
          </a:bodyPr>
          <a:lstStyle/>
          <a:p>
            <a:r>
              <a:rPr lang="en-US" dirty="0"/>
              <a:t>Scenario 10: Developing a Mobile Banking Application</a:t>
            </a:r>
          </a:p>
        </p:txBody>
      </p:sp>
    </p:spTree>
    <p:extLst>
      <p:ext uri="{BB962C8B-B14F-4D97-AF65-F5344CB8AC3E}">
        <p14:creationId xmlns:p14="http://schemas.microsoft.com/office/powerpoint/2010/main" val="778112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97F0F8-97D8-51C4-FCB7-C17CF3C3114F}"/>
              </a:ext>
            </a:extLst>
          </p:cNvPr>
          <p:cNvSpPr>
            <a:spLocks noGrp="1"/>
          </p:cNvSpPr>
          <p:nvPr>
            <p:ph type="sldNum" sz="quarter" idx="13"/>
          </p:nvPr>
        </p:nvSpPr>
        <p:spPr/>
        <p:txBody>
          <a:bodyPr/>
          <a:lstStyle/>
          <a:p>
            <a:fld id="{12342C3A-DD85-7843-B416-BD52AB030D59}" type="slidenum">
              <a:rPr lang="en-US" smtClean="0"/>
              <a:pPr/>
              <a:t>22</a:t>
            </a:fld>
            <a:endParaRPr lang="en-US" dirty="0"/>
          </a:p>
        </p:txBody>
      </p:sp>
      <p:sp>
        <p:nvSpPr>
          <p:cNvPr id="3" name="Text Placeholder 2">
            <a:extLst>
              <a:ext uri="{FF2B5EF4-FFF2-40B4-BE49-F238E27FC236}">
                <a16:creationId xmlns:a16="http://schemas.microsoft.com/office/drawing/2014/main" id="{36A0AB57-B5CF-CC04-DD8F-95B043C5324C}"/>
              </a:ext>
            </a:extLst>
          </p:cNvPr>
          <p:cNvSpPr>
            <a:spLocks noGrp="1"/>
          </p:cNvSpPr>
          <p:nvPr>
            <p:ph type="body" sz="quarter" idx="12"/>
          </p:nvPr>
        </p:nvSpPr>
        <p:spPr/>
        <p:txBody>
          <a:bodyPr>
            <a:normAutofit/>
          </a:bodyPr>
          <a:lstStyle/>
          <a:p>
            <a:r>
              <a:rPr lang="en-US" sz="2400" dirty="0"/>
              <a:t>A school needs a new management system that includes student enrollment, grade tracking, and communication tools for teachers and parents. They are using a combination of </a:t>
            </a:r>
            <a:r>
              <a:rPr lang="en-US" sz="2400" dirty="0" err="1"/>
              <a:t>MoSCoW</a:t>
            </a:r>
            <a:r>
              <a:rPr lang="en-US" sz="2400" dirty="0"/>
              <a:t>, Timeboxing, Evolutionary Prototyping, and JAD to ensure the project delivers the necessary features quickly and aligns with stakeholder needs. How would each technique be applied?</a:t>
            </a:r>
          </a:p>
        </p:txBody>
      </p:sp>
      <p:sp>
        <p:nvSpPr>
          <p:cNvPr id="4" name="Title 3">
            <a:extLst>
              <a:ext uri="{FF2B5EF4-FFF2-40B4-BE49-F238E27FC236}">
                <a16:creationId xmlns:a16="http://schemas.microsoft.com/office/drawing/2014/main" id="{17DA0EEB-EC65-8266-6CDC-10633FE0A4DF}"/>
              </a:ext>
            </a:extLst>
          </p:cNvPr>
          <p:cNvSpPr>
            <a:spLocks noGrp="1"/>
          </p:cNvSpPr>
          <p:nvPr>
            <p:ph type="title"/>
          </p:nvPr>
        </p:nvSpPr>
        <p:spPr/>
        <p:txBody>
          <a:bodyPr>
            <a:normAutofit fontScale="90000"/>
          </a:bodyPr>
          <a:lstStyle/>
          <a:p>
            <a:r>
              <a:rPr lang="en-US" dirty="0"/>
              <a:t>Scenario 11: Developing a School Management System</a:t>
            </a:r>
          </a:p>
        </p:txBody>
      </p:sp>
    </p:spTree>
    <p:extLst>
      <p:ext uri="{BB962C8B-B14F-4D97-AF65-F5344CB8AC3E}">
        <p14:creationId xmlns:p14="http://schemas.microsoft.com/office/powerpoint/2010/main" val="3978411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29021F-2E6B-2918-3DC5-A5625A50BDC2}"/>
              </a:ext>
            </a:extLst>
          </p:cNvPr>
          <p:cNvSpPr>
            <a:spLocks noGrp="1"/>
          </p:cNvSpPr>
          <p:nvPr>
            <p:ph type="sldNum" sz="quarter" idx="13"/>
          </p:nvPr>
        </p:nvSpPr>
        <p:spPr/>
        <p:txBody>
          <a:bodyPr/>
          <a:lstStyle/>
          <a:p>
            <a:fld id="{12342C3A-DD85-7843-B416-BD52AB030D59}" type="slidenum">
              <a:rPr lang="en-US" smtClean="0"/>
              <a:pPr/>
              <a:t>23</a:t>
            </a:fld>
            <a:endParaRPr lang="en-US" dirty="0"/>
          </a:p>
        </p:txBody>
      </p:sp>
      <p:sp>
        <p:nvSpPr>
          <p:cNvPr id="3" name="Text Placeholder 2">
            <a:extLst>
              <a:ext uri="{FF2B5EF4-FFF2-40B4-BE49-F238E27FC236}">
                <a16:creationId xmlns:a16="http://schemas.microsoft.com/office/drawing/2014/main" id="{A70B54E3-8886-CF42-FE0A-E60F06B8CFD4}"/>
              </a:ext>
            </a:extLst>
          </p:cNvPr>
          <p:cNvSpPr>
            <a:spLocks noGrp="1"/>
          </p:cNvSpPr>
          <p:nvPr>
            <p:ph type="body" sz="quarter" idx="12"/>
          </p:nvPr>
        </p:nvSpPr>
        <p:spPr/>
        <p:txBody>
          <a:bodyPr>
            <a:normAutofit/>
          </a:bodyPr>
          <a:lstStyle/>
          <a:p>
            <a:pPr>
              <a:buNone/>
            </a:pPr>
            <a:endParaRPr lang="en-US" sz="2000" dirty="0"/>
          </a:p>
          <a:p>
            <a:pPr marL="285750" indent="-285750">
              <a:buFont typeface="Arial" panose="020B0604020202020204" pitchFamily="34" charset="0"/>
              <a:buChar char="•"/>
            </a:pPr>
            <a:r>
              <a:rPr lang="en-US" sz="2000" b="1" dirty="0" err="1"/>
              <a:t>MoSCoW</a:t>
            </a:r>
            <a:r>
              <a:rPr lang="en-US" sz="2000" dirty="0"/>
              <a:t>: </a:t>
            </a:r>
          </a:p>
          <a:p>
            <a:pPr marL="742950" lvl="1" indent="-285750">
              <a:buFont typeface="Arial" panose="020B0604020202020204" pitchFamily="34" charset="0"/>
              <a:buChar char="•"/>
            </a:pPr>
            <a:r>
              <a:rPr lang="en-US" sz="2000" b="1" dirty="0"/>
              <a:t>Must Have</a:t>
            </a:r>
            <a:r>
              <a:rPr lang="en-US" sz="2000" dirty="0"/>
              <a:t>: Student enrollment and grade tracking.</a:t>
            </a:r>
          </a:p>
          <a:p>
            <a:pPr marL="742950" lvl="1" indent="-285750">
              <a:buFont typeface="Arial" panose="020B0604020202020204" pitchFamily="34" charset="0"/>
              <a:buChar char="•"/>
            </a:pPr>
            <a:r>
              <a:rPr lang="en-US" sz="2000" b="1" dirty="0"/>
              <a:t>Should Have</a:t>
            </a:r>
            <a:r>
              <a:rPr lang="en-US" sz="2000" dirty="0"/>
              <a:t>: Communication tools between teachers and parents.</a:t>
            </a:r>
          </a:p>
          <a:p>
            <a:pPr marL="742950" lvl="1" indent="-285750">
              <a:buFont typeface="Arial" panose="020B0604020202020204" pitchFamily="34" charset="0"/>
              <a:buChar char="•"/>
            </a:pPr>
            <a:r>
              <a:rPr lang="en-US" sz="2000" b="1" dirty="0"/>
              <a:t>Could Have</a:t>
            </a:r>
            <a:r>
              <a:rPr lang="en-US" sz="2000" dirty="0"/>
              <a:t>: Advanced reporting features and mobile app support.</a:t>
            </a:r>
          </a:p>
          <a:p>
            <a:pPr marL="742950" lvl="1" indent="-285750">
              <a:buFont typeface="Arial" panose="020B0604020202020204" pitchFamily="34" charset="0"/>
              <a:buChar char="•"/>
            </a:pPr>
            <a:r>
              <a:rPr lang="en-US" sz="2000" b="1" dirty="0"/>
              <a:t>Won’t Have</a:t>
            </a:r>
            <a:r>
              <a:rPr lang="en-US" sz="2000" dirty="0"/>
              <a:t>: Integration with external systems (e.g., other school databases) in the first iteration.</a:t>
            </a:r>
          </a:p>
          <a:p>
            <a:endParaRPr lang="en-US" sz="2000" dirty="0"/>
          </a:p>
        </p:txBody>
      </p:sp>
      <p:sp>
        <p:nvSpPr>
          <p:cNvPr id="4" name="Title 3">
            <a:extLst>
              <a:ext uri="{FF2B5EF4-FFF2-40B4-BE49-F238E27FC236}">
                <a16:creationId xmlns:a16="http://schemas.microsoft.com/office/drawing/2014/main" id="{ACBBDF44-FD57-89A8-328A-6819D49A9B35}"/>
              </a:ext>
            </a:extLst>
          </p:cNvPr>
          <p:cNvSpPr>
            <a:spLocks noGrp="1"/>
          </p:cNvSpPr>
          <p:nvPr>
            <p:ph type="title"/>
          </p:nvPr>
        </p:nvSpPr>
        <p:spPr/>
        <p:txBody>
          <a:bodyPr>
            <a:normAutofit fontScale="90000"/>
          </a:bodyPr>
          <a:lstStyle/>
          <a:p>
            <a:r>
              <a:rPr lang="en-US" dirty="0"/>
              <a:t>Scenario 11: Developing a School Management System</a:t>
            </a:r>
          </a:p>
        </p:txBody>
      </p:sp>
    </p:spTree>
    <p:extLst>
      <p:ext uri="{BB962C8B-B14F-4D97-AF65-F5344CB8AC3E}">
        <p14:creationId xmlns:p14="http://schemas.microsoft.com/office/powerpoint/2010/main" val="1262368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B057E1-59BB-47C4-CACD-EBC6E4EE4C1F}"/>
              </a:ext>
            </a:extLst>
          </p:cNvPr>
          <p:cNvSpPr>
            <a:spLocks noGrp="1"/>
          </p:cNvSpPr>
          <p:nvPr>
            <p:ph type="sldNum" sz="quarter" idx="13"/>
          </p:nvPr>
        </p:nvSpPr>
        <p:spPr/>
        <p:txBody>
          <a:bodyPr/>
          <a:lstStyle/>
          <a:p>
            <a:fld id="{12342C3A-DD85-7843-B416-BD52AB030D59}" type="slidenum">
              <a:rPr lang="en-US" smtClean="0"/>
              <a:pPr/>
              <a:t>24</a:t>
            </a:fld>
            <a:endParaRPr lang="en-US" dirty="0"/>
          </a:p>
        </p:txBody>
      </p:sp>
      <p:sp>
        <p:nvSpPr>
          <p:cNvPr id="3" name="Text Placeholder 2">
            <a:extLst>
              <a:ext uri="{FF2B5EF4-FFF2-40B4-BE49-F238E27FC236}">
                <a16:creationId xmlns:a16="http://schemas.microsoft.com/office/drawing/2014/main" id="{24F565FA-C5CB-5F39-D4C3-57F01DC8E6C6}"/>
              </a:ext>
            </a:extLst>
          </p:cNvPr>
          <p:cNvSpPr>
            <a:spLocks noGrp="1"/>
          </p:cNvSpPr>
          <p:nvPr>
            <p:ph type="body" sz="quarter" idx="12"/>
          </p:nvPr>
        </p:nvSpPr>
        <p:spPr>
          <a:xfrm>
            <a:off x="302684" y="1311441"/>
            <a:ext cx="11588749" cy="4782453"/>
          </a:xfrm>
        </p:spPr>
        <p:txBody>
          <a:bodyPr>
            <a:normAutofit/>
          </a:bodyPr>
          <a:lstStyle/>
          <a:p>
            <a:pPr marL="285750" indent="-285750">
              <a:buFont typeface="Arial" panose="020B0604020202020204" pitchFamily="34" charset="0"/>
              <a:buChar char="•"/>
            </a:pPr>
            <a:r>
              <a:rPr lang="en-US" sz="2400" b="1" dirty="0"/>
              <a:t>Timeboxing</a:t>
            </a:r>
            <a:r>
              <a:rPr lang="en-US" sz="2400" dirty="0"/>
              <a:t>:</a:t>
            </a:r>
          </a:p>
          <a:p>
            <a:pPr marL="742950" lvl="1" indent="-285750">
              <a:buFont typeface="Arial" panose="020B0604020202020204" pitchFamily="34" charset="0"/>
              <a:buChar char="•"/>
            </a:pPr>
            <a:r>
              <a:rPr lang="en-US" sz="2400" dirty="0"/>
              <a:t>Timebox each feature development into 2-week iterations. For example, one timebox for the enrollment module, another for the grade tracking feature, etc.</a:t>
            </a:r>
          </a:p>
          <a:p>
            <a:pPr marL="742950" lvl="1" indent="-285750">
              <a:buFont typeface="Arial" panose="020B0604020202020204" pitchFamily="34" charset="0"/>
              <a:buChar char="•"/>
            </a:pPr>
            <a:r>
              <a:rPr lang="en-US" sz="2400" dirty="0"/>
              <a:t>At the end of each timebox, deliver a working version of the feature for feedback and adjustments.</a:t>
            </a:r>
          </a:p>
          <a:p>
            <a:pPr marL="742950" lvl="1" indent="-285750">
              <a:buFont typeface="Arial" panose="020B0604020202020204" pitchFamily="34" charset="0"/>
              <a:buChar char="•"/>
            </a:pPr>
            <a:endParaRPr lang="en-US" sz="2400" dirty="0"/>
          </a:p>
        </p:txBody>
      </p:sp>
      <p:sp>
        <p:nvSpPr>
          <p:cNvPr id="4" name="Title 3">
            <a:extLst>
              <a:ext uri="{FF2B5EF4-FFF2-40B4-BE49-F238E27FC236}">
                <a16:creationId xmlns:a16="http://schemas.microsoft.com/office/drawing/2014/main" id="{5F5FBB5F-FC56-5373-234B-473536C72E31}"/>
              </a:ext>
            </a:extLst>
          </p:cNvPr>
          <p:cNvSpPr>
            <a:spLocks noGrp="1"/>
          </p:cNvSpPr>
          <p:nvPr>
            <p:ph type="title"/>
          </p:nvPr>
        </p:nvSpPr>
        <p:spPr/>
        <p:txBody>
          <a:bodyPr>
            <a:normAutofit fontScale="90000"/>
          </a:bodyPr>
          <a:lstStyle/>
          <a:p>
            <a:r>
              <a:rPr lang="en-US" dirty="0"/>
              <a:t>Scenario 11: Developing a School Management System</a:t>
            </a:r>
          </a:p>
        </p:txBody>
      </p:sp>
    </p:spTree>
    <p:extLst>
      <p:ext uri="{BB962C8B-B14F-4D97-AF65-F5344CB8AC3E}">
        <p14:creationId xmlns:p14="http://schemas.microsoft.com/office/powerpoint/2010/main" val="2083273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7130B2-674E-6814-80E6-A3B78302EDD2}"/>
              </a:ext>
            </a:extLst>
          </p:cNvPr>
          <p:cNvSpPr>
            <a:spLocks noGrp="1"/>
          </p:cNvSpPr>
          <p:nvPr>
            <p:ph type="sldNum" sz="quarter" idx="13"/>
          </p:nvPr>
        </p:nvSpPr>
        <p:spPr/>
        <p:txBody>
          <a:bodyPr/>
          <a:lstStyle/>
          <a:p>
            <a:fld id="{12342C3A-DD85-7843-B416-BD52AB030D59}" type="slidenum">
              <a:rPr lang="en-US" smtClean="0"/>
              <a:pPr/>
              <a:t>25</a:t>
            </a:fld>
            <a:endParaRPr lang="en-US" dirty="0"/>
          </a:p>
        </p:txBody>
      </p:sp>
      <p:sp>
        <p:nvSpPr>
          <p:cNvPr id="3" name="Text Placeholder 2">
            <a:extLst>
              <a:ext uri="{FF2B5EF4-FFF2-40B4-BE49-F238E27FC236}">
                <a16:creationId xmlns:a16="http://schemas.microsoft.com/office/drawing/2014/main" id="{3AFFBDD4-5E17-02B8-5B02-6EBF039BA1F1}"/>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r>
              <a:rPr lang="en-US" sz="2400" b="1" dirty="0"/>
              <a:t>Evolutionary Prototyping</a:t>
            </a:r>
            <a:r>
              <a:rPr lang="en-US" sz="2400" dirty="0"/>
              <a:t>:</a:t>
            </a:r>
          </a:p>
          <a:p>
            <a:pPr marL="742950" lvl="1" indent="-285750">
              <a:buFont typeface="Arial" panose="020B0604020202020204" pitchFamily="34" charset="0"/>
              <a:buChar char="•"/>
            </a:pPr>
            <a:r>
              <a:rPr lang="en-US" sz="2400" dirty="0"/>
              <a:t>Start with a prototype that includes basic student enrollment and grade tracking.</a:t>
            </a:r>
          </a:p>
          <a:p>
            <a:pPr marL="742950" lvl="1" indent="-285750">
              <a:buFont typeface="Arial" panose="020B0604020202020204" pitchFamily="34" charset="0"/>
              <a:buChar char="•"/>
            </a:pPr>
            <a:r>
              <a:rPr lang="en-US" sz="2400" dirty="0"/>
              <a:t>Collect user feedback and iteratively add more features, such as communication tools or reporting capabilities, refining the system based on the feedback received.</a:t>
            </a:r>
          </a:p>
        </p:txBody>
      </p:sp>
      <p:sp>
        <p:nvSpPr>
          <p:cNvPr id="4" name="Title 3">
            <a:extLst>
              <a:ext uri="{FF2B5EF4-FFF2-40B4-BE49-F238E27FC236}">
                <a16:creationId xmlns:a16="http://schemas.microsoft.com/office/drawing/2014/main" id="{562232E1-4778-3410-7018-CEF6838861F3}"/>
              </a:ext>
            </a:extLst>
          </p:cNvPr>
          <p:cNvSpPr>
            <a:spLocks noGrp="1"/>
          </p:cNvSpPr>
          <p:nvPr>
            <p:ph type="title"/>
          </p:nvPr>
        </p:nvSpPr>
        <p:spPr/>
        <p:txBody>
          <a:bodyPr>
            <a:normAutofit fontScale="90000"/>
          </a:bodyPr>
          <a:lstStyle/>
          <a:p>
            <a:r>
              <a:rPr lang="en-US" dirty="0"/>
              <a:t>Scenario 11: Developing a School Management System</a:t>
            </a:r>
          </a:p>
        </p:txBody>
      </p:sp>
    </p:spTree>
    <p:extLst>
      <p:ext uri="{BB962C8B-B14F-4D97-AF65-F5344CB8AC3E}">
        <p14:creationId xmlns:p14="http://schemas.microsoft.com/office/powerpoint/2010/main" val="3666047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E60077-2398-0E8B-AA63-E8702CB4D021}"/>
              </a:ext>
            </a:extLst>
          </p:cNvPr>
          <p:cNvSpPr>
            <a:spLocks noGrp="1"/>
          </p:cNvSpPr>
          <p:nvPr>
            <p:ph type="sldNum" sz="quarter" idx="13"/>
          </p:nvPr>
        </p:nvSpPr>
        <p:spPr/>
        <p:txBody>
          <a:bodyPr/>
          <a:lstStyle/>
          <a:p>
            <a:fld id="{12342C3A-DD85-7843-B416-BD52AB030D59}" type="slidenum">
              <a:rPr lang="en-US" smtClean="0"/>
              <a:pPr/>
              <a:t>26</a:t>
            </a:fld>
            <a:endParaRPr lang="en-US" dirty="0"/>
          </a:p>
        </p:txBody>
      </p:sp>
      <p:sp>
        <p:nvSpPr>
          <p:cNvPr id="3" name="Text Placeholder 2">
            <a:extLst>
              <a:ext uri="{FF2B5EF4-FFF2-40B4-BE49-F238E27FC236}">
                <a16:creationId xmlns:a16="http://schemas.microsoft.com/office/drawing/2014/main" id="{9EB1BF66-91CF-CBE0-8011-A3F154686401}"/>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r>
              <a:rPr lang="en-US" sz="2400" b="1" dirty="0"/>
              <a:t>JAD</a:t>
            </a:r>
            <a:r>
              <a:rPr lang="en-US" sz="2400" dirty="0"/>
              <a:t>:</a:t>
            </a:r>
          </a:p>
          <a:p>
            <a:pPr marL="742950" lvl="1" indent="-285750">
              <a:buFont typeface="Arial" panose="020B0604020202020204" pitchFamily="34" charset="0"/>
              <a:buChar char="•"/>
            </a:pPr>
            <a:r>
              <a:rPr lang="en-US" sz="2400" dirty="0"/>
              <a:t>Conduct workshops with teachers, administrators, and IT staff to gather requirements for the system, ensure alignment, and prioritize the features.</a:t>
            </a:r>
          </a:p>
          <a:p>
            <a:pPr marL="742950" lvl="1" indent="-285750">
              <a:buFont typeface="Arial" panose="020B0604020202020204" pitchFamily="34" charset="0"/>
              <a:buChar char="•"/>
            </a:pPr>
            <a:r>
              <a:rPr lang="en-US" sz="2400" dirty="0"/>
              <a:t>Use the workshops to get agreement on the system’s core functionalities and how they should be implemented in the first phase.</a:t>
            </a:r>
          </a:p>
          <a:p>
            <a:pPr marL="285750" indent="-285750">
              <a:buFont typeface="Arial" panose="020B0604020202020204" pitchFamily="34" charset="0"/>
              <a:buChar char="•"/>
            </a:pPr>
            <a:r>
              <a:rPr lang="en-US" sz="2400" b="1" dirty="0"/>
              <a:t>Why</a:t>
            </a:r>
            <a:r>
              <a:rPr lang="en-US" sz="2400" dirty="0"/>
              <a:t>: Combining these techniques ensures that the development stays focused, on schedule, and aligned with business and user priorities while delivering a flexible, user-driven solution.</a:t>
            </a:r>
          </a:p>
        </p:txBody>
      </p:sp>
      <p:sp>
        <p:nvSpPr>
          <p:cNvPr id="4" name="Title 3">
            <a:extLst>
              <a:ext uri="{FF2B5EF4-FFF2-40B4-BE49-F238E27FC236}">
                <a16:creationId xmlns:a16="http://schemas.microsoft.com/office/drawing/2014/main" id="{3288E232-E6F2-0B34-06AB-485099FD7215}"/>
              </a:ext>
            </a:extLst>
          </p:cNvPr>
          <p:cNvSpPr>
            <a:spLocks noGrp="1"/>
          </p:cNvSpPr>
          <p:nvPr>
            <p:ph type="title"/>
          </p:nvPr>
        </p:nvSpPr>
        <p:spPr/>
        <p:txBody>
          <a:bodyPr>
            <a:normAutofit fontScale="90000"/>
          </a:bodyPr>
          <a:lstStyle/>
          <a:p>
            <a:r>
              <a:rPr lang="en-US" dirty="0"/>
              <a:t>Scenario 11: Developing a School Management System</a:t>
            </a:r>
          </a:p>
        </p:txBody>
      </p:sp>
    </p:spTree>
    <p:extLst>
      <p:ext uri="{BB962C8B-B14F-4D97-AF65-F5344CB8AC3E}">
        <p14:creationId xmlns:p14="http://schemas.microsoft.com/office/powerpoint/2010/main" val="4222662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688526"/>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51888</TotalTime>
  <Words>2210</Words>
  <Application>Microsoft Office PowerPoint</Application>
  <PresentationFormat>Widescreen</PresentationFormat>
  <Paragraphs>161</Paragraphs>
  <Slides>27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Scenario 1: CRM System Development for a Small Business</vt:lpstr>
      <vt:lpstr>Scenario 1: CRM System Development for a Small Business</vt:lpstr>
      <vt:lpstr>Scenario 2: Mobile App for Event Management</vt:lpstr>
      <vt:lpstr>Scenario 2: Mobile App for Event Management</vt:lpstr>
      <vt:lpstr>Scenario 3: E-Commerce Website for a Retail Business</vt:lpstr>
      <vt:lpstr>Scenario 3: E-Commerce Website for a Retail Business</vt:lpstr>
      <vt:lpstr>Scenario 4: Building a Dashboard for Data Analytics</vt:lpstr>
      <vt:lpstr>Scenario 4: Building a Dashboard for Data Analytics</vt:lpstr>
      <vt:lpstr>Scenario 5: Developing a Customizable Online Survey Tool</vt:lpstr>
      <vt:lpstr>Scenario 5: Developing a Customizable Online Survey Tool</vt:lpstr>
      <vt:lpstr>Scenario 6: Developing a Financial Management System for a Bank</vt:lpstr>
      <vt:lpstr>Scenario 6: Developing a Financial Management System for a Bank</vt:lpstr>
      <vt:lpstr>Scenario 7: Developing a Healthcare Management System</vt:lpstr>
      <vt:lpstr>Scenario 7: Developing a Healthcare Management System</vt:lpstr>
      <vt:lpstr>Scenario 8: Developing a Social Media Application</vt:lpstr>
      <vt:lpstr>Scenario 8: Developing a Social Media Application</vt:lpstr>
      <vt:lpstr>Scenario 9: Developing a Customizable CRM System for a Marketing Team</vt:lpstr>
      <vt:lpstr>Scenario 9: Developing a Customizable CRM System for a Marketing Team</vt:lpstr>
      <vt:lpstr>Scenario 10: Developing a Mobile Banking Application</vt:lpstr>
      <vt:lpstr>Scenario 10: Developing a Mobile Banking Application</vt:lpstr>
      <vt:lpstr>Scenario 11: Developing a School Management System</vt:lpstr>
      <vt:lpstr>Scenario 11: Developing a School Management System</vt:lpstr>
      <vt:lpstr>Scenario 11: Developing a School Management System</vt:lpstr>
      <vt:lpstr>Scenario 11: Developing a School Management System</vt:lpstr>
      <vt:lpstr>Scenario 11: Developing a School Management System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354</cp:revision>
  <dcterms:created xsi:type="dcterms:W3CDTF">2022-11-18T01:51:09Z</dcterms:created>
  <dcterms:modified xsi:type="dcterms:W3CDTF">2025-03-13T21:32:03Z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