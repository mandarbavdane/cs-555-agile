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sldIdLst>
    <p:sldId id="321" r:id="rId2"/>
    <p:sldId id="283" r:id="rId3"/>
    <p:sldId id="284" r:id="rId4"/>
    <p:sldId id="332" r:id="rId5"/>
    <p:sldId id="323" r:id="rId6"/>
    <p:sldId id="290" r:id="rId7"/>
    <p:sldId id="333" r:id="rId8"/>
    <p:sldId id="291" r:id="rId9"/>
    <p:sldId id="292" r:id="rId10"/>
    <p:sldId id="293" r:id="rId11"/>
    <p:sldId id="334" r:id="rId12"/>
    <p:sldId id="294" r:id="rId13"/>
    <p:sldId id="295" r:id="rId14"/>
    <p:sldId id="335" r:id="rId15"/>
    <p:sldId id="296" r:id="rId16"/>
    <p:sldId id="322" r:id="rId17"/>
    <p:sldId id="324" r:id="rId18"/>
    <p:sldId id="336" r:id="rId19"/>
    <p:sldId id="298" r:id="rId20"/>
    <p:sldId id="325" r:id="rId21"/>
    <p:sldId id="337" r:id="rId22"/>
    <p:sldId id="320" r:id="rId23"/>
    <p:sldId id="326" r:id="rId24"/>
    <p:sldId id="338" r:id="rId25"/>
    <p:sldId id="299" r:id="rId26"/>
    <p:sldId id="327" r:id="rId27"/>
    <p:sldId id="339" r:id="rId28"/>
    <p:sldId id="300" r:id="rId29"/>
    <p:sldId id="328" r:id="rId30"/>
    <p:sldId id="340" r:id="rId31"/>
    <p:sldId id="301" r:id="rId32"/>
    <p:sldId id="329" r:id="rId33"/>
    <p:sldId id="341" r:id="rId34"/>
    <p:sldId id="302" r:id="rId35"/>
    <p:sldId id="330" r:id="rId36"/>
    <p:sldId id="331" r:id="rId37"/>
    <p:sldId id="303" r:id="rId38"/>
    <p:sldId id="304" r:id="rId39"/>
    <p:sldId id="305" r:id="rId40"/>
    <p:sldId id="306" r:id="rId41"/>
    <p:sldId id="307" r:id="rId42"/>
    <p:sldId id="285" r:id="rId43"/>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12219-A6B9-4F3C-817E-B433EFC14F0E}" v="56" dt="2026-03-26T20:26:40.7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96"/>
    <p:restoredTop sz="96327"/>
  </p:normalViewPr>
  <p:slideViewPr>
    <p:cSldViewPr snapToGrid="0" snapToObjects="1">
      <p:cViewPr varScale="1">
        <p:scale>
          <a:sx n="78" d="100"/>
          <a:sy n="78" d="100"/>
        </p:scale>
        <p:origin x="12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seh Ghorbani Renani" userId="4e4c81e4-18c3-41de-84c9-a9c36e2573f4" providerId="ADAL" clId="{37B661E7-58BB-4F9E-8846-38EE4D89C220}"/>
    <pc:docChg chg="undo custSel addSld delSld modSld">
      <pc:chgData name="Nafiseh Ghorbani Renani" userId="4e4c81e4-18c3-41de-84c9-a9c36e2573f4" providerId="ADAL" clId="{37B661E7-58BB-4F9E-8846-38EE4D89C220}" dt="2026-03-26T20:40:04.543" v="770" actId="113"/>
      <pc:docMkLst>
        <pc:docMk/>
      </pc:docMkLst>
      <pc:sldChg chg="modSp mod">
        <pc:chgData name="Nafiseh Ghorbani Renani" userId="4e4c81e4-18c3-41de-84c9-a9c36e2573f4" providerId="ADAL" clId="{37B661E7-58BB-4F9E-8846-38EE4D89C220}" dt="2026-03-26T18:24:47.681" v="27" actId="403"/>
        <pc:sldMkLst>
          <pc:docMk/>
          <pc:sldMk cId="0" sldId="284"/>
        </pc:sldMkLst>
        <pc:spChg chg="mod">
          <ac:chgData name="Nafiseh Ghorbani Renani" userId="4e4c81e4-18c3-41de-84c9-a9c36e2573f4" providerId="ADAL" clId="{37B661E7-58BB-4F9E-8846-38EE4D89C220}" dt="2026-03-26T18:24:47.681" v="27" actId="403"/>
          <ac:spMkLst>
            <pc:docMk/>
            <pc:sldMk cId="0" sldId="284"/>
            <ac:spMk id="2" creationId="{00000000-0000-0000-0000-000000000000}"/>
          </ac:spMkLst>
        </pc:spChg>
      </pc:sldChg>
      <pc:sldChg chg="addSp modSp mod">
        <pc:chgData name="Nafiseh Ghorbani Renani" userId="4e4c81e4-18c3-41de-84c9-a9c36e2573f4" providerId="ADAL" clId="{37B661E7-58BB-4F9E-8846-38EE4D89C220}" dt="2026-03-26T18:44:30.195" v="96" actId="14100"/>
        <pc:sldMkLst>
          <pc:docMk/>
          <pc:sldMk cId="0" sldId="290"/>
        </pc:sldMkLst>
        <pc:spChg chg="mod">
          <ac:chgData name="Nafiseh Ghorbani Renani" userId="4e4c81e4-18c3-41de-84c9-a9c36e2573f4" providerId="ADAL" clId="{37B661E7-58BB-4F9E-8846-38EE4D89C220}" dt="2026-03-26T18:44:30.195" v="96" actId="14100"/>
          <ac:spMkLst>
            <pc:docMk/>
            <pc:sldMk cId="0" sldId="290"/>
            <ac:spMk id="2" creationId="{00000000-0000-0000-0000-000000000000}"/>
          </ac:spMkLst>
        </pc:spChg>
        <pc:spChg chg="add">
          <ac:chgData name="Nafiseh Ghorbani Renani" userId="4e4c81e4-18c3-41de-84c9-a9c36e2573f4" providerId="ADAL" clId="{37B661E7-58BB-4F9E-8846-38EE4D89C220}" dt="2026-03-26T18:38:50.670" v="57"/>
          <ac:spMkLst>
            <pc:docMk/>
            <pc:sldMk cId="0" sldId="290"/>
            <ac:spMk id="4" creationId="{1FD0464E-7091-ECB5-9812-AC42452637FE}"/>
          </ac:spMkLst>
        </pc:spChg>
        <pc:spChg chg="add">
          <ac:chgData name="Nafiseh Ghorbani Renani" userId="4e4c81e4-18c3-41de-84c9-a9c36e2573f4" providerId="ADAL" clId="{37B661E7-58BB-4F9E-8846-38EE4D89C220}" dt="2026-03-26T18:38:54.766" v="59"/>
          <ac:spMkLst>
            <pc:docMk/>
            <pc:sldMk cId="0" sldId="290"/>
            <ac:spMk id="5" creationId="{24512087-0467-2F3B-1991-3B32A6341A14}"/>
          </ac:spMkLst>
        </pc:spChg>
      </pc:sldChg>
      <pc:sldChg chg="modSp mod">
        <pc:chgData name="Nafiseh Ghorbani Renani" userId="4e4c81e4-18c3-41de-84c9-a9c36e2573f4" providerId="ADAL" clId="{37B661E7-58BB-4F9E-8846-38EE4D89C220}" dt="2026-03-26T18:51:22.103" v="129" actId="20577"/>
        <pc:sldMkLst>
          <pc:docMk/>
          <pc:sldMk cId="0" sldId="291"/>
        </pc:sldMkLst>
        <pc:spChg chg="mod">
          <ac:chgData name="Nafiseh Ghorbani Renani" userId="4e4c81e4-18c3-41de-84c9-a9c36e2573f4" providerId="ADAL" clId="{37B661E7-58BB-4F9E-8846-38EE4D89C220}" dt="2026-03-26T18:51:22.103" v="129" actId="20577"/>
          <ac:spMkLst>
            <pc:docMk/>
            <pc:sldMk cId="0" sldId="291"/>
            <ac:spMk id="2" creationId="{00000000-0000-0000-0000-000000000000}"/>
          </ac:spMkLst>
        </pc:spChg>
      </pc:sldChg>
      <pc:sldChg chg="modSp mod">
        <pc:chgData name="Nafiseh Ghorbani Renani" userId="4e4c81e4-18c3-41de-84c9-a9c36e2573f4" providerId="ADAL" clId="{37B661E7-58BB-4F9E-8846-38EE4D89C220}" dt="2026-03-26T18:59:40.838" v="163" actId="14100"/>
        <pc:sldMkLst>
          <pc:docMk/>
          <pc:sldMk cId="0" sldId="292"/>
        </pc:sldMkLst>
        <pc:spChg chg="mod">
          <ac:chgData name="Nafiseh Ghorbani Renani" userId="4e4c81e4-18c3-41de-84c9-a9c36e2573f4" providerId="ADAL" clId="{37B661E7-58BB-4F9E-8846-38EE4D89C220}" dt="2026-03-26T18:59:40.838" v="163" actId="14100"/>
          <ac:spMkLst>
            <pc:docMk/>
            <pc:sldMk cId="0" sldId="292"/>
            <ac:spMk id="2" creationId="{00000000-0000-0000-0000-000000000000}"/>
          </ac:spMkLst>
        </pc:spChg>
      </pc:sldChg>
      <pc:sldChg chg="modSp mod">
        <pc:chgData name="Nafiseh Ghorbani Renani" userId="4e4c81e4-18c3-41de-84c9-a9c36e2573f4" providerId="ADAL" clId="{37B661E7-58BB-4F9E-8846-38EE4D89C220}" dt="2026-03-26T19:07:55.742" v="235" actId="14100"/>
        <pc:sldMkLst>
          <pc:docMk/>
          <pc:sldMk cId="0" sldId="293"/>
        </pc:sldMkLst>
        <pc:spChg chg="mod">
          <ac:chgData name="Nafiseh Ghorbani Renani" userId="4e4c81e4-18c3-41de-84c9-a9c36e2573f4" providerId="ADAL" clId="{37B661E7-58BB-4F9E-8846-38EE4D89C220}" dt="2026-03-26T19:07:55.742" v="235" actId="14100"/>
          <ac:spMkLst>
            <pc:docMk/>
            <pc:sldMk cId="0" sldId="293"/>
            <ac:spMk id="2" creationId="{00000000-0000-0000-0000-000000000000}"/>
          </ac:spMkLst>
        </pc:spChg>
      </pc:sldChg>
      <pc:sldChg chg="modSp mod">
        <pc:chgData name="Nafiseh Ghorbani Renani" userId="4e4c81e4-18c3-41de-84c9-a9c36e2573f4" providerId="ADAL" clId="{37B661E7-58BB-4F9E-8846-38EE4D89C220}" dt="2026-03-26T19:17:04.997" v="342" actId="113"/>
        <pc:sldMkLst>
          <pc:docMk/>
          <pc:sldMk cId="0" sldId="294"/>
        </pc:sldMkLst>
        <pc:spChg chg="mod">
          <ac:chgData name="Nafiseh Ghorbani Renani" userId="4e4c81e4-18c3-41de-84c9-a9c36e2573f4" providerId="ADAL" clId="{37B661E7-58BB-4F9E-8846-38EE4D89C220}" dt="2026-03-26T19:17:04.997" v="342" actId="113"/>
          <ac:spMkLst>
            <pc:docMk/>
            <pc:sldMk cId="0" sldId="294"/>
            <ac:spMk id="2" creationId="{00000000-0000-0000-0000-000000000000}"/>
          </ac:spMkLst>
        </pc:spChg>
      </pc:sldChg>
      <pc:sldChg chg="modSp mod">
        <pc:chgData name="Nafiseh Ghorbani Renani" userId="4e4c81e4-18c3-41de-84c9-a9c36e2573f4" providerId="ADAL" clId="{37B661E7-58BB-4F9E-8846-38EE4D89C220}" dt="2026-03-26T19:19:18.431" v="364" actId="403"/>
        <pc:sldMkLst>
          <pc:docMk/>
          <pc:sldMk cId="0" sldId="295"/>
        </pc:sldMkLst>
        <pc:spChg chg="mod">
          <ac:chgData name="Nafiseh Ghorbani Renani" userId="4e4c81e4-18c3-41de-84c9-a9c36e2573f4" providerId="ADAL" clId="{37B661E7-58BB-4F9E-8846-38EE4D89C220}" dt="2026-03-26T19:19:18.431" v="364" actId="403"/>
          <ac:spMkLst>
            <pc:docMk/>
            <pc:sldMk cId="0" sldId="295"/>
            <ac:spMk id="2" creationId="{00000000-0000-0000-0000-000000000000}"/>
          </ac:spMkLst>
        </pc:spChg>
      </pc:sldChg>
      <pc:sldChg chg="modSp mod">
        <pc:chgData name="Nafiseh Ghorbani Renani" userId="4e4c81e4-18c3-41de-84c9-a9c36e2573f4" providerId="ADAL" clId="{37B661E7-58BB-4F9E-8846-38EE4D89C220}" dt="2026-03-26T19:46:36.615" v="507" actId="14100"/>
        <pc:sldMkLst>
          <pc:docMk/>
          <pc:sldMk cId="0" sldId="298"/>
        </pc:sldMkLst>
        <pc:spChg chg="mod">
          <ac:chgData name="Nafiseh Ghorbani Renani" userId="4e4c81e4-18c3-41de-84c9-a9c36e2573f4" providerId="ADAL" clId="{37B661E7-58BB-4F9E-8846-38EE4D89C220}" dt="2026-03-26T19:46:36.615" v="507" actId="14100"/>
          <ac:spMkLst>
            <pc:docMk/>
            <pc:sldMk cId="0" sldId="298"/>
            <ac:spMk id="2" creationId="{00000000-0000-0000-0000-000000000000}"/>
          </ac:spMkLst>
        </pc:spChg>
      </pc:sldChg>
      <pc:sldChg chg="modSp mod">
        <pc:chgData name="Nafiseh Ghorbani Renani" userId="4e4c81e4-18c3-41de-84c9-a9c36e2573f4" providerId="ADAL" clId="{37B661E7-58BB-4F9E-8846-38EE4D89C220}" dt="2026-03-26T19:43:56.567" v="467" actId="27636"/>
        <pc:sldMkLst>
          <pc:docMk/>
          <pc:sldMk cId="0" sldId="299"/>
        </pc:sldMkLst>
        <pc:spChg chg="mod">
          <ac:chgData name="Nafiseh Ghorbani Renani" userId="4e4c81e4-18c3-41de-84c9-a9c36e2573f4" providerId="ADAL" clId="{37B661E7-58BB-4F9E-8846-38EE4D89C220}" dt="2026-03-26T19:43:56.567" v="467" actId="27636"/>
          <ac:spMkLst>
            <pc:docMk/>
            <pc:sldMk cId="0" sldId="299"/>
            <ac:spMk id="2" creationId="{00000000-0000-0000-0000-000000000000}"/>
          </ac:spMkLst>
        </pc:spChg>
      </pc:sldChg>
      <pc:sldChg chg="modSp mod">
        <pc:chgData name="Nafiseh Ghorbani Renani" userId="4e4c81e4-18c3-41de-84c9-a9c36e2573f4" providerId="ADAL" clId="{37B661E7-58BB-4F9E-8846-38EE4D89C220}" dt="2026-03-26T20:11:31.004" v="579" actId="404"/>
        <pc:sldMkLst>
          <pc:docMk/>
          <pc:sldMk cId="0" sldId="301"/>
        </pc:sldMkLst>
        <pc:spChg chg="mod">
          <ac:chgData name="Nafiseh Ghorbani Renani" userId="4e4c81e4-18c3-41de-84c9-a9c36e2573f4" providerId="ADAL" clId="{37B661E7-58BB-4F9E-8846-38EE4D89C220}" dt="2026-03-26T20:11:31.004" v="579" actId="404"/>
          <ac:spMkLst>
            <pc:docMk/>
            <pc:sldMk cId="0" sldId="301"/>
            <ac:spMk id="2" creationId="{00000000-0000-0000-0000-000000000000}"/>
          </ac:spMkLst>
        </pc:spChg>
      </pc:sldChg>
      <pc:sldChg chg="modSp mod">
        <pc:chgData name="Nafiseh Ghorbani Renani" userId="4e4c81e4-18c3-41de-84c9-a9c36e2573f4" providerId="ADAL" clId="{37B661E7-58BB-4F9E-8846-38EE4D89C220}" dt="2026-03-26T20:21:19.770" v="625" actId="27636"/>
        <pc:sldMkLst>
          <pc:docMk/>
          <pc:sldMk cId="0" sldId="302"/>
        </pc:sldMkLst>
        <pc:spChg chg="mod">
          <ac:chgData name="Nafiseh Ghorbani Renani" userId="4e4c81e4-18c3-41de-84c9-a9c36e2573f4" providerId="ADAL" clId="{37B661E7-58BB-4F9E-8846-38EE4D89C220}" dt="2026-03-26T20:21:19.770" v="625" actId="27636"/>
          <ac:spMkLst>
            <pc:docMk/>
            <pc:sldMk cId="0" sldId="302"/>
            <ac:spMk id="2" creationId="{00000000-0000-0000-0000-000000000000}"/>
          </ac:spMkLst>
        </pc:spChg>
      </pc:sldChg>
      <pc:sldChg chg="modSp mod">
        <pc:chgData name="Nafiseh Ghorbani Renani" userId="4e4c81e4-18c3-41de-84c9-a9c36e2573f4" providerId="ADAL" clId="{37B661E7-58BB-4F9E-8846-38EE4D89C220}" dt="2026-03-26T20:34:46.964" v="723" actId="113"/>
        <pc:sldMkLst>
          <pc:docMk/>
          <pc:sldMk cId="0" sldId="304"/>
        </pc:sldMkLst>
        <pc:spChg chg="mod">
          <ac:chgData name="Nafiseh Ghorbani Renani" userId="4e4c81e4-18c3-41de-84c9-a9c36e2573f4" providerId="ADAL" clId="{37B661E7-58BB-4F9E-8846-38EE4D89C220}" dt="2026-03-26T20:34:46.964" v="723" actId="113"/>
          <ac:spMkLst>
            <pc:docMk/>
            <pc:sldMk cId="0" sldId="304"/>
            <ac:spMk id="2" creationId="{00000000-0000-0000-0000-000000000000}"/>
          </ac:spMkLst>
        </pc:spChg>
      </pc:sldChg>
      <pc:sldChg chg="modSp mod">
        <pc:chgData name="Nafiseh Ghorbani Renani" userId="4e4c81e4-18c3-41de-84c9-a9c36e2573f4" providerId="ADAL" clId="{37B661E7-58BB-4F9E-8846-38EE4D89C220}" dt="2026-03-26T20:35:57.274" v="733" actId="113"/>
        <pc:sldMkLst>
          <pc:docMk/>
          <pc:sldMk cId="0" sldId="305"/>
        </pc:sldMkLst>
        <pc:spChg chg="mod">
          <ac:chgData name="Nafiseh Ghorbani Renani" userId="4e4c81e4-18c3-41de-84c9-a9c36e2573f4" providerId="ADAL" clId="{37B661E7-58BB-4F9E-8846-38EE4D89C220}" dt="2026-03-26T20:35:57.274" v="733" actId="113"/>
          <ac:spMkLst>
            <pc:docMk/>
            <pc:sldMk cId="0" sldId="305"/>
            <ac:spMk id="2" creationId="{00000000-0000-0000-0000-000000000000}"/>
          </ac:spMkLst>
        </pc:spChg>
      </pc:sldChg>
      <pc:sldChg chg="modSp mod">
        <pc:chgData name="Nafiseh Ghorbani Renani" userId="4e4c81e4-18c3-41de-84c9-a9c36e2573f4" providerId="ADAL" clId="{37B661E7-58BB-4F9E-8846-38EE4D89C220}" dt="2026-03-26T20:38:11.253" v="748" actId="113"/>
        <pc:sldMkLst>
          <pc:docMk/>
          <pc:sldMk cId="0" sldId="306"/>
        </pc:sldMkLst>
        <pc:spChg chg="mod">
          <ac:chgData name="Nafiseh Ghorbani Renani" userId="4e4c81e4-18c3-41de-84c9-a9c36e2573f4" providerId="ADAL" clId="{37B661E7-58BB-4F9E-8846-38EE4D89C220}" dt="2026-03-26T20:38:11.253" v="748" actId="113"/>
          <ac:spMkLst>
            <pc:docMk/>
            <pc:sldMk cId="0" sldId="306"/>
            <ac:spMk id="2" creationId="{00000000-0000-0000-0000-000000000000}"/>
          </ac:spMkLst>
        </pc:spChg>
      </pc:sldChg>
      <pc:sldChg chg="modSp mod">
        <pc:chgData name="Nafiseh Ghorbani Renani" userId="4e4c81e4-18c3-41de-84c9-a9c36e2573f4" providerId="ADAL" clId="{37B661E7-58BB-4F9E-8846-38EE4D89C220}" dt="2026-03-26T20:40:04.543" v="770" actId="113"/>
        <pc:sldMkLst>
          <pc:docMk/>
          <pc:sldMk cId="0" sldId="307"/>
        </pc:sldMkLst>
        <pc:spChg chg="mod">
          <ac:chgData name="Nafiseh Ghorbani Renani" userId="4e4c81e4-18c3-41de-84c9-a9c36e2573f4" providerId="ADAL" clId="{37B661E7-58BB-4F9E-8846-38EE4D89C220}" dt="2026-03-26T20:40:04.543" v="770" actId="113"/>
          <ac:spMkLst>
            <pc:docMk/>
            <pc:sldMk cId="0" sldId="307"/>
            <ac:spMk id="2" creationId="{00000000-0000-0000-0000-000000000000}"/>
          </ac:spMkLst>
        </pc:spChg>
      </pc:sldChg>
      <pc:sldChg chg="modSp mod">
        <pc:chgData name="Nafiseh Ghorbani Renani" userId="4e4c81e4-18c3-41de-84c9-a9c36e2573f4" providerId="ADAL" clId="{37B661E7-58BB-4F9E-8846-38EE4D89C220}" dt="2026-03-26T19:47:15.095" v="510" actId="20577"/>
        <pc:sldMkLst>
          <pc:docMk/>
          <pc:sldMk cId="0" sldId="320"/>
        </pc:sldMkLst>
        <pc:spChg chg="mod">
          <ac:chgData name="Nafiseh Ghorbani Renani" userId="4e4c81e4-18c3-41de-84c9-a9c36e2573f4" providerId="ADAL" clId="{37B661E7-58BB-4F9E-8846-38EE4D89C220}" dt="2026-03-26T19:47:15.095" v="510" actId="20577"/>
          <ac:spMkLst>
            <pc:docMk/>
            <pc:sldMk cId="0" sldId="320"/>
            <ac:spMk id="2" creationId="{00000000-0000-0000-0000-000000000000}"/>
          </ac:spMkLst>
        </pc:spChg>
      </pc:sldChg>
      <pc:sldChg chg="modSp mod">
        <pc:chgData name="Nafiseh Ghorbani Renani" userId="4e4c81e4-18c3-41de-84c9-a9c36e2573f4" providerId="ADAL" clId="{37B661E7-58BB-4F9E-8846-38EE4D89C220}" dt="2026-03-26T19:46:07.947" v="497" actId="255"/>
        <pc:sldMkLst>
          <pc:docMk/>
          <pc:sldMk cId="829947059" sldId="322"/>
        </pc:sldMkLst>
        <pc:spChg chg="mod">
          <ac:chgData name="Nafiseh Ghorbani Renani" userId="4e4c81e4-18c3-41de-84c9-a9c36e2573f4" providerId="ADAL" clId="{37B661E7-58BB-4F9E-8846-38EE4D89C220}" dt="2026-03-26T19:46:07.947" v="497" actId="255"/>
          <ac:spMkLst>
            <pc:docMk/>
            <pc:sldMk cId="829947059" sldId="322"/>
            <ac:spMk id="4" creationId="{897D5E2B-0932-0536-5ABE-2AD5E57F06A5}"/>
          </ac:spMkLst>
        </pc:spChg>
      </pc:sldChg>
      <pc:sldChg chg="modSp mod">
        <pc:chgData name="Nafiseh Ghorbani Renani" userId="4e4c81e4-18c3-41de-84c9-a9c36e2573f4" providerId="ADAL" clId="{37B661E7-58BB-4F9E-8846-38EE4D89C220}" dt="2026-03-26T18:26:54.470" v="30" actId="403"/>
        <pc:sldMkLst>
          <pc:docMk/>
          <pc:sldMk cId="4262864800" sldId="323"/>
        </pc:sldMkLst>
        <pc:spChg chg="mod">
          <ac:chgData name="Nafiseh Ghorbani Renani" userId="4e4c81e4-18c3-41de-84c9-a9c36e2573f4" providerId="ADAL" clId="{37B661E7-58BB-4F9E-8846-38EE4D89C220}" dt="2026-03-26T18:26:54.470" v="30" actId="403"/>
          <ac:spMkLst>
            <pc:docMk/>
            <pc:sldMk cId="4262864800" sldId="323"/>
            <ac:spMk id="2" creationId="{923BB371-6EE6-5213-1FE2-958895701AC1}"/>
          </ac:spMkLst>
        </pc:spChg>
      </pc:sldChg>
      <pc:sldChg chg="modSp mod">
        <pc:chgData name="Nafiseh Ghorbani Renani" userId="4e4c81e4-18c3-41de-84c9-a9c36e2573f4" providerId="ADAL" clId="{37B661E7-58BB-4F9E-8846-38EE4D89C220}" dt="2026-03-26T19:31:19.625" v="396" actId="20577"/>
        <pc:sldMkLst>
          <pc:docMk/>
          <pc:sldMk cId="35716403" sldId="324"/>
        </pc:sldMkLst>
        <pc:spChg chg="mod">
          <ac:chgData name="Nafiseh Ghorbani Renani" userId="4e4c81e4-18c3-41de-84c9-a9c36e2573f4" providerId="ADAL" clId="{37B661E7-58BB-4F9E-8846-38EE4D89C220}" dt="2026-03-26T19:31:19.625" v="396" actId="20577"/>
          <ac:spMkLst>
            <pc:docMk/>
            <pc:sldMk cId="35716403" sldId="324"/>
            <ac:spMk id="2" creationId="{0D252C7C-7000-69E4-9BCE-7A3415684F24}"/>
          </ac:spMkLst>
        </pc:spChg>
        <pc:spChg chg="mod">
          <ac:chgData name="Nafiseh Ghorbani Renani" userId="4e4c81e4-18c3-41de-84c9-a9c36e2573f4" providerId="ADAL" clId="{37B661E7-58BB-4F9E-8846-38EE4D89C220}" dt="2026-03-26T19:30:46.646" v="391" actId="113"/>
          <ac:spMkLst>
            <pc:docMk/>
            <pc:sldMk cId="35716403" sldId="324"/>
            <ac:spMk id="4" creationId="{5FD47BF3-0B96-5420-F231-34B8B6B9DFBF}"/>
          </ac:spMkLst>
        </pc:spChg>
      </pc:sldChg>
      <pc:sldChg chg="modSp mod">
        <pc:chgData name="Nafiseh Ghorbani Renani" userId="4e4c81e4-18c3-41de-84c9-a9c36e2573f4" providerId="ADAL" clId="{37B661E7-58BB-4F9E-8846-38EE4D89C220}" dt="2026-03-26T19:46:57.659" v="509" actId="113"/>
        <pc:sldMkLst>
          <pc:docMk/>
          <pc:sldMk cId="3738860760" sldId="325"/>
        </pc:sldMkLst>
        <pc:spChg chg="mod">
          <ac:chgData name="Nafiseh Ghorbani Renani" userId="4e4c81e4-18c3-41de-84c9-a9c36e2573f4" providerId="ADAL" clId="{37B661E7-58BB-4F9E-8846-38EE4D89C220}" dt="2026-03-26T19:46:57.659" v="509" actId="113"/>
          <ac:spMkLst>
            <pc:docMk/>
            <pc:sldMk cId="3738860760" sldId="325"/>
            <ac:spMk id="4" creationId="{8B5F2B3D-3336-CD33-0672-F7A7D1A2E1BC}"/>
          </ac:spMkLst>
        </pc:spChg>
      </pc:sldChg>
      <pc:sldChg chg="modSp mod">
        <pc:chgData name="Nafiseh Ghorbani Renani" userId="4e4c81e4-18c3-41de-84c9-a9c36e2573f4" providerId="ADAL" clId="{37B661E7-58BB-4F9E-8846-38EE4D89C220}" dt="2026-03-26T19:42:01.412" v="455" actId="113"/>
        <pc:sldMkLst>
          <pc:docMk/>
          <pc:sldMk cId="2611092632" sldId="326"/>
        </pc:sldMkLst>
        <pc:spChg chg="mod">
          <ac:chgData name="Nafiseh Ghorbani Renani" userId="4e4c81e4-18c3-41de-84c9-a9c36e2573f4" providerId="ADAL" clId="{37B661E7-58BB-4F9E-8846-38EE4D89C220}" dt="2026-03-26T19:42:01.412" v="455" actId="113"/>
          <ac:spMkLst>
            <pc:docMk/>
            <pc:sldMk cId="2611092632" sldId="326"/>
            <ac:spMk id="4" creationId="{CCC8B3CC-D805-9013-2060-EB7F68FFE5E1}"/>
          </ac:spMkLst>
        </pc:spChg>
      </pc:sldChg>
      <pc:sldChg chg="modSp mod">
        <pc:chgData name="Nafiseh Ghorbani Renani" userId="4e4c81e4-18c3-41de-84c9-a9c36e2573f4" providerId="ADAL" clId="{37B661E7-58BB-4F9E-8846-38EE4D89C220}" dt="2026-03-26T19:52:10.897" v="534" actId="113"/>
        <pc:sldMkLst>
          <pc:docMk/>
          <pc:sldMk cId="814745977" sldId="327"/>
        </pc:sldMkLst>
        <pc:spChg chg="mod">
          <ac:chgData name="Nafiseh Ghorbani Renani" userId="4e4c81e4-18c3-41de-84c9-a9c36e2573f4" providerId="ADAL" clId="{37B661E7-58BB-4F9E-8846-38EE4D89C220}" dt="2026-03-26T19:52:10.897" v="534" actId="113"/>
          <ac:spMkLst>
            <pc:docMk/>
            <pc:sldMk cId="814745977" sldId="327"/>
            <ac:spMk id="4" creationId="{6D13790D-1B7F-89F3-7CE6-98EB7F2176F0}"/>
          </ac:spMkLst>
        </pc:spChg>
      </pc:sldChg>
      <pc:sldChg chg="modSp mod">
        <pc:chgData name="Nafiseh Ghorbani Renani" userId="4e4c81e4-18c3-41de-84c9-a9c36e2573f4" providerId="ADAL" clId="{37B661E7-58BB-4F9E-8846-38EE4D89C220}" dt="2026-03-26T20:05:21.154" v="563" actId="113"/>
        <pc:sldMkLst>
          <pc:docMk/>
          <pc:sldMk cId="2995456264" sldId="328"/>
        </pc:sldMkLst>
        <pc:spChg chg="mod">
          <ac:chgData name="Nafiseh Ghorbani Renani" userId="4e4c81e4-18c3-41de-84c9-a9c36e2573f4" providerId="ADAL" clId="{37B661E7-58BB-4F9E-8846-38EE4D89C220}" dt="2026-03-26T20:05:21.154" v="563" actId="113"/>
          <ac:spMkLst>
            <pc:docMk/>
            <pc:sldMk cId="2995456264" sldId="328"/>
            <ac:spMk id="4" creationId="{6E6AC670-C3CF-31AA-FD3E-959F125CE8DA}"/>
          </ac:spMkLst>
        </pc:spChg>
      </pc:sldChg>
      <pc:sldChg chg="modSp mod">
        <pc:chgData name="Nafiseh Ghorbani Renani" userId="4e4c81e4-18c3-41de-84c9-a9c36e2573f4" providerId="ADAL" clId="{37B661E7-58BB-4F9E-8846-38EE4D89C220}" dt="2026-03-26T20:13:29.949" v="594" actId="113"/>
        <pc:sldMkLst>
          <pc:docMk/>
          <pc:sldMk cId="713595637" sldId="329"/>
        </pc:sldMkLst>
        <pc:spChg chg="mod">
          <ac:chgData name="Nafiseh Ghorbani Renani" userId="4e4c81e4-18c3-41de-84c9-a9c36e2573f4" providerId="ADAL" clId="{37B661E7-58BB-4F9E-8846-38EE4D89C220}" dt="2026-03-26T20:13:29.949" v="594" actId="113"/>
          <ac:spMkLst>
            <pc:docMk/>
            <pc:sldMk cId="713595637" sldId="329"/>
            <ac:spMk id="4" creationId="{D574C59D-ABCD-98C7-6F4B-0358E7018849}"/>
          </ac:spMkLst>
        </pc:spChg>
      </pc:sldChg>
      <pc:sldChg chg="modSp mod">
        <pc:chgData name="Nafiseh Ghorbani Renani" userId="4e4c81e4-18c3-41de-84c9-a9c36e2573f4" providerId="ADAL" clId="{37B661E7-58BB-4F9E-8846-38EE4D89C220}" dt="2026-03-26T20:28:12.293" v="664" actId="27636"/>
        <pc:sldMkLst>
          <pc:docMk/>
          <pc:sldMk cId="3327446473" sldId="330"/>
        </pc:sldMkLst>
        <pc:spChg chg="mod">
          <ac:chgData name="Nafiseh Ghorbani Renani" userId="4e4c81e4-18c3-41de-84c9-a9c36e2573f4" providerId="ADAL" clId="{37B661E7-58BB-4F9E-8846-38EE4D89C220}" dt="2026-03-26T20:28:12.293" v="664" actId="27636"/>
          <ac:spMkLst>
            <pc:docMk/>
            <pc:sldMk cId="3327446473" sldId="330"/>
            <ac:spMk id="4" creationId="{9DABEABC-6747-5D03-F9D2-F1B92D5072F6}"/>
          </ac:spMkLst>
        </pc:spChg>
      </pc:sldChg>
      <pc:sldChg chg="modSp mod">
        <pc:chgData name="Nafiseh Ghorbani Renani" userId="4e4c81e4-18c3-41de-84c9-a9c36e2573f4" providerId="ADAL" clId="{37B661E7-58BB-4F9E-8846-38EE4D89C220}" dt="2026-03-26T20:32:43.439" v="706" actId="113"/>
        <pc:sldMkLst>
          <pc:docMk/>
          <pc:sldMk cId="3408263124" sldId="331"/>
        </pc:sldMkLst>
        <pc:spChg chg="mod">
          <ac:chgData name="Nafiseh Ghorbani Renani" userId="4e4c81e4-18c3-41de-84c9-a9c36e2573f4" providerId="ADAL" clId="{37B661E7-58BB-4F9E-8846-38EE4D89C220}" dt="2026-03-26T20:32:43.439" v="706" actId="113"/>
          <ac:spMkLst>
            <pc:docMk/>
            <pc:sldMk cId="3408263124" sldId="331"/>
            <ac:spMk id="4" creationId="{65188402-E98A-C212-EA5C-20FEE747F3A5}"/>
          </ac:spMkLst>
        </pc:spChg>
        <pc:picChg chg="mod">
          <ac:chgData name="Nafiseh Ghorbani Renani" userId="4e4c81e4-18c3-41de-84c9-a9c36e2573f4" providerId="ADAL" clId="{37B661E7-58BB-4F9E-8846-38EE4D89C220}" dt="2026-03-26T20:32:05.644" v="704" actId="1076"/>
          <ac:picMkLst>
            <pc:docMk/>
            <pc:sldMk cId="3408263124" sldId="331"/>
            <ac:picMk id="7" creationId="{A8D87866-09B3-9201-B0A5-9BCBF1F8FEB8}"/>
          </ac:picMkLst>
        </pc:picChg>
      </pc:sldChg>
      <pc:sldChg chg="delSp modSp new mod">
        <pc:chgData name="Nafiseh Ghorbani Renani" userId="4e4c81e4-18c3-41de-84c9-a9c36e2573f4" providerId="ADAL" clId="{37B661E7-58BB-4F9E-8846-38EE4D89C220}" dt="2026-03-26T18:17:57.070" v="18" actId="403"/>
        <pc:sldMkLst>
          <pc:docMk/>
          <pc:sldMk cId="4259569852" sldId="332"/>
        </pc:sldMkLst>
        <pc:spChg chg="mod">
          <ac:chgData name="Nafiseh Ghorbani Renani" userId="4e4c81e4-18c3-41de-84c9-a9c36e2573f4" providerId="ADAL" clId="{37B661E7-58BB-4F9E-8846-38EE4D89C220}" dt="2026-03-26T18:16:29.105" v="3" actId="27636"/>
          <ac:spMkLst>
            <pc:docMk/>
            <pc:sldMk cId="4259569852" sldId="332"/>
            <ac:spMk id="2" creationId="{AB80079A-B31C-BAB0-FCE5-9B32E2A2F1B2}"/>
          </ac:spMkLst>
        </pc:spChg>
        <pc:spChg chg="del">
          <ac:chgData name="Nafiseh Ghorbani Renani" userId="4e4c81e4-18c3-41de-84c9-a9c36e2573f4" providerId="ADAL" clId="{37B661E7-58BB-4F9E-8846-38EE4D89C220}" dt="2026-03-26T18:16:20.679" v="1" actId="478"/>
          <ac:spMkLst>
            <pc:docMk/>
            <pc:sldMk cId="4259569852" sldId="332"/>
            <ac:spMk id="3" creationId="{F9B6A519-986F-80B2-B838-5A321A4E9411}"/>
          </ac:spMkLst>
        </pc:spChg>
        <pc:spChg chg="mod">
          <ac:chgData name="Nafiseh Ghorbani Renani" userId="4e4c81e4-18c3-41de-84c9-a9c36e2573f4" providerId="ADAL" clId="{37B661E7-58BB-4F9E-8846-38EE4D89C220}" dt="2026-03-26T18:17:57.070" v="18" actId="403"/>
          <ac:spMkLst>
            <pc:docMk/>
            <pc:sldMk cId="4259569852" sldId="332"/>
            <ac:spMk id="4" creationId="{5EAC1790-989F-350A-10FA-FFCF6AFAF1E3}"/>
          </ac:spMkLst>
        </pc:spChg>
      </pc:sldChg>
      <pc:sldChg chg="delSp modSp new mod">
        <pc:chgData name="Nafiseh Ghorbani Renani" userId="4e4c81e4-18c3-41de-84c9-a9c36e2573f4" providerId="ADAL" clId="{37B661E7-58BB-4F9E-8846-38EE4D89C220}" dt="2026-03-26T18:48:13.734" v="122" actId="404"/>
        <pc:sldMkLst>
          <pc:docMk/>
          <pc:sldMk cId="1327993714" sldId="333"/>
        </pc:sldMkLst>
        <pc:spChg chg="mod">
          <ac:chgData name="Nafiseh Ghorbani Renani" userId="4e4c81e4-18c3-41de-84c9-a9c36e2573f4" providerId="ADAL" clId="{37B661E7-58BB-4F9E-8846-38EE4D89C220}" dt="2026-03-26T18:37:38.497" v="44" actId="27636"/>
          <ac:spMkLst>
            <pc:docMk/>
            <pc:sldMk cId="1327993714" sldId="333"/>
            <ac:spMk id="2" creationId="{9E4D588A-2FD2-6B5F-3289-C28D40E69795}"/>
          </ac:spMkLst>
        </pc:spChg>
        <pc:spChg chg="del">
          <ac:chgData name="Nafiseh Ghorbani Renani" userId="4e4c81e4-18c3-41de-84c9-a9c36e2573f4" providerId="ADAL" clId="{37B661E7-58BB-4F9E-8846-38EE4D89C220}" dt="2026-03-26T18:37:41.203" v="45" actId="478"/>
          <ac:spMkLst>
            <pc:docMk/>
            <pc:sldMk cId="1327993714" sldId="333"/>
            <ac:spMk id="3" creationId="{07B8B226-FA83-D355-51ED-F61B7E965DE8}"/>
          </ac:spMkLst>
        </pc:spChg>
        <pc:spChg chg="mod">
          <ac:chgData name="Nafiseh Ghorbani Renani" userId="4e4c81e4-18c3-41de-84c9-a9c36e2573f4" providerId="ADAL" clId="{37B661E7-58BB-4F9E-8846-38EE4D89C220}" dt="2026-03-26T18:48:13.734" v="122" actId="404"/>
          <ac:spMkLst>
            <pc:docMk/>
            <pc:sldMk cId="1327993714" sldId="333"/>
            <ac:spMk id="4" creationId="{B5EEE7E1-F5EB-18B6-9CB8-761CB58DFDCA}"/>
          </ac:spMkLst>
        </pc:spChg>
      </pc:sldChg>
      <pc:sldChg chg="delSp modSp new mod">
        <pc:chgData name="Nafiseh Ghorbani Renani" userId="4e4c81e4-18c3-41de-84c9-a9c36e2573f4" providerId="ADAL" clId="{37B661E7-58BB-4F9E-8846-38EE4D89C220}" dt="2026-03-26T19:14:42.747" v="340" actId="27636"/>
        <pc:sldMkLst>
          <pc:docMk/>
          <pc:sldMk cId="3833449209" sldId="334"/>
        </pc:sldMkLst>
        <pc:spChg chg="mod">
          <ac:chgData name="Nafiseh Ghorbani Renani" userId="4e4c81e4-18c3-41de-84c9-a9c36e2573f4" providerId="ADAL" clId="{37B661E7-58BB-4F9E-8846-38EE4D89C220}" dt="2026-03-26T19:07:37.178" v="230"/>
          <ac:spMkLst>
            <pc:docMk/>
            <pc:sldMk cId="3833449209" sldId="334"/>
            <ac:spMk id="2" creationId="{B4109212-6714-42B2-E2C5-4ABA04222882}"/>
          </ac:spMkLst>
        </pc:spChg>
        <pc:spChg chg="del">
          <ac:chgData name="Nafiseh Ghorbani Renani" userId="4e4c81e4-18c3-41de-84c9-a9c36e2573f4" providerId="ADAL" clId="{37B661E7-58BB-4F9E-8846-38EE4D89C220}" dt="2026-03-26T19:07:38.866" v="231" actId="478"/>
          <ac:spMkLst>
            <pc:docMk/>
            <pc:sldMk cId="3833449209" sldId="334"/>
            <ac:spMk id="3" creationId="{9FC35C27-75FC-E074-CE46-BBBA7A4651DC}"/>
          </ac:spMkLst>
        </pc:spChg>
        <pc:spChg chg="mod">
          <ac:chgData name="Nafiseh Ghorbani Renani" userId="4e4c81e4-18c3-41de-84c9-a9c36e2573f4" providerId="ADAL" clId="{37B661E7-58BB-4F9E-8846-38EE4D89C220}" dt="2026-03-26T19:14:42.747" v="340" actId="27636"/>
          <ac:spMkLst>
            <pc:docMk/>
            <pc:sldMk cId="3833449209" sldId="334"/>
            <ac:spMk id="4" creationId="{66ECED97-90DD-D670-F94D-871B313A31D4}"/>
          </ac:spMkLst>
        </pc:spChg>
      </pc:sldChg>
      <pc:sldChg chg="delSp modSp new mod">
        <pc:chgData name="Nafiseh Ghorbani Renani" userId="4e4c81e4-18c3-41de-84c9-a9c36e2573f4" providerId="ADAL" clId="{37B661E7-58BB-4F9E-8846-38EE4D89C220}" dt="2026-03-26T19:19:27.343" v="366" actId="403"/>
        <pc:sldMkLst>
          <pc:docMk/>
          <pc:sldMk cId="3497702435" sldId="335"/>
        </pc:sldMkLst>
        <pc:spChg chg="mod">
          <ac:chgData name="Nafiseh Ghorbani Renani" userId="4e4c81e4-18c3-41de-84c9-a9c36e2573f4" providerId="ADAL" clId="{37B661E7-58BB-4F9E-8846-38EE4D89C220}" dt="2026-03-26T19:17:51.022" v="346"/>
          <ac:spMkLst>
            <pc:docMk/>
            <pc:sldMk cId="3497702435" sldId="335"/>
            <ac:spMk id="2" creationId="{74D0FF62-B98C-BD88-AA6A-3D32C9AC05D7}"/>
          </ac:spMkLst>
        </pc:spChg>
        <pc:spChg chg="del">
          <ac:chgData name="Nafiseh Ghorbani Renani" userId="4e4c81e4-18c3-41de-84c9-a9c36e2573f4" providerId="ADAL" clId="{37B661E7-58BB-4F9E-8846-38EE4D89C220}" dt="2026-03-26T19:17:53.448" v="347" actId="478"/>
          <ac:spMkLst>
            <pc:docMk/>
            <pc:sldMk cId="3497702435" sldId="335"/>
            <ac:spMk id="3" creationId="{B6104F41-DE3C-D0DC-F02D-5BF56151316E}"/>
          </ac:spMkLst>
        </pc:spChg>
        <pc:spChg chg="mod">
          <ac:chgData name="Nafiseh Ghorbani Renani" userId="4e4c81e4-18c3-41de-84c9-a9c36e2573f4" providerId="ADAL" clId="{37B661E7-58BB-4F9E-8846-38EE4D89C220}" dt="2026-03-26T19:19:27.343" v="366" actId="403"/>
          <ac:spMkLst>
            <pc:docMk/>
            <pc:sldMk cId="3497702435" sldId="335"/>
            <ac:spMk id="4" creationId="{CB17C033-F13C-4DEA-2955-F73702BF39E6}"/>
          </ac:spMkLst>
        </pc:spChg>
      </pc:sldChg>
      <pc:sldChg chg="delSp modSp new mod">
        <pc:chgData name="Nafiseh Ghorbani Renani" userId="4e4c81e4-18c3-41de-84c9-a9c36e2573f4" providerId="ADAL" clId="{37B661E7-58BB-4F9E-8846-38EE4D89C220}" dt="2026-03-26T19:31:38.632" v="400" actId="113"/>
        <pc:sldMkLst>
          <pc:docMk/>
          <pc:sldMk cId="659837805" sldId="336"/>
        </pc:sldMkLst>
        <pc:spChg chg="mod">
          <ac:chgData name="Nafiseh Ghorbani Renani" userId="4e4c81e4-18c3-41de-84c9-a9c36e2573f4" providerId="ADAL" clId="{37B661E7-58BB-4F9E-8846-38EE4D89C220}" dt="2026-03-26T19:31:23.729" v="398" actId="20577"/>
          <ac:spMkLst>
            <pc:docMk/>
            <pc:sldMk cId="659837805" sldId="336"/>
            <ac:spMk id="2" creationId="{9758DBE0-6020-6FE0-D6A6-D31ED968F605}"/>
          </ac:spMkLst>
        </pc:spChg>
        <pc:spChg chg="del">
          <ac:chgData name="Nafiseh Ghorbani Renani" userId="4e4c81e4-18c3-41de-84c9-a9c36e2573f4" providerId="ADAL" clId="{37B661E7-58BB-4F9E-8846-38EE4D89C220}" dt="2026-03-26T19:28:30.536" v="372" actId="478"/>
          <ac:spMkLst>
            <pc:docMk/>
            <pc:sldMk cId="659837805" sldId="336"/>
            <ac:spMk id="3" creationId="{8E34EC7B-92BB-37B2-3007-D6DEA1D1925A}"/>
          </ac:spMkLst>
        </pc:spChg>
        <pc:spChg chg="mod">
          <ac:chgData name="Nafiseh Ghorbani Renani" userId="4e4c81e4-18c3-41de-84c9-a9c36e2573f4" providerId="ADAL" clId="{37B661E7-58BB-4F9E-8846-38EE4D89C220}" dt="2026-03-26T19:31:38.632" v="400" actId="113"/>
          <ac:spMkLst>
            <pc:docMk/>
            <pc:sldMk cId="659837805" sldId="336"/>
            <ac:spMk id="4" creationId="{21DBB7A2-D686-C2AF-797D-82BE919BBECE}"/>
          </ac:spMkLst>
        </pc:spChg>
      </pc:sldChg>
      <pc:sldChg chg="addSp delSp add del setBg delDesignElem">
        <pc:chgData name="Nafiseh Ghorbani Renani" userId="4e4c81e4-18c3-41de-84c9-a9c36e2573f4" providerId="ADAL" clId="{37B661E7-58BB-4F9E-8846-38EE4D89C220}" dt="2026-03-26T19:28:22.224" v="370"/>
        <pc:sldMkLst>
          <pc:docMk/>
          <pc:sldMk cId="2442778538" sldId="337"/>
        </pc:sldMkLst>
        <pc:spChg chg="add del">
          <ac:chgData name="Nafiseh Ghorbani Renani" userId="4e4c81e4-18c3-41de-84c9-a9c36e2573f4" providerId="ADAL" clId="{37B661E7-58BB-4F9E-8846-38EE4D89C220}" dt="2026-03-26T19:28:22.224" v="370"/>
          <ac:spMkLst>
            <pc:docMk/>
            <pc:sldMk cId="2442778538" sldId="337"/>
            <ac:spMk id="13" creationId="{5AC925AB-4471-19B0-3533-04CE4B1A68BD}"/>
          </ac:spMkLst>
        </pc:spChg>
        <pc:grpChg chg="add del">
          <ac:chgData name="Nafiseh Ghorbani Renani" userId="4e4c81e4-18c3-41de-84c9-a9c36e2573f4" providerId="ADAL" clId="{37B661E7-58BB-4F9E-8846-38EE4D89C220}" dt="2026-03-26T19:28:22.224" v="370"/>
          <ac:grpSpMkLst>
            <pc:docMk/>
            <pc:sldMk cId="2442778538" sldId="337"/>
            <ac:grpSpMk id="15" creationId="{FBB24A43-532C-0BD4-D97B-CC40CFEE58DE}"/>
          </ac:grpSpMkLst>
        </pc:grpChg>
      </pc:sldChg>
      <pc:sldChg chg="delSp modSp new mod">
        <pc:chgData name="Nafiseh Ghorbani Renani" userId="4e4c81e4-18c3-41de-84c9-a9c36e2573f4" providerId="ADAL" clId="{37B661E7-58BB-4F9E-8846-38EE4D89C220}" dt="2026-03-26T19:36:36.918" v="433" actId="113"/>
        <pc:sldMkLst>
          <pc:docMk/>
          <pc:sldMk cId="4141455028" sldId="337"/>
        </pc:sldMkLst>
        <pc:spChg chg="mod">
          <ac:chgData name="Nafiseh Ghorbani Renani" userId="4e4c81e4-18c3-41de-84c9-a9c36e2573f4" providerId="ADAL" clId="{37B661E7-58BB-4F9E-8846-38EE4D89C220}" dt="2026-03-26T19:34:01.372" v="409"/>
          <ac:spMkLst>
            <pc:docMk/>
            <pc:sldMk cId="4141455028" sldId="337"/>
            <ac:spMk id="2" creationId="{4B7DAE33-47D4-9728-19E8-8998B7EF1394}"/>
          </ac:spMkLst>
        </pc:spChg>
        <pc:spChg chg="del">
          <ac:chgData name="Nafiseh Ghorbani Renani" userId="4e4c81e4-18c3-41de-84c9-a9c36e2573f4" providerId="ADAL" clId="{37B661E7-58BB-4F9E-8846-38EE4D89C220}" dt="2026-03-26T19:34:03.459" v="410" actId="478"/>
          <ac:spMkLst>
            <pc:docMk/>
            <pc:sldMk cId="4141455028" sldId="337"/>
            <ac:spMk id="3" creationId="{896E1665-5473-8038-38AB-F3C7DD973708}"/>
          </ac:spMkLst>
        </pc:spChg>
        <pc:spChg chg="mod">
          <ac:chgData name="Nafiseh Ghorbani Renani" userId="4e4c81e4-18c3-41de-84c9-a9c36e2573f4" providerId="ADAL" clId="{37B661E7-58BB-4F9E-8846-38EE4D89C220}" dt="2026-03-26T19:36:36.918" v="433" actId="113"/>
          <ac:spMkLst>
            <pc:docMk/>
            <pc:sldMk cId="4141455028" sldId="337"/>
            <ac:spMk id="4" creationId="{C4E3A8B4-0499-F3A7-5D2D-A84833ABBAEB}"/>
          </ac:spMkLst>
        </pc:spChg>
      </pc:sldChg>
      <pc:sldChg chg="delSp modSp new mod">
        <pc:chgData name="Nafiseh Ghorbani Renani" userId="4e4c81e4-18c3-41de-84c9-a9c36e2573f4" providerId="ADAL" clId="{37B661E7-58BB-4F9E-8846-38EE4D89C220}" dt="2026-03-26T19:43:13.079" v="462" actId="113"/>
        <pc:sldMkLst>
          <pc:docMk/>
          <pc:sldMk cId="4147004443" sldId="338"/>
        </pc:sldMkLst>
        <pc:spChg chg="mod">
          <ac:chgData name="Nafiseh Ghorbani Renani" userId="4e4c81e4-18c3-41de-84c9-a9c36e2573f4" providerId="ADAL" clId="{37B661E7-58BB-4F9E-8846-38EE4D89C220}" dt="2026-03-26T19:39:00.810" v="437"/>
          <ac:spMkLst>
            <pc:docMk/>
            <pc:sldMk cId="4147004443" sldId="338"/>
            <ac:spMk id="2" creationId="{CED3DD47-D0E4-D06C-6EE3-883FD6722862}"/>
          </ac:spMkLst>
        </pc:spChg>
        <pc:spChg chg="del">
          <ac:chgData name="Nafiseh Ghorbani Renani" userId="4e4c81e4-18c3-41de-84c9-a9c36e2573f4" providerId="ADAL" clId="{37B661E7-58BB-4F9E-8846-38EE4D89C220}" dt="2026-03-26T19:39:02.582" v="438" actId="478"/>
          <ac:spMkLst>
            <pc:docMk/>
            <pc:sldMk cId="4147004443" sldId="338"/>
            <ac:spMk id="3" creationId="{3457F33B-4C29-013F-2412-38416CB87976}"/>
          </ac:spMkLst>
        </pc:spChg>
        <pc:spChg chg="mod">
          <ac:chgData name="Nafiseh Ghorbani Renani" userId="4e4c81e4-18c3-41de-84c9-a9c36e2573f4" providerId="ADAL" clId="{37B661E7-58BB-4F9E-8846-38EE4D89C220}" dt="2026-03-26T19:43:13.079" v="462" actId="113"/>
          <ac:spMkLst>
            <pc:docMk/>
            <pc:sldMk cId="4147004443" sldId="338"/>
            <ac:spMk id="4" creationId="{4F4A6F1A-9710-5180-4956-CBD3F39DC2A2}"/>
          </ac:spMkLst>
        </pc:spChg>
      </pc:sldChg>
      <pc:sldChg chg="delSp modSp new mod">
        <pc:chgData name="Nafiseh Ghorbani Renani" userId="4e4c81e4-18c3-41de-84c9-a9c36e2573f4" providerId="ADAL" clId="{37B661E7-58BB-4F9E-8846-38EE4D89C220}" dt="2026-03-26T19:53:51.313" v="545" actId="113"/>
        <pc:sldMkLst>
          <pc:docMk/>
          <pc:sldMk cId="291025138" sldId="339"/>
        </pc:sldMkLst>
        <pc:spChg chg="mod">
          <ac:chgData name="Nafiseh Ghorbani Renani" userId="4e4c81e4-18c3-41de-84c9-a9c36e2573f4" providerId="ADAL" clId="{37B661E7-58BB-4F9E-8846-38EE4D89C220}" dt="2026-03-26T19:49:02.133" v="512"/>
          <ac:spMkLst>
            <pc:docMk/>
            <pc:sldMk cId="291025138" sldId="339"/>
            <ac:spMk id="2" creationId="{43E16560-C78F-B258-4CE7-A5FC7684285D}"/>
          </ac:spMkLst>
        </pc:spChg>
        <pc:spChg chg="del">
          <ac:chgData name="Nafiseh Ghorbani Renani" userId="4e4c81e4-18c3-41de-84c9-a9c36e2573f4" providerId="ADAL" clId="{37B661E7-58BB-4F9E-8846-38EE4D89C220}" dt="2026-03-26T19:49:04.437" v="513" actId="478"/>
          <ac:spMkLst>
            <pc:docMk/>
            <pc:sldMk cId="291025138" sldId="339"/>
            <ac:spMk id="3" creationId="{E8E0ADCA-D702-FBE8-CC99-ED2B2F6AD1D0}"/>
          </ac:spMkLst>
        </pc:spChg>
        <pc:spChg chg="mod">
          <ac:chgData name="Nafiseh Ghorbani Renani" userId="4e4c81e4-18c3-41de-84c9-a9c36e2573f4" providerId="ADAL" clId="{37B661E7-58BB-4F9E-8846-38EE4D89C220}" dt="2026-03-26T19:53:51.313" v="545" actId="113"/>
          <ac:spMkLst>
            <pc:docMk/>
            <pc:sldMk cId="291025138" sldId="339"/>
            <ac:spMk id="4" creationId="{D8B96C9D-03C5-D531-AE60-F3859A9C10E8}"/>
          </ac:spMkLst>
        </pc:spChg>
      </pc:sldChg>
      <pc:sldChg chg="delSp modSp new mod">
        <pc:chgData name="Nafiseh Ghorbani Renani" userId="4e4c81e4-18c3-41de-84c9-a9c36e2573f4" providerId="ADAL" clId="{37B661E7-58BB-4F9E-8846-38EE4D89C220}" dt="2026-03-26T20:09:31.592" v="578" actId="113"/>
        <pc:sldMkLst>
          <pc:docMk/>
          <pc:sldMk cId="2355240910" sldId="340"/>
        </pc:sldMkLst>
        <pc:spChg chg="mod">
          <ac:chgData name="Nafiseh Ghorbani Renani" userId="4e4c81e4-18c3-41de-84c9-a9c36e2573f4" providerId="ADAL" clId="{37B661E7-58BB-4F9E-8846-38EE4D89C220}" dt="2026-03-26T20:02:44.760" v="547"/>
          <ac:spMkLst>
            <pc:docMk/>
            <pc:sldMk cId="2355240910" sldId="340"/>
            <ac:spMk id="2" creationId="{2153FAEB-01BD-68B4-AA02-2C9E09F347D1}"/>
          </ac:spMkLst>
        </pc:spChg>
        <pc:spChg chg="del">
          <ac:chgData name="Nafiseh Ghorbani Renani" userId="4e4c81e4-18c3-41de-84c9-a9c36e2573f4" providerId="ADAL" clId="{37B661E7-58BB-4F9E-8846-38EE4D89C220}" dt="2026-03-26T20:02:47.383" v="548" actId="478"/>
          <ac:spMkLst>
            <pc:docMk/>
            <pc:sldMk cId="2355240910" sldId="340"/>
            <ac:spMk id="3" creationId="{103008EC-B99D-9163-98E3-30C52EA88657}"/>
          </ac:spMkLst>
        </pc:spChg>
        <pc:spChg chg="mod">
          <ac:chgData name="Nafiseh Ghorbani Renani" userId="4e4c81e4-18c3-41de-84c9-a9c36e2573f4" providerId="ADAL" clId="{37B661E7-58BB-4F9E-8846-38EE4D89C220}" dt="2026-03-26T20:09:31.592" v="578" actId="113"/>
          <ac:spMkLst>
            <pc:docMk/>
            <pc:sldMk cId="2355240910" sldId="340"/>
            <ac:spMk id="4" creationId="{DDF29C42-9CF6-D632-FC57-B1D06D38BAEC}"/>
          </ac:spMkLst>
        </pc:spChg>
      </pc:sldChg>
      <pc:sldChg chg="delSp modSp new mod">
        <pc:chgData name="Nafiseh Ghorbani Renani" userId="4e4c81e4-18c3-41de-84c9-a9c36e2573f4" providerId="ADAL" clId="{37B661E7-58BB-4F9E-8846-38EE4D89C220}" dt="2026-03-26T20:15:28.679" v="608" actId="113"/>
        <pc:sldMkLst>
          <pc:docMk/>
          <pc:sldMk cId="3700465431" sldId="341"/>
        </pc:sldMkLst>
        <pc:spChg chg="mod">
          <ac:chgData name="Nafiseh Ghorbani Renani" userId="4e4c81e4-18c3-41de-84c9-a9c36e2573f4" providerId="ADAL" clId="{37B661E7-58BB-4F9E-8846-38EE4D89C220}" dt="2026-03-26T20:11:55.460" v="581"/>
          <ac:spMkLst>
            <pc:docMk/>
            <pc:sldMk cId="3700465431" sldId="341"/>
            <ac:spMk id="2" creationId="{30BDA86A-4198-0215-ABBB-29CDA76E99CB}"/>
          </ac:spMkLst>
        </pc:spChg>
        <pc:spChg chg="del">
          <ac:chgData name="Nafiseh Ghorbani Renani" userId="4e4c81e4-18c3-41de-84c9-a9c36e2573f4" providerId="ADAL" clId="{37B661E7-58BB-4F9E-8846-38EE4D89C220}" dt="2026-03-26T20:11:57.087" v="582" actId="478"/>
          <ac:spMkLst>
            <pc:docMk/>
            <pc:sldMk cId="3700465431" sldId="341"/>
            <ac:spMk id="3" creationId="{2C369BE7-B886-16D8-F506-E49F6D5A6706}"/>
          </ac:spMkLst>
        </pc:spChg>
        <pc:spChg chg="mod">
          <ac:chgData name="Nafiseh Ghorbani Renani" userId="4e4c81e4-18c3-41de-84c9-a9c36e2573f4" providerId="ADAL" clId="{37B661E7-58BB-4F9E-8846-38EE4D89C220}" dt="2026-03-26T20:15:28.679" v="608" actId="113"/>
          <ac:spMkLst>
            <pc:docMk/>
            <pc:sldMk cId="3700465431" sldId="341"/>
            <ac:spMk id="4" creationId="{3FBDC605-7910-4786-507D-FF037376B29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877104931"/>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19</a:t>
            </a:fld>
            <a:endParaRPr lang="en-US"/>
          </a:p>
        </p:txBody>
      </p:sp>
    </p:spTree>
    <p:extLst>
      <p:ext uri="{BB962C8B-B14F-4D97-AF65-F5344CB8AC3E}">
        <p14:creationId xmlns:p14="http://schemas.microsoft.com/office/powerpoint/2010/main" val="3258722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25</a:t>
            </a:fld>
            <a:endParaRPr lang="en-US"/>
          </a:p>
        </p:txBody>
      </p:sp>
    </p:spTree>
    <p:extLst>
      <p:ext uri="{BB962C8B-B14F-4D97-AF65-F5344CB8AC3E}">
        <p14:creationId xmlns:p14="http://schemas.microsoft.com/office/powerpoint/2010/main" val="29835404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buClr>
                <a:srgbClr val="C00000"/>
              </a:buClr>
              <a:defRPr/>
            </a:lvl1pPr>
            <a:lvl2pPr marL="502920" indent="-228600">
              <a:buClr>
                <a:srgbClr val="C00000"/>
              </a:buClr>
              <a:buSzPct val="100000"/>
              <a:buFont typeface="System Font Regular"/>
              <a:buChar char="-"/>
              <a:defRPr/>
            </a:lvl2pPr>
            <a:lvl3pPr marL="777240" indent="-228600">
              <a:buClr>
                <a:srgbClr val="C00000"/>
              </a:buClr>
              <a:buSzPct val="100000"/>
              <a:buFont typeface="System Font Regular"/>
              <a:buChar char="-"/>
              <a:defRPr/>
            </a:lvl3pPr>
            <a:lvl4pPr marL="1005840" indent="-228600">
              <a:buClr>
                <a:srgbClr val="C00000"/>
              </a:buClr>
              <a:buSzPct val="100000"/>
              <a:buFont typeface="System Font Regular"/>
              <a:buChar char="-"/>
              <a:defRPr/>
            </a:lvl4pPr>
            <a:lvl5pPr marL="1280160" indent="-228600">
              <a:buClr>
                <a:srgbClr val="C00000"/>
              </a:buClr>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buClr>
                <a:srgbClr val="C00000"/>
              </a:buClr>
              <a:defRPr sz="3200"/>
            </a:lvl1pPr>
            <a:lvl2pPr>
              <a:buClr>
                <a:srgbClr val="C00000"/>
              </a:buClr>
              <a:defRPr sz="2800"/>
            </a:lvl2pPr>
            <a:lvl3pPr>
              <a:buClr>
                <a:srgbClr val="C00000"/>
              </a:buClr>
              <a:defRPr sz="2400"/>
            </a:lvl3pPr>
            <a:lvl4pPr>
              <a:buClr>
                <a:srgbClr val="C00000"/>
              </a:buClr>
              <a:defRPr sz="2000"/>
            </a:lvl4pPr>
            <a:lvl5pPr>
              <a:buClr>
                <a:srgbClr val="C00000"/>
              </a:buCl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8302305" cy="934635"/>
          </a:xfrm>
        </p:spPr>
        <p:txBody>
          <a:bodyPr>
            <a:normAutofit lnSpcReduction="10000"/>
          </a:bodyPr>
          <a:lstStyle/>
          <a:p>
            <a:pPr algn="l"/>
            <a:r>
              <a:rPr lang="en-US" sz="3200" b="1" dirty="0">
                <a:solidFill>
                  <a:schemeClr val="bg1">
                    <a:alpha val="100000"/>
                  </a:schemeClr>
                </a:solidFill>
                <a:latin typeface="Arial" panose="020B0604020202090204"/>
                <a:ea typeface="Arial" panose="020B0604020202090204"/>
                <a:cs typeface="Arial" panose="020B0604020202090204"/>
                <a:sym typeface="+mn-ea"/>
              </a:rPr>
              <a:t>Dynamic</a:t>
            </a:r>
            <a:r>
              <a:rPr lang="en-US" sz="3200" b="1" spc="520" dirty="0">
                <a:solidFill>
                  <a:schemeClr val="bg1">
                    <a:alpha val="100000"/>
                  </a:schemeClr>
                </a:solidFill>
                <a:latin typeface="Arial" panose="020B0604020202090204"/>
                <a:ea typeface="Arial" panose="020B0604020202090204"/>
                <a:cs typeface="Arial" panose="020B0604020202090204"/>
                <a:sym typeface="+mn-ea"/>
              </a:rPr>
              <a:t> </a:t>
            </a:r>
            <a:r>
              <a:rPr lang="en-US" sz="3200" b="1" dirty="0">
                <a:solidFill>
                  <a:schemeClr val="bg1">
                    <a:alpha val="100000"/>
                  </a:schemeClr>
                </a:solidFill>
                <a:latin typeface="Arial" panose="020B0604020202090204"/>
                <a:ea typeface="Arial" panose="020B0604020202090204"/>
                <a:cs typeface="Arial" panose="020B0604020202090204"/>
                <a:sym typeface="+mn-ea"/>
              </a:rPr>
              <a:t>Systems</a:t>
            </a:r>
            <a:r>
              <a:rPr lang="en-US" sz="3200" b="1" spc="520" dirty="0">
                <a:solidFill>
                  <a:schemeClr val="bg1">
                    <a:alpha val="100000"/>
                  </a:schemeClr>
                </a:solidFill>
                <a:latin typeface="Arial" panose="020B0604020202090204"/>
                <a:ea typeface="Arial" panose="020B0604020202090204"/>
                <a:cs typeface="Arial" panose="020B0604020202090204"/>
                <a:sym typeface="+mn-ea"/>
              </a:rPr>
              <a:t> </a:t>
            </a:r>
            <a:r>
              <a:rPr lang="en-US" sz="3200" b="1" dirty="0">
                <a:solidFill>
                  <a:schemeClr val="bg1">
                    <a:alpha val="100000"/>
                  </a:schemeClr>
                </a:solidFill>
                <a:latin typeface="Arial" panose="020B0604020202090204"/>
                <a:ea typeface="Arial" panose="020B0604020202090204"/>
                <a:cs typeface="Arial" panose="020B0604020202090204"/>
                <a:sym typeface="+mn-ea"/>
              </a:rPr>
              <a:t>Development</a:t>
            </a:r>
            <a:r>
              <a:rPr lang="en-US" sz="3200" b="1" spc="500" dirty="0">
                <a:solidFill>
                  <a:schemeClr val="bg1">
                    <a:alpha val="100000"/>
                  </a:schemeClr>
                </a:solidFill>
                <a:latin typeface="Arial" panose="020B0604020202090204"/>
                <a:ea typeface="Arial" panose="020B0604020202090204"/>
                <a:cs typeface="Arial" panose="020B0604020202090204"/>
                <a:sym typeface="+mn-ea"/>
              </a:rPr>
              <a:t> </a:t>
            </a:r>
            <a:r>
              <a:rPr lang="en-US" sz="3200" b="1" dirty="0">
                <a:solidFill>
                  <a:schemeClr val="bg1">
                    <a:alpha val="100000"/>
                  </a:schemeClr>
                </a:solidFill>
                <a:latin typeface="Arial" panose="020B0604020202090204"/>
                <a:ea typeface="Arial" panose="020B0604020202090204"/>
                <a:cs typeface="Arial" panose="020B0604020202090204"/>
                <a:sym typeface="+mn-ea"/>
              </a:rPr>
              <a:t>Method </a:t>
            </a:r>
            <a:r>
              <a:rPr lang="en-US" sz="3200" b="1" spc="90" dirty="0">
                <a:solidFill>
                  <a:schemeClr val="bg1">
                    <a:alpha val="100000"/>
                  </a:schemeClr>
                </a:solidFill>
                <a:latin typeface="Arial" panose="020B0604020202090204"/>
                <a:ea typeface="Arial" panose="020B0604020202090204"/>
                <a:cs typeface="Arial" panose="020B0604020202090204"/>
                <a:sym typeface="+mn-ea"/>
              </a:rPr>
              <a:t>(</a:t>
            </a:r>
            <a:r>
              <a:rPr lang="en-US" sz="3200" b="1" dirty="0">
                <a:solidFill>
                  <a:schemeClr val="bg1">
                    <a:alpha val="100000"/>
                  </a:schemeClr>
                </a:solidFill>
                <a:latin typeface="Arial" panose="020B0604020202090204"/>
                <a:ea typeface="Arial" panose="020B0604020202090204"/>
                <a:cs typeface="Arial" panose="020B0604020202090204"/>
                <a:sym typeface="+mn-ea"/>
              </a:rPr>
              <a:t>DSDM</a:t>
            </a:r>
            <a:r>
              <a:rPr lang="en-US" sz="3200" b="1" spc="80" dirty="0">
                <a:solidFill>
                  <a:schemeClr val="bg1">
                    <a:alpha val="100000"/>
                  </a:schemeClr>
                </a:solidFill>
                <a:latin typeface="Arial" panose="020B0604020202090204"/>
                <a:ea typeface="Arial" panose="020B0604020202090204"/>
                <a:cs typeface="Arial" panose="020B0604020202090204"/>
                <a:sym typeface="+mn-ea"/>
              </a:rPr>
              <a:t>)</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DE7B6-DC7C-4BA1-B406-EDDA0C0A3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189620" y="1306071"/>
            <a:ext cx="5478379" cy="2663407"/>
          </a:xfrm>
        </p:spPr>
        <p:txBody>
          <a:bodyPr vert="horz" lIns="91440" tIns="45720" rIns="91440" bIns="45720" rtlCol="0" anchor="b">
            <a:normAutofit/>
          </a:bodyPr>
          <a:lstStyle/>
          <a:p>
            <a:pPr algn="l" defTabSz="914400"/>
            <a:r>
              <a:rPr lang="en-US" kern="1200" dirty="0">
                <a:solidFill>
                  <a:srgbClr val="FFFFFF"/>
                </a:solidFill>
                <a:latin typeface="+mj-lt"/>
                <a:ea typeface="+mj-ea"/>
                <a:cs typeface="+mj-cs"/>
              </a:rPr>
              <a:t>Today's topic</a:t>
            </a:r>
          </a:p>
        </p:txBody>
      </p:sp>
      <p:sp>
        <p:nvSpPr>
          <p:cNvPr id="3" name="Text Placeholder 2"/>
          <p:cNvSpPr>
            <a:spLocks noGrp="1"/>
          </p:cNvSpPr>
          <p:nvPr>
            <p:ph type="body" idx="1"/>
          </p:nvPr>
        </p:nvSpPr>
        <p:spPr>
          <a:xfrm>
            <a:off x="5189620" y="4106004"/>
            <a:ext cx="5478380" cy="1860883"/>
          </a:xfrm>
        </p:spPr>
        <p:txBody>
          <a:bodyPr vert="horz" lIns="91440" tIns="45720" rIns="91440" bIns="45720" rtlCol="0">
            <a:normAutofit lnSpcReduction="10000"/>
          </a:bodyPr>
          <a:lstStyle/>
          <a:p>
            <a:pPr marL="342900" indent="-342900" algn="l" defTabSz="914400" fontAlgn="auto">
              <a:buFont typeface="Arial" panose="020B0604020202020204" pitchFamily="34" charset="0"/>
              <a:buChar char="•"/>
            </a:pPr>
            <a:r>
              <a:rPr lang="en-US" sz="2400" kern="1200" spc="-120" dirty="0">
                <a:solidFill>
                  <a:srgbClr val="FFFFFF"/>
                </a:solidFill>
                <a:latin typeface="+mn-lt"/>
                <a:ea typeface="+mn-ea"/>
                <a:cs typeface="+mn-cs"/>
                <a:sym typeface="+mn-ea"/>
              </a:rPr>
              <a:t>Rapid Application Development (</a:t>
            </a:r>
            <a:r>
              <a:rPr lang="en-US" sz="2400" kern="1200" spc="-40" dirty="0">
                <a:solidFill>
                  <a:srgbClr val="FFFFFF"/>
                </a:solidFill>
                <a:latin typeface="+mn-lt"/>
                <a:ea typeface="+mn-ea"/>
                <a:cs typeface="+mn-cs"/>
                <a:sym typeface="+mn-ea"/>
              </a:rPr>
              <a:t>R</a:t>
            </a:r>
            <a:r>
              <a:rPr lang="en-US" sz="2400" kern="1200" dirty="0">
                <a:solidFill>
                  <a:srgbClr val="FFFFFF"/>
                </a:solidFill>
                <a:latin typeface="+mn-lt"/>
                <a:ea typeface="+mn-ea"/>
                <a:cs typeface="+mn-cs"/>
                <a:sym typeface="+mn-ea"/>
              </a:rPr>
              <a:t>AD</a:t>
            </a:r>
            <a:r>
              <a:rPr lang="en-US" sz="2400" kern="1200" spc="-120" dirty="0">
                <a:solidFill>
                  <a:srgbClr val="FFFFFF"/>
                </a:solidFill>
                <a:latin typeface="+mn-lt"/>
                <a:ea typeface="+mn-ea"/>
                <a:cs typeface="+mn-cs"/>
                <a:sym typeface="+mn-ea"/>
              </a:rPr>
              <a:t>)</a:t>
            </a:r>
            <a:endParaRPr lang="en-US" altLang="en-US" sz="2400" kern="1200" dirty="0">
              <a:solidFill>
                <a:srgbClr val="FFFFFF"/>
              </a:solidFill>
              <a:latin typeface="+mn-lt"/>
              <a:ea typeface="+mn-ea"/>
              <a:cs typeface="+mn-cs"/>
              <a:sym typeface="+mn-ea"/>
            </a:endParaRPr>
          </a:p>
          <a:p>
            <a:pPr marL="342900" indent="-342900" algn="l" defTabSz="914400" fontAlgn="auto">
              <a:buFont typeface="Arial" panose="020B0604020202020204" pitchFamily="34" charset="0"/>
              <a:buChar char="•"/>
            </a:pPr>
            <a:r>
              <a:rPr lang="en-US" sz="2400" kern="1200" spc="-80" dirty="0">
                <a:solidFill>
                  <a:srgbClr val="FFFFFF"/>
                </a:solidFill>
                <a:latin typeface="+mn-lt"/>
                <a:ea typeface="+mn-ea"/>
                <a:cs typeface="+mn-cs"/>
                <a:sym typeface="+mn-ea"/>
              </a:rPr>
              <a:t>Dynamic Systems Development Method (</a:t>
            </a:r>
            <a:r>
              <a:rPr lang="en-US" sz="2400" kern="1200" spc="-30" dirty="0">
                <a:solidFill>
                  <a:srgbClr val="FFFFFF"/>
                </a:solidFill>
                <a:latin typeface="+mn-lt"/>
                <a:ea typeface="+mn-ea"/>
                <a:cs typeface="+mn-cs"/>
                <a:sym typeface="+mn-ea"/>
              </a:rPr>
              <a:t>D</a:t>
            </a:r>
            <a:r>
              <a:rPr lang="en-US" sz="2400" kern="1200" dirty="0">
                <a:solidFill>
                  <a:srgbClr val="FFFFFF"/>
                </a:solidFill>
                <a:latin typeface="+mn-lt"/>
                <a:ea typeface="+mn-ea"/>
                <a:cs typeface="+mn-cs"/>
                <a:sym typeface="+mn-ea"/>
              </a:rPr>
              <a:t>SDM</a:t>
            </a:r>
            <a:r>
              <a:rPr lang="en-US" sz="2400" kern="1200" spc="-80" dirty="0">
                <a:solidFill>
                  <a:srgbClr val="FFFFFF"/>
                </a:solidFill>
                <a:latin typeface="+mn-lt"/>
                <a:ea typeface="+mn-ea"/>
                <a:cs typeface="+mn-cs"/>
                <a:sym typeface="+mn-ea"/>
              </a:rPr>
              <a:t>)</a:t>
            </a:r>
            <a:r>
              <a:rPr lang="en-US" sz="2400" kern="1200" dirty="0">
                <a:solidFill>
                  <a:srgbClr val="FFFFFF"/>
                </a:solidFill>
                <a:latin typeface="+mn-lt"/>
                <a:ea typeface="+mn-ea"/>
                <a:cs typeface="+mn-cs"/>
                <a:sym typeface="+mn-ea"/>
              </a:rPr>
              <a:t> </a:t>
            </a:r>
          </a:p>
          <a:p>
            <a:pPr marL="342900" indent="-342900" algn="l" defTabSz="914400" fontAlgn="auto">
              <a:buFont typeface="Arial" panose="020B0604020202020204" pitchFamily="34" charset="0"/>
              <a:buChar char="•"/>
            </a:pPr>
            <a:r>
              <a:rPr lang="en-US" sz="2400" kern="1200" spc="-100" dirty="0">
                <a:solidFill>
                  <a:srgbClr val="FFFFFF"/>
                </a:solidFill>
                <a:latin typeface="+mn-lt"/>
                <a:ea typeface="+mn-ea"/>
                <a:cs typeface="+mn-cs"/>
                <a:sym typeface="+mn-ea"/>
              </a:rPr>
              <a:t>Core techniques of RAD and DSD</a:t>
            </a:r>
            <a:r>
              <a:rPr lang="en-US" sz="2400" kern="1200" spc="-50" dirty="0">
                <a:solidFill>
                  <a:srgbClr val="FFFFFF"/>
                </a:solidFill>
                <a:latin typeface="+mn-lt"/>
                <a:ea typeface="+mn-ea"/>
                <a:cs typeface="+mn-cs"/>
                <a:sym typeface="+mn-ea"/>
              </a:rPr>
              <a:t>M</a:t>
            </a:r>
            <a:br>
              <a:rPr lang="en-US" altLang="en-US" sz="2400" kern="1200" dirty="0">
                <a:solidFill>
                  <a:srgbClr val="FFFFFF"/>
                </a:solidFill>
                <a:latin typeface="+mn-lt"/>
                <a:ea typeface="+mn-ea"/>
                <a:cs typeface="+mn-cs"/>
                <a:sym typeface="+mn-ea"/>
              </a:rPr>
            </a:br>
            <a:endParaRPr lang="en-US" sz="2400" kern="1200" dirty="0">
              <a:solidFill>
                <a:srgbClr val="FFFFFF"/>
              </a:solidFill>
              <a:latin typeface="+mn-lt"/>
              <a:ea typeface="+mn-ea"/>
              <a:cs typeface="+mn-cs"/>
            </a:endParaRPr>
          </a:p>
          <a:p>
            <a:pPr algn="l" defTabSz="914400" fontAlgn="auto"/>
            <a:endParaRPr lang="en-US" sz="2400" kern="1200" dirty="0">
              <a:solidFill>
                <a:srgbClr val="FFFFFF"/>
              </a:solidFill>
              <a:latin typeface="+mn-lt"/>
              <a:ea typeface="+mn-ea"/>
              <a:cs typeface="+mn-cs"/>
            </a:endParaRPr>
          </a:p>
        </p:txBody>
      </p:sp>
      <p:pic>
        <p:nvPicPr>
          <p:cNvPr id="7" name="Graphic 6" descr="Bullseye">
            <a:extLst>
              <a:ext uri="{FF2B5EF4-FFF2-40B4-BE49-F238E27FC236}">
                <a16:creationId xmlns:a16="http://schemas.microsoft.com/office/drawing/2014/main" id="{23DFF1A2-ECD2-D7EF-1F62-2B0144ACA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1723" y="2593485"/>
            <a:ext cx="1648572" cy="16485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60" dirty="0">
                <a:solidFill>
                  <a:srgbClr val="000000">
                    <a:alpha val="100000"/>
                  </a:srgbClr>
                </a:solidFill>
                <a:latin typeface="Arial" panose="020B0604020202090204"/>
                <a:ea typeface="Arial" panose="020B0604020202090204"/>
                <a:cs typeface="Arial" panose="020B0604020202090204"/>
                <a:sym typeface="+mn-ea"/>
              </a:rPr>
              <a:t>Rapid: the precursor to </a:t>
            </a:r>
            <a:r>
              <a:rPr spc="-5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gile</a:t>
            </a:r>
            <a:r>
              <a:rPr spc="-60" dirty="0">
                <a:solidFill>
                  <a:srgbClr val="000000">
                    <a:alpha val="100000"/>
                  </a:srgbClr>
                </a:solidFill>
                <a:latin typeface="Arial" panose="020B0604020202090204"/>
                <a:ea typeface="Arial" panose="020B0604020202090204"/>
                <a:cs typeface="Arial" panose="020B0604020202090204"/>
                <a:sym typeface="+mn-ea"/>
              </a:rPr>
              <a:t> (1970</a:t>
            </a:r>
            <a:r>
              <a:rPr dirty="0">
                <a:solidFill>
                  <a:srgbClr val="000000">
                    <a:alpha val="100000"/>
                  </a:srgbClr>
                </a:solidFill>
                <a:latin typeface="Arial" panose="020B0604020202090204"/>
                <a:ea typeface="Arial" panose="020B0604020202090204"/>
                <a:cs typeface="Arial" panose="020B0604020202090204"/>
                <a:sym typeface="+mn-ea"/>
              </a:rPr>
              <a:t>s</a:t>
            </a:r>
            <a:r>
              <a:rPr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dirty="0"/>
          </a:p>
        </p:txBody>
      </p:sp>
      <p:sp>
        <p:nvSpPr>
          <p:cNvPr id="2" name="Content Placeholder 1"/>
          <p:cNvSpPr>
            <a:spLocks noGrp="1"/>
          </p:cNvSpPr>
          <p:nvPr>
            <p:ph idx="1"/>
          </p:nvPr>
        </p:nvSpPr>
        <p:spPr>
          <a:xfrm>
            <a:off x="646676" y="1445342"/>
            <a:ext cx="10709031" cy="4257368"/>
          </a:xfrm>
        </p:spPr>
        <p:txBody>
          <a:bodyPr>
            <a:noAutofit/>
          </a:bodyPr>
          <a:lstStyle/>
          <a:p>
            <a:pPr marL="19685" indent="0" eaLnBrk="0">
              <a:lnSpc>
                <a:spcPct val="100000"/>
              </a:lnSpc>
              <a:buNone/>
            </a:pPr>
            <a:r>
              <a:rPr sz="2800" spc="-60" dirty="0">
                <a:solidFill>
                  <a:srgbClr val="080808"/>
                </a:solidFill>
                <a:latin typeface="Arial" panose="020B0604020202090204"/>
                <a:ea typeface="Arial" panose="020B0604020202090204"/>
                <a:cs typeface="Arial" panose="020B0604020202090204"/>
                <a:sym typeface="+mn-ea"/>
              </a:rPr>
              <a:t>The traditional software development model was base</a:t>
            </a:r>
            <a:r>
              <a:rPr sz="2800" spc="-50" dirty="0">
                <a:solidFill>
                  <a:srgbClr val="080808"/>
                </a:solidFill>
                <a:latin typeface="Arial" panose="020B0604020202090204"/>
                <a:ea typeface="Arial" panose="020B0604020202090204"/>
                <a:cs typeface="Arial" panose="020B0604020202090204"/>
                <a:sym typeface="+mn-ea"/>
              </a:rPr>
              <a:t>d</a:t>
            </a:r>
            <a:r>
              <a:rPr sz="2800" dirty="0">
                <a:solidFill>
                  <a:srgbClr val="080808"/>
                </a:solidFill>
                <a:latin typeface="Arial" panose="020B0604020202090204"/>
                <a:ea typeface="Arial" panose="020B0604020202090204"/>
                <a:cs typeface="Arial" panose="020B0604020202090204"/>
                <a:sym typeface="+mn-ea"/>
              </a:rPr>
              <a:t> </a:t>
            </a:r>
            <a:r>
              <a:rPr sz="2800" spc="-60" dirty="0">
                <a:solidFill>
                  <a:srgbClr val="080808"/>
                </a:solidFill>
                <a:latin typeface="Arial" panose="020B0604020202090204"/>
                <a:ea typeface="Arial" panose="020B0604020202090204"/>
                <a:cs typeface="Arial" panose="020B0604020202090204"/>
                <a:sym typeface="+mn-ea"/>
              </a:rPr>
              <a:t>on a Customer-Supplier relationsh</a:t>
            </a:r>
            <a:r>
              <a:rPr sz="2800" dirty="0">
                <a:solidFill>
                  <a:srgbClr val="080808"/>
                </a:solidFill>
                <a:latin typeface="Arial" panose="020B0604020202090204"/>
                <a:ea typeface="Arial" panose="020B0604020202090204"/>
                <a:cs typeface="Arial" panose="020B0604020202090204"/>
                <a:sym typeface="+mn-ea"/>
              </a:rPr>
              <a:t>ip</a:t>
            </a:r>
            <a:endParaRPr lang="en-US" sz="2800" dirty="0">
              <a:solidFill>
                <a:srgbClr val="080808"/>
              </a:solidFill>
              <a:latin typeface="Arial" panose="020B0604020202090204"/>
              <a:ea typeface="Arial" panose="020B0604020202090204"/>
              <a:cs typeface="Arial" panose="020B0604020202090204"/>
              <a:sym typeface="+mn-ea"/>
            </a:endParaRPr>
          </a:p>
          <a:p>
            <a:pPr marL="636905" lvl="1" indent="-342900" eaLnBrk="0">
              <a:lnSpc>
                <a:spcPct val="100000"/>
              </a:lnSpc>
            </a:pPr>
            <a:r>
              <a:rPr lang="en-US" altLang="en-US" sz="2000" dirty="0">
                <a:solidFill>
                  <a:srgbClr val="080808"/>
                </a:solidFill>
                <a:latin typeface="Arial" panose="020B0604020202020204" pitchFamily="34" charset="0"/>
                <a:cs typeface="Arial" panose="020B0604020202020204" pitchFamily="34" charset="0"/>
              </a:rPr>
              <a:t>Where the roles of the </a:t>
            </a:r>
            <a:r>
              <a:rPr lang="en-US" altLang="en-US" sz="2000" b="1" dirty="0">
                <a:solidFill>
                  <a:srgbClr val="080808"/>
                </a:solidFill>
                <a:latin typeface="Arial" panose="020B0604020202020204" pitchFamily="34" charset="0"/>
                <a:cs typeface="Arial" panose="020B0604020202020204" pitchFamily="34" charset="0"/>
              </a:rPr>
              <a:t>customer (client) </a:t>
            </a:r>
            <a:r>
              <a:rPr lang="en-US" altLang="en-US" sz="2000" dirty="0">
                <a:solidFill>
                  <a:srgbClr val="080808"/>
                </a:solidFill>
                <a:latin typeface="Arial" panose="020B0604020202020204" pitchFamily="34" charset="0"/>
                <a:cs typeface="Arial" panose="020B0604020202020204" pitchFamily="34" charset="0"/>
              </a:rPr>
              <a:t>and the </a:t>
            </a:r>
            <a:r>
              <a:rPr lang="en-US" altLang="en-US" sz="2000" b="1" dirty="0">
                <a:solidFill>
                  <a:srgbClr val="080808"/>
                </a:solidFill>
                <a:latin typeface="Arial" panose="020B0604020202020204" pitchFamily="34" charset="0"/>
                <a:cs typeface="Arial" panose="020B0604020202020204" pitchFamily="34" charset="0"/>
              </a:rPr>
              <a:t>supplier (developer) </a:t>
            </a:r>
            <a:r>
              <a:rPr lang="en-US" altLang="en-US" sz="2000" dirty="0">
                <a:solidFill>
                  <a:srgbClr val="080808"/>
                </a:solidFill>
                <a:latin typeface="Arial" panose="020B0604020202020204" pitchFamily="34" charset="0"/>
                <a:cs typeface="Arial" panose="020B0604020202020204" pitchFamily="34" charset="0"/>
              </a:rPr>
              <a:t>are clearly </a:t>
            </a:r>
            <a:r>
              <a:rPr lang="en-US" altLang="en-US" sz="2000" b="1" dirty="0">
                <a:solidFill>
                  <a:srgbClr val="080808"/>
                </a:solidFill>
                <a:latin typeface="Arial" panose="020B0604020202020204" pitchFamily="34" charset="0"/>
                <a:cs typeface="Arial" panose="020B0604020202020204" pitchFamily="34" charset="0"/>
              </a:rPr>
              <a:t>defined</a:t>
            </a:r>
            <a:r>
              <a:rPr lang="en-US" altLang="en-US" sz="2000" dirty="0">
                <a:solidFill>
                  <a:srgbClr val="080808"/>
                </a:solidFill>
                <a:latin typeface="Arial" panose="020B0604020202020204" pitchFamily="34" charset="0"/>
                <a:cs typeface="Arial" panose="020B0604020202020204" pitchFamily="34" charset="0"/>
              </a:rPr>
              <a:t> and </a:t>
            </a:r>
            <a:r>
              <a:rPr lang="en-US" altLang="en-US" sz="2000" b="1" dirty="0">
                <a:solidFill>
                  <a:srgbClr val="080808"/>
                </a:solidFill>
                <a:latin typeface="Arial" panose="020B0604020202020204" pitchFamily="34" charset="0"/>
                <a:cs typeface="Arial" panose="020B0604020202020204" pitchFamily="34" charset="0"/>
              </a:rPr>
              <a:t>separate</a:t>
            </a:r>
            <a:r>
              <a:rPr lang="en-US" altLang="en-US" sz="2000" dirty="0">
                <a:solidFill>
                  <a:srgbClr val="080808"/>
                </a:solidFill>
                <a:latin typeface="Arial" panose="020B0604020202020204" pitchFamily="34" charset="0"/>
                <a:cs typeface="Arial" panose="020B0604020202020204" pitchFamily="34" charset="0"/>
              </a:rPr>
              <a:t>.</a:t>
            </a:r>
          </a:p>
          <a:p>
            <a:pPr marL="636905" lvl="1" indent="-342900" eaLnBrk="0">
              <a:lnSpc>
                <a:spcPct val="100000"/>
              </a:lnSpc>
            </a:pPr>
            <a:r>
              <a:rPr lang="en-US" altLang="en-US" sz="2000" b="1" dirty="0">
                <a:solidFill>
                  <a:srgbClr val="080808"/>
                </a:solidFill>
                <a:latin typeface="Arial" panose="020B0604020202020204" pitchFamily="34" charset="0"/>
                <a:cs typeface="Arial" panose="020B0604020202020204" pitchFamily="34" charset="0"/>
              </a:rPr>
              <a:t>The Customer (often a business or organization) </a:t>
            </a:r>
            <a:r>
              <a:rPr lang="en-US" altLang="en-US" sz="2000" dirty="0">
                <a:solidFill>
                  <a:srgbClr val="080808"/>
                </a:solidFill>
                <a:latin typeface="Arial" panose="020B0604020202020204" pitchFamily="34" charset="0"/>
                <a:cs typeface="Arial" panose="020B0604020202020204" pitchFamily="34" charset="0"/>
              </a:rPr>
              <a:t>defines the requirements and provides the specifications for the software.</a:t>
            </a:r>
          </a:p>
          <a:p>
            <a:pPr marL="636905" lvl="1" indent="-342900" eaLnBrk="0">
              <a:lnSpc>
                <a:spcPct val="100000"/>
              </a:lnSpc>
            </a:pPr>
            <a:r>
              <a:rPr lang="en-US" altLang="en-US" sz="2000" b="1" dirty="0">
                <a:solidFill>
                  <a:srgbClr val="080808"/>
                </a:solidFill>
                <a:latin typeface="Arial" panose="020B0604020202020204" pitchFamily="34" charset="0"/>
                <a:cs typeface="Arial" panose="020B0604020202020204" pitchFamily="34" charset="0"/>
              </a:rPr>
              <a:t>The Supplier (software development team or company) </a:t>
            </a:r>
            <a:r>
              <a:rPr lang="en-US" altLang="en-US" sz="2000" dirty="0">
                <a:solidFill>
                  <a:srgbClr val="080808"/>
                </a:solidFill>
                <a:latin typeface="Arial" panose="020B0604020202020204" pitchFamily="34" charset="0"/>
                <a:cs typeface="Arial" panose="020B0604020202020204" pitchFamily="34" charset="0"/>
              </a:rPr>
              <a:t>is responsible for designing, developing, and delivering the software based on the provided specifications.</a:t>
            </a:r>
          </a:p>
          <a:p>
            <a:pPr marL="636905" lvl="1" indent="-342900" eaLnBrk="0">
              <a:lnSpc>
                <a:spcPct val="100000"/>
              </a:lnSpc>
            </a:pPr>
            <a:r>
              <a:rPr lang="en-US" altLang="en-US" sz="2000" dirty="0">
                <a:solidFill>
                  <a:srgbClr val="080808"/>
                </a:solidFill>
                <a:latin typeface="Arial" panose="020B0604020202020204" pitchFamily="34" charset="0"/>
                <a:cs typeface="Arial" panose="020B0604020202020204" pitchFamily="34" charset="0"/>
              </a:rPr>
              <a:t>This relationship is often more </a:t>
            </a:r>
            <a:r>
              <a:rPr lang="en-US" altLang="en-US" sz="2000" b="1" dirty="0">
                <a:solidFill>
                  <a:srgbClr val="080808"/>
                </a:solidFill>
                <a:latin typeface="Arial" panose="020B0604020202020204" pitchFamily="34" charset="0"/>
                <a:cs typeface="Arial" panose="020B0604020202020204" pitchFamily="34" charset="0"/>
              </a:rPr>
              <a:t>transactional</a:t>
            </a:r>
            <a:r>
              <a:rPr lang="en-US" altLang="en-US" sz="2000" dirty="0">
                <a:solidFill>
                  <a:srgbClr val="080808"/>
                </a:solidFill>
                <a:latin typeface="Arial" panose="020B0604020202020204" pitchFamily="34" charset="0"/>
                <a:cs typeface="Arial" panose="020B0604020202020204" pitchFamily="34" charset="0"/>
              </a:rPr>
              <a:t> and </a:t>
            </a:r>
            <a:r>
              <a:rPr lang="en-US" altLang="en-US" sz="2000" b="1" dirty="0">
                <a:solidFill>
                  <a:srgbClr val="080808"/>
                </a:solidFill>
                <a:latin typeface="Arial" panose="020B0604020202020204" pitchFamily="34" charset="0"/>
                <a:cs typeface="Arial" panose="020B0604020202020204" pitchFamily="34" charset="0"/>
              </a:rPr>
              <a:t>one-directional</a:t>
            </a:r>
            <a:r>
              <a:rPr lang="en-US" altLang="en-US" sz="2000" dirty="0">
                <a:solidFill>
                  <a:srgbClr val="080808"/>
                </a:solidFill>
                <a:latin typeface="Arial" panose="020B0604020202020204" pitchFamily="34" charset="0"/>
                <a:cs typeface="Arial" panose="020B0604020202020204" pitchFamily="34" charset="0"/>
              </a:rPr>
              <a:t>, where the customer specifies what they want, and the supplier develops it. </a:t>
            </a:r>
          </a:p>
        </p:txBody>
      </p:sp>
      <p:sp>
        <p:nvSpPr>
          <p:cNvPr id="3" name="Slide Number Placeholder 2"/>
          <p:cNvSpPr>
            <a:spLocks noGrp="1"/>
          </p:cNvSpPr>
          <p:nvPr>
            <p:ph type="sldNum" sz="quarter" idx="12"/>
          </p:nvPr>
        </p:nvSpPr>
        <p:spPr/>
        <p:txBody>
          <a:bodyPr/>
          <a:lstStyle/>
          <a:p>
            <a:fld id="{4267CD5E-26CF-4249-8540-BB1D07FD4227}"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079A-B31C-BAB0-FCE5-9B32E2A2F1B2}"/>
              </a:ext>
            </a:extLst>
          </p:cNvPr>
          <p:cNvSpPr>
            <a:spLocks noGrp="1"/>
          </p:cNvSpPr>
          <p:nvPr>
            <p:ph type="title"/>
          </p:nvPr>
        </p:nvSpPr>
        <p:spPr/>
        <p:txBody>
          <a:bodyPr>
            <a:normAutofit fontScale="90000"/>
          </a:bodyPr>
          <a:lstStyle/>
          <a:p>
            <a:r>
              <a:rPr lang="en-US" spc="-60" dirty="0">
                <a:solidFill>
                  <a:srgbClr val="000000">
                    <a:alpha val="100000"/>
                  </a:srgbClr>
                </a:solidFill>
                <a:latin typeface="Arial" panose="020B0604020202090204"/>
                <a:ea typeface="Arial" panose="020B0604020202090204"/>
                <a:cs typeface="Arial" panose="020B0604020202090204"/>
                <a:sym typeface="+mn-ea"/>
              </a:rPr>
              <a:t>Rapid: the precursor to </a:t>
            </a:r>
            <a:r>
              <a:rPr lang="en-US" spc="-50" dirty="0">
                <a:solidFill>
                  <a:srgbClr val="000000">
                    <a:alpha val="100000"/>
                  </a:srgbClr>
                </a:solidFill>
                <a:latin typeface="Arial" panose="020B0604020202090204"/>
                <a:ea typeface="Arial" panose="020B0604020202090204"/>
                <a:cs typeface="Arial" panose="020B0604020202090204"/>
                <a:sym typeface="+mn-ea"/>
              </a:rPr>
              <a:t>A</a:t>
            </a:r>
            <a:r>
              <a:rPr lang="en-US" dirty="0">
                <a:solidFill>
                  <a:srgbClr val="000000">
                    <a:alpha val="100000"/>
                  </a:srgbClr>
                </a:solidFill>
                <a:latin typeface="Arial" panose="020B0604020202090204"/>
                <a:ea typeface="Arial" panose="020B0604020202090204"/>
                <a:cs typeface="Arial" panose="020B0604020202090204"/>
                <a:sym typeface="+mn-ea"/>
              </a:rPr>
              <a:t>gile</a:t>
            </a:r>
            <a:r>
              <a:rPr lang="en-US" spc="-60" dirty="0">
                <a:solidFill>
                  <a:srgbClr val="000000">
                    <a:alpha val="100000"/>
                  </a:srgbClr>
                </a:solidFill>
                <a:latin typeface="Arial" panose="020B0604020202090204"/>
                <a:ea typeface="Arial" panose="020B0604020202090204"/>
                <a:cs typeface="Arial" panose="020B0604020202090204"/>
                <a:sym typeface="+mn-ea"/>
              </a:rPr>
              <a:t> (1970</a:t>
            </a:r>
            <a:r>
              <a:rPr lang="en-US" dirty="0">
                <a:solidFill>
                  <a:srgbClr val="000000">
                    <a:alpha val="100000"/>
                  </a:srgbClr>
                </a:solidFill>
                <a:latin typeface="Arial" panose="020B0604020202090204"/>
                <a:ea typeface="Arial" panose="020B0604020202090204"/>
                <a:cs typeface="Arial" panose="020B0604020202090204"/>
                <a:sym typeface="+mn-ea"/>
              </a:rPr>
              <a:t>s</a:t>
            </a:r>
            <a:r>
              <a:rPr lang="en-US"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dirty="0"/>
          </a:p>
        </p:txBody>
      </p:sp>
      <p:sp>
        <p:nvSpPr>
          <p:cNvPr id="4" name="Content Placeholder 3">
            <a:extLst>
              <a:ext uri="{FF2B5EF4-FFF2-40B4-BE49-F238E27FC236}">
                <a16:creationId xmlns:a16="http://schemas.microsoft.com/office/drawing/2014/main" id="{5EAC1790-989F-350A-10FA-FFCF6AFAF1E3}"/>
              </a:ext>
            </a:extLst>
          </p:cNvPr>
          <p:cNvSpPr>
            <a:spLocks noGrp="1"/>
          </p:cNvSpPr>
          <p:nvPr>
            <p:ph idx="1"/>
          </p:nvPr>
        </p:nvSpPr>
        <p:spPr>
          <a:xfrm>
            <a:off x="644771" y="1307690"/>
            <a:ext cx="10709031" cy="4774457"/>
          </a:xfrm>
        </p:spPr>
        <p:txBody>
          <a:bodyPr>
            <a:normAutofit/>
          </a:bodyPr>
          <a:lstStyle/>
          <a:p>
            <a:pPr marL="0" indent="0">
              <a:buNone/>
            </a:pPr>
            <a:r>
              <a:rPr lang="en-US" sz="2800" spc="-60" dirty="0">
                <a:solidFill>
                  <a:srgbClr val="080808"/>
                </a:solidFill>
                <a:latin typeface="Arial" panose="020B0604020202090204"/>
                <a:ea typeface="Arial" panose="020B0604020202090204"/>
                <a:cs typeface="Arial" panose="020B0604020202090204"/>
                <a:sym typeface="+mn-ea"/>
              </a:rPr>
              <a:t>The traditional software development model was base</a:t>
            </a:r>
            <a:r>
              <a:rPr lang="en-US" sz="2800" spc="-50" dirty="0">
                <a:solidFill>
                  <a:srgbClr val="080808"/>
                </a:solidFill>
                <a:latin typeface="Arial" panose="020B0604020202090204"/>
                <a:ea typeface="Arial" panose="020B0604020202090204"/>
                <a:cs typeface="Arial" panose="020B0604020202090204"/>
                <a:sym typeface="+mn-ea"/>
              </a:rPr>
              <a:t>d</a:t>
            </a:r>
            <a:r>
              <a:rPr lang="en-US" sz="2800" dirty="0">
                <a:solidFill>
                  <a:srgbClr val="080808"/>
                </a:solidFill>
                <a:latin typeface="Arial" panose="020B0604020202090204"/>
                <a:ea typeface="Arial" panose="020B0604020202090204"/>
                <a:cs typeface="Arial" panose="020B0604020202090204"/>
                <a:sym typeface="+mn-ea"/>
              </a:rPr>
              <a:t> </a:t>
            </a:r>
            <a:r>
              <a:rPr lang="en-US" sz="2800" spc="-60" dirty="0">
                <a:solidFill>
                  <a:srgbClr val="080808"/>
                </a:solidFill>
                <a:latin typeface="Arial" panose="020B0604020202090204"/>
                <a:ea typeface="Arial" panose="020B0604020202090204"/>
                <a:cs typeface="Arial" panose="020B0604020202090204"/>
                <a:sym typeface="+mn-ea"/>
              </a:rPr>
              <a:t>on a Customer-Supplier relationsh</a:t>
            </a:r>
            <a:r>
              <a:rPr lang="en-US" sz="2800" dirty="0">
                <a:solidFill>
                  <a:srgbClr val="080808"/>
                </a:solidFill>
                <a:latin typeface="Arial" panose="020B0604020202090204"/>
                <a:ea typeface="Arial" panose="020B0604020202090204"/>
                <a:cs typeface="Arial" panose="020B0604020202090204"/>
                <a:sym typeface="+mn-ea"/>
              </a:rPr>
              <a:t>ip</a:t>
            </a:r>
          </a:p>
          <a:p>
            <a:pPr marL="636905" lvl="1" indent="-342900" eaLnBrk="0">
              <a:lnSpc>
                <a:spcPct val="100000"/>
              </a:lnSpc>
            </a:pPr>
            <a:r>
              <a:rPr lang="en-US" altLang="en-US" sz="2000" dirty="0">
                <a:solidFill>
                  <a:srgbClr val="080808"/>
                </a:solidFill>
                <a:latin typeface="Arial" panose="020B0604020202020204" pitchFamily="34" charset="0"/>
                <a:cs typeface="Arial" panose="020B0604020202020204" pitchFamily="34" charset="0"/>
              </a:rPr>
              <a:t>Communication between the two is typically more </a:t>
            </a:r>
            <a:r>
              <a:rPr lang="en-US" altLang="en-US" sz="2000" b="1" dirty="0">
                <a:solidFill>
                  <a:srgbClr val="080808"/>
                </a:solidFill>
                <a:latin typeface="Arial" panose="020B0604020202020204" pitchFamily="34" charset="0"/>
                <a:cs typeface="Arial" panose="020B0604020202020204" pitchFamily="34" charset="0"/>
              </a:rPr>
              <a:t>formal</a:t>
            </a:r>
            <a:r>
              <a:rPr lang="en-US" altLang="en-US" sz="2000" dirty="0">
                <a:solidFill>
                  <a:srgbClr val="080808"/>
                </a:solidFill>
                <a:latin typeface="Arial" panose="020B0604020202020204" pitchFamily="34" charset="0"/>
                <a:cs typeface="Arial" panose="020B0604020202020204" pitchFamily="34" charset="0"/>
              </a:rPr>
              <a:t>, with fewer iterations or opportunities for feedback once the project is underway. </a:t>
            </a:r>
          </a:p>
          <a:p>
            <a:pPr marL="636905" lvl="1" indent="-342900" eaLnBrk="0">
              <a:lnSpc>
                <a:spcPct val="100000"/>
              </a:lnSpc>
            </a:pPr>
            <a:r>
              <a:rPr lang="en-US" altLang="en-US" sz="2000" dirty="0">
                <a:solidFill>
                  <a:srgbClr val="080808"/>
                </a:solidFill>
                <a:latin typeface="Arial" panose="020B0604020202020204" pitchFamily="34" charset="0"/>
                <a:cs typeface="Arial" panose="020B0604020202020204" pitchFamily="34" charset="0"/>
              </a:rPr>
              <a:t>The focus is on delivering a finished product according to the </a:t>
            </a:r>
            <a:r>
              <a:rPr lang="en-US" altLang="en-US" sz="2000" b="1" dirty="0">
                <a:solidFill>
                  <a:srgbClr val="080808"/>
                </a:solidFill>
                <a:latin typeface="Arial" panose="020B0604020202020204" pitchFamily="34" charset="0"/>
                <a:cs typeface="Arial" panose="020B0604020202020204" pitchFamily="34" charset="0"/>
              </a:rPr>
              <a:t>agreed-upon requirements</a:t>
            </a:r>
            <a:r>
              <a:rPr lang="en-US" altLang="en-US" sz="2000" dirty="0">
                <a:solidFill>
                  <a:srgbClr val="080808"/>
                </a:solidFill>
                <a:latin typeface="Arial" panose="020B0604020202020204" pitchFamily="34" charset="0"/>
                <a:cs typeface="Arial" panose="020B0604020202020204" pitchFamily="34" charset="0"/>
              </a:rPr>
              <a:t>.</a:t>
            </a:r>
          </a:p>
          <a:p>
            <a:pPr marL="636905" lvl="1" indent="-342900" eaLnBrk="0">
              <a:lnSpc>
                <a:spcPct val="100000"/>
              </a:lnSpc>
            </a:pPr>
            <a:r>
              <a:rPr lang="en-US" altLang="en-US" sz="2000" dirty="0">
                <a:solidFill>
                  <a:srgbClr val="080808"/>
                </a:solidFill>
                <a:latin typeface="Arial" panose="020B0604020202020204" pitchFamily="34" charset="0"/>
                <a:cs typeface="Arial" panose="020B0604020202020204" pitchFamily="34" charset="0"/>
              </a:rPr>
              <a:t>In contrast, more </a:t>
            </a:r>
            <a:r>
              <a:rPr lang="en-US" altLang="en-US" sz="2000" b="1" dirty="0">
                <a:solidFill>
                  <a:srgbClr val="080808"/>
                </a:solidFill>
                <a:latin typeface="Arial" panose="020B0604020202020204" pitchFamily="34" charset="0"/>
                <a:cs typeface="Arial" panose="020B0604020202020204" pitchFamily="34" charset="0"/>
              </a:rPr>
              <a:t>modern methods </a:t>
            </a:r>
            <a:r>
              <a:rPr lang="en-US" altLang="en-US" sz="2000" dirty="0">
                <a:solidFill>
                  <a:srgbClr val="080808"/>
                </a:solidFill>
                <a:latin typeface="Arial" panose="020B0604020202020204" pitchFamily="34" charset="0"/>
                <a:cs typeface="Arial" panose="020B0604020202020204" pitchFamily="34" charset="0"/>
              </a:rPr>
              <a:t>like Agile emphasize </a:t>
            </a:r>
            <a:r>
              <a:rPr lang="en-US" altLang="en-US" sz="2000" b="1" dirty="0">
                <a:solidFill>
                  <a:srgbClr val="080808"/>
                </a:solidFill>
                <a:latin typeface="Arial" panose="020B0604020202020204" pitchFamily="34" charset="0"/>
                <a:cs typeface="Arial" panose="020B0604020202020204" pitchFamily="34" charset="0"/>
              </a:rPr>
              <a:t>collaboration</a:t>
            </a:r>
            <a:r>
              <a:rPr lang="en-US" altLang="en-US" sz="2000" dirty="0">
                <a:solidFill>
                  <a:srgbClr val="080808"/>
                </a:solidFill>
                <a:latin typeface="Arial" panose="020B0604020202020204" pitchFamily="34" charset="0"/>
                <a:cs typeface="Arial" panose="020B0604020202020204" pitchFamily="34" charset="0"/>
              </a:rPr>
              <a:t> between the customer and supplier throughout the development process, allowing for </a:t>
            </a:r>
            <a:r>
              <a:rPr lang="en-US" altLang="en-US" sz="2000" b="1" dirty="0">
                <a:solidFill>
                  <a:srgbClr val="080808"/>
                </a:solidFill>
                <a:latin typeface="Arial" panose="020B0604020202020204" pitchFamily="34" charset="0"/>
                <a:cs typeface="Arial" panose="020B0604020202020204" pitchFamily="34" charset="0"/>
              </a:rPr>
              <a:t>flexibility</a:t>
            </a:r>
            <a:r>
              <a:rPr lang="en-US" altLang="en-US" sz="2000" dirty="0">
                <a:solidFill>
                  <a:srgbClr val="080808"/>
                </a:solidFill>
                <a:latin typeface="Arial" panose="020B0604020202020204" pitchFamily="34" charset="0"/>
                <a:cs typeface="Arial" panose="020B0604020202020204" pitchFamily="34" charset="0"/>
              </a:rPr>
              <a:t>, </a:t>
            </a:r>
            <a:r>
              <a:rPr lang="en-US" altLang="en-US" sz="2000" b="1" dirty="0">
                <a:solidFill>
                  <a:srgbClr val="080808"/>
                </a:solidFill>
                <a:latin typeface="Arial" panose="020B0604020202020204" pitchFamily="34" charset="0"/>
                <a:cs typeface="Arial" panose="020B0604020202020204" pitchFamily="34" charset="0"/>
              </a:rPr>
              <a:t>feedback</a:t>
            </a:r>
            <a:r>
              <a:rPr lang="en-US" altLang="en-US" sz="2000" dirty="0">
                <a:solidFill>
                  <a:srgbClr val="080808"/>
                </a:solidFill>
                <a:latin typeface="Arial" panose="020B0604020202020204" pitchFamily="34" charset="0"/>
                <a:cs typeface="Arial" panose="020B0604020202020204" pitchFamily="34" charset="0"/>
              </a:rPr>
              <a:t>, and </a:t>
            </a:r>
            <a:r>
              <a:rPr lang="en-US" altLang="en-US" sz="2000" b="1" dirty="0">
                <a:solidFill>
                  <a:srgbClr val="080808"/>
                </a:solidFill>
                <a:latin typeface="Arial" panose="020B0604020202020204" pitchFamily="34" charset="0"/>
                <a:cs typeface="Arial" panose="020B0604020202020204" pitchFamily="34" charset="0"/>
              </a:rPr>
              <a:t>continuous improvement </a:t>
            </a:r>
            <a:r>
              <a:rPr lang="en-US" altLang="en-US" sz="2000" dirty="0">
                <a:solidFill>
                  <a:srgbClr val="080808"/>
                </a:solidFill>
                <a:latin typeface="Arial" panose="020B0604020202020204" pitchFamily="34" charset="0"/>
                <a:cs typeface="Arial" panose="020B0604020202020204" pitchFamily="34" charset="0"/>
              </a:rPr>
              <a:t>as the project evolves.</a:t>
            </a:r>
          </a:p>
          <a:p>
            <a:endParaRPr lang="en-US" sz="2800" dirty="0">
              <a:solidFill>
                <a:srgbClr val="080808"/>
              </a:solidFill>
              <a:latin typeface="Arial" panose="020B0604020202090204"/>
              <a:ea typeface="Arial" panose="020B0604020202090204"/>
              <a:cs typeface="Arial" panose="020B0604020202090204"/>
              <a:sym typeface="+mn-ea"/>
            </a:endParaRPr>
          </a:p>
          <a:p>
            <a:endParaRPr lang="en-US" sz="2400" dirty="0"/>
          </a:p>
        </p:txBody>
      </p:sp>
      <p:sp>
        <p:nvSpPr>
          <p:cNvPr id="5" name="Slide Number Placeholder 4">
            <a:extLst>
              <a:ext uri="{FF2B5EF4-FFF2-40B4-BE49-F238E27FC236}">
                <a16:creationId xmlns:a16="http://schemas.microsoft.com/office/drawing/2014/main" id="{6A683C44-36D5-BDAE-7A3A-59ACA829EE34}"/>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425956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4D3F-BB0E-63A8-8457-8B663A57B9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422805-2D05-5C7D-F0A9-1F68346E1BE4}"/>
              </a:ext>
            </a:extLst>
          </p:cNvPr>
          <p:cNvSpPr>
            <a:spLocks noGrp="1"/>
          </p:cNvSpPr>
          <p:nvPr>
            <p:ph type="title"/>
          </p:nvPr>
        </p:nvSpPr>
        <p:spPr/>
        <p:txBody>
          <a:bodyPr>
            <a:normAutofit fontScale="90000"/>
          </a:bodyPr>
          <a:lstStyle/>
          <a:p>
            <a:r>
              <a:rPr spc="-60" dirty="0">
                <a:solidFill>
                  <a:srgbClr val="000000">
                    <a:alpha val="100000"/>
                  </a:srgbClr>
                </a:solidFill>
                <a:latin typeface="Arial" panose="020B0604020202090204"/>
                <a:ea typeface="Arial" panose="020B0604020202090204"/>
                <a:cs typeface="Arial" panose="020B0604020202090204"/>
                <a:sym typeface="+mn-ea"/>
              </a:rPr>
              <a:t>Rapid: the precursor to </a:t>
            </a:r>
            <a:r>
              <a:rPr spc="-5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gile</a:t>
            </a:r>
            <a:r>
              <a:rPr spc="-60" dirty="0">
                <a:solidFill>
                  <a:srgbClr val="000000">
                    <a:alpha val="100000"/>
                  </a:srgbClr>
                </a:solidFill>
                <a:latin typeface="Arial" panose="020B0604020202090204"/>
                <a:ea typeface="Arial" panose="020B0604020202090204"/>
                <a:cs typeface="Arial" panose="020B0604020202090204"/>
                <a:sym typeface="+mn-ea"/>
              </a:rPr>
              <a:t> (1970</a:t>
            </a:r>
            <a:r>
              <a:rPr dirty="0">
                <a:solidFill>
                  <a:srgbClr val="000000">
                    <a:alpha val="100000"/>
                  </a:srgbClr>
                </a:solidFill>
                <a:latin typeface="Arial" panose="020B0604020202090204"/>
                <a:ea typeface="Arial" panose="020B0604020202090204"/>
                <a:cs typeface="Arial" panose="020B0604020202090204"/>
                <a:sym typeface="+mn-ea"/>
              </a:rPr>
              <a:t>s</a:t>
            </a:r>
            <a:r>
              <a:rPr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dirty="0"/>
          </a:p>
        </p:txBody>
      </p:sp>
      <p:sp>
        <p:nvSpPr>
          <p:cNvPr id="2" name="Content Placeholder 1">
            <a:extLst>
              <a:ext uri="{FF2B5EF4-FFF2-40B4-BE49-F238E27FC236}">
                <a16:creationId xmlns:a16="http://schemas.microsoft.com/office/drawing/2014/main" id="{923BB371-6EE6-5213-1FE2-958895701AC1}"/>
              </a:ext>
            </a:extLst>
          </p:cNvPr>
          <p:cNvSpPr>
            <a:spLocks noGrp="1"/>
          </p:cNvSpPr>
          <p:nvPr>
            <p:ph idx="1"/>
          </p:nvPr>
        </p:nvSpPr>
        <p:spPr>
          <a:xfrm>
            <a:off x="646676" y="1099879"/>
            <a:ext cx="10709031" cy="3879273"/>
          </a:xfrm>
        </p:spPr>
        <p:txBody>
          <a:bodyPr>
            <a:noAutofit/>
          </a:bodyPr>
          <a:lstStyle/>
          <a:p>
            <a:pPr marL="571500" indent="-342900" eaLnBrk="0">
              <a:lnSpc>
                <a:spcPct val="100000"/>
              </a:lnSpc>
            </a:pPr>
            <a:endParaRPr lang="en-US" altLang="en-US" sz="2400" dirty="0"/>
          </a:p>
          <a:p>
            <a:pPr marL="371475" indent="-342900" eaLnBrk="0">
              <a:lnSpc>
                <a:spcPct val="100000"/>
              </a:lnSpc>
              <a:spcBef>
                <a:spcPts val="1130"/>
              </a:spcBef>
            </a:pPr>
            <a:r>
              <a:rPr sz="2800" spc="-70" dirty="0">
                <a:solidFill>
                  <a:srgbClr val="000000">
                    <a:alpha val="100000"/>
                  </a:srgbClr>
                </a:solidFill>
                <a:latin typeface="Arial" panose="020B0604020202090204"/>
                <a:ea typeface="Arial" panose="020B0604020202090204"/>
                <a:cs typeface="Arial" panose="020B0604020202090204"/>
                <a:sym typeface="+mn-ea"/>
              </a:rPr>
              <a:t>Used a traditional engineering mo</a:t>
            </a:r>
            <a:r>
              <a:rPr sz="2800" spc="-30" dirty="0">
                <a:solidFill>
                  <a:srgbClr val="000000">
                    <a:alpha val="100000"/>
                  </a:srgbClr>
                </a:solidFill>
                <a:latin typeface="Arial" panose="020B0604020202090204"/>
                <a:ea typeface="Arial" panose="020B0604020202090204"/>
                <a:cs typeface="Arial" panose="020B0604020202090204"/>
                <a:sym typeface="+mn-ea"/>
              </a:rPr>
              <a:t>d</a:t>
            </a:r>
            <a:r>
              <a:rPr sz="2800" dirty="0">
                <a:solidFill>
                  <a:srgbClr val="000000">
                    <a:alpha val="100000"/>
                  </a:srgbClr>
                </a:solidFill>
                <a:latin typeface="Arial" panose="020B0604020202090204"/>
                <a:ea typeface="Arial" panose="020B0604020202090204"/>
                <a:cs typeface="Arial" panose="020B0604020202090204"/>
                <a:sym typeface="+mn-ea"/>
              </a:rPr>
              <a:t>el</a:t>
            </a:r>
          </a:p>
          <a:p>
            <a:pPr marL="828675" lvl="1" indent="-342900" eaLnBrk="0">
              <a:lnSpc>
                <a:spcPct val="100000"/>
              </a:lnSpc>
              <a:spcBef>
                <a:spcPts val="1130"/>
              </a:spcBef>
            </a:pPr>
            <a:r>
              <a:rPr sz="2400" spc="-90" dirty="0">
                <a:solidFill>
                  <a:srgbClr val="000000">
                    <a:alpha val="100000"/>
                  </a:srgbClr>
                </a:solidFill>
                <a:latin typeface="Arial" panose="020B0604020202090204"/>
                <a:ea typeface="Arial" panose="020B0604020202090204"/>
                <a:cs typeface="Arial" panose="020B0604020202090204"/>
                <a:sym typeface="+mn-ea"/>
              </a:rPr>
              <a:t>Create design, construct solution, and deliver to cus</a:t>
            </a:r>
            <a:r>
              <a:rPr sz="2400" spc="-7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omer</a:t>
            </a:r>
            <a:endParaRPr lang="en-US" altLang="en-US" sz="2400" dirty="0"/>
          </a:p>
          <a:p>
            <a:pPr marL="376555" indent="-342900" eaLnBrk="0">
              <a:lnSpc>
                <a:spcPct val="100000"/>
              </a:lnSpc>
            </a:pPr>
            <a:endParaRPr lang="en-US" sz="2400" spc="-60" dirty="0">
              <a:solidFill>
                <a:srgbClr val="000000">
                  <a:alpha val="100000"/>
                </a:srgbClr>
              </a:solidFill>
              <a:latin typeface="Arial" panose="020B0604020202090204"/>
              <a:ea typeface="Arial" panose="020B0604020202090204"/>
              <a:cs typeface="Arial" panose="020B0604020202090204"/>
              <a:sym typeface="+mn-ea"/>
            </a:endParaRPr>
          </a:p>
          <a:p>
            <a:pPr marL="376555" indent="-342900" eaLnBrk="0">
              <a:lnSpc>
                <a:spcPct val="100000"/>
              </a:lnSpc>
            </a:pPr>
            <a:r>
              <a:rPr sz="2800" spc="-60" dirty="0">
                <a:solidFill>
                  <a:srgbClr val="000000">
                    <a:alpha val="100000"/>
                  </a:srgbClr>
                </a:solidFill>
                <a:latin typeface="Arial" panose="020B0604020202090204"/>
                <a:ea typeface="Arial" panose="020B0604020202090204"/>
                <a:cs typeface="Arial" panose="020B0604020202090204"/>
                <a:sym typeface="+mn-ea"/>
              </a:rPr>
              <a:t>Fixed contract between customer and suppl</a:t>
            </a:r>
            <a:r>
              <a:rPr sz="2800" spc="-20" dirty="0">
                <a:solidFill>
                  <a:srgbClr val="000000">
                    <a:alpha val="100000"/>
                  </a:srgbClr>
                </a:solidFill>
                <a:latin typeface="Arial" panose="020B0604020202090204"/>
                <a:ea typeface="Arial" panose="020B0604020202090204"/>
                <a:cs typeface="Arial" panose="020B0604020202090204"/>
                <a:sym typeface="+mn-ea"/>
              </a:rPr>
              <a:t>i</a:t>
            </a:r>
            <a:r>
              <a:rPr sz="2800" dirty="0">
                <a:solidFill>
                  <a:srgbClr val="000000">
                    <a:alpha val="100000"/>
                  </a:srgbClr>
                </a:solidFill>
                <a:latin typeface="Arial" panose="020B0604020202090204"/>
                <a:ea typeface="Arial" panose="020B0604020202090204"/>
                <a:cs typeface="Arial" panose="020B0604020202090204"/>
                <a:sym typeface="+mn-ea"/>
              </a:rPr>
              <a:t>er</a:t>
            </a:r>
          </a:p>
          <a:p>
            <a:pPr marL="833755" lvl="1" indent="-342900" eaLnBrk="0">
              <a:lnSpc>
                <a:spcPct val="100000"/>
              </a:lnSpc>
            </a:pPr>
            <a:r>
              <a:rPr lang="en-US" sz="2400" spc="-50" dirty="0">
                <a:solidFill>
                  <a:srgbClr val="000000">
                    <a:alpha val="100000"/>
                  </a:srgbClr>
                </a:solidFill>
                <a:latin typeface="Arial" panose="020B0604020202090204"/>
                <a:ea typeface="Arial" panose="020B0604020202090204"/>
                <a:cs typeface="Arial" panose="020B0604020202090204"/>
                <a:sym typeface="+mn-ea"/>
              </a:rPr>
              <a:t>E.g.,</a:t>
            </a:r>
            <a:r>
              <a:rPr sz="2400" spc="-50" dirty="0">
                <a:solidFill>
                  <a:srgbClr val="000000">
                    <a:alpha val="100000"/>
                  </a:srgbClr>
                </a:solidFill>
                <a:latin typeface="Arial" panose="020B0604020202090204"/>
                <a:ea typeface="Arial" panose="020B0604020202090204"/>
                <a:cs typeface="Arial" panose="020B0604020202090204"/>
                <a:sym typeface="+mn-ea"/>
              </a:rPr>
              <a:t> big government agency and software su</a:t>
            </a:r>
            <a:r>
              <a:rPr sz="2400" spc="-40" dirty="0">
                <a:solidFill>
                  <a:srgbClr val="000000">
                    <a:alpha val="100000"/>
                  </a:srgbClr>
                </a:solidFill>
                <a:latin typeface="Arial" panose="020B0604020202090204"/>
                <a:ea typeface="Arial" panose="020B0604020202090204"/>
                <a:cs typeface="Arial" panose="020B0604020202090204"/>
                <a:sym typeface="+mn-ea"/>
              </a:rPr>
              <a:t>p</a:t>
            </a:r>
            <a:r>
              <a:rPr sz="2400" dirty="0">
                <a:solidFill>
                  <a:srgbClr val="000000">
                    <a:alpha val="100000"/>
                  </a:srgbClr>
                </a:solidFill>
                <a:latin typeface="Arial" panose="020B0604020202090204"/>
                <a:ea typeface="Arial" panose="020B0604020202090204"/>
                <a:cs typeface="Arial" panose="020B0604020202090204"/>
                <a:sym typeface="+mn-ea"/>
              </a:rPr>
              <a:t>plier            </a:t>
            </a:r>
          </a:p>
          <a:p>
            <a:pPr marL="833755" lvl="1" indent="-342900" eaLnBrk="0">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Fixed schedule, </a:t>
            </a:r>
            <a:r>
              <a:rPr lang="en-US" sz="2400" spc="-60" dirty="0">
                <a:solidFill>
                  <a:srgbClr val="000000">
                    <a:alpha val="100000"/>
                  </a:srgbClr>
                </a:solidFill>
                <a:latin typeface="Arial" panose="020B0604020202090204"/>
                <a:ea typeface="Arial" panose="020B0604020202090204"/>
                <a:cs typeface="Arial" panose="020B0604020202090204"/>
                <a:sym typeface="+mn-ea"/>
              </a:rPr>
              <a:t>e.g.,</a:t>
            </a:r>
            <a:r>
              <a:rPr sz="2400" spc="-60" dirty="0">
                <a:solidFill>
                  <a:srgbClr val="000000">
                    <a:alpha val="100000"/>
                  </a:srgbClr>
                </a:solidFill>
                <a:latin typeface="Arial" panose="020B0604020202090204"/>
                <a:ea typeface="Arial" panose="020B0604020202090204"/>
                <a:cs typeface="Arial" panose="020B0604020202090204"/>
                <a:sym typeface="+mn-ea"/>
              </a:rPr>
              <a:t> 1-2 year</a:t>
            </a:r>
            <a:r>
              <a:rPr sz="2400" dirty="0">
                <a:solidFill>
                  <a:srgbClr val="000000">
                    <a:alpha val="100000"/>
                  </a:srgbClr>
                </a:solidFill>
                <a:latin typeface="Arial" panose="020B0604020202090204"/>
                <a:ea typeface="Arial" panose="020B0604020202090204"/>
                <a:cs typeface="Arial" panose="020B0604020202090204"/>
                <a:sym typeface="+mn-ea"/>
              </a:rPr>
              <a:t>s</a:t>
            </a:r>
          </a:p>
          <a:p>
            <a:pPr marL="833755" lvl="1" indent="-342900" eaLnBrk="0">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Requirements negotiated up f</a:t>
            </a:r>
            <a:r>
              <a:rPr sz="2400" spc="-2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ont</a:t>
            </a:r>
          </a:p>
          <a:p>
            <a:pPr marL="833755" lvl="1" indent="-342900" eaLnBrk="0">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Customers and developers were independent and f</a:t>
            </a:r>
            <a:r>
              <a:rPr sz="2400" dirty="0">
                <a:solidFill>
                  <a:srgbClr val="000000">
                    <a:alpha val="100000"/>
                  </a:srgbClr>
                </a:solidFill>
                <a:latin typeface="Arial" panose="020B0604020202090204"/>
                <a:ea typeface="Arial" panose="020B0604020202090204"/>
                <a:cs typeface="Arial" panose="020B0604020202090204"/>
                <a:sym typeface="+mn-ea"/>
              </a:rPr>
              <a:t>requently </a:t>
            </a:r>
            <a:r>
              <a:rPr sz="2400" spc="-60" dirty="0">
                <a:solidFill>
                  <a:srgbClr val="000000">
                    <a:alpha val="100000"/>
                  </a:srgbClr>
                </a:solidFill>
                <a:latin typeface="Arial" panose="020B0604020202090204"/>
                <a:ea typeface="Arial" panose="020B0604020202090204"/>
                <a:cs typeface="Arial" panose="020B0604020202090204"/>
                <a:sym typeface="+mn-ea"/>
              </a:rPr>
              <a:t>didn’t trust each oth</a:t>
            </a:r>
            <a:r>
              <a:rPr sz="2400" dirty="0">
                <a:solidFill>
                  <a:srgbClr val="000000">
                    <a:alpha val="100000"/>
                  </a:srgbClr>
                </a:solidFill>
                <a:latin typeface="Arial" panose="020B0604020202090204"/>
                <a:ea typeface="Arial" panose="020B0604020202090204"/>
                <a:cs typeface="Arial" panose="020B0604020202090204"/>
                <a:sym typeface="+mn-ea"/>
              </a:rPr>
              <a:t>er</a:t>
            </a:r>
            <a:endParaRPr lang="en-US" altLang="en-US" sz="2400" dirty="0"/>
          </a:p>
          <a:p>
            <a:pPr marL="571500" indent="-342900">
              <a:lnSpc>
                <a:spcPct val="100000"/>
              </a:lnSpc>
            </a:pPr>
            <a:endParaRPr lang="en-US" altLang="en-US" sz="2400" dirty="0"/>
          </a:p>
        </p:txBody>
      </p:sp>
      <p:sp>
        <p:nvSpPr>
          <p:cNvPr id="3" name="Slide Number Placeholder 2">
            <a:extLst>
              <a:ext uri="{FF2B5EF4-FFF2-40B4-BE49-F238E27FC236}">
                <a16:creationId xmlns:a16="http://schemas.microsoft.com/office/drawing/2014/main" id="{235C92CF-1E30-2D45-7A7D-B994A396D47F}"/>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4262864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46677" y="1012723"/>
            <a:ext cx="10708714" cy="5264118"/>
          </a:xfrm>
        </p:spPr>
        <p:txBody>
          <a:bodyPr>
            <a:noAutofit/>
          </a:bodyPr>
          <a:lstStyle/>
          <a:p>
            <a:pPr marL="12700" indent="0" eaLnBrk="0">
              <a:lnSpc>
                <a:spcPct val="100000"/>
              </a:lnSpc>
              <a:buNone/>
            </a:pPr>
            <a:r>
              <a:rPr sz="2800" spc="-70" dirty="0">
                <a:solidFill>
                  <a:srgbClr val="000000">
                    <a:alpha val="100000"/>
                  </a:srgbClr>
                </a:solidFill>
                <a:latin typeface="Arial" panose="020B0604020202090204"/>
                <a:ea typeface="Arial" panose="020B0604020202090204"/>
                <a:cs typeface="Arial" panose="020B0604020202090204"/>
                <a:sym typeface="+mn-ea"/>
              </a:rPr>
              <a:t>Companies created in-house IT departme</a:t>
            </a:r>
            <a:r>
              <a:rPr sz="2800" spc="-40" dirty="0">
                <a:solidFill>
                  <a:srgbClr val="000000">
                    <a:alpha val="100000"/>
                  </a:srgbClr>
                </a:solidFill>
                <a:latin typeface="Arial" panose="020B0604020202090204"/>
                <a:ea typeface="Arial" panose="020B0604020202090204"/>
                <a:cs typeface="Arial" panose="020B0604020202090204"/>
                <a:sym typeface="+mn-ea"/>
              </a:rPr>
              <a:t>n</a:t>
            </a:r>
            <a:r>
              <a:rPr sz="2800" dirty="0">
                <a:solidFill>
                  <a:srgbClr val="000000">
                    <a:alpha val="100000"/>
                  </a:srgbClr>
                </a:solidFill>
                <a:latin typeface="Arial" panose="020B0604020202090204"/>
                <a:ea typeface="Arial" panose="020B0604020202090204"/>
                <a:cs typeface="Arial" panose="020B0604020202090204"/>
                <a:sym typeface="+mn-ea"/>
              </a:rPr>
              <a:t>ts</a:t>
            </a:r>
            <a:endParaRPr lang="en-US" altLang="en-US" sz="2800" dirty="0"/>
          </a:p>
          <a:p>
            <a:pPr marL="804545" indent="-342900" eaLnBrk="0">
              <a:lnSpc>
                <a:spcPct val="100000"/>
              </a:lnSpc>
              <a:spcBef>
                <a:spcPts val="1145"/>
              </a:spcBef>
              <a:buClr>
                <a:srgbClr val="C00000"/>
              </a:buClr>
            </a:pPr>
            <a:r>
              <a:rPr lang="en-US" sz="2000" spc="-60" dirty="0">
                <a:solidFill>
                  <a:srgbClr val="000000">
                    <a:alpha val="100000"/>
                  </a:srgbClr>
                </a:solidFill>
                <a:latin typeface="Arial" panose="020B0604020202090204"/>
                <a:ea typeface="Arial" panose="020B0604020202090204"/>
                <a:cs typeface="Arial" panose="020B0604020202090204"/>
                <a:sym typeface="+mn-ea"/>
              </a:rPr>
              <a:t>e.g.,</a:t>
            </a:r>
            <a:r>
              <a:rPr sz="2000" spc="-60" dirty="0">
                <a:solidFill>
                  <a:srgbClr val="000000">
                    <a:alpha val="100000"/>
                  </a:srgbClr>
                </a:solidFill>
                <a:latin typeface="Arial" panose="020B0604020202090204"/>
                <a:ea typeface="Arial" panose="020B0604020202090204"/>
                <a:cs typeface="Arial" panose="020B0604020202090204"/>
                <a:sym typeface="+mn-ea"/>
              </a:rPr>
              <a:t> create new reports from an existing database </a:t>
            </a:r>
            <a:r>
              <a:rPr sz="2000" spc="-30" dirty="0">
                <a:solidFill>
                  <a:srgbClr val="000000">
                    <a:alpha val="100000"/>
                  </a:srgbClr>
                </a:solidFill>
                <a:latin typeface="Arial" panose="020B0604020202090204"/>
                <a:ea typeface="Arial" panose="020B0604020202090204"/>
                <a:cs typeface="Arial" panose="020B0604020202090204"/>
                <a:sym typeface="+mn-ea"/>
              </a:rPr>
              <a:t>o</a:t>
            </a:r>
            <a:r>
              <a:rPr sz="2000" dirty="0">
                <a:solidFill>
                  <a:srgbClr val="000000">
                    <a:alpha val="100000"/>
                  </a:srgbClr>
                </a:solidFill>
                <a:latin typeface="Arial" panose="020B0604020202090204"/>
                <a:ea typeface="Arial" panose="020B0604020202090204"/>
                <a:cs typeface="Arial" panose="020B0604020202090204"/>
                <a:sym typeface="+mn-ea"/>
              </a:rPr>
              <a:t>r </a:t>
            </a:r>
            <a:r>
              <a:rPr sz="2000" spc="-90" dirty="0">
                <a:solidFill>
                  <a:srgbClr val="000000">
                    <a:alpha val="100000"/>
                  </a:srgbClr>
                </a:solidFill>
                <a:latin typeface="Arial" panose="020B0604020202090204"/>
                <a:ea typeface="Arial" panose="020B0604020202090204"/>
                <a:cs typeface="Arial" panose="020B0604020202090204"/>
                <a:sym typeface="+mn-ea"/>
              </a:rPr>
              <a:t>automate manual processe</a:t>
            </a:r>
            <a:r>
              <a:rPr sz="2000" dirty="0">
                <a:solidFill>
                  <a:srgbClr val="000000">
                    <a:alpha val="100000"/>
                  </a:srgbClr>
                </a:solidFill>
                <a:latin typeface="Arial" panose="020B0604020202090204"/>
                <a:ea typeface="Arial" panose="020B0604020202090204"/>
                <a:cs typeface="Arial" panose="020B0604020202090204"/>
                <a:sym typeface="+mn-ea"/>
              </a:rPr>
              <a:t>s</a:t>
            </a:r>
            <a:endParaRPr lang="en-US" sz="2000" spc="-70" dirty="0">
              <a:solidFill>
                <a:srgbClr val="000000">
                  <a:alpha val="100000"/>
                </a:srgbClr>
              </a:solidFill>
              <a:latin typeface="Arial" panose="020B0604020202090204"/>
              <a:ea typeface="Arial" panose="020B0604020202090204"/>
              <a:cs typeface="Arial" panose="020B0604020202090204"/>
              <a:sym typeface="+mn-ea"/>
            </a:endParaRPr>
          </a:p>
          <a:p>
            <a:pPr marL="22225" indent="0" eaLnBrk="0">
              <a:lnSpc>
                <a:spcPct val="100000"/>
              </a:lnSpc>
              <a:spcBef>
                <a:spcPts val="160"/>
              </a:spcBef>
              <a:buNone/>
            </a:pPr>
            <a:endParaRPr lang="en-US" sz="2800" spc="-70" dirty="0">
              <a:solidFill>
                <a:srgbClr val="000000">
                  <a:alpha val="100000"/>
                </a:srgbClr>
              </a:solidFill>
              <a:latin typeface="Arial" panose="020B0604020202090204"/>
              <a:ea typeface="Arial" panose="020B0604020202090204"/>
              <a:cs typeface="Arial" panose="020B0604020202090204"/>
              <a:sym typeface="+mn-ea"/>
            </a:endParaRPr>
          </a:p>
          <a:p>
            <a:pPr marL="22225" indent="0" eaLnBrk="0">
              <a:lnSpc>
                <a:spcPct val="100000"/>
              </a:lnSpc>
              <a:spcBef>
                <a:spcPts val="160"/>
              </a:spcBef>
              <a:buNone/>
            </a:pPr>
            <a:r>
              <a:rPr sz="2800" spc="-70" dirty="0">
                <a:solidFill>
                  <a:srgbClr val="000000">
                    <a:alpha val="100000"/>
                  </a:srgbClr>
                </a:solidFill>
                <a:latin typeface="Arial" panose="020B0604020202090204"/>
                <a:ea typeface="Arial" panose="020B0604020202090204"/>
                <a:cs typeface="Arial" panose="020B0604020202090204"/>
                <a:sym typeface="+mn-ea"/>
              </a:rPr>
              <a:t>Customers and suppliers work for the same </a:t>
            </a:r>
            <a:r>
              <a:rPr sz="2800" spc="-30" dirty="0">
                <a:solidFill>
                  <a:srgbClr val="000000">
                    <a:alpha val="100000"/>
                  </a:srgbClr>
                </a:solidFill>
                <a:latin typeface="Arial" panose="020B0604020202090204"/>
                <a:ea typeface="Arial" panose="020B0604020202090204"/>
                <a:cs typeface="Arial" panose="020B0604020202090204"/>
                <a:sym typeface="+mn-ea"/>
              </a:rPr>
              <a:t>c</a:t>
            </a:r>
            <a:r>
              <a:rPr sz="2800" dirty="0">
                <a:solidFill>
                  <a:srgbClr val="000000">
                    <a:alpha val="100000"/>
                  </a:srgbClr>
                </a:solidFill>
                <a:latin typeface="Arial" panose="020B0604020202090204"/>
                <a:ea typeface="Arial" panose="020B0604020202090204"/>
                <a:cs typeface="Arial" panose="020B0604020202090204"/>
                <a:sym typeface="+mn-ea"/>
              </a:rPr>
              <a:t>ompany </a:t>
            </a:r>
            <a:r>
              <a:rPr sz="2800" spc="-70" dirty="0">
                <a:solidFill>
                  <a:srgbClr val="000000">
                    <a:alpha val="100000"/>
                  </a:srgbClr>
                </a:solidFill>
                <a:latin typeface="Arial" panose="020B0604020202090204"/>
                <a:ea typeface="Arial" panose="020B0604020202090204"/>
                <a:cs typeface="Arial" panose="020B0604020202090204"/>
                <a:sym typeface="+mn-ea"/>
              </a:rPr>
              <a:t>In-house development could use a different mo</a:t>
            </a:r>
            <a:r>
              <a:rPr sz="2800" spc="-30" dirty="0">
                <a:solidFill>
                  <a:srgbClr val="000000">
                    <a:alpha val="100000"/>
                  </a:srgbClr>
                </a:solidFill>
                <a:latin typeface="Arial" panose="020B0604020202090204"/>
                <a:ea typeface="Arial" panose="020B0604020202090204"/>
                <a:cs typeface="Arial" panose="020B0604020202090204"/>
                <a:sym typeface="+mn-ea"/>
              </a:rPr>
              <a:t>d</a:t>
            </a:r>
            <a:r>
              <a:rPr sz="2800" dirty="0">
                <a:solidFill>
                  <a:srgbClr val="000000">
                    <a:alpha val="100000"/>
                  </a:srgbClr>
                </a:solidFill>
                <a:latin typeface="Arial" panose="020B0604020202090204"/>
                <a:ea typeface="Arial" panose="020B0604020202090204"/>
                <a:cs typeface="Arial" panose="020B0604020202090204"/>
                <a:sym typeface="+mn-ea"/>
              </a:rPr>
              <a:t>el</a:t>
            </a:r>
            <a:endParaRPr lang="en-US" sz="2800" dirty="0">
              <a:solidFill>
                <a:srgbClr val="000000">
                  <a:alpha val="100000"/>
                </a:srgbClr>
              </a:solidFill>
              <a:latin typeface="Arial" panose="020B0604020202090204"/>
              <a:ea typeface="Arial" panose="020B0604020202090204"/>
              <a:cs typeface="Arial" panose="020B0604020202090204"/>
              <a:sym typeface="+mn-ea"/>
            </a:endParaRPr>
          </a:p>
          <a:p>
            <a:pPr marL="753745" lvl="2" indent="-457200" eaLnBrk="0">
              <a:lnSpc>
                <a:spcPct val="100000"/>
              </a:lnSpc>
              <a:spcBef>
                <a:spcPts val="160"/>
              </a:spcBef>
              <a:buFont typeface="Wingdings" panose="05000000000000000000" pitchFamily="2" charset="2"/>
              <a:buChar char="§"/>
            </a:pPr>
            <a:r>
              <a:rPr lang="en-US" sz="2000" spc="-70" dirty="0">
                <a:solidFill>
                  <a:srgbClr val="000000">
                    <a:alpha val="100000"/>
                  </a:srgbClr>
                </a:solidFill>
                <a:latin typeface="Arial" panose="020B0604020202090204"/>
                <a:cs typeface="Arial" panose="020B0604020202090204"/>
              </a:rPr>
              <a:t>The people building the system (developers) and the people using or requesting it (customers/business team) are part of the same organization</a:t>
            </a:r>
          </a:p>
          <a:p>
            <a:pPr marL="753745" lvl="2" indent="-457200" eaLnBrk="0">
              <a:lnSpc>
                <a:spcPct val="100000"/>
              </a:lnSpc>
              <a:spcBef>
                <a:spcPts val="160"/>
              </a:spcBef>
              <a:buFont typeface="Wingdings" panose="05000000000000000000" pitchFamily="2" charset="2"/>
              <a:buChar char="§"/>
            </a:pPr>
            <a:r>
              <a:rPr lang="en-US" sz="2000" spc="-70" dirty="0">
                <a:solidFill>
                  <a:srgbClr val="000000">
                    <a:alpha val="100000"/>
                  </a:srgbClr>
                </a:solidFill>
                <a:latin typeface="Arial" panose="020B0604020202090204"/>
                <a:cs typeface="Arial" panose="020B0604020202090204"/>
              </a:rPr>
              <a:t>They are not external vendors or clients </a:t>
            </a:r>
          </a:p>
          <a:p>
            <a:pPr marL="0" indent="0">
              <a:buNone/>
            </a:pPr>
            <a:endParaRPr lang="en-US" sz="2800" dirty="0">
              <a:solidFill>
                <a:srgbClr val="080808"/>
              </a:solidFill>
              <a:latin typeface="Arial" panose="020B0604020202020204" pitchFamily="34" charset="0"/>
              <a:cs typeface="Arial" panose="020B0604020202020204" pitchFamily="34" charset="0"/>
            </a:endParaRPr>
          </a:p>
          <a:p>
            <a:pPr marL="0" indent="0">
              <a:buNone/>
            </a:pPr>
            <a:r>
              <a:rPr lang="en-US" sz="2800" dirty="0">
                <a:solidFill>
                  <a:srgbClr val="080808"/>
                </a:solidFill>
                <a:latin typeface="Arial" panose="020B0604020202020204" pitchFamily="34" charset="0"/>
                <a:cs typeface="Arial" panose="020B0604020202020204" pitchFamily="34" charset="0"/>
              </a:rPr>
              <a:t>Why this matters</a:t>
            </a:r>
          </a:p>
          <a:p>
            <a:pPr lvl="1"/>
            <a:r>
              <a:rPr lang="en-US" sz="2000" dirty="0">
                <a:solidFill>
                  <a:srgbClr val="080808"/>
                </a:solidFill>
                <a:latin typeface="Arial" panose="020B0604020202020204" pitchFamily="34" charset="0"/>
                <a:cs typeface="Arial" panose="020B0604020202020204" pitchFamily="34" charset="0"/>
              </a:rPr>
              <a:t>Communication is faster and easier </a:t>
            </a:r>
          </a:p>
          <a:p>
            <a:pPr lvl="1"/>
            <a:r>
              <a:rPr lang="en-US" sz="2000" dirty="0">
                <a:solidFill>
                  <a:srgbClr val="080808"/>
                </a:solidFill>
                <a:latin typeface="Arial" panose="020B0604020202020204" pitchFamily="34" charset="0"/>
                <a:cs typeface="Arial" panose="020B0604020202020204" pitchFamily="34" charset="0"/>
              </a:rPr>
              <a:t>Feedback happens quickly </a:t>
            </a:r>
          </a:p>
          <a:p>
            <a:pPr lvl="1"/>
            <a:r>
              <a:rPr lang="en-US" sz="2000" dirty="0">
                <a:solidFill>
                  <a:srgbClr val="080808"/>
                </a:solidFill>
                <a:latin typeface="Arial" panose="020B0604020202020204" pitchFamily="34" charset="0"/>
                <a:cs typeface="Arial" panose="020B0604020202020204" pitchFamily="34" charset="0"/>
              </a:rPr>
              <a:t>Less need for formal contracts or strict documentation</a:t>
            </a:r>
          </a:p>
          <a:p>
            <a:pPr marL="571500" indent="-342900">
              <a:lnSpc>
                <a:spcPct val="100000"/>
              </a:lnSpc>
              <a:buFont typeface="Arial" panose="020B0604020202020204" pitchFamily="34" charset="0"/>
              <a:buChar char="•"/>
            </a:pP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6</a:t>
            </a:fld>
            <a:endParaRPr lang="en-US"/>
          </a:p>
        </p:txBody>
      </p:sp>
      <p:sp>
        <p:nvSpPr>
          <p:cNvPr id="7" name="Title 3">
            <a:extLst>
              <a:ext uri="{FF2B5EF4-FFF2-40B4-BE49-F238E27FC236}">
                <a16:creationId xmlns:a16="http://schemas.microsoft.com/office/drawing/2014/main" id="{A5093047-92C3-C548-41A4-B811B88CA74B}"/>
              </a:ext>
            </a:extLst>
          </p:cNvPr>
          <p:cNvSpPr>
            <a:spLocks noGrp="1"/>
          </p:cNvSpPr>
          <p:nvPr>
            <p:ph type="title"/>
          </p:nvPr>
        </p:nvSpPr>
        <p:spPr>
          <a:xfrm>
            <a:off x="646359" y="365127"/>
            <a:ext cx="10709031" cy="734621"/>
          </a:xfrm>
        </p:spPr>
        <p:txBody>
          <a:bodyPr>
            <a:normAutofit fontScale="90000"/>
          </a:bodyPr>
          <a:lstStyle/>
          <a:p>
            <a:r>
              <a:rPr spc="-60" dirty="0">
                <a:solidFill>
                  <a:srgbClr val="000000">
                    <a:alpha val="100000"/>
                  </a:srgbClr>
                </a:solidFill>
                <a:latin typeface="Arial" panose="020B0604020202090204"/>
                <a:ea typeface="Arial" panose="020B0604020202090204"/>
                <a:cs typeface="Arial" panose="020B0604020202090204"/>
                <a:sym typeface="+mn-ea"/>
              </a:rPr>
              <a:t>Rapid: the precursor to </a:t>
            </a:r>
            <a:r>
              <a:rPr spc="-5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gile</a:t>
            </a:r>
            <a:r>
              <a:rPr spc="-60" dirty="0">
                <a:solidFill>
                  <a:srgbClr val="000000">
                    <a:alpha val="100000"/>
                  </a:srgbClr>
                </a:solidFill>
                <a:latin typeface="Arial" panose="020B0604020202090204"/>
                <a:ea typeface="Arial" panose="020B0604020202090204"/>
                <a:cs typeface="Arial" panose="020B0604020202090204"/>
                <a:sym typeface="+mn-ea"/>
              </a:rPr>
              <a:t> (19</a:t>
            </a:r>
            <a:r>
              <a:rPr lang="en-US" spc="-60" dirty="0">
                <a:solidFill>
                  <a:srgbClr val="000000">
                    <a:alpha val="100000"/>
                  </a:srgbClr>
                </a:solidFill>
                <a:latin typeface="Arial" panose="020B0604020202090204"/>
                <a:ea typeface="Arial" panose="020B0604020202090204"/>
                <a:cs typeface="Arial" panose="020B0604020202090204"/>
                <a:sym typeface="+mn-ea"/>
              </a:rPr>
              <a:t>8</a:t>
            </a:r>
            <a:r>
              <a:rPr spc="-60" dirty="0">
                <a:solidFill>
                  <a:srgbClr val="000000">
                    <a:alpha val="100000"/>
                  </a:srgbClr>
                </a:solidFill>
                <a:latin typeface="Arial" panose="020B0604020202090204"/>
                <a:ea typeface="Arial" panose="020B0604020202090204"/>
                <a:cs typeface="Arial" panose="020B0604020202090204"/>
                <a:sym typeface="+mn-ea"/>
              </a:rPr>
              <a:t>0</a:t>
            </a:r>
            <a:r>
              <a:rPr dirty="0">
                <a:solidFill>
                  <a:srgbClr val="000000">
                    <a:alpha val="100000"/>
                  </a:srgbClr>
                </a:solidFill>
                <a:latin typeface="Arial" panose="020B0604020202090204"/>
                <a:ea typeface="Arial" panose="020B0604020202090204"/>
                <a:cs typeface="Arial" panose="020B0604020202090204"/>
                <a:sym typeface="+mn-ea"/>
              </a:rPr>
              <a:t>s</a:t>
            </a:r>
            <a:r>
              <a:rPr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588A-2FD2-6B5F-3289-C28D40E69795}"/>
              </a:ext>
            </a:extLst>
          </p:cNvPr>
          <p:cNvSpPr>
            <a:spLocks noGrp="1"/>
          </p:cNvSpPr>
          <p:nvPr>
            <p:ph type="title"/>
          </p:nvPr>
        </p:nvSpPr>
        <p:spPr/>
        <p:txBody>
          <a:bodyPr>
            <a:normAutofit fontScale="90000"/>
          </a:bodyPr>
          <a:lstStyle/>
          <a:p>
            <a:r>
              <a:rPr lang="en-US" spc="-60" dirty="0">
                <a:solidFill>
                  <a:srgbClr val="000000">
                    <a:alpha val="100000"/>
                  </a:srgbClr>
                </a:solidFill>
                <a:latin typeface="Arial" panose="020B0604020202090204"/>
                <a:ea typeface="Arial" panose="020B0604020202090204"/>
                <a:cs typeface="Arial" panose="020B0604020202090204"/>
                <a:sym typeface="+mn-ea"/>
              </a:rPr>
              <a:t>Rapid: the precursor to </a:t>
            </a:r>
            <a:r>
              <a:rPr lang="en-US" spc="-50" dirty="0">
                <a:solidFill>
                  <a:srgbClr val="000000">
                    <a:alpha val="100000"/>
                  </a:srgbClr>
                </a:solidFill>
                <a:latin typeface="Arial" panose="020B0604020202090204"/>
                <a:ea typeface="Arial" panose="020B0604020202090204"/>
                <a:cs typeface="Arial" panose="020B0604020202090204"/>
                <a:sym typeface="+mn-ea"/>
              </a:rPr>
              <a:t>A</a:t>
            </a:r>
            <a:r>
              <a:rPr lang="en-US" dirty="0">
                <a:solidFill>
                  <a:srgbClr val="000000">
                    <a:alpha val="100000"/>
                  </a:srgbClr>
                </a:solidFill>
                <a:latin typeface="Arial" panose="020B0604020202090204"/>
                <a:ea typeface="Arial" panose="020B0604020202090204"/>
                <a:cs typeface="Arial" panose="020B0604020202090204"/>
                <a:sym typeface="+mn-ea"/>
              </a:rPr>
              <a:t>gile</a:t>
            </a:r>
            <a:r>
              <a:rPr lang="en-US" spc="-60" dirty="0">
                <a:solidFill>
                  <a:srgbClr val="000000">
                    <a:alpha val="100000"/>
                  </a:srgbClr>
                </a:solidFill>
                <a:latin typeface="Arial" panose="020B0604020202090204"/>
                <a:ea typeface="Arial" panose="020B0604020202090204"/>
                <a:cs typeface="Arial" panose="020B0604020202090204"/>
                <a:sym typeface="+mn-ea"/>
              </a:rPr>
              <a:t> (1980</a:t>
            </a:r>
            <a:r>
              <a:rPr lang="en-US" dirty="0">
                <a:solidFill>
                  <a:srgbClr val="000000">
                    <a:alpha val="100000"/>
                  </a:srgbClr>
                </a:solidFill>
                <a:latin typeface="Arial" panose="020B0604020202090204"/>
                <a:ea typeface="Arial" panose="020B0604020202090204"/>
                <a:cs typeface="Arial" panose="020B0604020202090204"/>
                <a:sym typeface="+mn-ea"/>
              </a:rPr>
              <a:t>s</a:t>
            </a:r>
            <a:r>
              <a:rPr lang="en-US"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dirty="0"/>
          </a:p>
        </p:txBody>
      </p:sp>
      <p:sp>
        <p:nvSpPr>
          <p:cNvPr id="4" name="Content Placeholder 3">
            <a:extLst>
              <a:ext uri="{FF2B5EF4-FFF2-40B4-BE49-F238E27FC236}">
                <a16:creationId xmlns:a16="http://schemas.microsoft.com/office/drawing/2014/main" id="{B5EEE7E1-F5EB-18B6-9CB8-761CB58DFDCA}"/>
              </a:ext>
            </a:extLst>
          </p:cNvPr>
          <p:cNvSpPr>
            <a:spLocks noGrp="1"/>
          </p:cNvSpPr>
          <p:nvPr>
            <p:ph idx="1"/>
          </p:nvPr>
        </p:nvSpPr>
        <p:spPr>
          <a:xfrm>
            <a:off x="644771" y="1661652"/>
            <a:ext cx="10709031" cy="4420495"/>
          </a:xfrm>
        </p:spPr>
        <p:txBody>
          <a:bodyPr>
            <a:normAutofit/>
          </a:bodyPr>
          <a:lstStyle/>
          <a:p>
            <a:r>
              <a:rPr lang="en-US" sz="28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Customers and suppliers work for the same </a:t>
            </a:r>
            <a:r>
              <a:rPr lang="en-US" sz="2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a:t>
            </a:r>
            <a:r>
              <a:rPr lang="en-US" sz="2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ompany </a:t>
            </a:r>
            <a:r>
              <a:rPr lang="en-US" sz="28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In-house development could use a different mo</a:t>
            </a:r>
            <a:r>
              <a:rPr lang="en-US" sz="2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a:t>
            </a:r>
            <a:r>
              <a:rPr lang="en-US" sz="2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el</a:t>
            </a:r>
          </a:p>
          <a:p>
            <a:pPr marL="811530" indent="-342900" eaLnBrk="0">
              <a:lnSpc>
                <a:spcPct val="100000"/>
              </a:lnSpc>
              <a:spcBef>
                <a:spcPts val="1095"/>
              </a:spcBef>
            </a:pPr>
            <a:r>
              <a:rPr lang="en-US" sz="2400" spc="-50" dirty="0">
                <a:solidFill>
                  <a:srgbClr val="000000">
                    <a:alpha val="100000"/>
                  </a:srgbClr>
                </a:solidFill>
                <a:latin typeface="Arial" panose="020B0604020202090204"/>
                <a:ea typeface="Arial" panose="020B0604020202090204"/>
                <a:cs typeface="Arial" panose="020B0604020202090204"/>
                <a:sym typeface="+mn-ea"/>
              </a:rPr>
              <a:t>Schedule could trade features for sp</a:t>
            </a:r>
            <a:r>
              <a:rPr lang="en-US" sz="2400" spc="-20" dirty="0">
                <a:solidFill>
                  <a:srgbClr val="000000">
                    <a:alpha val="100000"/>
                  </a:srgbClr>
                </a:solidFill>
                <a:latin typeface="Arial" panose="020B0604020202090204"/>
                <a:ea typeface="Arial" panose="020B0604020202090204"/>
                <a:cs typeface="Arial" panose="020B0604020202090204"/>
                <a:sym typeface="+mn-ea"/>
              </a:rPr>
              <a:t>e</a:t>
            </a:r>
            <a:r>
              <a:rPr lang="en-US" sz="2400" dirty="0">
                <a:solidFill>
                  <a:srgbClr val="000000">
                    <a:alpha val="100000"/>
                  </a:srgbClr>
                </a:solidFill>
                <a:latin typeface="Arial" panose="020B0604020202090204"/>
                <a:ea typeface="Arial" panose="020B0604020202090204"/>
                <a:cs typeface="Arial" panose="020B0604020202090204"/>
                <a:sym typeface="+mn-ea"/>
              </a:rPr>
              <a:t>ed</a:t>
            </a:r>
          </a:p>
          <a:p>
            <a:pPr marL="1085850" lvl="1" indent="-342900" eaLnBrk="0">
              <a:lnSpc>
                <a:spcPct val="100000"/>
              </a:lnSpc>
              <a:spcBef>
                <a:spcPts val="1095"/>
              </a:spcBef>
            </a:pPr>
            <a:r>
              <a:rPr lang="en-US" sz="2000" dirty="0">
                <a:solidFill>
                  <a:srgbClr val="080808"/>
                </a:solidFill>
                <a:latin typeface="Arial" panose="020B0604020202020204" pitchFamily="34" charset="0"/>
                <a:cs typeface="Arial" panose="020B0604020202020204" pitchFamily="34" charset="0"/>
              </a:rPr>
              <a:t>When teams work internally, they can be flexible and if needed, they can deliver fewer features to finish faster and on schedule</a:t>
            </a:r>
            <a:r>
              <a:rPr lang="en-US" sz="2000" dirty="0"/>
              <a:t>.</a:t>
            </a:r>
            <a:endParaRPr lang="en-US" sz="2000" dirty="0">
              <a:sym typeface="+mn-ea"/>
            </a:endParaRPr>
          </a:p>
          <a:p>
            <a:pPr marL="811530" indent="-342900" eaLnBrk="0">
              <a:lnSpc>
                <a:spcPct val="100000"/>
              </a:lnSpc>
              <a:spcBef>
                <a:spcPts val="1095"/>
              </a:spcBef>
            </a:pPr>
            <a:r>
              <a:rPr lang="en-US" sz="2400" spc="-60" dirty="0">
                <a:solidFill>
                  <a:srgbClr val="000000">
                    <a:alpha val="100000"/>
                  </a:srgbClr>
                </a:solidFill>
                <a:latin typeface="Arial" panose="020B0604020202090204"/>
                <a:ea typeface="Arial" panose="020B0604020202090204"/>
                <a:cs typeface="Arial" panose="020B0604020202090204"/>
                <a:sym typeface="+mn-ea"/>
              </a:rPr>
              <a:t>Requirements could be changed during develop</a:t>
            </a:r>
            <a:r>
              <a:rPr lang="en-US" sz="2400" spc="-10" dirty="0">
                <a:solidFill>
                  <a:srgbClr val="000000">
                    <a:alpha val="100000"/>
                  </a:srgbClr>
                </a:solidFill>
                <a:latin typeface="Arial" panose="020B0604020202090204"/>
                <a:ea typeface="Arial" panose="020B0604020202090204"/>
                <a:cs typeface="Arial" panose="020B0604020202090204"/>
                <a:sym typeface="+mn-ea"/>
              </a:rPr>
              <a:t>m</a:t>
            </a:r>
            <a:r>
              <a:rPr lang="en-US" sz="2400" dirty="0">
                <a:solidFill>
                  <a:srgbClr val="000000">
                    <a:alpha val="100000"/>
                  </a:srgbClr>
                </a:solidFill>
                <a:latin typeface="Arial" panose="020B0604020202090204"/>
                <a:ea typeface="Arial" panose="020B0604020202090204"/>
                <a:cs typeface="Arial" panose="020B0604020202090204"/>
                <a:sym typeface="+mn-ea"/>
              </a:rPr>
              <a:t>ent</a:t>
            </a:r>
            <a:endParaRPr lang="en-US" altLang="en-US" sz="2400" dirty="0"/>
          </a:p>
          <a:p>
            <a:pPr marL="811530" indent="-342900" eaLnBrk="0">
              <a:lnSpc>
                <a:spcPct val="100000"/>
              </a:lnSpc>
              <a:spcBef>
                <a:spcPts val="1120"/>
              </a:spcBef>
            </a:pPr>
            <a:r>
              <a:rPr lang="en-US" sz="2400" spc="-60" dirty="0">
                <a:solidFill>
                  <a:srgbClr val="000000">
                    <a:alpha val="100000"/>
                  </a:srgbClr>
                </a:solidFill>
                <a:latin typeface="Arial" panose="020B0604020202090204"/>
                <a:ea typeface="Arial" panose="020B0604020202090204"/>
                <a:cs typeface="Arial" panose="020B0604020202090204"/>
                <a:sym typeface="+mn-ea"/>
              </a:rPr>
              <a:t>No need to renegotiate contract terms and conditi</a:t>
            </a:r>
            <a:r>
              <a:rPr lang="en-US" sz="2400" spc="-20" dirty="0">
                <a:solidFill>
                  <a:srgbClr val="000000">
                    <a:alpha val="100000"/>
                  </a:srgbClr>
                </a:solidFill>
                <a:latin typeface="Arial" panose="020B0604020202090204"/>
                <a:ea typeface="Arial" panose="020B0604020202090204"/>
                <a:cs typeface="Arial" panose="020B0604020202090204"/>
                <a:sym typeface="+mn-ea"/>
              </a:rPr>
              <a:t>o</a:t>
            </a:r>
            <a:r>
              <a:rPr lang="en-US" sz="2400" dirty="0">
                <a:solidFill>
                  <a:srgbClr val="000000">
                    <a:alpha val="100000"/>
                  </a:srgbClr>
                </a:solidFill>
                <a:latin typeface="Arial" panose="020B0604020202090204"/>
                <a:ea typeface="Arial" panose="020B0604020202090204"/>
                <a:cs typeface="Arial" panose="020B0604020202090204"/>
                <a:sym typeface="+mn-ea"/>
              </a:rPr>
              <a:t>ns</a:t>
            </a:r>
            <a:endParaRPr lang="en-US" sz="2400" dirty="0">
              <a:sym typeface="+mn-ea"/>
            </a:endParaRPr>
          </a:p>
          <a:p>
            <a:pPr marL="811530" indent="-342900" eaLnBrk="0">
              <a:lnSpc>
                <a:spcPct val="100000"/>
              </a:lnSpc>
              <a:spcBef>
                <a:spcPts val="1120"/>
              </a:spcBef>
            </a:pPr>
            <a:r>
              <a:rPr lang="en-US" sz="2400" spc="-80" dirty="0">
                <a:solidFill>
                  <a:srgbClr val="000000">
                    <a:alpha val="100000"/>
                  </a:srgbClr>
                </a:solidFill>
                <a:latin typeface="Arial" panose="020B0604020202090204"/>
                <a:ea typeface="Arial" panose="020B0604020202090204"/>
                <a:cs typeface="Arial" panose="020B0604020202090204"/>
                <a:sym typeface="+mn-ea"/>
              </a:rPr>
              <a:t>Customers and developers could work to</a:t>
            </a:r>
            <a:r>
              <a:rPr lang="en-US" sz="2400" spc="-50" dirty="0">
                <a:solidFill>
                  <a:srgbClr val="000000">
                    <a:alpha val="100000"/>
                  </a:srgbClr>
                </a:solidFill>
                <a:latin typeface="Arial" panose="020B0604020202090204"/>
                <a:ea typeface="Arial" panose="020B0604020202090204"/>
                <a:cs typeface="Arial" panose="020B0604020202090204"/>
                <a:sym typeface="+mn-ea"/>
              </a:rPr>
              <a:t>g</a:t>
            </a:r>
            <a:r>
              <a:rPr lang="en-US" sz="2400" dirty="0">
                <a:solidFill>
                  <a:srgbClr val="000000">
                    <a:alpha val="100000"/>
                  </a:srgbClr>
                </a:solidFill>
                <a:latin typeface="Arial" panose="020B0604020202090204"/>
                <a:ea typeface="Arial" panose="020B0604020202090204"/>
                <a:cs typeface="Arial" panose="020B0604020202090204"/>
                <a:sym typeface="+mn-ea"/>
              </a:rPr>
              <a:t>ether</a:t>
            </a:r>
            <a:endParaRPr lang="en-US" altLang="en-US" sz="2400" dirty="0"/>
          </a:p>
          <a:p>
            <a:endParaRPr lang="en-US" altLang="en-US" sz="2800" dirty="0">
              <a:latin typeface="Arial" panose="020B0604020202020204" pitchFamily="34" charset="0"/>
              <a:cs typeface="Arial" panose="020B0604020202020204" pitchFamily="34" charset="0"/>
            </a:endParaRPr>
          </a:p>
          <a:p>
            <a:endParaRPr lang="en-US" sz="2800" dirty="0"/>
          </a:p>
        </p:txBody>
      </p:sp>
      <p:sp>
        <p:nvSpPr>
          <p:cNvPr id="5" name="Slide Number Placeholder 4">
            <a:extLst>
              <a:ext uri="{FF2B5EF4-FFF2-40B4-BE49-F238E27FC236}">
                <a16:creationId xmlns:a16="http://schemas.microsoft.com/office/drawing/2014/main" id="{17436991-CCA6-18D3-4760-BC1179259C0A}"/>
              </a:ext>
            </a:extLst>
          </p:cNvPr>
          <p:cNvSpPr>
            <a:spLocks noGrp="1"/>
          </p:cNvSpPr>
          <p:nvPr>
            <p:ph type="sldNum" sz="quarter" idx="12"/>
          </p:nvPr>
        </p:nvSpPr>
        <p:spPr/>
        <p:txBody>
          <a:bodyPr/>
          <a:lstStyle/>
          <a:p>
            <a:fld id="{4267CD5E-26CF-4249-8540-BB1D07FD4227}" type="slidenum">
              <a:rPr lang="en-US" smtClean="0"/>
              <a:t>7</a:t>
            </a:fld>
            <a:endParaRPr lang="en-US"/>
          </a:p>
        </p:txBody>
      </p:sp>
    </p:spTree>
    <p:extLst>
      <p:ext uri="{BB962C8B-B14F-4D97-AF65-F5344CB8AC3E}">
        <p14:creationId xmlns:p14="http://schemas.microsoft.com/office/powerpoint/2010/main" val="1327993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91440" tIns="45720" rIns="91440" bIns="45720" rtlCol="0" anchor="t">
            <a:normAutofit fontScale="90000"/>
          </a:bodyPr>
          <a:lstStyle/>
          <a:p>
            <a:r>
              <a:rPr lang="en-US" spc="-60" dirty="0">
                <a:solidFill>
                  <a:srgbClr val="000000">
                    <a:alpha val="100000"/>
                  </a:srgbClr>
                </a:solidFill>
                <a:latin typeface="Arial" panose="020B0604020202090204"/>
                <a:cs typeface="Arial" panose="020B0604020202090204"/>
                <a:sym typeface="+mn-ea"/>
              </a:rPr>
              <a:t>Rapid Application Development (RAD)</a:t>
            </a:r>
            <a:br>
              <a:rPr lang="en-US" altLang="en-US" spc="-60" dirty="0">
                <a:solidFill>
                  <a:srgbClr val="000000">
                    <a:alpha val="100000"/>
                  </a:srgbClr>
                </a:solidFill>
                <a:latin typeface="Arial" panose="020B0604020202090204"/>
                <a:cs typeface="Arial" panose="020B0604020202090204"/>
              </a:rPr>
            </a:br>
            <a:endParaRPr lang="en-US" spc="-60" dirty="0">
              <a:solidFill>
                <a:srgbClr val="000000">
                  <a:alpha val="100000"/>
                </a:srgbClr>
              </a:solidFill>
              <a:latin typeface="Arial" panose="020B0604020202090204"/>
              <a:cs typeface="Arial" panose="020B0604020202090204"/>
            </a:endParaRPr>
          </a:p>
        </p:txBody>
      </p:sp>
      <p:sp>
        <p:nvSpPr>
          <p:cNvPr id="2" name="Content Placeholder 1"/>
          <p:cNvSpPr>
            <a:spLocks noGrp="1"/>
          </p:cNvSpPr>
          <p:nvPr>
            <p:ph idx="1"/>
          </p:nvPr>
        </p:nvSpPr>
        <p:spPr>
          <a:xfrm>
            <a:off x="646676" y="1301174"/>
            <a:ext cx="10709031" cy="3879273"/>
          </a:xfrm>
        </p:spPr>
        <p:txBody>
          <a:bodyPr>
            <a:noAutofit/>
          </a:bodyPr>
          <a:lstStyle/>
          <a:p>
            <a:pPr marL="0" indent="0" algn="l" rtl="0" eaLnBrk="0" fontAlgn="auto">
              <a:lnSpc>
                <a:spcPct val="100000"/>
              </a:lnSpc>
              <a:buNone/>
            </a:pPr>
            <a:r>
              <a:rPr sz="2400" spc="-60" dirty="0">
                <a:solidFill>
                  <a:srgbClr val="000000">
                    <a:alpha val="100000"/>
                  </a:srgbClr>
                </a:solidFill>
                <a:latin typeface="Arial" panose="020B0604020202090204"/>
                <a:ea typeface="Arial" panose="020B0604020202090204"/>
                <a:cs typeface="Arial" panose="020B0604020202090204"/>
                <a:sym typeface="+mn-ea"/>
              </a:rPr>
              <a:t>Originally developed in the 1970s by Dan Gielan at N</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w </a:t>
            </a:r>
            <a:r>
              <a:rPr sz="2400" spc="-80" dirty="0">
                <a:solidFill>
                  <a:srgbClr val="000000">
                    <a:alpha val="100000"/>
                  </a:srgbClr>
                </a:solidFill>
                <a:latin typeface="Arial" panose="020B0604020202090204"/>
                <a:ea typeface="Arial" panose="020B0604020202090204"/>
                <a:cs typeface="Arial" panose="020B0604020202090204"/>
                <a:sym typeface="+mn-ea"/>
              </a:rPr>
              <a:t>York Telephone Co's Systems Development Cent</a:t>
            </a:r>
            <a:r>
              <a:rPr sz="2400" spc="-6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t>
            </a:r>
          </a:p>
          <a:p>
            <a:pPr marL="0" indent="0" algn="l" rtl="0" eaLnBrk="0" fontAlgn="auto">
              <a:lnSpc>
                <a:spcPct val="100000"/>
              </a:lnSpc>
              <a:buNone/>
            </a:pPr>
            <a:r>
              <a:rPr sz="2400" spc="-40" dirty="0">
                <a:solidFill>
                  <a:srgbClr val="000000">
                    <a:alpha val="100000"/>
                  </a:srgbClr>
                </a:solidFill>
                <a:latin typeface="Arial" panose="020B0604020202090204"/>
                <a:ea typeface="Arial" panose="020B0604020202090204"/>
                <a:cs typeface="Arial" panose="020B0604020202090204"/>
                <a:sym typeface="+mn-ea"/>
              </a:rPr>
              <a:t>Later codified by James Martin at IBM in h</a:t>
            </a:r>
            <a:r>
              <a:rPr sz="2400" spc="-1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book</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dirty="0">
                <a:solidFill>
                  <a:srgbClr val="000000">
                    <a:alpha val="100000"/>
                  </a:srgbClr>
                </a:solidFill>
                <a:latin typeface="Arial" panose="020B0604020202090204"/>
                <a:ea typeface="Arial" panose="020B0604020202090204"/>
                <a:cs typeface="Arial" panose="020B0604020202090204"/>
                <a:sym typeface="+mn-ea"/>
              </a:rPr>
              <a:t>Rapid</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i="1" spc="-50" dirty="0">
                <a:solidFill>
                  <a:srgbClr val="000000">
                    <a:alpha val="100000"/>
                  </a:srgbClr>
                </a:solidFill>
                <a:latin typeface="Arial" panose="020B0604020202090204"/>
                <a:ea typeface="Arial" panose="020B0604020202090204"/>
                <a:cs typeface="Arial" panose="020B0604020202090204"/>
                <a:sym typeface="+mn-ea"/>
              </a:rPr>
              <a:t>Application</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i="1" spc="-50" dirty="0">
                <a:solidFill>
                  <a:srgbClr val="000000">
                    <a:alpha val="100000"/>
                  </a:srgbClr>
                </a:solidFill>
                <a:latin typeface="Arial" panose="020B0604020202090204"/>
                <a:ea typeface="Arial" panose="020B0604020202090204"/>
                <a:cs typeface="Arial" panose="020B0604020202090204"/>
                <a:sym typeface="+mn-ea"/>
              </a:rPr>
              <a:t>Developme</a:t>
            </a:r>
            <a:r>
              <a:rPr sz="2400" i="1" dirty="0">
                <a:solidFill>
                  <a:srgbClr val="000000">
                    <a:alpha val="100000"/>
                  </a:srgbClr>
                </a:solidFill>
                <a:latin typeface="Arial" panose="020B0604020202090204"/>
                <a:ea typeface="Arial" panose="020B0604020202090204"/>
                <a:cs typeface="Arial" panose="020B0604020202090204"/>
                <a:sym typeface="+mn-ea"/>
              </a:rPr>
              <a:t>nt</a:t>
            </a:r>
            <a:r>
              <a:rPr sz="2400" spc="-50" dirty="0">
                <a:solidFill>
                  <a:srgbClr val="000000">
                    <a:alpha val="100000"/>
                  </a:srgbClr>
                </a:solidFill>
                <a:latin typeface="Arial" panose="020B0604020202090204"/>
                <a:ea typeface="Arial" panose="020B0604020202090204"/>
                <a:cs typeface="Arial" panose="020B0604020202090204"/>
                <a:sym typeface="+mn-ea"/>
              </a:rPr>
              <a:t>, 1991</a:t>
            </a:r>
            <a:endParaRPr lang="en-US" sz="2800" spc="-9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ts val="3360"/>
              </a:lnSpc>
              <a:spcBef>
                <a:spcPts val="1140"/>
              </a:spcBef>
              <a:buNone/>
            </a:pPr>
            <a:r>
              <a:rPr sz="2800" spc="-90" dirty="0">
                <a:solidFill>
                  <a:srgbClr val="000000">
                    <a:alpha val="100000"/>
                  </a:srgbClr>
                </a:solidFill>
                <a:latin typeface="Arial" panose="020B0604020202090204"/>
                <a:ea typeface="Arial" panose="020B0604020202090204"/>
                <a:cs typeface="Arial" panose="020B0604020202090204"/>
                <a:sym typeface="+mn-ea"/>
              </a:rPr>
              <a:t>Reduces development time b</a:t>
            </a:r>
            <a:r>
              <a:rPr sz="2800" spc="-10" dirty="0">
                <a:solidFill>
                  <a:srgbClr val="000000">
                    <a:alpha val="100000"/>
                  </a:srgbClr>
                </a:solidFill>
                <a:latin typeface="Arial" panose="020B0604020202090204"/>
                <a:ea typeface="Arial" panose="020B0604020202090204"/>
                <a:cs typeface="Arial" panose="020B0604020202090204"/>
                <a:sym typeface="+mn-ea"/>
              </a:rPr>
              <a:t>y</a:t>
            </a:r>
            <a:r>
              <a:rPr sz="2800" spc="-9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800" dirty="0"/>
          </a:p>
          <a:p>
            <a:pPr marL="829945" indent="-342900" algn="l" rtl="0" eaLnBrk="0">
              <a:lnSpc>
                <a:spcPct val="146000"/>
              </a:lnSpc>
              <a:spcBef>
                <a:spcPts val="165"/>
              </a:spcBef>
              <a:buClr>
                <a:srgbClr val="C00000"/>
              </a:buClr>
            </a:pPr>
            <a:r>
              <a:rPr sz="2100" spc="-90" dirty="0">
                <a:solidFill>
                  <a:srgbClr val="000000">
                    <a:alpha val="100000"/>
                  </a:srgbClr>
                </a:solidFill>
                <a:latin typeface="Arial" panose="020B0604020202090204"/>
                <a:ea typeface="Arial" panose="020B0604020202090204"/>
                <a:cs typeface="Arial" panose="020B0604020202090204"/>
                <a:sym typeface="+mn-ea"/>
              </a:rPr>
              <a:t>Substituting prototypes for requirements specific</a:t>
            </a:r>
            <a:r>
              <a:rPr sz="2100" spc="-70" dirty="0">
                <a:solidFill>
                  <a:srgbClr val="000000">
                    <a:alpha val="100000"/>
                  </a:srgbClr>
                </a:solidFill>
                <a:latin typeface="Arial" panose="020B0604020202090204"/>
                <a:ea typeface="Arial" panose="020B0604020202090204"/>
                <a:cs typeface="Arial" panose="020B0604020202090204"/>
                <a:sym typeface="+mn-ea"/>
              </a:rPr>
              <a:t>a</a:t>
            </a:r>
            <a:r>
              <a:rPr sz="2100" dirty="0">
                <a:solidFill>
                  <a:srgbClr val="000000">
                    <a:alpha val="100000"/>
                  </a:srgbClr>
                </a:solidFill>
                <a:latin typeface="Arial" panose="020B0604020202090204"/>
                <a:ea typeface="Arial" panose="020B0604020202090204"/>
                <a:cs typeface="Arial" panose="020B0604020202090204"/>
                <a:sym typeface="+mn-ea"/>
              </a:rPr>
              <a:t>tions         </a:t>
            </a:r>
          </a:p>
          <a:p>
            <a:pPr marL="829945" indent="-342900" algn="l" rtl="0" eaLnBrk="0">
              <a:lnSpc>
                <a:spcPct val="146000"/>
              </a:lnSpc>
              <a:spcBef>
                <a:spcPts val="165"/>
              </a:spcBef>
              <a:buClr>
                <a:srgbClr val="C00000"/>
              </a:buClr>
            </a:pPr>
            <a:r>
              <a:rPr sz="2100" spc="-40" dirty="0">
                <a:solidFill>
                  <a:srgbClr val="000000">
                    <a:alpha val="100000"/>
                  </a:srgbClr>
                </a:solidFill>
                <a:latin typeface="Arial" panose="020B0604020202090204"/>
                <a:ea typeface="Arial" panose="020B0604020202090204"/>
                <a:cs typeface="Arial" panose="020B0604020202090204"/>
                <a:sym typeface="+mn-ea"/>
              </a:rPr>
              <a:t>Using existing databases, data models, and too</a:t>
            </a:r>
            <a:r>
              <a:rPr sz="2100" spc="-20" dirty="0">
                <a:solidFill>
                  <a:srgbClr val="000000">
                    <a:alpha val="100000"/>
                  </a:srgbClr>
                </a:solidFill>
                <a:latin typeface="Arial" panose="020B0604020202090204"/>
                <a:ea typeface="Arial" panose="020B0604020202090204"/>
                <a:cs typeface="Arial" panose="020B0604020202090204"/>
                <a:sym typeface="+mn-ea"/>
              </a:rPr>
              <a:t>l</a:t>
            </a:r>
            <a:r>
              <a:rPr sz="2100" dirty="0">
                <a:solidFill>
                  <a:srgbClr val="000000">
                    <a:alpha val="100000"/>
                  </a:srgbClr>
                </a:solidFill>
                <a:latin typeface="Arial" panose="020B0604020202090204"/>
                <a:ea typeface="Arial" panose="020B0604020202090204"/>
                <a:cs typeface="Arial" panose="020B0604020202090204"/>
                <a:sym typeface="+mn-ea"/>
              </a:rPr>
              <a:t>s                     </a:t>
            </a:r>
          </a:p>
          <a:p>
            <a:pPr marL="829945" indent="-342900" algn="l" rtl="0" eaLnBrk="0">
              <a:lnSpc>
                <a:spcPct val="146000"/>
              </a:lnSpc>
              <a:spcBef>
                <a:spcPts val="165"/>
              </a:spcBef>
              <a:buClr>
                <a:srgbClr val="C00000"/>
              </a:buClr>
            </a:pPr>
            <a:r>
              <a:rPr sz="2100" spc="-60" dirty="0">
                <a:solidFill>
                  <a:srgbClr val="000000">
                    <a:alpha val="100000"/>
                  </a:srgbClr>
                </a:solidFill>
                <a:latin typeface="Arial" panose="020B0604020202090204"/>
                <a:ea typeface="Arial" panose="020B0604020202090204"/>
                <a:cs typeface="Arial" panose="020B0604020202090204"/>
                <a:sym typeface="+mn-ea"/>
              </a:rPr>
              <a:t>Trading features for spee</a:t>
            </a:r>
            <a:r>
              <a:rPr sz="2100" spc="-50" dirty="0">
                <a:solidFill>
                  <a:srgbClr val="000000">
                    <a:alpha val="100000"/>
                  </a:srgbClr>
                </a:solidFill>
                <a:latin typeface="Arial" panose="020B0604020202090204"/>
                <a:ea typeface="Arial" panose="020B0604020202090204"/>
                <a:cs typeface="Arial" panose="020B0604020202090204"/>
                <a:sym typeface="+mn-ea"/>
              </a:rPr>
              <a:t>d</a:t>
            </a:r>
          </a:p>
          <a:p>
            <a:pPr marL="829945" indent="-342900" algn="l" rtl="0" eaLnBrk="0">
              <a:lnSpc>
                <a:spcPct val="146000"/>
              </a:lnSpc>
              <a:spcBef>
                <a:spcPts val="165"/>
              </a:spcBef>
              <a:buClr>
                <a:srgbClr val="C00000"/>
              </a:buClr>
            </a:pPr>
            <a:r>
              <a:rPr sz="2100" spc="-90" dirty="0">
                <a:solidFill>
                  <a:srgbClr val="000000">
                    <a:alpha val="100000"/>
                  </a:srgbClr>
                </a:solidFill>
                <a:latin typeface="Arial" panose="020B0604020202090204"/>
                <a:ea typeface="Arial" panose="020B0604020202090204"/>
                <a:cs typeface="Arial" panose="020B0604020202090204"/>
                <a:sym typeface="+mn-ea"/>
              </a:rPr>
              <a:t>Implementing most important features </a:t>
            </a:r>
            <a:r>
              <a:rPr sz="2100" spc="-50" dirty="0">
                <a:solidFill>
                  <a:srgbClr val="000000">
                    <a:alpha val="100000"/>
                  </a:srgbClr>
                </a:solidFill>
                <a:latin typeface="Arial" panose="020B0604020202090204"/>
                <a:ea typeface="Arial" panose="020B0604020202090204"/>
                <a:cs typeface="Arial" panose="020B0604020202090204"/>
                <a:sym typeface="+mn-ea"/>
              </a:rPr>
              <a:t>f</a:t>
            </a:r>
            <a:r>
              <a:rPr sz="2100" dirty="0">
                <a:solidFill>
                  <a:srgbClr val="000000">
                    <a:alpha val="100000"/>
                  </a:srgbClr>
                </a:solidFill>
                <a:latin typeface="Arial" panose="020B0604020202090204"/>
                <a:ea typeface="Arial" panose="020B0604020202090204"/>
                <a:cs typeface="Arial" panose="020B0604020202090204"/>
                <a:sym typeface="+mn-ea"/>
              </a:rPr>
              <a:t>irst</a:t>
            </a:r>
          </a:p>
          <a:p>
            <a:pPr marL="829945" indent="-342900" algn="l" rtl="0" eaLnBrk="0">
              <a:lnSpc>
                <a:spcPct val="146000"/>
              </a:lnSpc>
              <a:spcBef>
                <a:spcPts val="165"/>
              </a:spcBef>
              <a:buClr>
                <a:srgbClr val="C00000"/>
              </a:buClr>
            </a:pPr>
            <a:r>
              <a:rPr sz="2100" spc="-90" dirty="0">
                <a:solidFill>
                  <a:srgbClr val="000000">
                    <a:alpha val="100000"/>
                  </a:srgbClr>
                </a:solidFill>
                <a:latin typeface="Arial" panose="020B0604020202090204"/>
                <a:ea typeface="Arial" panose="020B0604020202090204"/>
                <a:cs typeface="Arial" panose="020B0604020202090204"/>
                <a:sym typeface="+mn-ea"/>
              </a:rPr>
              <a:t>Adding more features incremental</a:t>
            </a:r>
            <a:r>
              <a:rPr sz="2100" spc="-50" dirty="0">
                <a:solidFill>
                  <a:srgbClr val="000000">
                    <a:alpha val="100000"/>
                  </a:srgbClr>
                </a:solidFill>
                <a:latin typeface="Arial" panose="020B0604020202090204"/>
                <a:ea typeface="Arial" panose="020B0604020202090204"/>
                <a:cs typeface="Arial" panose="020B0604020202090204"/>
                <a:sym typeface="+mn-ea"/>
              </a:rPr>
              <a:t>l</a:t>
            </a:r>
            <a:r>
              <a:rPr sz="2100" dirty="0">
                <a:solidFill>
                  <a:srgbClr val="000000">
                    <a:alpha val="100000"/>
                  </a:srgbClr>
                </a:solidFill>
                <a:latin typeface="Arial" panose="020B0604020202090204"/>
                <a:ea typeface="Arial" panose="020B0604020202090204"/>
                <a:cs typeface="Arial" panose="020B0604020202090204"/>
                <a:sym typeface="+mn-ea"/>
              </a:rPr>
              <a:t>y</a:t>
            </a:r>
            <a:endParaRPr lang="en-US"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60" dirty="0">
                <a:solidFill>
                  <a:srgbClr val="000000">
                    <a:alpha val="100000"/>
                  </a:srgbClr>
                </a:solidFill>
                <a:latin typeface="Arial" panose="020B0604020202090204"/>
                <a:ea typeface="Arial" panose="020B0604020202090204"/>
                <a:cs typeface="Arial" panose="020B0604020202090204"/>
                <a:sym typeface="+mn-ea"/>
              </a:rPr>
              <a:t>RAD Proce</a:t>
            </a:r>
            <a:r>
              <a:rPr spc="-30" dirty="0">
                <a:solidFill>
                  <a:srgbClr val="000000">
                    <a:alpha val="100000"/>
                  </a:srgbClr>
                </a:solidFill>
                <a:latin typeface="Arial" panose="020B0604020202090204"/>
                <a:ea typeface="Arial" panose="020B0604020202090204"/>
                <a:cs typeface="Arial" panose="020B0604020202090204"/>
                <a:sym typeface="+mn-ea"/>
              </a:rPr>
              <a:t>s</a:t>
            </a:r>
            <a:r>
              <a:rPr dirty="0">
                <a:solidFill>
                  <a:srgbClr val="000000">
                    <a:alpha val="100000"/>
                  </a:srgbClr>
                </a:solidFill>
                <a:latin typeface="Arial" panose="020B0604020202090204"/>
                <a:ea typeface="Arial" panose="020B0604020202090204"/>
                <a:cs typeface="Arial" panose="020B0604020202090204"/>
                <a:sym typeface="+mn-ea"/>
              </a:rPr>
              <a:t>s</a:t>
            </a:r>
            <a:br>
              <a:rPr lang="en-US" altLang="en-US" dirty="0"/>
            </a:br>
            <a:endParaRPr lang="en-US" dirty="0"/>
          </a:p>
        </p:txBody>
      </p:sp>
      <p:sp>
        <p:nvSpPr>
          <p:cNvPr id="2" name="Content Placeholder 1"/>
          <p:cNvSpPr>
            <a:spLocks noGrp="1"/>
          </p:cNvSpPr>
          <p:nvPr>
            <p:ph idx="1"/>
          </p:nvPr>
        </p:nvSpPr>
        <p:spPr>
          <a:xfrm>
            <a:off x="646676" y="1099748"/>
            <a:ext cx="10709031" cy="4106100"/>
          </a:xfrm>
        </p:spPr>
        <p:txBody>
          <a:bodyPr>
            <a:noAutofit/>
          </a:bodyPr>
          <a:lstStyle/>
          <a:p>
            <a:pPr marL="457200" indent="-457200" algn="l" rtl="0" eaLnBrk="0">
              <a:lnSpc>
                <a:spcPct val="108000"/>
              </a:lnSpc>
              <a:buFont typeface="+mj-lt"/>
              <a:buAutoNum type="arabicPeriod"/>
            </a:pPr>
            <a:r>
              <a:rPr lang="en-US" sz="2400" b="1" spc="-70" dirty="0">
                <a:solidFill>
                  <a:srgbClr val="000000">
                    <a:alpha val="100000"/>
                  </a:srgbClr>
                </a:solidFill>
                <a:latin typeface="Arial" panose="020B0604020202090204"/>
                <a:ea typeface="Arial" panose="020B0604020202090204"/>
                <a:cs typeface="Arial" panose="020B0604020202090204"/>
                <a:sym typeface="+mn-ea"/>
              </a:rPr>
              <a:t> </a:t>
            </a:r>
            <a:r>
              <a:rPr sz="2400" b="1" spc="-70" dirty="0">
                <a:solidFill>
                  <a:srgbClr val="000000">
                    <a:alpha val="100000"/>
                  </a:srgbClr>
                </a:solidFill>
                <a:latin typeface="Arial" panose="020B0604020202090204"/>
                <a:ea typeface="Arial" panose="020B0604020202090204"/>
                <a:cs typeface="Arial" panose="020B0604020202090204"/>
                <a:sym typeface="+mn-ea"/>
              </a:rPr>
              <a:t>Requirements</a:t>
            </a:r>
            <a:r>
              <a:rPr sz="2400" spc="-70" dirty="0">
                <a:solidFill>
                  <a:srgbClr val="000000">
                    <a:alpha val="100000"/>
                  </a:srgbClr>
                </a:solidFill>
                <a:latin typeface="Arial" panose="020B0604020202090204"/>
                <a:ea typeface="Arial" panose="020B0604020202090204"/>
                <a:cs typeface="Arial" panose="020B0604020202090204"/>
                <a:sym typeface="+mn-ea"/>
              </a:rPr>
              <a:t> </a:t>
            </a:r>
            <a:r>
              <a:rPr sz="2400" b="1" spc="-70" dirty="0">
                <a:solidFill>
                  <a:srgbClr val="000000">
                    <a:alpha val="100000"/>
                  </a:srgbClr>
                </a:solidFill>
                <a:latin typeface="Arial" panose="020B0604020202090204"/>
                <a:ea typeface="Arial" panose="020B0604020202090204"/>
                <a:cs typeface="Arial" panose="020B0604020202090204"/>
                <a:sym typeface="+mn-ea"/>
              </a:rPr>
              <a:t>Planning</a:t>
            </a:r>
            <a:r>
              <a:rPr sz="2400" spc="-70" dirty="0">
                <a:solidFill>
                  <a:srgbClr val="000000">
                    <a:alpha val="100000"/>
                  </a:srgbClr>
                </a:solidFill>
                <a:latin typeface="Arial" panose="020B0604020202090204"/>
                <a:ea typeface="Arial" panose="020B0604020202090204"/>
                <a:cs typeface="Arial" panose="020B0604020202090204"/>
                <a:sym typeface="+mn-ea"/>
              </a:rPr>
              <a:t> </a:t>
            </a:r>
            <a:r>
              <a:rPr sz="2400" b="1" spc="-70" dirty="0">
                <a:solidFill>
                  <a:srgbClr val="000000">
                    <a:alpha val="100000"/>
                  </a:srgbClr>
                </a:solidFill>
                <a:latin typeface="Arial" panose="020B0604020202090204"/>
                <a:ea typeface="Arial" panose="020B0604020202090204"/>
                <a:cs typeface="Arial" panose="020B0604020202090204"/>
                <a:sym typeface="+mn-ea"/>
              </a:rPr>
              <a:t>phase</a:t>
            </a:r>
            <a:r>
              <a:rPr sz="2400" spc="-70" dirty="0">
                <a:solidFill>
                  <a:srgbClr val="000000">
                    <a:alpha val="100000"/>
                  </a:srgbClr>
                </a:solidFill>
                <a:latin typeface="Arial" panose="020B0604020202090204"/>
                <a:ea typeface="Arial" panose="020B0604020202090204"/>
                <a:cs typeface="Arial" panose="020B0604020202090204"/>
                <a:sym typeface="+mn-ea"/>
              </a:rPr>
              <a:t> – Users, m</a:t>
            </a:r>
            <a:r>
              <a:rPr sz="2400" spc="-20" dirty="0">
                <a:solidFill>
                  <a:srgbClr val="000000">
                    <a:alpha val="100000"/>
                  </a:srgbClr>
                </a:solidFill>
                <a:latin typeface="Arial" panose="020B0604020202090204"/>
                <a:ea typeface="Arial" panose="020B0604020202090204"/>
                <a:cs typeface="Arial" panose="020B0604020202090204"/>
                <a:sym typeface="+mn-ea"/>
              </a:rPr>
              <a:t>a</a:t>
            </a:r>
            <a:r>
              <a:rPr sz="2400" dirty="0">
                <a:solidFill>
                  <a:srgbClr val="000000">
                    <a:alpha val="100000"/>
                  </a:srgbClr>
                </a:solidFill>
                <a:latin typeface="Arial" panose="020B0604020202090204"/>
                <a:ea typeface="Arial" panose="020B0604020202090204"/>
                <a:cs typeface="Arial" panose="020B0604020202090204"/>
                <a:sym typeface="+mn-ea"/>
              </a:rPr>
              <a:t>nagers</a:t>
            </a:r>
            <a:r>
              <a:rPr sz="2400" spc="-7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80" dirty="0">
                <a:solidFill>
                  <a:srgbClr val="000000">
                    <a:alpha val="100000"/>
                  </a:srgbClr>
                </a:solidFill>
                <a:latin typeface="Arial" panose="020B0604020202090204"/>
                <a:ea typeface="Arial" panose="020B0604020202090204"/>
                <a:cs typeface="Arial" panose="020B0604020202090204"/>
                <a:sym typeface="+mn-ea"/>
              </a:rPr>
              <a:t>and IT staff members discuss requiremen</a:t>
            </a:r>
            <a:r>
              <a:rPr sz="2400" spc="-7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400" dirty="0"/>
          </a:p>
          <a:p>
            <a:pPr marL="474345" indent="-457200" algn="l" rtl="0" eaLnBrk="0">
              <a:lnSpc>
                <a:spcPct val="103000"/>
              </a:lnSpc>
              <a:spcBef>
                <a:spcPts val="1070"/>
              </a:spcBef>
              <a:buFont typeface="+mj-lt"/>
              <a:buAutoNum type="arabicPeriod"/>
            </a:pPr>
            <a:r>
              <a:rPr sz="2400" b="1" spc="-80" dirty="0">
                <a:solidFill>
                  <a:srgbClr val="000000">
                    <a:alpha val="100000"/>
                  </a:srgbClr>
                </a:solidFill>
                <a:latin typeface="Arial" panose="020B0604020202090204"/>
                <a:ea typeface="Arial" panose="020B0604020202090204"/>
                <a:cs typeface="Arial" panose="020B0604020202090204"/>
                <a:sym typeface="+mn-ea"/>
              </a:rPr>
              <a:t>User</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b="1" spc="-80" dirty="0">
                <a:solidFill>
                  <a:srgbClr val="000000">
                    <a:alpha val="100000"/>
                  </a:srgbClr>
                </a:solidFill>
                <a:latin typeface="Arial" panose="020B0604020202090204"/>
                <a:ea typeface="Arial" panose="020B0604020202090204"/>
                <a:cs typeface="Arial" panose="020B0604020202090204"/>
                <a:sym typeface="+mn-ea"/>
              </a:rPr>
              <a:t>design</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b="1" spc="-80" dirty="0">
                <a:solidFill>
                  <a:srgbClr val="000000">
                    <a:alpha val="100000"/>
                  </a:srgbClr>
                </a:solidFill>
                <a:latin typeface="Arial" panose="020B0604020202090204"/>
                <a:ea typeface="Arial" panose="020B0604020202090204"/>
                <a:cs typeface="Arial" panose="020B0604020202090204"/>
                <a:sym typeface="+mn-ea"/>
              </a:rPr>
              <a:t>phase</a:t>
            </a:r>
            <a:r>
              <a:rPr sz="2400" spc="-80" dirty="0">
                <a:solidFill>
                  <a:srgbClr val="000000">
                    <a:alpha val="100000"/>
                  </a:srgbClr>
                </a:solidFill>
                <a:latin typeface="Arial" panose="020B0604020202090204"/>
                <a:ea typeface="Arial" panose="020B0604020202090204"/>
                <a:cs typeface="Arial" panose="020B0604020202090204"/>
                <a:sym typeface="+mn-ea"/>
              </a:rPr>
              <a:t> – Users interact with s</a:t>
            </a:r>
            <a:r>
              <a:rPr sz="2400" spc="-70" dirty="0">
                <a:solidFill>
                  <a:srgbClr val="000000">
                    <a:alpha val="100000"/>
                  </a:srgbClr>
                </a:solidFill>
                <a:latin typeface="Arial" panose="020B0604020202090204"/>
                <a:ea typeface="Arial" panose="020B0604020202090204"/>
                <a:cs typeface="Arial" panose="020B0604020202090204"/>
                <a:sym typeface="+mn-ea"/>
              </a:rPr>
              <a:t>y</a:t>
            </a:r>
            <a:r>
              <a:rPr sz="2400" dirty="0">
                <a:solidFill>
                  <a:srgbClr val="000000">
                    <a:alpha val="100000"/>
                  </a:srgbClr>
                </a:solidFill>
                <a:latin typeface="Arial" panose="020B0604020202090204"/>
                <a:ea typeface="Arial" panose="020B0604020202090204"/>
                <a:cs typeface="Arial" panose="020B0604020202090204"/>
                <a:sym typeface="+mn-ea"/>
              </a:rPr>
              <a:t>stems </a:t>
            </a:r>
            <a:r>
              <a:rPr sz="2400" spc="-70" dirty="0">
                <a:solidFill>
                  <a:srgbClr val="000000">
                    <a:alpha val="100000"/>
                  </a:srgbClr>
                </a:solidFill>
                <a:latin typeface="Arial" panose="020B0604020202090204"/>
                <a:ea typeface="Arial" panose="020B0604020202090204"/>
                <a:cs typeface="Arial" panose="020B0604020202090204"/>
                <a:sym typeface="+mn-ea"/>
              </a:rPr>
              <a:t>analysts and develop reusable (evolutionary) prototype</a:t>
            </a:r>
            <a:r>
              <a:rPr sz="2400" spc="-4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400" dirty="0"/>
          </a:p>
          <a:p>
            <a:pPr marL="475615" indent="-457200" algn="l" rtl="0" eaLnBrk="0">
              <a:lnSpc>
                <a:spcPct val="105000"/>
              </a:lnSpc>
              <a:spcBef>
                <a:spcPts val="1125"/>
              </a:spcBef>
              <a:buFont typeface="+mj-lt"/>
              <a:buAutoNum type="arabicPeriod"/>
            </a:pPr>
            <a:r>
              <a:rPr sz="2400" b="1" spc="-60" dirty="0">
                <a:solidFill>
                  <a:srgbClr val="000000">
                    <a:alpha val="100000"/>
                  </a:srgbClr>
                </a:solidFill>
                <a:latin typeface="Arial" panose="020B0604020202090204"/>
                <a:ea typeface="Arial" panose="020B0604020202090204"/>
                <a:cs typeface="Arial" panose="020B0604020202090204"/>
                <a:sym typeface="+mn-ea"/>
              </a:rPr>
              <a:t>Construction</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b="1" spc="-60" dirty="0">
                <a:solidFill>
                  <a:srgbClr val="000000">
                    <a:alpha val="100000"/>
                  </a:srgbClr>
                </a:solidFill>
                <a:latin typeface="Arial" panose="020B0604020202090204"/>
                <a:ea typeface="Arial" panose="020B0604020202090204"/>
                <a:cs typeface="Arial" panose="020B0604020202090204"/>
                <a:sym typeface="+mn-ea"/>
              </a:rPr>
              <a:t>phase</a:t>
            </a:r>
            <a:r>
              <a:rPr sz="2400" spc="-60" dirty="0">
                <a:solidFill>
                  <a:srgbClr val="000000">
                    <a:alpha val="100000"/>
                  </a:srgbClr>
                </a:solidFill>
                <a:latin typeface="Arial" panose="020B0604020202090204"/>
                <a:ea typeface="Arial" panose="020B0604020202090204"/>
                <a:cs typeface="Arial" panose="020B0604020202090204"/>
                <a:sym typeface="+mn-ea"/>
              </a:rPr>
              <a:t> – Users continue to part</a:t>
            </a:r>
            <a:r>
              <a:rPr sz="2400" spc="-2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cipate </a:t>
            </a:r>
            <a:r>
              <a:rPr sz="2400" spc="-60" dirty="0">
                <a:solidFill>
                  <a:srgbClr val="000000">
                    <a:alpha val="100000"/>
                  </a:srgbClr>
                </a:solidFill>
                <a:latin typeface="Arial" panose="020B0604020202090204"/>
                <a:ea typeface="Arial" panose="020B0604020202090204"/>
                <a:cs typeface="Arial" panose="020B0604020202090204"/>
                <a:sym typeface="+mn-ea"/>
              </a:rPr>
              <a:t>and can still suggest changes or improvement</a:t>
            </a:r>
            <a:r>
              <a:rPr sz="2400" spc="-30" dirty="0">
                <a:solidFill>
                  <a:srgbClr val="000000">
                    <a:alpha val="100000"/>
                  </a:srgbClr>
                </a:solidFill>
                <a:latin typeface="Arial" panose="020B0604020202090204"/>
                <a:ea typeface="Arial" panose="020B0604020202090204"/>
                <a:cs typeface="Arial" panose="020B0604020202090204"/>
                <a:sym typeface="+mn-ea"/>
              </a:rPr>
              <a:t>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actual </a:t>
            </a:r>
            <a:r>
              <a:rPr lang="en-US" sz="2400" spc="-50" dirty="0">
                <a:solidFill>
                  <a:srgbClr val="000000">
                    <a:alpha val="100000"/>
                  </a:srgbClr>
                </a:solidFill>
                <a:latin typeface="Arial" panose="020B0604020202090204"/>
                <a:ea typeface="Arial" panose="020B0604020202090204"/>
                <a:cs typeface="Arial" panose="020B0604020202090204"/>
                <a:sym typeface="+mn-ea"/>
              </a:rPr>
              <a:t>screens,</a:t>
            </a:r>
            <a:r>
              <a:rPr sz="2400" spc="-50" dirty="0">
                <a:solidFill>
                  <a:srgbClr val="000000">
                    <a:alpha val="100000"/>
                  </a:srgbClr>
                </a:solidFill>
                <a:latin typeface="Arial" panose="020B0604020202090204"/>
                <a:ea typeface="Arial" panose="020B0604020202090204"/>
                <a:cs typeface="Arial" panose="020B0604020202090204"/>
                <a:sym typeface="+mn-ea"/>
              </a:rPr>
              <a:t> or reports are develope</a:t>
            </a:r>
            <a:r>
              <a:rPr sz="2400" spc="-30" dirty="0">
                <a:solidFill>
                  <a:srgbClr val="000000">
                    <a:alpha val="100000"/>
                  </a:srgbClr>
                </a:solidFill>
                <a:latin typeface="Arial" panose="020B0604020202090204"/>
                <a:ea typeface="Arial" panose="020B0604020202090204"/>
                <a:cs typeface="Arial" panose="020B0604020202090204"/>
                <a:sym typeface="+mn-ea"/>
              </a:rPr>
              <a:t>d</a:t>
            </a:r>
            <a:endParaRPr lang="en-US" altLang="en-US" sz="2400" dirty="0"/>
          </a:p>
          <a:p>
            <a:pPr marL="469900" indent="-457200" eaLnBrk="0">
              <a:lnSpc>
                <a:spcPct val="103000"/>
              </a:lnSpc>
              <a:spcBef>
                <a:spcPts val="1070"/>
              </a:spcBef>
              <a:buFont typeface="+mj-lt"/>
              <a:buAutoNum type="arabicPeriod"/>
            </a:pPr>
            <a:r>
              <a:rPr sz="2400" b="1" spc="-90" dirty="0">
                <a:solidFill>
                  <a:srgbClr val="000000">
                    <a:alpha val="100000"/>
                  </a:srgbClr>
                </a:solidFill>
                <a:latin typeface="Arial" panose="020B0604020202090204"/>
                <a:ea typeface="Arial" panose="020B0604020202090204"/>
                <a:cs typeface="Arial" panose="020B0604020202090204"/>
                <a:sym typeface="+mn-ea"/>
              </a:rPr>
              <a:t>Cutover phase – Data conversion, full-scale tes</a:t>
            </a:r>
            <a:r>
              <a:rPr sz="2400" b="1" spc="-50" dirty="0">
                <a:solidFill>
                  <a:srgbClr val="000000">
                    <a:alpha val="100000"/>
                  </a:srgbClr>
                </a:solidFill>
                <a:latin typeface="Arial" panose="020B0604020202090204"/>
                <a:ea typeface="Arial" panose="020B0604020202090204"/>
                <a:cs typeface="Arial" panose="020B0604020202090204"/>
                <a:sym typeface="+mn-ea"/>
              </a:rPr>
              <a:t>t</a:t>
            </a:r>
            <a:r>
              <a:rPr sz="2400" b="1" dirty="0">
                <a:solidFill>
                  <a:srgbClr val="000000">
                    <a:alpha val="100000"/>
                  </a:srgbClr>
                </a:solidFill>
                <a:latin typeface="Arial" panose="020B0604020202090204"/>
                <a:ea typeface="Arial" panose="020B0604020202090204"/>
                <a:cs typeface="Arial" panose="020B0604020202090204"/>
                <a:sym typeface="+mn-ea"/>
              </a:rPr>
              <a:t>ing</a:t>
            </a:r>
            <a:r>
              <a:rPr sz="2400" b="1" spc="-90" dirty="0">
                <a:solidFill>
                  <a:srgbClr val="000000">
                    <a:alpha val="100000"/>
                  </a:srgbClr>
                </a:solidFill>
                <a:latin typeface="Arial" panose="020B0604020202090204"/>
                <a:ea typeface="Arial" panose="020B0604020202090204"/>
                <a:cs typeface="Arial" panose="020B0604020202090204"/>
                <a:sym typeface="+mn-ea"/>
              </a:rPr>
              <a:t>,</a:t>
            </a:r>
            <a:r>
              <a:rPr lang="en-US" sz="2400" b="1" dirty="0">
                <a:solidFill>
                  <a:srgbClr val="000000">
                    <a:alpha val="100000"/>
                  </a:srgbClr>
                </a:solidFill>
                <a:latin typeface="Arial" panose="020B0604020202090204"/>
                <a:ea typeface="Arial" panose="020B0604020202090204"/>
                <a:cs typeface="Arial" panose="020B0604020202090204"/>
                <a:sym typeface="+mn-ea"/>
              </a:rPr>
              <a:t> </a:t>
            </a:r>
            <a:r>
              <a:rPr sz="2400" b="1" spc="-100" dirty="0">
                <a:solidFill>
                  <a:srgbClr val="000000">
                    <a:alpha val="100000"/>
                  </a:srgbClr>
                </a:solidFill>
                <a:latin typeface="Arial" panose="020B0604020202090204"/>
                <a:ea typeface="Arial" panose="020B0604020202090204"/>
                <a:cs typeface="Arial" panose="020B0604020202090204"/>
                <a:sym typeface="+mn-ea"/>
              </a:rPr>
              <a:t>system changeover, user trainin</a:t>
            </a:r>
            <a:r>
              <a:rPr sz="2400" b="1" spc="-50" dirty="0">
                <a:solidFill>
                  <a:srgbClr val="000000">
                    <a:alpha val="100000"/>
                  </a:srgbClr>
                </a:solidFill>
                <a:latin typeface="Arial" panose="020B0604020202090204"/>
                <a:ea typeface="Arial" panose="020B0604020202090204"/>
                <a:cs typeface="Arial" panose="020B0604020202090204"/>
                <a:sym typeface="+mn-ea"/>
              </a:rPr>
              <a:t>g</a:t>
            </a:r>
            <a:r>
              <a:rPr lang="en-US" sz="2400" b="1" spc="-50" dirty="0">
                <a:solidFill>
                  <a:srgbClr val="000000">
                    <a:alpha val="100000"/>
                  </a:srgbClr>
                </a:solidFill>
                <a:latin typeface="Arial" panose="020B0604020202090204"/>
                <a:ea typeface="Arial" panose="020B0604020202090204"/>
                <a:cs typeface="Arial" panose="020B0604020202090204"/>
                <a:sym typeface="+mn-ea"/>
              </a:rPr>
              <a:t>, </a:t>
            </a:r>
            <a:r>
              <a:rPr lang="en-US" sz="2400" dirty="0">
                <a:solidFill>
                  <a:srgbClr val="080808"/>
                </a:solidFill>
                <a:latin typeface="Arial" panose="020B0604020202020204" pitchFamily="34" charset="0"/>
                <a:cs typeface="Arial" panose="020B0604020202020204" pitchFamily="34" charset="0"/>
              </a:rPr>
              <a:t>The Cutover phase is when the new system:</a:t>
            </a:r>
          </a:p>
          <a:p>
            <a:pPr lvl="2"/>
            <a:r>
              <a:rPr lang="en-US" dirty="0">
                <a:solidFill>
                  <a:srgbClr val="080808"/>
                </a:solidFill>
                <a:latin typeface="Arial" panose="020B0604020202020204" pitchFamily="34" charset="0"/>
                <a:cs typeface="Arial" panose="020B0604020202020204" pitchFamily="34" charset="0"/>
              </a:rPr>
              <a:t>Goes </a:t>
            </a:r>
            <a:r>
              <a:rPr lang="en-US" b="1" dirty="0">
                <a:solidFill>
                  <a:srgbClr val="080808"/>
                </a:solidFill>
                <a:latin typeface="Arial" panose="020B0604020202020204" pitchFamily="34" charset="0"/>
                <a:cs typeface="Arial" panose="020B0604020202020204" pitchFamily="34" charset="0"/>
              </a:rPr>
              <a:t>live</a:t>
            </a:r>
            <a:r>
              <a:rPr lang="en-US" dirty="0">
                <a:solidFill>
                  <a:srgbClr val="080808"/>
                </a:solidFill>
                <a:latin typeface="Arial" panose="020B0604020202020204" pitchFamily="34" charset="0"/>
                <a:cs typeface="Arial" panose="020B0604020202020204" pitchFamily="34" charset="0"/>
              </a:rPr>
              <a:t> </a:t>
            </a:r>
          </a:p>
          <a:p>
            <a:pPr lvl="2"/>
            <a:r>
              <a:rPr lang="en-US" dirty="0">
                <a:solidFill>
                  <a:srgbClr val="080808"/>
                </a:solidFill>
                <a:latin typeface="Arial" panose="020B0604020202020204" pitchFamily="34" charset="0"/>
                <a:cs typeface="Arial" panose="020B0604020202020204" pitchFamily="34" charset="0"/>
              </a:rPr>
              <a:t>Replaces the old system (if there is one) </a:t>
            </a:r>
          </a:p>
          <a:p>
            <a:pPr lvl="2"/>
            <a:r>
              <a:rPr lang="en-US" dirty="0">
                <a:solidFill>
                  <a:srgbClr val="080808"/>
                </a:solidFill>
                <a:latin typeface="Arial" panose="020B0604020202020204" pitchFamily="34" charset="0"/>
                <a:cs typeface="Arial" panose="020B0604020202020204" pitchFamily="34" charset="0"/>
              </a:rPr>
              <a:t>Starts being used by real users </a:t>
            </a:r>
          </a:p>
          <a:p>
            <a:pPr lvl="2"/>
            <a:r>
              <a:rPr lang="en-US" dirty="0">
                <a:solidFill>
                  <a:srgbClr val="080808"/>
                </a:solidFill>
                <a:latin typeface="Arial" panose="020B0604020202020204" pitchFamily="34" charset="0"/>
                <a:cs typeface="Arial" panose="020B0604020202020204" pitchFamily="34" charset="0"/>
              </a:rPr>
              <a:t>Think of it as the </a:t>
            </a:r>
            <a:r>
              <a:rPr lang="en-US" b="1" dirty="0">
                <a:solidFill>
                  <a:srgbClr val="080808"/>
                </a:solidFill>
                <a:latin typeface="Arial" panose="020B0604020202020204" pitchFamily="34" charset="0"/>
                <a:cs typeface="Arial" panose="020B0604020202020204" pitchFamily="34" charset="0"/>
              </a:rPr>
              <a:t>“launch” or “go-live” moment</a:t>
            </a:r>
            <a:r>
              <a:rPr lang="en-US" dirty="0">
                <a:solidFill>
                  <a:srgbClr val="080808"/>
                </a:solidFill>
                <a:latin typeface="Arial" panose="020B0604020202020204" pitchFamily="34" charset="0"/>
                <a:cs typeface="Arial" panose="020B0604020202020204" pitchFamily="34" charset="0"/>
              </a:rPr>
              <a:t>.</a:t>
            </a:r>
            <a:endParaRPr spc="-50" dirty="0">
              <a:solidFill>
                <a:srgbClr val="080808"/>
              </a:solidFill>
              <a:latin typeface="Arial" panose="020B0604020202020204" pitchFamily="34" charset="0"/>
              <a:ea typeface="Arial" panose="020B0604020202090204"/>
              <a:cs typeface="Arial" panose="020B0604020202020204" pitchFamily="34" charset="0"/>
              <a:sym typeface="+mn-ea"/>
            </a:endParaRPr>
          </a:p>
          <a:p>
            <a:pPr marL="469900" indent="-457200" algn="l" rtl="0" eaLnBrk="0">
              <a:lnSpc>
                <a:spcPct val="103000"/>
              </a:lnSpc>
              <a:spcBef>
                <a:spcPts val="1070"/>
              </a:spcBef>
              <a:buFont typeface="+mj-lt"/>
              <a:buAutoNum type="arabicPeriod"/>
            </a:pPr>
            <a:r>
              <a:rPr sz="2400" b="1" spc="-70" dirty="0">
                <a:solidFill>
                  <a:srgbClr val="000000">
                    <a:alpha val="100000"/>
                  </a:srgbClr>
                </a:solidFill>
                <a:latin typeface="Arial" panose="020B0604020202090204"/>
                <a:ea typeface="Arial" panose="020B0604020202090204"/>
                <a:cs typeface="Arial" panose="020B0604020202090204"/>
                <a:sym typeface="+mn-ea"/>
              </a:rPr>
              <a:t>Repeat until do</a:t>
            </a:r>
            <a:r>
              <a:rPr sz="2400" b="1" spc="-50" dirty="0">
                <a:solidFill>
                  <a:srgbClr val="000000">
                    <a:alpha val="100000"/>
                  </a:srgbClr>
                </a:solidFill>
                <a:latin typeface="Arial" panose="020B0604020202090204"/>
                <a:ea typeface="Arial" panose="020B0604020202090204"/>
                <a:cs typeface="Arial" panose="020B0604020202090204"/>
                <a:sym typeface="+mn-ea"/>
              </a:rPr>
              <a:t>n</a:t>
            </a:r>
            <a:r>
              <a:rPr sz="2400" b="1" dirty="0">
                <a:solidFill>
                  <a:srgbClr val="000000">
                    <a:alpha val="100000"/>
                  </a:srgbClr>
                </a:solidFill>
                <a:latin typeface="Arial" panose="020B0604020202090204"/>
                <a:ea typeface="Arial" panose="020B0604020202090204"/>
                <a:cs typeface="Arial" panose="020B0604020202090204"/>
                <a:sym typeface="+mn-ea"/>
              </a:rPr>
              <a:t>e</a:t>
            </a:r>
            <a:endParaRPr lang="en-US" sz="2400" b="1"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0" dirty="0">
                <a:solidFill>
                  <a:srgbClr val="000000">
                    <a:alpha val="100000"/>
                  </a:srgbClr>
                </a:solidFill>
                <a:latin typeface="Arial" panose="020B0604020202090204"/>
                <a:ea typeface="Arial" panose="020B0604020202090204"/>
                <a:cs typeface="Arial" panose="020B0604020202090204"/>
                <a:sym typeface="+mn-ea"/>
              </a:rPr>
              <a:t>RAD Techniqu</a:t>
            </a:r>
            <a:r>
              <a:rPr spc="-7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s</a:t>
            </a:r>
            <a:endParaRPr lang="en-US" dirty="0"/>
          </a:p>
        </p:txBody>
      </p:sp>
      <p:sp>
        <p:nvSpPr>
          <p:cNvPr id="2" name="Content Placeholder 1"/>
          <p:cNvSpPr>
            <a:spLocks noGrp="1"/>
          </p:cNvSpPr>
          <p:nvPr>
            <p:ph idx="1"/>
          </p:nvPr>
        </p:nvSpPr>
        <p:spPr>
          <a:xfrm>
            <a:off x="646676" y="1406012"/>
            <a:ext cx="10709031" cy="4768645"/>
          </a:xfrm>
        </p:spPr>
        <p:txBody>
          <a:bodyPr>
            <a:noAutofit/>
          </a:bodyPr>
          <a:lstStyle/>
          <a:p>
            <a:pPr marL="821055" indent="-342900" eaLnBrk="0">
              <a:lnSpc>
                <a:spcPct val="100000"/>
              </a:lnSpc>
              <a:spcBef>
                <a:spcPts val="1035"/>
              </a:spcBef>
            </a:pPr>
            <a:r>
              <a:rPr sz="2400" spc="-90" dirty="0">
                <a:solidFill>
                  <a:srgbClr val="000000">
                    <a:alpha val="100000"/>
                  </a:srgbClr>
                </a:solidFill>
                <a:latin typeface="Arial" panose="020B0604020202090204"/>
                <a:ea typeface="Arial" panose="020B0604020202090204"/>
                <a:cs typeface="Arial" panose="020B0604020202090204"/>
                <a:sym typeface="+mn-ea"/>
              </a:rPr>
              <a:t>Facilitated joint workshop</a:t>
            </a:r>
            <a:r>
              <a:rPr sz="2400" spc="-60" dirty="0">
                <a:solidFill>
                  <a:srgbClr val="000000">
                    <a:alpha val="100000"/>
                  </a:srgbClr>
                </a:solidFill>
                <a:latin typeface="Arial" panose="020B0604020202090204"/>
                <a:ea typeface="Arial" panose="020B0604020202090204"/>
                <a:cs typeface="Arial" panose="020B0604020202090204"/>
                <a:sym typeface="+mn-ea"/>
              </a:rPr>
              <a:t>s</a:t>
            </a:r>
            <a:r>
              <a:rPr sz="2400" spc="-9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JAD</a:t>
            </a:r>
            <a:r>
              <a:rPr sz="2400" spc="-90" dirty="0">
                <a:solidFill>
                  <a:srgbClr val="000000">
                    <a:alpha val="100000"/>
                  </a:srgbClr>
                </a:solidFill>
                <a:latin typeface="Arial" panose="020B0604020202090204"/>
                <a:ea typeface="Arial" panose="020B0604020202090204"/>
                <a:cs typeface="Arial" panose="020B0604020202090204"/>
                <a:sym typeface="+mn-ea"/>
              </a:rPr>
              <a:t>)</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1278255" lvl="1" indent="-342900" eaLnBrk="0">
              <a:lnSpc>
                <a:spcPct val="100000"/>
              </a:lnSpc>
              <a:spcBef>
                <a:spcPts val="1035"/>
              </a:spcBef>
            </a:pPr>
            <a:r>
              <a:rPr sz="2000" spc="-50" dirty="0">
                <a:solidFill>
                  <a:srgbClr val="000000">
                    <a:alpha val="100000"/>
                  </a:srgbClr>
                </a:solidFill>
                <a:latin typeface="Arial" panose="020B0604020202090204"/>
                <a:ea typeface="Arial" panose="020B0604020202090204"/>
                <a:cs typeface="Arial" panose="020B0604020202090204"/>
                <a:sym typeface="+mn-ea"/>
              </a:rPr>
              <a:t>Customers and develope</a:t>
            </a:r>
            <a:r>
              <a:rPr sz="2000" spc="-20" dirty="0">
                <a:solidFill>
                  <a:srgbClr val="000000">
                    <a:alpha val="100000"/>
                  </a:srgbClr>
                </a:solidFill>
                <a:latin typeface="Arial" panose="020B0604020202090204"/>
                <a:ea typeface="Arial" panose="020B0604020202090204"/>
                <a:cs typeface="Arial" panose="020B0604020202090204"/>
                <a:sym typeface="+mn-ea"/>
              </a:rPr>
              <a:t>r</a:t>
            </a:r>
            <a:r>
              <a:rPr sz="2000" dirty="0">
                <a:solidFill>
                  <a:srgbClr val="000000">
                    <a:alpha val="100000"/>
                  </a:srgbClr>
                </a:solidFill>
                <a:latin typeface="Arial" panose="020B0604020202090204"/>
                <a:ea typeface="Arial" panose="020B0604020202090204"/>
                <a:cs typeface="Arial" panose="020B0604020202090204"/>
                <a:sym typeface="+mn-ea"/>
              </a:rPr>
              <a:t>s</a:t>
            </a:r>
            <a:endParaRPr sz="2000" spc="-80" dirty="0">
              <a:solidFill>
                <a:srgbClr val="000000">
                  <a:alpha val="100000"/>
                </a:srgbClr>
              </a:solidFill>
              <a:latin typeface="Arial" panose="020B0604020202090204"/>
              <a:ea typeface="Arial" panose="020B0604020202090204"/>
              <a:cs typeface="Arial" panose="020B0604020202090204"/>
              <a:sym typeface="+mn-ea"/>
            </a:endParaRPr>
          </a:p>
          <a:p>
            <a:pPr marL="821055" indent="-342900" eaLnBrk="0">
              <a:lnSpc>
                <a:spcPct val="100000"/>
              </a:lnSpc>
              <a:spcBef>
                <a:spcPts val="1035"/>
              </a:spcBef>
            </a:pPr>
            <a:r>
              <a:rPr sz="2400" spc="-80" dirty="0">
                <a:solidFill>
                  <a:srgbClr val="000000">
                    <a:alpha val="100000"/>
                  </a:srgbClr>
                </a:solidFill>
                <a:latin typeface="Arial" panose="020B0604020202090204"/>
                <a:ea typeface="Arial" panose="020B0604020202090204"/>
                <a:cs typeface="Arial" panose="020B0604020202090204"/>
                <a:sym typeface="+mn-ea"/>
              </a:rPr>
              <a:t>Evolutionary prototyping evolving into finished produ</a:t>
            </a:r>
            <a:r>
              <a:rPr sz="2400" spc="-60" dirty="0">
                <a:solidFill>
                  <a:srgbClr val="000000">
                    <a:alpha val="100000"/>
                  </a:srgbClr>
                </a:solidFill>
                <a:latin typeface="Arial" panose="020B0604020202090204"/>
                <a:ea typeface="Arial" panose="020B0604020202090204"/>
                <a:cs typeface="Arial" panose="020B0604020202090204"/>
                <a:sym typeface="+mn-ea"/>
              </a:rPr>
              <a:t>c</a:t>
            </a:r>
            <a:r>
              <a:rPr sz="2400" dirty="0">
                <a:solidFill>
                  <a:srgbClr val="000000">
                    <a:alpha val="100000"/>
                  </a:srgbClr>
                </a:solidFill>
                <a:latin typeface="Arial" panose="020B0604020202090204"/>
                <a:ea typeface="Arial" panose="020B0604020202090204"/>
                <a:cs typeface="Arial" panose="020B0604020202090204"/>
                <a:sym typeface="+mn-ea"/>
              </a:rPr>
              <a:t>ts </a:t>
            </a:r>
          </a:p>
          <a:p>
            <a:pPr marL="821055" indent="-342900" eaLnBrk="0">
              <a:lnSpc>
                <a:spcPct val="100000"/>
              </a:lnSpc>
              <a:spcBef>
                <a:spcPts val="1035"/>
              </a:spcBef>
            </a:pPr>
            <a:r>
              <a:rPr sz="2400" spc="-90" dirty="0">
                <a:solidFill>
                  <a:srgbClr val="000000">
                    <a:alpha val="100000"/>
                  </a:srgbClr>
                </a:solidFill>
                <a:latin typeface="Arial" panose="020B0604020202090204"/>
                <a:ea typeface="Arial" panose="020B0604020202090204"/>
                <a:cs typeface="Arial" panose="020B0604020202090204"/>
                <a:sym typeface="+mn-ea"/>
              </a:rPr>
              <a:t>Time boxed incremental deliv</a:t>
            </a:r>
            <a:r>
              <a:rPr sz="2400" dirty="0">
                <a:solidFill>
                  <a:srgbClr val="000000">
                    <a:alpha val="100000"/>
                  </a:srgbClr>
                </a:solidFill>
                <a:latin typeface="Arial" panose="020B0604020202090204"/>
                <a:ea typeface="Arial" panose="020B0604020202090204"/>
                <a:cs typeface="Arial" panose="020B0604020202090204"/>
                <a:sym typeface="+mn-ea"/>
              </a:rPr>
              <a:t>ery</a:t>
            </a:r>
            <a:endParaRPr lang="en-US" altLang="en-US" sz="2400" dirty="0"/>
          </a:p>
          <a:p>
            <a:pPr marL="817880" indent="-342900" eaLnBrk="0">
              <a:lnSpc>
                <a:spcPct val="100000"/>
              </a:lnSpc>
              <a:spcBef>
                <a:spcPts val="1015"/>
              </a:spcBef>
            </a:pPr>
            <a:r>
              <a:rPr sz="2400" spc="-50" dirty="0">
                <a:solidFill>
                  <a:srgbClr val="000000">
                    <a:alpha val="100000"/>
                  </a:srgbClr>
                </a:solidFill>
                <a:latin typeface="Arial" panose="020B0604020202090204"/>
                <a:ea typeface="Arial" panose="020B0604020202090204"/>
                <a:cs typeface="Arial" panose="020B0604020202090204"/>
                <a:sym typeface="+mn-ea"/>
              </a:rPr>
              <a:t>Strict schedules that can’t be ch</a:t>
            </a:r>
            <a:r>
              <a:rPr sz="2400" spc="-40" dirty="0">
                <a:solidFill>
                  <a:srgbClr val="000000">
                    <a:alpha val="100000"/>
                  </a:srgbClr>
                </a:solidFill>
                <a:latin typeface="Arial" panose="020B0604020202090204"/>
                <a:ea typeface="Arial" panose="020B0604020202090204"/>
                <a:cs typeface="Arial" panose="020B0604020202090204"/>
                <a:sym typeface="+mn-ea"/>
              </a:rPr>
              <a:t>a</a:t>
            </a:r>
            <a:r>
              <a:rPr sz="2400" dirty="0">
                <a:solidFill>
                  <a:srgbClr val="000000">
                    <a:alpha val="100000"/>
                  </a:srgbClr>
                </a:solidFill>
                <a:latin typeface="Arial" panose="020B0604020202090204"/>
                <a:ea typeface="Arial" panose="020B0604020202090204"/>
                <a:cs typeface="Arial" panose="020B0604020202090204"/>
                <a:sym typeface="+mn-ea"/>
              </a:rPr>
              <a:t>nged</a:t>
            </a:r>
            <a:endParaRPr lang="en-US" altLang="en-US" sz="2400" dirty="0"/>
          </a:p>
          <a:p>
            <a:pPr marL="1283970" lvl="1" indent="-342900" eaLnBrk="0">
              <a:lnSpc>
                <a:spcPct val="100000"/>
              </a:lnSpc>
              <a:spcBef>
                <a:spcPts val="1200"/>
              </a:spcBef>
            </a:pPr>
            <a:r>
              <a:rPr sz="2000" spc="-30" dirty="0">
                <a:solidFill>
                  <a:srgbClr val="000000">
                    <a:alpha val="100000"/>
                  </a:srgbClr>
                </a:solidFill>
                <a:latin typeface="Arial" panose="020B0604020202090204"/>
                <a:ea typeface="Arial" panose="020B0604020202090204"/>
                <a:cs typeface="Arial" panose="020B0604020202090204"/>
                <a:sym typeface="+mn-ea"/>
              </a:rPr>
              <a:t>Drop features rather than miss th</a:t>
            </a:r>
            <a:r>
              <a:rPr sz="2000" spc="-20" dirty="0">
                <a:solidFill>
                  <a:srgbClr val="000000">
                    <a:alpha val="100000"/>
                  </a:srgbClr>
                </a:solidFill>
                <a:latin typeface="Arial" panose="020B0604020202090204"/>
                <a:ea typeface="Arial" panose="020B0604020202090204"/>
                <a:cs typeface="Arial" panose="020B0604020202090204"/>
                <a:sym typeface="+mn-ea"/>
              </a:rPr>
              <a:t>e</a:t>
            </a:r>
            <a:r>
              <a:rPr sz="2000" spc="-3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deadline</a:t>
            </a:r>
          </a:p>
          <a:p>
            <a:pPr marL="1283970" lvl="1" indent="-342900" eaLnBrk="0">
              <a:lnSpc>
                <a:spcPct val="100000"/>
              </a:lnSpc>
              <a:spcBef>
                <a:spcPts val="1200"/>
              </a:spcBef>
            </a:pPr>
            <a:r>
              <a:rPr sz="2000" spc="-50" dirty="0">
                <a:solidFill>
                  <a:srgbClr val="000000">
                    <a:alpha val="100000"/>
                  </a:srgbClr>
                </a:solidFill>
                <a:latin typeface="Arial" panose="020B0604020202090204"/>
                <a:ea typeface="Arial" panose="020B0604020202090204"/>
                <a:cs typeface="Arial" panose="020B0604020202090204"/>
                <a:sym typeface="+mn-ea"/>
              </a:rPr>
              <a:t>Small teams includi</a:t>
            </a:r>
            <a:r>
              <a:rPr sz="2000" spc="-1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g</a:t>
            </a:r>
            <a:r>
              <a:rPr sz="2000" spc="-5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users</a:t>
            </a:r>
            <a:r>
              <a:rPr sz="2000" spc="-50" dirty="0">
                <a:solidFill>
                  <a:srgbClr val="000000">
                    <a:alpha val="100000"/>
                  </a:srgbClr>
                </a:solidFill>
                <a:latin typeface="Arial" panose="020B0604020202090204"/>
                <a:ea typeface="Arial" panose="020B0604020202090204"/>
                <a:cs typeface="Arial" panose="020B0604020202090204"/>
                <a:sym typeface="+mn-ea"/>
              </a:rPr>
              <a:t> (6- 12)</a:t>
            </a:r>
          </a:p>
          <a:p>
            <a:pPr marL="571500" indent="-342900">
              <a:lnSpc>
                <a:spcPct val="100000"/>
              </a:lnSpc>
            </a:pPr>
            <a:endParaRPr lang="en-US" alt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9212-6714-42B2-E2C5-4ABA04222882}"/>
              </a:ext>
            </a:extLst>
          </p:cNvPr>
          <p:cNvSpPr>
            <a:spLocks noGrp="1"/>
          </p:cNvSpPr>
          <p:nvPr>
            <p:ph type="title"/>
          </p:nvPr>
        </p:nvSpPr>
        <p:spPr/>
        <p:txBody>
          <a:bodyPr/>
          <a:lstStyle/>
          <a:p>
            <a:r>
              <a:rPr lang="en-US" spc="-100" dirty="0">
                <a:solidFill>
                  <a:srgbClr val="000000">
                    <a:alpha val="100000"/>
                  </a:srgbClr>
                </a:solidFill>
                <a:latin typeface="Arial" panose="020B0604020202090204"/>
                <a:ea typeface="Arial" panose="020B0604020202090204"/>
                <a:cs typeface="Arial" panose="020B0604020202090204"/>
                <a:sym typeface="+mn-ea"/>
              </a:rPr>
              <a:t>RAD Techniqu</a:t>
            </a:r>
            <a:r>
              <a:rPr lang="en-US" spc="-70" dirty="0">
                <a:solidFill>
                  <a:srgbClr val="000000">
                    <a:alpha val="100000"/>
                  </a:srgbClr>
                </a:solidFill>
                <a:latin typeface="Arial" panose="020B0604020202090204"/>
                <a:ea typeface="Arial" panose="020B0604020202090204"/>
                <a:cs typeface="Arial" panose="020B0604020202090204"/>
                <a:sym typeface="+mn-ea"/>
              </a:rPr>
              <a:t>e</a:t>
            </a:r>
            <a:r>
              <a:rPr lang="en-US" dirty="0">
                <a:solidFill>
                  <a:srgbClr val="000000">
                    <a:alpha val="100000"/>
                  </a:srgbClr>
                </a:solidFill>
                <a:latin typeface="Arial" panose="020B0604020202090204"/>
                <a:ea typeface="Arial" panose="020B0604020202090204"/>
                <a:cs typeface="Arial" panose="020B0604020202090204"/>
                <a:sym typeface="+mn-ea"/>
              </a:rPr>
              <a:t>s</a:t>
            </a:r>
            <a:endParaRPr lang="en-US" dirty="0"/>
          </a:p>
        </p:txBody>
      </p:sp>
      <p:sp>
        <p:nvSpPr>
          <p:cNvPr id="4" name="Content Placeholder 3">
            <a:extLst>
              <a:ext uri="{FF2B5EF4-FFF2-40B4-BE49-F238E27FC236}">
                <a16:creationId xmlns:a16="http://schemas.microsoft.com/office/drawing/2014/main" id="{66ECED97-90DD-D670-F94D-871B313A31D4}"/>
              </a:ext>
            </a:extLst>
          </p:cNvPr>
          <p:cNvSpPr>
            <a:spLocks noGrp="1"/>
          </p:cNvSpPr>
          <p:nvPr>
            <p:ph idx="1"/>
          </p:nvPr>
        </p:nvSpPr>
        <p:spPr>
          <a:xfrm>
            <a:off x="644771" y="1376516"/>
            <a:ext cx="10709031" cy="4705631"/>
          </a:xfrm>
        </p:spPr>
        <p:txBody>
          <a:bodyPr>
            <a:normAutofit fontScale="92500" lnSpcReduction="20000"/>
          </a:bodyPr>
          <a:lstStyle/>
          <a:p>
            <a:pPr marL="941070" indent="-457200" eaLnBrk="0">
              <a:lnSpc>
                <a:spcPct val="100000"/>
              </a:lnSpc>
              <a:spcBef>
                <a:spcPts val="1200"/>
              </a:spcBef>
            </a:pPr>
            <a:r>
              <a:rPr lang="en-US" sz="2600" dirty="0">
                <a:solidFill>
                  <a:srgbClr val="080808"/>
                </a:solidFill>
                <a:latin typeface="Arial" panose="020B0604020202020204" pitchFamily="34" charset="0"/>
                <a:cs typeface="Arial" panose="020B0604020202020204" pitchFamily="34" charset="0"/>
                <a:sym typeface="+mn-ea"/>
              </a:rPr>
              <a:t>CA</a:t>
            </a:r>
            <a:r>
              <a:rPr lang="en-US" sz="2600" spc="-60" dirty="0">
                <a:solidFill>
                  <a:srgbClr val="000000">
                    <a:alpha val="100000"/>
                  </a:srgbClr>
                </a:solidFill>
                <a:latin typeface="Arial" panose="020B0604020202090204"/>
                <a:ea typeface="Arial" panose="020B0604020202090204"/>
                <a:cs typeface="Arial" panose="020B0604020202090204"/>
                <a:sym typeface="+mn-ea"/>
              </a:rPr>
              <a:t>SE </a:t>
            </a:r>
            <a:r>
              <a:rPr lang="en-US" sz="2600" spc="-60" dirty="0">
                <a:solidFill>
                  <a:srgbClr val="080808"/>
                </a:solidFill>
                <a:latin typeface="Arial" panose="020B0604020202020204" pitchFamily="34" charset="0"/>
                <a:ea typeface="Arial" panose="020B0604020202090204"/>
                <a:cs typeface="Arial" panose="020B0604020202020204" pitchFamily="34" charset="0"/>
                <a:sym typeface="+mn-ea"/>
              </a:rPr>
              <a:t>(</a:t>
            </a:r>
            <a:r>
              <a:rPr lang="en-US" sz="2600" dirty="0">
                <a:solidFill>
                  <a:srgbClr val="080808"/>
                </a:solidFill>
                <a:latin typeface="Arial" panose="020B0604020202020204" pitchFamily="34" charset="0"/>
                <a:cs typeface="Arial" panose="020B0604020202020204" pitchFamily="34" charset="0"/>
              </a:rPr>
              <a:t>Computer-Aided Software Engineering) </a:t>
            </a:r>
            <a:r>
              <a:rPr lang="en-US" sz="2600" spc="-60" dirty="0">
                <a:solidFill>
                  <a:srgbClr val="000000">
                    <a:alpha val="100000"/>
                  </a:srgbClr>
                </a:solidFill>
                <a:latin typeface="Arial" panose="020B0604020202090204"/>
                <a:ea typeface="Arial" panose="020B0604020202090204"/>
                <a:cs typeface="Arial" panose="020B0604020202090204"/>
                <a:sym typeface="+mn-ea"/>
              </a:rPr>
              <a:t>tool</a:t>
            </a:r>
            <a:r>
              <a:rPr lang="en-US" sz="2600" spc="-30" dirty="0">
                <a:solidFill>
                  <a:srgbClr val="000000">
                    <a:alpha val="100000"/>
                  </a:srgbClr>
                </a:solidFill>
                <a:latin typeface="Arial" panose="020B0604020202090204"/>
                <a:ea typeface="Arial" panose="020B0604020202090204"/>
                <a:cs typeface="Arial" panose="020B0604020202090204"/>
                <a:sym typeface="+mn-ea"/>
              </a:rPr>
              <a:t>s</a:t>
            </a:r>
            <a:r>
              <a:rPr lang="en-US" sz="2600" spc="-60" dirty="0">
                <a:solidFill>
                  <a:srgbClr val="000000">
                    <a:alpha val="100000"/>
                  </a:srgbClr>
                </a:solidFill>
                <a:latin typeface="Arial" panose="020B0604020202090204"/>
                <a:ea typeface="Arial" panose="020B0604020202090204"/>
                <a:cs typeface="Arial" panose="020B0604020202090204"/>
                <a:sym typeface="+mn-ea"/>
              </a:rPr>
              <a:t>:</a:t>
            </a:r>
          </a:p>
          <a:p>
            <a:pPr marL="1101090" lvl="1" indent="-342900" eaLnBrk="0">
              <a:lnSpc>
                <a:spcPct val="100000"/>
              </a:lnSpc>
              <a:spcBef>
                <a:spcPts val="1200"/>
              </a:spcBef>
            </a:pPr>
            <a:r>
              <a:rPr lang="en-US" sz="1900" dirty="0">
                <a:solidFill>
                  <a:srgbClr val="080808"/>
                </a:solidFill>
                <a:latin typeface="Arial" panose="020B0604020202020204" pitchFamily="34" charset="0"/>
                <a:cs typeface="Arial" panose="020B0604020202020204" pitchFamily="34" charset="0"/>
              </a:rPr>
              <a:t>In RAD (Rapid Application Development), CASE tools are software tools that help developers design, build, and maintain systems faster and more efficiently.</a:t>
            </a:r>
            <a:endParaRPr lang="en-US" sz="1900" spc="-60" dirty="0">
              <a:solidFill>
                <a:srgbClr val="000000">
                  <a:alpha val="100000"/>
                </a:srgbClr>
              </a:solidFill>
              <a:latin typeface="Arial" panose="020B0604020202090204"/>
              <a:cs typeface="Arial" panose="020B0604020202090204"/>
              <a:sym typeface="+mn-ea"/>
            </a:endParaRPr>
          </a:p>
          <a:p>
            <a:pPr marL="1101090" lvl="1" indent="-342900" eaLnBrk="0">
              <a:lnSpc>
                <a:spcPct val="100000"/>
              </a:lnSpc>
              <a:spcBef>
                <a:spcPts val="1200"/>
              </a:spcBef>
            </a:pPr>
            <a:r>
              <a:rPr lang="en-US" sz="1900" spc="-70" dirty="0">
                <a:solidFill>
                  <a:srgbClr val="000000">
                    <a:alpha val="100000"/>
                  </a:srgbClr>
                </a:solidFill>
                <a:latin typeface="Arial" panose="020B0604020202090204"/>
                <a:ea typeface="Arial" panose="020B0604020202090204"/>
                <a:cs typeface="Arial" panose="020B0604020202090204"/>
                <a:sym typeface="+mn-ea"/>
              </a:rPr>
              <a:t>Rapid GUI </a:t>
            </a:r>
            <a:r>
              <a:rPr lang="en-US" sz="1900" spc="-70" dirty="0">
                <a:solidFill>
                  <a:srgbClr val="080808"/>
                </a:solidFill>
                <a:latin typeface="Arial" panose="020B0604020202020204" pitchFamily="34" charset="0"/>
                <a:ea typeface="Arial" panose="020B0604020202090204"/>
                <a:cs typeface="Arial" panose="020B0604020202020204" pitchFamily="34" charset="0"/>
                <a:sym typeface="+mn-ea"/>
              </a:rPr>
              <a:t>(</a:t>
            </a:r>
            <a:r>
              <a:rPr lang="en-US" sz="1900" dirty="0">
                <a:solidFill>
                  <a:srgbClr val="080808"/>
                </a:solidFill>
                <a:latin typeface="Arial" panose="020B0604020202020204" pitchFamily="34" charset="0"/>
                <a:cs typeface="Arial" panose="020B0604020202020204" pitchFamily="34" charset="0"/>
              </a:rPr>
              <a:t>Graphical User Interface) </a:t>
            </a:r>
            <a:r>
              <a:rPr lang="en-US" sz="1900" spc="-70" dirty="0">
                <a:solidFill>
                  <a:srgbClr val="000000">
                    <a:alpha val="100000"/>
                  </a:srgbClr>
                </a:solidFill>
                <a:latin typeface="Arial" panose="020B0604020202090204"/>
                <a:ea typeface="Arial" panose="020B0604020202090204"/>
                <a:cs typeface="Arial" panose="020B0604020202090204"/>
                <a:sym typeface="+mn-ea"/>
              </a:rPr>
              <a:t>development, e.g., Visual Ba</a:t>
            </a:r>
            <a:r>
              <a:rPr lang="en-US" sz="1900" spc="-10" dirty="0">
                <a:solidFill>
                  <a:srgbClr val="000000">
                    <a:alpha val="100000"/>
                  </a:srgbClr>
                </a:solidFill>
                <a:latin typeface="Arial" panose="020B0604020202090204"/>
                <a:ea typeface="Arial" panose="020B0604020202090204"/>
                <a:cs typeface="Arial" panose="020B0604020202090204"/>
                <a:sym typeface="+mn-ea"/>
              </a:rPr>
              <a:t>s</a:t>
            </a:r>
            <a:r>
              <a:rPr lang="en-US" sz="1900" dirty="0">
                <a:solidFill>
                  <a:srgbClr val="000000">
                    <a:alpha val="100000"/>
                  </a:srgbClr>
                </a:solidFill>
                <a:latin typeface="Arial" panose="020B0604020202090204"/>
                <a:ea typeface="Arial" panose="020B0604020202090204"/>
                <a:cs typeface="Arial" panose="020B0604020202090204"/>
                <a:sym typeface="+mn-ea"/>
              </a:rPr>
              <a:t>ic</a:t>
            </a:r>
          </a:p>
          <a:p>
            <a:pPr marL="1558290" lvl="2" indent="-342900" eaLnBrk="0">
              <a:lnSpc>
                <a:spcPct val="100000"/>
              </a:lnSpc>
              <a:spcBef>
                <a:spcPts val="1200"/>
              </a:spcBef>
            </a:pPr>
            <a:r>
              <a:rPr lang="en-US" sz="1900" dirty="0">
                <a:solidFill>
                  <a:srgbClr val="080808"/>
                </a:solidFill>
                <a:latin typeface="Arial" panose="020B0604020202020204" pitchFamily="34" charset="0"/>
                <a:cs typeface="Arial" panose="020B0604020202020204" pitchFamily="34" charset="0"/>
              </a:rPr>
              <a:t>GUI development means creating the visual interface that users interact with in a software application</a:t>
            </a:r>
            <a:endParaRPr lang="en-US" altLang="en-US" sz="1900" dirty="0">
              <a:solidFill>
                <a:srgbClr val="080808"/>
              </a:solidFill>
              <a:latin typeface="Arial" panose="020B0604020202020204" pitchFamily="34" charset="0"/>
              <a:cs typeface="Arial" panose="020B0604020202020204" pitchFamily="34" charset="0"/>
            </a:endParaRPr>
          </a:p>
          <a:p>
            <a:pPr marL="1264920" lvl="1" indent="-342900" eaLnBrk="0">
              <a:lnSpc>
                <a:spcPct val="100000"/>
              </a:lnSpc>
            </a:pPr>
            <a:r>
              <a:rPr lang="en-US" sz="1900" spc="-60" dirty="0">
                <a:solidFill>
                  <a:srgbClr val="000000">
                    <a:alpha val="100000"/>
                  </a:srgbClr>
                </a:solidFill>
                <a:latin typeface="Arial" panose="020B0604020202090204"/>
                <a:ea typeface="Arial" panose="020B0604020202090204"/>
                <a:cs typeface="Arial" panose="020B0604020202090204"/>
                <a:sym typeface="+mn-ea"/>
              </a:rPr>
              <a:t>Assumes simple data m</a:t>
            </a:r>
            <a:r>
              <a:rPr lang="en-US" sz="1900" spc="-50" dirty="0">
                <a:solidFill>
                  <a:srgbClr val="000000">
                    <a:alpha val="100000"/>
                  </a:srgbClr>
                </a:solidFill>
                <a:latin typeface="Arial" panose="020B0604020202090204"/>
                <a:ea typeface="Arial" panose="020B0604020202090204"/>
                <a:cs typeface="Arial" panose="020B0604020202090204"/>
                <a:sym typeface="+mn-ea"/>
              </a:rPr>
              <a:t>o</a:t>
            </a:r>
            <a:r>
              <a:rPr lang="en-US" sz="1900" dirty="0">
                <a:solidFill>
                  <a:srgbClr val="000000">
                    <a:alpha val="100000"/>
                  </a:srgbClr>
                </a:solidFill>
                <a:latin typeface="Arial" panose="020B0604020202090204"/>
                <a:ea typeface="Arial" panose="020B0604020202090204"/>
                <a:cs typeface="Arial" panose="020B0604020202090204"/>
                <a:sym typeface="+mn-ea"/>
              </a:rPr>
              <a:t>dels</a:t>
            </a:r>
          </a:p>
          <a:p>
            <a:pPr lvl="1">
              <a:buFont typeface="Wingdings" panose="05000000000000000000" pitchFamily="2" charset="2"/>
              <a:buChar char="§"/>
            </a:pPr>
            <a:endParaRPr lang="en-US" sz="2600" dirty="0">
              <a:solidFill>
                <a:srgbClr val="080808"/>
              </a:solidFill>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2600" dirty="0">
                <a:solidFill>
                  <a:srgbClr val="080808"/>
                </a:solidFill>
                <a:latin typeface="Arial" panose="020B0604020202020204" pitchFamily="34" charset="0"/>
                <a:cs typeface="Arial" panose="020B0604020202020204" pitchFamily="34" charset="0"/>
              </a:rPr>
              <a:t>Some commonly known tools include:</a:t>
            </a:r>
          </a:p>
          <a:p>
            <a:pPr lvl="3"/>
            <a:r>
              <a:rPr lang="en-US" sz="1900" dirty="0">
                <a:solidFill>
                  <a:srgbClr val="080808"/>
                </a:solidFill>
                <a:latin typeface="Arial" panose="020B0604020202020204" pitchFamily="34" charset="0"/>
                <a:cs typeface="Arial" panose="020B0604020202020204" pitchFamily="34" charset="0"/>
              </a:rPr>
              <a:t>Visual Paradigm </a:t>
            </a:r>
          </a:p>
          <a:p>
            <a:pPr lvl="3"/>
            <a:r>
              <a:rPr lang="en-US" sz="1900" dirty="0">
                <a:solidFill>
                  <a:srgbClr val="080808"/>
                </a:solidFill>
                <a:latin typeface="Arial" panose="020B0604020202020204" pitchFamily="34" charset="0"/>
                <a:cs typeface="Arial" panose="020B0604020202020204" pitchFamily="34" charset="0"/>
              </a:rPr>
              <a:t>Microsoft Visio</a:t>
            </a:r>
          </a:p>
          <a:p>
            <a:pPr lvl="1">
              <a:buFont typeface="Wingdings" panose="05000000000000000000" pitchFamily="2" charset="2"/>
              <a:buChar char="§"/>
            </a:pPr>
            <a:endParaRPr lang="en-US" sz="2600" dirty="0">
              <a:solidFill>
                <a:srgbClr val="080808"/>
              </a:solidFill>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2600" dirty="0">
                <a:solidFill>
                  <a:srgbClr val="080808"/>
                </a:solidFill>
                <a:latin typeface="Arial" panose="020B0604020202020204" pitchFamily="34" charset="0"/>
                <a:cs typeface="Arial" panose="020B0604020202020204" pitchFamily="34" charset="0"/>
              </a:rPr>
              <a:t>Think of CASE tool like Microsoft PowerPoint:</a:t>
            </a:r>
          </a:p>
          <a:p>
            <a:pPr lvl="2"/>
            <a:r>
              <a:rPr lang="en-US" sz="1900" dirty="0">
                <a:solidFill>
                  <a:srgbClr val="080808"/>
                </a:solidFill>
                <a:latin typeface="Arial" panose="020B0604020202020204" pitchFamily="34" charset="0"/>
                <a:cs typeface="Arial" panose="020B0604020202020204" pitchFamily="34" charset="0"/>
              </a:rPr>
              <a:t>You (the developer) use its GUI to create slides (software design) </a:t>
            </a:r>
          </a:p>
          <a:p>
            <a:pPr lvl="2"/>
            <a:r>
              <a:rPr lang="en-US" sz="1900" dirty="0">
                <a:solidFill>
                  <a:srgbClr val="080808"/>
                </a:solidFill>
                <a:latin typeface="Arial" panose="020B0604020202020204" pitchFamily="34" charset="0"/>
                <a:cs typeface="Arial" panose="020B0604020202020204" pitchFamily="34" charset="0"/>
              </a:rPr>
              <a:t>The slides themselves are not the GUI of your app; they’re just a tool to build it.</a:t>
            </a:r>
          </a:p>
          <a:p>
            <a:pPr lvl="1">
              <a:buFont typeface="Wingdings" panose="05000000000000000000" pitchFamily="2" charset="2"/>
              <a:buChar char="§"/>
            </a:pPr>
            <a:endParaRPr lang="en-US" sz="2400" dirty="0">
              <a:solidFill>
                <a:srgbClr val="080808"/>
              </a:solidFill>
              <a:latin typeface="Arial" panose="020B0604020202020204" pitchFamily="34" charset="0"/>
              <a:cs typeface="Arial" panose="020B0604020202020204" pitchFamily="34" charset="0"/>
            </a:endParaRPr>
          </a:p>
          <a:p>
            <a:pPr marL="826770" indent="-342900" eaLnBrk="0">
              <a:lnSpc>
                <a:spcPct val="100000"/>
              </a:lnSpc>
              <a:spcBef>
                <a:spcPts val="1200"/>
              </a:spcBef>
            </a:pPr>
            <a:endParaRPr lang="en-US" sz="2400" spc="-60" dirty="0">
              <a:solidFill>
                <a:srgbClr val="000000">
                  <a:alpha val="100000"/>
                </a:srgbClr>
              </a:solidFill>
              <a:latin typeface="Arial" panose="020B0604020202090204"/>
              <a:ea typeface="Arial" panose="020B0604020202090204"/>
              <a:cs typeface="Arial" panose="020B0604020202090204"/>
              <a:sym typeface="+mn-ea"/>
            </a:endParaRPr>
          </a:p>
          <a:p>
            <a:endParaRPr lang="en-US" dirty="0"/>
          </a:p>
        </p:txBody>
      </p:sp>
      <p:sp>
        <p:nvSpPr>
          <p:cNvPr id="5" name="Slide Number Placeholder 4">
            <a:extLst>
              <a:ext uri="{FF2B5EF4-FFF2-40B4-BE49-F238E27FC236}">
                <a16:creationId xmlns:a16="http://schemas.microsoft.com/office/drawing/2014/main" id="{60CF741A-0862-253E-D089-67316B9C1616}"/>
              </a:ext>
            </a:extLst>
          </p:cNvPr>
          <p:cNvSpPr>
            <a:spLocks noGrp="1"/>
          </p:cNvSpPr>
          <p:nvPr>
            <p:ph type="sldNum" sz="quarter" idx="12"/>
          </p:nvPr>
        </p:nvSpPr>
        <p:spPr/>
        <p:txBody>
          <a:bodyPr/>
          <a:lstStyle/>
          <a:p>
            <a:fld id="{4267CD5E-26CF-4249-8540-BB1D07FD4227}" type="slidenum">
              <a:rPr lang="en-US" smtClean="0"/>
              <a:t>11</a:t>
            </a:fld>
            <a:endParaRPr lang="en-US"/>
          </a:p>
        </p:txBody>
      </p:sp>
    </p:spTree>
    <p:extLst>
      <p:ext uri="{BB962C8B-B14F-4D97-AF65-F5344CB8AC3E}">
        <p14:creationId xmlns:p14="http://schemas.microsoft.com/office/powerpoint/2010/main" val="3833449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30" dirty="0">
                <a:solidFill>
                  <a:srgbClr val="000000">
                    <a:alpha val="100000"/>
                  </a:srgbClr>
                </a:solidFill>
                <a:latin typeface="Arial" panose="020B0604020202090204"/>
                <a:ea typeface="Arial" panose="020B0604020202090204"/>
                <a:cs typeface="Arial" panose="020B0604020202090204"/>
                <a:sym typeface="+mn-ea"/>
              </a:rPr>
              <a:t>Dynamic Systems Developm</a:t>
            </a:r>
            <a:r>
              <a:rPr spc="-2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nt</a:t>
            </a:r>
            <a:r>
              <a:rPr spc="-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Method       </a:t>
            </a:r>
            <a:r>
              <a:rPr spc="34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DSDM</a:t>
            </a:r>
            <a:r>
              <a:rPr spc="320" dirty="0">
                <a:solidFill>
                  <a:srgbClr val="000000">
                    <a:alpha val="100000"/>
                  </a:srgbClr>
                </a:solidFill>
                <a:latin typeface="Arial" panose="020B0604020202090204"/>
                <a:ea typeface="Arial" panose="020B0604020202090204"/>
                <a:cs typeface="Arial" panose="020B0604020202090204"/>
                <a:sym typeface="+mn-ea"/>
              </a:rPr>
              <a:t>)</a:t>
            </a:r>
            <a:endParaRPr lang="en-US" dirty="0"/>
          </a:p>
        </p:txBody>
      </p:sp>
      <p:sp>
        <p:nvSpPr>
          <p:cNvPr id="2" name="Content Placeholder 1"/>
          <p:cNvSpPr>
            <a:spLocks noGrp="1"/>
          </p:cNvSpPr>
          <p:nvPr>
            <p:ph idx="1"/>
          </p:nvPr>
        </p:nvSpPr>
        <p:spPr>
          <a:xfrm>
            <a:off x="646676" y="1669474"/>
            <a:ext cx="10709031" cy="3879273"/>
          </a:xfrm>
        </p:spPr>
        <p:txBody>
          <a:bodyPr>
            <a:noAutofit/>
          </a:bodyPr>
          <a:lstStyle/>
          <a:p>
            <a:pPr eaLnBrk="0">
              <a:lnSpc>
                <a:spcPct val="110000"/>
              </a:lnSpc>
            </a:pPr>
            <a:r>
              <a:rPr sz="2400" spc="-40" dirty="0">
                <a:solidFill>
                  <a:srgbClr val="000000">
                    <a:alpha val="100000"/>
                  </a:srgbClr>
                </a:solidFill>
                <a:latin typeface="Arial" panose="020B0604020202090204"/>
                <a:ea typeface="Arial" panose="020B0604020202090204"/>
                <a:cs typeface="Arial" panose="020B0604020202090204"/>
                <a:sym typeface="+mn-ea"/>
              </a:rPr>
              <a:t>Developed in England i</a:t>
            </a:r>
            <a:r>
              <a:rPr sz="2400" spc="-10" dirty="0">
                <a:solidFill>
                  <a:srgbClr val="000000">
                    <a:alpha val="100000"/>
                  </a:srgbClr>
                </a:solidFill>
                <a:latin typeface="Arial" panose="020B0604020202090204"/>
                <a:ea typeface="Arial" panose="020B0604020202090204"/>
                <a:cs typeface="Arial" panose="020B0604020202090204"/>
                <a:sym typeface="+mn-ea"/>
              </a:rPr>
              <a:t>n</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the</a:t>
            </a:r>
            <a:r>
              <a:rPr sz="2400" spc="-40" dirty="0">
                <a:solidFill>
                  <a:srgbClr val="000000">
                    <a:alpha val="100000"/>
                  </a:srgbClr>
                </a:solidFill>
                <a:latin typeface="Arial" panose="020B0604020202090204"/>
                <a:ea typeface="Arial" panose="020B0604020202090204"/>
                <a:cs typeface="Arial" panose="020B0604020202090204"/>
                <a:sym typeface="+mn-ea"/>
              </a:rPr>
              <a:t> 1990</a:t>
            </a:r>
            <a:r>
              <a:rPr sz="240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400" dirty="0"/>
          </a:p>
          <a:p>
            <a:pPr eaLnBrk="0">
              <a:lnSpc>
                <a:spcPts val="3440"/>
              </a:lnSpc>
              <a:spcBef>
                <a:spcPts val="1140"/>
              </a:spcBef>
            </a:pPr>
            <a:r>
              <a:rPr sz="2400" spc="-110" dirty="0">
                <a:solidFill>
                  <a:srgbClr val="000000">
                    <a:alpha val="100000"/>
                  </a:srgbClr>
                </a:solidFill>
                <a:latin typeface="Arial" panose="020B0604020202090204"/>
                <a:ea typeface="Arial" panose="020B0604020202090204"/>
                <a:cs typeface="Arial" panose="020B0604020202090204"/>
                <a:sym typeface="+mn-ea"/>
              </a:rPr>
              <a:t>Formalization of Rapid Application Development (</a:t>
            </a:r>
            <a:r>
              <a:rPr sz="2400" spc="-2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AD</a:t>
            </a:r>
            <a:r>
              <a:rPr sz="2400" spc="-11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400" dirty="0"/>
          </a:p>
          <a:p>
            <a:pPr eaLnBrk="0">
              <a:lnSpc>
                <a:spcPct val="77000"/>
              </a:lnSpc>
              <a:spcBef>
                <a:spcPts val="1800"/>
              </a:spcBef>
            </a:pPr>
            <a:r>
              <a:rPr sz="2400" spc="-90" dirty="0">
                <a:solidFill>
                  <a:srgbClr val="000000">
                    <a:alpha val="100000"/>
                  </a:srgbClr>
                </a:solidFill>
                <a:latin typeface="Arial" panose="020B0604020202090204"/>
                <a:ea typeface="Arial" panose="020B0604020202090204"/>
                <a:cs typeface="Arial" panose="020B0604020202090204"/>
                <a:sym typeface="+mn-ea"/>
              </a:rPr>
              <a:t>DSDM Consortiu</a:t>
            </a:r>
            <a:r>
              <a:rPr sz="2400" spc="-20" dirty="0">
                <a:solidFill>
                  <a:srgbClr val="000000">
                    <a:alpha val="100000"/>
                  </a:srgbClr>
                </a:solidFill>
                <a:latin typeface="Arial" panose="020B0604020202090204"/>
                <a:ea typeface="Arial" panose="020B0604020202090204"/>
                <a:cs typeface="Arial" panose="020B0604020202090204"/>
                <a:sym typeface="+mn-ea"/>
              </a:rPr>
              <a:t>m</a:t>
            </a:r>
            <a:r>
              <a:rPr sz="2400" spc="-90" dirty="0">
                <a:solidFill>
                  <a:srgbClr val="000000">
                    <a:alpha val="100000"/>
                  </a:srgbClr>
                </a:solidFill>
                <a:latin typeface="Arial" panose="020B0604020202090204"/>
                <a:ea typeface="Arial" panose="020B0604020202090204"/>
                <a:cs typeface="Arial" panose="020B0604020202090204"/>
                <a:sym typeface="+mn-ea"/>
              </a:rPr>
              <a:t>:</a:t>
            </a:r>
          </a:p>
          <a:p>
            <a:pPr marL="593090" lvl="1" indent="-342900" eaLnBrk="0">
              <a:lnSpc>
                <a:spcPct val="77000"/>
              </a:lnSpc>
              <a:spcBef>
                <a:spcPts val="1800"/>
              </a:spcBef>
            </a:pPr>
            <a:r>
              <a:rPr sz="2400" spc="-20" dirty="0">
                <a:solidFill>
                  <a:srgbClr val="000000">
                    <a:alpha val="100000"/>
                  </a:srgbClr>
                </a:solidFill>
                <a:latin typeface="Arial" panose="020B0604020202090204"/>
                <a:ea typeface="Arial" panose="020B0604020202090204"/>
                <a:cs typeface="Arial" panose="020B0604020202090204"/>
                <a:sym typeface="+mn-ea"/>
              </a:rPr>
              <a:t>Created in 1994 </a:t>
            </a:r>
            <a:r>
              <a:rPr sz="2400" dirty="0">
                <a:solidFill>
                  <a:srgbClr val="000000">
                    <a:alpha val="100000"/>
                  </a:srgbClr>
                </a:solidFill>
                <a:latin typeface="Arial" panose="020B0604020202090204"/>
                <a:ea typeface="Arial" panose="020B0604020202090204"/>
                <a:cs typeface="Arial" panose="020B0604020202090204"/>
                <a:sym typeface="+mn-ea"/>
              </a:rPr>
              <a:t>by</a:t>
            </a:r>
            <a:r>
              <a:rPr sz="2400" spc="-20" dirty="0">
                <a:solidFill>
                  <a:srgbClr val="000000">
                    <a:alpha val="100000"/>
                  </a:srgbClr>
                </a:solidFill>
                <a:latin typeface="Arial" panose="020B0604020202090204"/>
                <a:ea typeface="Arial" panose="020B0604020202090204"/>
                <a:cs typeface="Arial" panose="020B0604020202090204"/>
                <a:sym typeface="+mn-ea"/>
              </a:rPr>
              <a:t> 16 </a:t>
            </a:r>
            <a:r>
              <a:rPr sz="2400" dirty="0">
                <a:solidFill>
                  <a:srgbClr val="000000">
                    <a:alpha val="100000"/>
                  </a:srgbClr>
                </a:solidFill>
                <a:latin typeface="Arial" panose="020B0604020202090204"/>
                <a:ea typeface="Arial" panose="020B0604020202090204"/>
                <a:cs typeface="Arial" panose="020B0604020202090204"/>
                <a:sym typeface="+mn-ea"/>
              </a:rPr>
              <a:t>European</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companies</a:t>
            </a:r>
          </a:p>
          <a:p>
            <a:pPr marL="593090" lvl="1" indent="-342900" eaLnBrk="0">
              <a:lnSpc>
                <a:spcPct val="77000"/>
              </a:lnSpc>
              <a:spcBef>
                <a:spcPts val="1800"/>
              </a:spcBef>
            </a:pPr>
            <a:r>
              <a:rPr sz="2400" spc="-50" dirty="0">
                <a:solidFill>
                  <a:srgbClr val="000000">
                    <a:alpha val="100000"/>
                  </a:srgbClr>
                </a:solidFill>
                <a:latin typeface="Arial" panose="020B0604020202090204"/>
                <a:ea typeface="Arial" panose="020B0604020202090204"/>
                <a:cs typeface="Arial" panose="020B0604020202090204"/>
                <a:sym typeface="+mn-ea"/>
              </a:rPr>
              <a:t>Purpose: "jointly developing and promoting an in</a:t>
            </a:r>
            <a:r>
              <a:rPr sz="2400" spc="-20" dirty="0">
                <a:solidFill>
                  <a:srgbClr val="000000">
                    <a:alpha val="100000"/>
                  </a:srgbClr>
                </a:solidFill>
                <a:latin typeface="Arial" panose="020B0604020202090204"/>
                <a:ea typeface="Arial" panose="020B0604020202090204"/>
                <a:cs typeface="Arial" panose="020B0604020202090204"/>
                <a:sym typeface="+mn-ea"/>
              </a:rPr>
              <a:t>d</a:t>
            </a:r>
            <a:r>
              <a:rPr sz="2400" dirty="0">
                <a:solidFill>
                  <a:srgbClr val="000000">
                    <a:alpha val="100000"/>
                  </a:srgbClr>
                </a:solidFill>
                <a:latin typeface="Arial" panose="020B0604020202090204"/>
                <a:ea typeface="Arial" panose="020B0604020202090204"/>
                <a:cs typeface="Arial" panose="020B0604020202090204"/>
                <a:sym typeface="+mn-ea"/>
              </a:rPr>
              <a:t>ependent</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RAD </a:t>
            </a:r>
            <a:r>
              <a:rPr sz="2400" spc="-80" dirty="0">
                <a:solidFill>
                  <a:srgbClr val="000000">
                    <a:alpha val="100000"/>
                  </a:srgbClr>
                </a:solidFill>
                <a:latin typeface="Arial" panose="020B0604020202090204"/>
                <a:ea typeface="Arial" panose="020B0604020202090204"/>
                <a:cs typeface="Arial" panose="020B0604020202090204"/>
                <a:sym typeface="+mn-ea"/>
              </a:rPr>
              <a:t>framework" by combining their best </a:t>
            </a:r>
            <a:r>
              <a:rPr sz="2400" b="1" spc="-80" dirty="0">
                <a:solidFill>
                  <a:srgbClr val="000000">
                    <a:alpha val="100000"/>
                  </a:srgbClr>
                </a:solidFill>
                <a:latin typeface="Arial" panose="020B0604020202090204"/>
                <a:ea typeface="Arial" panose="020B0604020202090204"/>
                <a:cs typeface="Arial" panose="020B0604020202090204"/>
                <a:sym typeface="+mn-ea"/>
              </a:rPr>
              <a:t>practice experien</a:t>
            </a:r>
            <a:r>
              <a:rPr sz="2400" b="1" spc="-50" dirty="0">
                <a:solidFill>
                  <a:srgbClr val="000000">
                    <a:alpha val="100000"/>
                  </a:srgbClr>
                </a:solidFill>
                <a:latin typeface="Arial" panose="020B0604020202090204"/>
                <a:ea typeface="Arial" panose="020B0604020202090204"/>
                <a:cs typeface="Arial" panose="020B0604020202090204"/>
                <a:sym typeface="+mn-ea"/>
              </a:rPr>
              <a:t>c</a:t>
            </a:r>
            <a:r>
              <a:rPr sz="2400" b="1" dirty="0">
                <a:solidFill>
                  <a:srgbClr val="000000">
                    <a:alpha val="100000"/>
                  </a:srgbClr>
                </a:solidFill>
                <a:latin typeface="Arial" panose="020B0604020202090204"/>
                <a:ea typeface="Arial" panose="020B0604020202090204"/>
                <a:cs typeface="Arial" panose="020B0604020202090204"/>
                <a:sym typeface="+mn-ea"/>
              </a:rPr>
              <a:t>es</a:t>
            </a:r>
          </a:p>
          <a:p>
            <a:pPr marL="593090" lvl="1" indent="-342900" eaLnBrk="0">
              <a:lnSpc>
                <a:spcPct val="77000"/>
              </a:lnSpc>
              <a:spcBef>
                <a:spcPts val="1800"/>
              </a:spcBef>
            </a:pPr>
            <a:r>
              <a:rPr sz="2400" spc="-80" dirty="0">
                <a:solidFill>
                  <a:srgbClr val="000000">
                    <a:alpha val="100000"/>
                  </a:srgbClr>
                </a:solidFill>
                <a:latin typeface="Arial" panose="020B0604020202090204"/>
                <a:ea typeface="Arial" panose="020B0604020202090204"/>
                <a:cs typeface="Arial" panose="020B0604020202090204"/>
                <a:sym typeface="+mn-ea"/>
              </a:rPr>
              <a:t>Publishes </a:t>
            </a:r>
            <a:r>
              <a:rPr sz="2400" b="1" spc="-80" dirty="0">
                <a:solidFill>
                  <a:srgbClr val="000000">
                    <a:alpha val="100000"/>
                  </a:srgbClr>
                </a:solidFill>
                <a:latin typeface="Arial" panose="020B0604020202090204"/>
                <a:ea typeface="Arial" panose="020B0604020202090204"/>
                <a:cs typeface="Arial" panose="020B0604020202090204"/>
                <a:sym typeface="+mn-ea"/>
              </a:rPr>
              <a:t>standards and supporting </a:t>
            </a:r>
            <a:r>
              <a:rPr sz="2400" spc="-80" dirty="0">
                <a:solidFill>
                  <a:srgbClr val="000000">
                    <a:alpha val="100000"/>
                  </a:srgbClr>
                </a:solidFill>
                <a:latin typeface="Arial" panose="020B0604020202090204"/>
                <a:ea typeface="Arial" panose="020B0604020202090204"/>
                <a:cs typeface="Arial" panose="020B0604020202090204"/>
                <a:sym typeface="+mn-ea"/>
              </a:rPr>
              <a:t>mat</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rial</a:t>
            </a:r>
            <a:endParaRPr lang="en-US" altLang="en-US" sz="2400" dirty="0"/>
          </a:p>
          <a:p>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 dirty="0">
                <a:solidFill>
                  <a:srgbClr val="000000">
                    <a:alpha val="100000"/>
                  </a:srgbClr>
                </a:solidFill>
                <a:latin typeface="Arial" panose="020B0604020202090204"/>
                <a:ea typeface="Arial" panose="020B0604020202090204"/>
                <a:cs typeface="Arial" panose="020B0604020202090204"/>
                <a:sym typeface="+mn-ea"/>
              </a:rPr>
              <a:t>DSDM P</a:t>
            </a:r>
            <a:r>
              <a:rPr dirty="0">
                <a:solidFill>
                  <a:srgbClr val="000000">
                    <a:alpha val="100000"/>
                  </a:srgbClr>
                </a:solidFill>
                <a:latin typeface="Arial" panose="020B0604020202090204"/>
                <a:ea typeface="Arial" panose="020B0604020202090204"/>
                <a:cs typeface="Arial" panose="020B0604020202090204"/>
                <a:sym typeface="+mn-ea"/>
              </a:rPr>
              <a:t>rinciples</a:t>
            </a:r>
            <a:endParaRPr lang="en-US" dirty="0"/>
          </a:p>
        </p:txBody>
      </p:sp>
      <p:sp>
        <p:nvSpPr>
          <p:cNvPr id="2" name="Content Placeholder 1"/>
          <p:cNvSpPr>
            <a:spLocks noGrp="1"/>
          </p:cNvSpPr>
          <p:nvPr>
            <p:ph idx="1"/>
          </p:nvPr>
        </p:nvSpPr>
        <p:spPr>
          <a:xfrm>
            <a:off x="646358" y="1179871"/>
            <a:ext cx="10709031" cy="3653809"/>
          </a:xfrm>
        </p:spPr>
        <p:txBody>
          <a:bodyPr>
            <a:noAutofit/>
          </a:bodyPr>
          <a:lstStyle/>
          <a:p>
            <a:pPr indent="0" algn="l" rtl="0" eaLnBrk="0" fontAlgn="auto">
              <a:lnSpc>
                <a:spcPct val="100000"/>
              </a:lnSpc>
              <a:buNone/>
            </a:pPr>
            <a:endParaRPr lang="en-US" altLang="en-US" sz="2400" dirty="0"/>
          </a:p>
          <a:p>
            <a:pPr marL="403860" indent="-342900" algn="l" rtl="0" eaLnBrk="0" fontAlgn="auto">
              <a:lnSpc>
                <a:spcPct val="100000"/>
              </a:lnSpc>
              <a:buFont typeface="+mj-lt"/>
              <a:buAutoNum type="arabicPeriod"/>
            </a:pPr>
            <a:r>
              <a:rPr sz="2400" spc="-30" dirty="0">
                <a:solidFill>
                  <a:srgbClr val="000000">
                    <a:alpha val="100000"/>
                  </a:srgbClr>
                </a:solidFill>
                <a:latin typeface="Arial" panose="020B0604020202090204"/>
                <a:ea typeface="Arial" panose="020B0604020202090204"/>
                <a:cs typeface="Arial" panose="020B0604020202090204"/>
                <a:sym typeface="+mn-ea"/>
              </a:rPr>
              <a:t>Active user involvement is imperativ</a:t>
            </a:r>
            <a:r>
              <a:rPr sz="2400" spc="-2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2400" dirty="0"/>
          </a:p>
          <a:p>
            <a:pPr marL="361315" indent="-342900" algn="l" rtl="0" eaLnBrk="0" fontAlgn="auto">
              <a:lnSpc>
                <a:spcPct val="100000"/>
              </a:lnSpc>
              <a:spcBef>
                <a:spcPts val="1200"/>
              </a:spcBef>
              <a:buFont typeface="+mj-lt"/>
              <a:buAutoNum type="arabicPeriod"/>
            </a:pPr>
            <a:r>
              <a:rPr sz="2400" spc="-40" dirty="0">
                <a:solidFill>
                  <a:srgbClr val="000000">
                    <a:alpha val="100000"/>
                  </a:srgbClr>
                </a:solidFill>
                <a:latin typeface="Arial" panose="020B0604020202090204"/>
                <a:ea typeface="Arial" panose="020B0604020202090204"/>
                <a:cs typeface="Arial" panose="020B0604020202090204"/>
                <a:sym typeface="+mn-ea"/>
              </a:rPr>
              <a:t>DSDM teams must be empowered to ma</a:t>
            </a:r>
            <a:r>
              <a:rPr sz="2400" dirty="0">
                <a:solidFill>
                  <a:srgbClr val="000000">
                    <a:alpha val="100000"/>
                  </a:srgbClr>
                </a:solidFill>
                <a:latin typeface="Arial" panose="020B0604020202090204"/>
                <a:ea typeface="Arial" panose="020B0604020202090204"/>
                <a:cs typeface="Arial" panose="020B0604020202090204"/>
                <a:sym typeface="+mn-ea"/>
              </a:rPr>
              <a:t>ke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decisions</a:t>
            </a:r>
            <a:endParaRPr lang="en-US" altLang="en-US" sz="2400" dirty="0"/>
          </a:p>
          <a:p>
            <a:pPr marL="368935" indent="-342900" algn="l" rtl="0" eaLnBrk="0" fontAlgn="auto">
              <a:lnSpc>
                <a:spcPct val="100000"/>
              </a:lnSpc>
              <a:spcBef>
                <a:spcPts val="1200"/>
              </a:spcBef>
              <a:buFont typeface="+mj-lt"/>
              <a:buAutoNum type="arabicPeriod"/>
            </a:pPr>
            <a:r>
              <a:rPr sz="2400" spc="-30" dirty="0">
                <a:solidFill>
                  <a:srgbClr val="000000">
                    <a:alpha val="100000"/>
                  </a:srgbClr>
                </a:solidFill>
                <a:latin typeface="Arial" panose="020B0604020202090204"/>
                <a:ea typeface="Arial" panose="020B0604020202090204"/>
                <a:cs typeface="Arial" panose="020B0604020202090204"/>
                <a:sym typeface="+mn-ea"/>
              </a:rPr>
              <a:t>The focus is on frequent, incremental deliv</a:t>
            </a:r>
            <a:r>
              <a:rPr sz="2400" dirty="0">
                <a:solidFill>
                  <a:srgbClr val="000000">
                    <a:alpha val="100000"/>
                  </a:srgbClr>
                </a:solidFill>
                <a:latin typeface="Arial" panose="020B0604020202090204"/>
                <a:ea typeface="Arial" panose="020B0604020202090204"/>
                <a:cs typeface="Arial" panose="020B0604020202090204"/>
                <a:sym typeface="+mn-ea"/>
              </a:rPr>
              <a:t>ery</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of</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products</a:t>
            </a:r>
          </a:p>
          <a:p>
            <a:pPr marL="368935" indent="-342900" algn="l" rtl="0" eaLnBrk="0" fontAlgn="auto">
              <a:lnSpc>
                <a:spcPct val="100000"/>
              </a:lnSpc>
              <a:spcBef>
                <a:spcPts val="1200"/>
              </a:spcBef>
              <a:buFont typeface="+mj-lt"/>
              <a:buAutoNum type="arabicPeriod"/>
            </a:pPr>
            <a:r>
              <a:rPr sz="2400" spc="-30" dirty="0">
                <a:solidFill>
                  <a:srgbClr val="000000">
                    <a:alpha val="100000"/>
                  </a:srgbClr>
                </a:solidFill>
                <a:latin typeface="Arial" panose="020B0604020202090204"/>
                <a:ea typeface="Arial" panose="020B0604020202090204"/>
                <a:cs typeface="Arial" panose="020B0604020202090204"/>
                <a:sym typeface="+mn-ea"/>
              </a:rPr>
              <a:t>Fitness for business purpose is the essential criterion for acceptance o</a:t>
            </a:r>
            <a:r>
              <a:rPr sz="2400" spc="-20" dirty="0">
                <a:solidFill>
                  <a:srgbClr val="000000">
                    <a:alpha val="100000"/>
                  </a:srgbClr>
                </a:solidFill>
                <a:latin typeface="Arial" panose="020B0604020202090204"/>
                <a:ea typeface="Arial" panose="020B0604020202090204"/>
                <a:cs typeface="Arial" panose="020B0604020202090204"/>
                <a:sym typeface="+mn-ea"/>
              </a:rPr>
              <a:t>f</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60" dirty="0">
                <a:solidFill>
                  <a:srgbClr val="000000">
                    <a:alpha val="100000"/>
                  </a:srgbClr>
                </a:solidFill>
                <a:latin typeface="Arial" panose="020B0604020202090204"/>
                <a:ea typeface="Arial" panose="020B0604020202090204"/>
                <a:cs typeface="Arial" panose="020B0604020202090204"/>
                <a:sym typeface="+mn-ea"/>
              </a:rPr>
              <a:t>deliverables, i.e. meet the business ne</a:t>
            </a:r>
            <a:r>
              <a:rPr sz="2400" spc="-5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d</a:t>
            </a:r>
          </a:p>
          <a:p>
            <a:pPr marL="368935" indent="-342900" algn="l" rtl="0" eaLnBrk="0" fontAlgn="auto">
              <a:lnSpc>
                <a:spcPct val="100000"/>
              </a:lnSpc>
              <a:spcBef>
                <a:spcPts val="1200"/>
              </a:spcBef>
              <a:buFont typeface="+mj-lt"/>
              <a:buAutoNum type="arabicPeriod"/>
            </a:pPr>
            <a:r>
              <a:rPr sz="2400" spc="-40" dirty="0">
                <a:solidFill>
                  <a:srgbClr val="000000">
                    <a:alpha val="100000"/>
                  </a:srgbClr>
                </a:solidFill>
                <a:latin typeface="Arial" panose="020B0604020202090204"/>
                <a:ea typeface="Arial" panose="020B0604020202090204"/>
                <a:cs typeface="Arial" panose="020B0604020202090204"/>
                <a:sym typeface="+mn-ea"/>
              </a:rPr>
              <a:t>Iterative and incremental development is necessary to co</a:t>
            </a:r>
            <a:r>
              <a:rPr sz="2400" spc="-1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verge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on</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an </a:t>
            </a:r>
            <a:r>
              <a:rPr sz="2400" spc="-50" dirty="0">
                <a:solidFill>
                  <a:srgbClr val="000000">
                    <a:alpha val="100000"/>
                  </a:srgbClr>
                </a:solidFill>
                <a:latin typeface="Arial" panose="020B0604020202090204"/>
                <a:ea typeface="Arial" panose="020B0604020202090204"/>
                <a:cs typeface="Arial" panose="020B0604020202090204"/>
                <a:sym typeface="+mn-ea"/>
              </a:rPr>
              <a:t>accurate business solu</a:t>
            </a:r>
            <a:r>
              <a:rPr sz="2400" spc="-3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ion</a:t>
            </a:r>
            <a:endParaRPr lang="en-US" altLang="en-US" sz="2400" dirty="0"/>
          </a:p>
          <a:p>
            <a:pPr marL="478155" indent="0" algn="l" rtl="0" eaLnBrk="0" fontAlgn="auto">
              <a:lnSpc>
                <a:spcPct val="100000"/>
              </a:lnSpc>
              <a:spcBef>
                <a:spcPts val="5"/>
              </a:spcBef>
              <a:buNone/>
            </a:pPr>
            <a:endParaRPr lang="en-US" altLang="en-US" sz="240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FF62-B98C-BD88-AA6A-3D32C9AC05D7}"/>
              </a:ext>
            </a:extLst>
          </p:cNvPr>
          <p:cNvSpPr>
            <a:spLocks noGrp="1"/>
          </p:cNvSpPr>
          <p:nvPr>
            <p:ph type="title"/>
          </p:nvPr>
        </p:nvSpPr>
        <p:spPr/>
        <p:txBody>
          <a:bodyPr/>
          <a:lstStyle/>
          <a:p>
            <a:r>
              <a:rPr lang="en-US" spc="-10" dirty="0">
                <a:solidFill>
                  <a:srgbClr val="000000">
                    <a:alpha val="100000"/>
                  </a:srgbClr>
                </a:solidFill>
                <a:latin typeface="Arial" panose="020B0604020202090204"/>
                <a:ea typeface="Arial" panose="020B0604020202090204"/>
                <a:cs typeface="Arial" panose="020B0604020202090204"/>
                <a:sym typeface="+mn-ea"/>
              </a:rPr>
              <a:t>DSDM P</a:t>
            </a:r>
            <a:r>
              <a:rPr lang="en-US" dirty="0">
                <a:solidFill>
                  <a:srgbClr val="000000">
                    <a:alpha val="100000"/>
                  </a:srgbClr>
                </a:solidFill>
                <a:latin typeface="Arial" panose="020B0604020202090204"/>
                <a:ea typeface="Arial" panose="020B0604020202090204"/>
                <a:cs typeface="Arial" panose="020B0604020202090204"/>
                <a:sym typeface="+mn-ea"/>
              </a:rPr>
              <a:t>rinciples</a:t>
            </a:r>
            <a:endParaRPr lang="en-US" dirty="0"/>
          </a:p>
        </p:txBody>
      </p:sp>
      <p:sp>
        <p:nvSpPr>
          <p:cNvPr id="4" name="Content Placeholder 3">
            <a:extLst>
              <a:ext uri="{FF2B5EF4-FFF2-40B4-BE49-F238E27FC236}">
                <a16:creationId xmlns:a16="http://schemas.microsoft.com/office/drawing/2014/main" id="{CB17C033-F13C-4DEA-2955-F73702BF39E6}"/>
              </a:ext>
            </a:extLst>
          </p:cNvPr>
          <p:cNvSpPr>
            <a:spLocks noGrp="1"/>
          </p:cNvSpPr>
          <p:nvPr>
            <p:ph idx="1"/>
          </p:nvPr>
        </p:nvSpPr>
        <p:spPr>
          <a:xfrm>
            <a:off x="644771" y="1494504"/>
            <a:ext cx="10709031" cy="4587644"/>
          </a:xfrm>
        </p:spPr>
        <p:txBody>
          <a:bodyPr>
            <a:normAutofit/>
          </a:bodyPr>
          <a:lstStyle/>
          <a:p>
            <a:pPr marL="358775" indent="-342900" eaLnBrk="0">
              <a:lnSpc>
                <a:spcPct val="100000"/>
              </a:lnSpc>
              <a:spcBef>
                <a:spcPts val="765"/>
              </a:spcBef>
              <a:buFont typeface="+mj-lt"/>
              <a:buAutoNum type="arabicPeriod" startAt="6"/>
            </a:pPr>
            <a:r>
              <a:rPr lang="en-US" sz="2400" spc="-40" dirty="0">
                <a:solidFill>
                  <a:srgbClr val="000000">
                    <a:alpha val="100000"/>
                  </a:srgbClr>
                </a:solidFill>
                <a:latin typeface="Arial" panose="020B0604020202090204"/>
                <a:ea typeface="Arial" panose="020B0604020202090204"/>
                <a:cs typeface="Arial" panose="020B0604020202090204"/>
                <a:sym typeface="+mn-ea"/>
              </a:rPr>
              <a:t>All changes during development are reve</a:t>
            </a:r>
            <a:r>
              <a:rPr lang="en-US" sz="2400" spc="-30" dirty="0">
                <a:solidFill>
                  <a:srgbClr val="000000">
                    <a:alpha val="100000"/>
                  </a:srgbClr>
                </a:solidFill>
                <a:latin typeface="Arial" panose="020B0604020202090204"/>
                <a:ea typeface="Arial" panose="020B0604020202090204"/>
                <a:cs typeface="Arial" panose="020B0604020202090204"/>
                <a:sym typeface="+mn-ea"/>
              </a:rPr>
              <a:t>r</a:t>
            </a:r>
            <a:r>
              <a:rPr lang="en-US" sz="2400" dirty="0">
                <a:solidFill>
                  <a:srgbClr val="000000">
                    <a:alpha val="100000"/>
                  </a:srgbClr>
                </a:solidFill>
                <a:latin typeface="Arial" panose="020B0604020202090204"/>
                <a:ea typeface="Arial" panose="020B0604020202090204"/>
                <a:cs typeface="Arial" panose="020B0604020202090204"/>
                <a:sym typeface="+mn-ea"/>
              </a:rPr>
              <a:t>sible</a:t>
            </a:r>
            <a:endParaRPr lang="en-US" altLang="en-US" sz="2400" dirty="0"/>
          </a:p>
          <a:p>
            <a:pPr marL="360045" indent="-342900" eaLnBrk="0">
              <a:lnSpc>
                <a:spcPct val="100000"/>
              </a:lnSpc>
              <a:spcBef>
                <a:spcPts val="1200"/>
              </a:spcBef>
              <a:buFont typeface="+mj-lt"/>
              <a:buAutoNum type="arabicPeriod" startAt="6"/>
            </a:pPr>
            <a:r>
              <a:rPr lang="en-US" sz="2400" dirty="0">
                <a:solidFill>
                  <a:srgbClr val="000000">
                    <a:alpha val="100000"/>
                  </a:srgbClr>
                </a:solidFill>
                <a:latin typeface="Arial" panose="020B0604020202090204"/>
                <a:ea typeface="Arial" panose="020B0604020202090204"/>
                <a:cs typeface="Arial" panose="020B0604020202090204"/>
                <a:sym typeface="+mn-ea"/>
              </a:rPr>
              <a:t>Requirements are base lined only at a high level</a:t>
            </a:r>
          </a:p>
          <a:p>
            <a:pPr marL="817245" lvl="1" indent="-342900" eaLnBrk="0">
              <a:lnSpc>
                <a:spcPct val="100000"/>
              </a:lnSpc>
              <a:spcBef>
                <a:spcPts val="1200"/>
              </a:spcBef>
            </a:pPr>
            <a:r>
              <a:rPr lang="en-US" sz="2400" spc="-40" dirty="0">
                <a:solidFill>
                  <a:srgbClr val="000000">
                    <a:alpha val="100000"/>
                  </a:srgbClr>
                </a:solidFill>
                <a:latin typeface="Arial" panose="020B0604020202090204"/>
                <a:ea typeface="Arial" panose="020B0604020202090204"/>
                <a:cs typeface="Arial" panose="020B0604020202090204"/>
                <a:sym typeface="+mn-ea"/>
              </a:rPr>
              <a:t>Use prototypes to define the detai</a:t>
            </a:r>
            <a:r>
              <a:rPr lang="en-US" sz="2400" spc="-10" dirty="0">
                <a:solidFill>
                  <a:srgbClr val="000000">
                    <a:alpha val="100000"/>
                  </a:srgbClr>
                </a:solidFill>
                <a:latin typeface="Arial" panose="020B0604020202090204"/>
                <a:ea typeface="Arial" panose="020B0604020202090204"/>
                <a:cs typeface="Arial" panose="020B0604020202090204"/>
                <a:sym typeface="+mn-ea"/>
              </a:rPr>
              <a:t>l</a:t>
            </a:r>
            <a:r>
              <a:rPr lang="en-US" sz="240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400" dirty="0"/>
          </a:p>
          <a:p>
            <a:pPr marL="355600" indent="-342900" eaLnBrk="0">
              <a:lnSpc>
                <a:spcPct val="100000"/>
              </a:lnSpc>
              <a:spcBef>
                <a:spcPts val="1165"/>
              </a:spcBef>
              <a:buFont typeface="+mj-lt"/>
              <a:buAutoNum type="arabicPeriod" startAt="6"/>
            </a:pPr>
            <a:r>
              <a:rPr lang="en-US" sz="2400" spc="-30" dirty="0">
                <a:solidFill>
                  <a:srgbClr val="000000">
                    <a:alpha val="100000"/>
                  </a:srgbClr>
                </a:solidFill>
                <a:latin typeface="Arial" panose="020B0604020202090204"/>
                <a:ea typeface="Arial" panose="020B0604020202090204"/>
                <a:cs typeface="Arial" panose="020B0604020202090204"/>
                <a:sym typeface="+mn-ea"/>
              </a:rPr>
              <a:t>Testing is integrated throughout the </a:t>
            </a:r>
            <a:r>
              <a:rPr lang="en-US" sz="2400" spc="-10" dirty="0">
                <a:solidFill>
                  <a:srgbClr val="000000">
                    <a:alpha val="100000"/>
                  </a:srgbClr>
                </a:solidFill>
                <a:latin typeface="Arial" panose="020B0604020202090204"/>
                <a:ea typeface="Arial" panose="020B0604020202090204"/>
                <a:cs typeface="Arial" panose="020B0604020202090204"/>
                <a:sym typeface="+mn-ea"/>
              </a:rPr>
              <a:t>l</a:t>
            </a:r>
            <a:r>
              <a:rPr lang="en-US" sz="2400" dirty="0">
                <a:solidFill>
                  <a:srgbClr val="000000">
                    <a:alpha val="100000"/>
                  </a:srgbClr>
                </a:solidFill>
                <a:latin typeface="Arial" panose="020B0604020202090204"/>
                <a:ea typeface="Arial" panose="020B0604020202090204"/>
                <a:cs typeface="Arial" panose="020B0604020202090204"/>
                <a:sym typeface="+mn-ea"/>
              </a:rPr>
              <a:t>ifecycle</a:t>
            </a:r>
          </a:p>
          <a:p>
            <a:pPr marL="355600" indent="-342900" eaLnBrk="0">
              <a:lnSpc>
                <a:spcPct val="100000"/>
              </a:lnSpc>
              <a:spcBef>
                <a:spcPts val="1165"/>
              </a:spcBef>
              <a:buFont typeface="+mj-lt"/>
              <a:buAutoNum type="arabicPeriod" startAt="6"/>
            </a:pPr>
            <a:r>
              <a:rPr lang="en-US" sz="2400" spc="-40" dirty="0">
                <a:solidFill>
                  <a:srgbClr val="000000">
                    <a:alpha val="100000"/>
                  </a:srgbClr>
                </a:solidFill>
                <a:latin typeface="Arial" panose="020B0604020202090204"/>
                <a:ea typeface="Arial" panose="020B0604020202090204"/>
                <a:cs typeface="Arial" panose="020B0604020202090204"/>
                <a:sym typeface="+mn-ea"/>
              </a:rPr>
              <a:t>A collaborative and co-operative approach between </a:t>
            </a:r>
            <a:r>
              <a:rPr lang="en-US" sz="2400" spc="-30" dirty="0">
                <a:solidFill>
                  <a:srgbClr val="000000">
                    <a:alpha val="100000"/>
                  </a:srgbClr>
                </a:solidFill>
                <a:latin typeface="Arial" panose="020B0604020202090204"/>
                <a:ea typeface="Arial" panose="020B0604020202090204"/>
                <a:cs typeface="Arial" panose="020B0604020202090204"/>
                <a:sym typeface="+mn-ea"/>
              </a:rPr>
              <a:t>a</a:t>
            </a:r>
            <a:r>
              <a:rPr lang="en-US" sz="2400" dirty="0">
                <a:solidFill>
                  <a:srgbClr val="000000">
                    <a:alpha val="100000"/>
                  </a:srgbClr>
                </a:solidFill>
                <a:latin typeface="Arial" panose="020B0604020202090204"/>
                <a:ea typeface="Arial" panose="020B0604020202090204"/>
                <a:cs typeface="Arial" panose="020B0604020202090204"/>
                <a:sym typeface="+mn-ea"/>
              </a:rPr>
              <a:t>ll</a:t>
            </a:r>
            <a:r>
              <a:rPr lang="en-US" sz="2400" spc="-40" dirty="0">
                <a:solidFill>
                  <a:srgbClr val="000000">
                    <a:alpha val="100000"/>
                  </a:srgbClr>
                </a:solidFill>
                <a:latin typeface="Arial" panose="020B0604020202090204"/>
                <a:ea typeface="Arial" panose="020B0604020202090204"/>
                <a:cs typeface="Arial" panose="020B0604020202090204"/>
                <a:sym typeface="+mn-ea"/>
              </a:rPr>
              <a:t> </a:t>
            </a:r>
            <a:r>
              <a:rPr lang="en-US" sz="2400" dirty="0">
                <a:solidFill>
                  <a:srgbClr val="000000">
                    <a:alpha val="100000"/>
                  </a:srgbClr>
                </a:solidFill>
                <a:latin typeface="Arial" panose="020B0604020202090204"/>
                <a:ea typeface="Arial" panose="020B0604020202090204"/>
                <a:cs typeface="Arial" panose="020B0604020202090204"/>
                <a:sym typeface="+mn-ea"/>
              </a:rPr>
              <a:t>stakeholders</a:t>
            </a:r>
            <a:r>
              <a:rPr lang="en-US" sz="2400" spc="-40" dirty="0">
                <a:solidFill>
                  <a:srgbClr val="000000">
                    <a:alpha val="100000"/>
                  </a:srgbClr>
                </a:solidFill>
                <a:latin typeface="Arial" panose="020B0604020202090204"/>
                <a:ea typeface="Arial" panose="020B0604020202090204"/>
                <a:cs typeface="Arial" panose="020B0604020202090204"/>
                <a:sym typeface="+mn-ea"/>
              </a:rPr>
              <a:t> </a:t>
            </a:r>
            <a:r>
              <a:rPr lang="en-US" sz="2400" dirty="0">
                <a:solidFill>
                  <a:srgbClr val="000000">
                    <a:alpha val="100000"/>
                  </a:srgbClr>
                </a:solidFill>
                <a:latin typeface="Arial" panose="020B0604020202090204"/>
                <a:ea typeface="Arial" panose="020B0604020202090204"/>
                <a:cs typeface="Arial" panose="020B0604020202090204"/>
                <a:sym typeface="+mn-ea"/>
              </a:rPr>
              <a:t>is </a:t>
            </a:r>
            <a:r>
              <a:rPr lang="en-US" sz="2400" spc="-50" dirty="0">
                <a:solidFill>
                  <a:srgbClr val="000000">
                    <a:alpha val="100000"/>
                  </a:srgbClr>
                </a:solidFill>
                <a:latin typeface="Arial" panose="020B0604020202090204"/>
                <a:ea typeface="Arial" panose="020B0604020202090204"/>
                <a:cs typeface="Arial" panose="020B0604020202090204"/>
                <a:sym typeface="+mn-ea"/>
              </a:rPr>
              <a:t>essential, i.e. customer and supplier are on the sam</a:t>
            </a:r>
            <a:r>
              <a:rPr lang="en-US" sz="2400" spc="-20" dirty="0">
                <a:solidFill>
                  <a:srgbClr val="000000">
                    <a:alpha val="100000"/>
                  </a:srgbClr>
                </a:solidFill>
                <a:latin typeface="Arial" panose="020B0604020202090204"/>
                <a:ea typeface="Arial" panose="020B0604020202090204"/>
                <a:cs typeface="Arial" panose="020B0604020202090204"/>
                <a:sym typeface="+mn-ea"/>
              </a:rPr>
              <a:t>e</a:t>
            </a:r>
            <a:r>
              <a:rPr lang="en-US" sz="2400" spc="-50" dirty="0">
                <a:solidFill>
                  <a:srgbClr val="000000">
                    <a:alpha val="100000"/>
                  </a:srgbClr>
                </a:solidFill>
                <a:latin typeface="Arial" panose="020B0604020202090204"/>
                <a:ea typeface="Arial" panose="020B0604020202090204"/>
                <a:cs typeface="Arial" panose="020B0604020202090204"/>
                <a:sym typeface="+mn-ea"/>
              </a:rPr>
              <a:t> </a:t>
            </a:r>
            <a:r>
              <a:rPr lang="en-US" sz="2400" dirty="0">
                <a:solidFill>
                  <a:srgbClr val="000000">
                    <a:alpha val="100000"/>
                  </a:srgbClr>
                </a:solidFill>
                <a:latin typeface="Arial" panose="020B0604020202090204"/>
                <a:ea typeface="Arial" panose="020B0604020202090204"/>
                <a:cs typeface="Arial" panose="020B0604020202090204"/>
                <a:sym typeface="+mn-ea"/>
              </a:rPr>
              <a:t>team</a:t>
            </a:r>
            <a:endParaRPr lang="en-US" altLang="en-US" sz="2400" dirty="0"/>
          </a:p>
          <a:p>
            <a:endParaRPr lang="en-US" sz="2400" dirty="0"/>
          </a:p>
        </p:txBody>
      </p:sp>
      <p:sp>
        <p:nvSpPr>
          <p:cNvPr id="5" name="Slide Number Placeholder 4">
            <a:extLst>
              <a:ext uri="{FF2B5EF4-FFF2-40B4-BE49-F238E27FC236}">
                <a16:creationId xmlns:a16="http://schemas.microsoft.com/office/drawing/2014/main" id="{6CB34F9E-A96E-5922-C970-D18C2A393E53}"/>
              </a:ext>
            </a:extLst>
          </p:cNvPr>
          <p:cNvSpPr>
            <a:spLocks noGrp="1"/>
          </p:cNvSpPr>
          <p:nvPr>
            <p:ph type="sldNum" sz="quarter" idx="12"/>
          </p:nvPr>
        </p:nvSpPr>
        <p:spPr/>
        <p:txBody>
          <a:bodyPr/>
          <a:lstStyle/>
          <a:p>
            <a:fld id="{4267CD5E-26CF-4249-8540-BB1D07FD4227}" type="slidenum">
              <a:rPr lang="en-US" smtClean="0"/>
              <a:t>14</a:t>
            </a:fld>
            <a:endParaRPr lang="en-US"/>
          </a:p>
        </p:txBody>
      </p:sp>
    </p:spTree>
    <p:extLst>
      <p:ext uri="{BB962C8B-B14F-4D97-AF65-F5344CB8AC3E}">
        <p14:creationId xmlns:p14="http://schemas.microsoft.com/office/powerpoint/2010/main" val="3497702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br>
              <a:rPr lang="en-US" altLang="en-US" dirty="0"/>
            </a:br>
            <a:r>
              <a:rPr spc="-40" dirty="0">
                <a:solidFill>
                  <a:srgbClr val="000000">
                    <a:alpha val="100000"/>
                  </a:srgbClr>
                </a:solidFill>
                <a:latin typeface="Arial" panose="020B0604020202090204"/>
                <a:ea typeface="Arial" panose="020B0604020202090204"/>
                <a:cs typeface="Arial" panose="020B0604020202090204"/>
                <a:sym typeface="+mn-ea"/>
              </a:rPr>
              <a:t>DSDM Proc</a:t>
            </a:r>
            <a:r>
              <a:rPr spc="-2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ss</a:t>
            </a:r>
            <a:br>
              <a:rPr lang="en-US" altLang="en-US" dirty="0"/>
            </a:br>
            <a:br>
              <a:rPr lang="en-US" altLang="en-US" dirty="0"/>
            </a:br>
            <a:br>
              <a:rPr lang="en-US" altLang="en-US" dirty="0"/>
            </a:b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15</a:t>
            </a:fld>
            <a:endParaRPr lang="en-US" dirty="0"/>
          </a:p>
        </p:txBody>
      </p:sp>
      <p:pic>
        <p:nvPicPr>
          <p:cNvPr id="6" name="Picture 5"/>
          <p:cNvPicPr>
            <a:picLocks noChangeAspect="1"/>
          </p:cNvPicPr>
          <p:nvPr/>
        </p:nvPicPr>
        <p:blipFill>
          <a:blip r:embed="rId2"/>
          <a:srcRect/>
          <a:stretch/>
        </p:blipFill>
        <p:spPr>
          <a:xfrm>
            <a:off x="3114350" y="166696"/>
            <a:ext cx="8241040" cy="6292706"/>
          </a:xfrm>
          <a:prstGeom prst="rect">
            <a:avLst/>
          </a:prstGeom>
        </p:spPr>
      </p:pic>
      <p:sp>
        <p:nvSpPr>
          <p:cNvPr id="7" name="TextBox 6">
            <a:extLst>
              <a:ext uri="{FF2B5EF4-FFF2-40B4-BE49-F238E27FC236}">
                <a16:creationId xmlns:a16="http://schemas.microsoft.com/office/drawing/2014/main" id="{A34FECD8-4483-4C16-E849-BC32E058FF23}"/>
              </a:ext>
            </a:extLst>
          </p:cNvPr>
          <p:cNvSpPr txBox="1"/>
          <p:nvPr/>
        </p:nvSpPr>
        <p:spPr>
          <a:xfrm>
            <a:off x="875434" y="5675628"/>
            <a:ext cx="4330411" cy="415498"/>
          </a:xfrm>
          <a:prstGeom prst="rect">
            <a:avLst/>
          </a:prstGeom>
          <a:noFill/>
        </p:spPr>
        <p:txBody>
          <a:bodyPr wrap="square">
            <a:spAutoFit/>
          </a:bodyPr>
          <a:lstStyle/>
          <a:p>
            <a:r>
              <a:rPr lang="en-US" sz="1050" dirty="0">
                <a:effectLst/>
                <a:latin typeface="Arial,Bold"/>
              </a:rPr>
              <a:t>Modified version </a:t>
            </a:r>
            <a:r>
              <a:rPr lang="en-US" sz="1050" dirty="0">
                <a:latin typeface="Arial,Bold"/>
              </a:rPr>
              <a:t>based on Agile Software Development Ecosystems By Jim Highsmith, </a:t>
            </a:r>
            <a:r>
              <a:rPr lang="en-US" sz="1050" dirty="0">
                <a:effectLst/>
                <a:latin typeface="Arial,Bold"/>
              </a:rPr>
              <a:t>Figure 18.1. The DSDM Development Process </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6"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5A9E50F1-56F4-516B-0C3E-53B81E9792BF}"/>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rgbClr val="FFFFFF"/>
                </a:solidFill>
                <a:latin typeface="Arial" panose="020B0604020202020204" pitchFamily="34" charset="0"/>
                <a:cs typeface="Arial" panose="020B0604020202020204" pitchFamily="34" charset="0"/>
                <a:sym typeface="+mn-ea"/>
              </a:rPr>
              <a:t>Pre-project pha</a:t>
            </a:r>
            <a:r>
              <a:rPr lang="en-US" kern="1200" spc="-40" dirty="0">
                <a:solidFill>
                  <a:srgbClr val="FFFFFF"/>
                </a:solidFill>
                <a:latin typeface="Arial" panose="020B0604020202020204" pitchFamily="34" charset="0"/>
                <a:cs typeface="Arial" panose="020B0604020202020204" pitchFamily="34" charset="0"/>
                <a:sym typeface="+mn-ea"/>
              </a:rPr>
              <a:t>s</a:t>
            </a:r>
            <a:r>
              <a:rPr lang="en-US" kern="1200" dirty="0">
                <a:solidFill>
                  <a:srgbClr val="FFFFFF"/>
                </a:solidFill>
                <a:latin typeface="Arial" panose="020B0604020202020204" pitchFamily="34" charset="0"/>
                <a:cs typeface="Arial" panose="020B0604020202020204" pitchFamily="34" charset="0"/>
                <a:sym typeface="+mn-ea"/>
              </a:rPr>
              <a:t>e</a:t>
            </a:r>
            <a:endParaRPr lang="en-US" kern="1200" dirty="0">
              <a:solidFill>
                <a:srgbClr val="FFFFFF"/>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97D5E2B-0932-0536-5ABE-2AD5E57F06A5}"/>
              </a:ext>
            </a:extLst>
          </p:cNvPr>
          <p:cNvSpPr>
            <a:spLocks noGrp="1"/>
          </p:cNvSpPr>
          <p:nvPr>
            <p:ph idx="1"/>
          </p:nvPr>
        </p:nvSpPr>
        <p:spPr>
          <a:xfrm>
            <a:off x="1424904" y="2494450"/>
            <a:ext cx="4432166" cy="3563159"/>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Decide whether to start pr</a:t>
            </a:r>
            <a:r>
              <a:rPr lang="en-US" sz="2400" spc="-10" dirty="0">
                <a:solidFill>
                  <a:schemeClr val="bg2">
                    <a:lumMod val="10000"/>
                  </a:schemeClr>
                </a:solidFill>
                <a:latin typeface="Arial" panose="020B0604020202020204" pitchFamily="34" charset="0"/>
                <a:cs typeface="Arial" panose="020B0604020202020204" pitchFamily="34" charset="0"/>
                <a:sym typeface="+mn-ea"/>
              </a:rPr>
              <a:t>o</a:t>
            </a:r>
            <a:r>
              <a:rPr lang="en-US" sz="2400" dirty="0">
                <a:solidFill>
                  <a:schemeClr val="bg2">
                    <a:lumMod val="10000"/>
                  </a:schemeClr>
                </a:solidFill>
                <a:latin typeface="Arial" panose="020B0604020202020204" pitchFamily="34" charset="0"/>
                <a:cs typeface="Arial" panose="020B0604020202020204" pitchFamily="34" charset="0"/>
                <a:sym typeface="+mn-ea"/>
              </a:rPr>
              <a:t>ject</a:t>
            </a:r>
            <a:endParaRPr lang="en-US" sz="2400" b="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Identify stakeholders, espec</a:t>
            </a:r>
            <a:r>
              <a:rPr lang="en-US" sz="2400" spc="-50" dirty="0">
                <a:solidFill>
                  <a:schemeClr val="bg2">
                    <a:lumMod val="10000"/>
                  </a:schemeClr>
                </a:solidFill>
                <a:latin typeface="Arial" panose="020B0604020202020204" pitchFamily="34" charset="0"/>
                <a:cs typeface="Arial" panose="020B0604020202020204" pitchFamily="34" charset="0"/>
                <a:sym typeface="+mn-ea"/>
              </a:rPr>
              <a:t>i</a:t>
            </a:r>
            <a:r>
              <a:rPr lang="en-US" sz="2400" dirty="0">
                <a:solidFill>
                  <a:schemeClr val="bg2">
                    <a:lumMod val="10000"/>
                  </a:schemeClr>
                </a:solidFill>
                <a:latin typeface="Arial" panose="020B0604020202020204" pitchFamily="34" charset="0"/>
                <a:cs typeface="Arial" panose="020B0604020202020204" pitchFamily="34" charset="0"/>
                <a:sym typeface="+mn-ea"/>
              </a:rPr>
              <a:t>ally</a:t>
            </a:r>
            <a:r>
              <a:rPr lang="en-US" sz="2400" spc="-60" dirty="0">
                <a:solidFill>
                  <a:schemeClr val="bg2">
                    <a:lumMod val="10000"/>
                  </a:schemeClr>
                </a:solidFill>
                <a:latin typeface="Arial" panose="020B0604020202020204" pitchFamily="34" charset="0"/>
                <a:cs typeface="Arial" panose="020B0604020202020204" pitchFamily="34" charset="0"/>
                <a:sym typeface="+mn-ea"/>
              </a:rPr>
              <a:t>:</a:t>
            </a:r>
          </a:p>
          <a:p>
            <a:pPr lvl="2" defTabSz="914400">
              <a:buFont typeface="Arial" panose="020B0604020202020204" pitchFamily="34" charset="0"/>
              <a:buChar char="•"/>
            </a:pPr>
            <a:r>
              <a:rPr lang="en-US" sz="1800" b="0" spc="-10" dirty="0">
                <a:solidFill>
                  <a:schemeClr val="bg2">
                    <a:lumMod val="10000"/>
                  </a:schemeClr>
                </a:solidFill>
                <a:latin typeface="Arial" panose="020B0604020202020204" pitchFamily="34" charset="0"/>
                <a:cs typeface="Arial" panose="020B0604020202020204" pitchFamily="34" charset="0"/>
                <a:sym typeface="+mn-ea"/>
              </a:rPr>
              <a:t>V</a:t>
            </a:r>
            <a:r>
              <a:rPr lang="en-US" sz="1800" b="0" dirty="0">
                <a:solidFill>
                  <a:schemeClr val="bg2">
                    <a:lumMod val="10000"/>
                  </a:schemeClr>
                </a:solidFill>
                <a:latin typeface="Arial" panose="020B0604020202020204" pitchFamily="34" charset="0"/>
                <a:cs typeface="Arial" panose="020B0604020202020204" pitchFamily="34" charset="0"/>
                <a:sym typeface="+mn-ea"/>
              </a:rPr>
              <a:t>isionary</a:t>
            </a:r>
            <a:endParaRPr lang="en-US" sz="1800" dirty="0">
              <a:solidFill>
                <a:schemeClr val="bg2">
                  <a:lumMod val="10000"/>
                </a:schemeClr>
              </a:solidFill>
              <a:latin typeface="Arial" panose="020B0604020202020204" pitchFamily="34" charset="0"/>
              <a:cs typeface="Arial" panose="020B0604020202020204" pitchFamily="34" charset="0"/>
              <a:sym typeface="+mn-ea"/>
            </a:endParaRPr>
          </a:p>
          <a:p>
            <a:pPr lvl="2" defTabSz="914400">
              <a:buFont typeface="Arial" panose="020B0604020202020204" pitchFamily="34" charset="0"/>
              <a:buChar char="•"/>
            </a:pPr>
            <a:r>
              <a:rPr lang="en-US" sz="1800" b="0" spc="-70" dirty="0">
                <a:solidFill>
                  <a:schemeClr val="bg2">
                    <a:lumMod val="10000"/>
                  </a:schemeClr>
                </a:solidFill>
                <a:latin typeface="Arial" panose="020B0604020202020204" pitchFamily="34" charset="0"/>
                <a:cs typeface="Arial" panose="020B0604020202020204" pitchFamily="34" charset="0"/>
                <a:sym typeface="+mn-ea"/>
              </a:rPr>
              <a:t>Project Manager</a:t>
            </a:r>
            <a:endParaRPr lang="en-US" sz="2200" b="0" spc="-5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b="0" spc="-50" dirty="0">
                <a:solidFill>
                  <a:schemeClr val="bg2">
                    <a:lumMod val="10000"/>
                  </a:schemeClr>
                </a:solidFill>
                <a:latin typeface="Arial" panose="020B0604020202020204" pitchFamily="34" charset="0"/>
                <a:cs typeface="Arial" panose="020B0604020202020204" pitchFamily="34" charset="0"/>
                <a:sym typeface="+mn-ea"/>
              </a:rPr>
              <a:t>Plan feasibility stu</a:t>
            </a:r>
            <a:r>
              <a:rPr lang="en-US" sz="2400" b="0" spc="-30" dirty="0">
                <a:solidFill>
                  <a:schemeClr val="bg2">
                    <a:lumMod val="10000"/>
                  </a:schemeClr>
                </a:solidFill>
                <a:latin typeface="Arial" panose="020B0604020202020204" pitchFamily="34" charset="0"/>
                <a:cs typeface="Arial" panose="020B0604020202020204" pitchFamily="34" charset="0"/>
                <a:sym typeface="+mn-ea"/>
              </a:rPr>
              <a:t>d</a:t>
            </a:r>
            <a:r>
              <a:rPr lang="en-US" sz="2400" b="0" dirty="0">
                <a:solidFill>
                  <a:schemeClr val="bg2">
                    <a:lumMod val="10000"/>
                  </a:schemeClr>
                </a:solidFill>
                <a:latin typeface="Arial" panose="020B0604020202020204" pitchFamily="34" charset="0"/>
                <a:cs typeface="Arial" panose="020B0604020202020204" pitchFamily="34" charset="0"/>
                <a:sym typeface="+mn-ea"/>
              </a:rPr>
              <a:t>y</a:t>
            </a: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8" name="Content Placeholder 5">
            <a:extLst>
              <a:ext uri="{FF2B5EF4-FFF2-40B4-BE49-F238E27FC236}">
                <a16:creationId xmlns:a16="http://schemas.microsoft.com/office/drawing/2014/main" id="{4D3ECFA7-AB00-08E0-4583-6BFD6D627594}"/>
              </a:ext>
            </a:extLst>
          </p:cNvPr>
          <p:cNvPicPr>
            <a:picLocks noChangeAspect="1"/>
          </p:cNvPicPr>
          <p:nvPr/>
        </p:nvPicPr>
        <p:blipFill>
          <a:blip r:embed="rId2"/>
          <a:stretch/>
        </p:blipFill>
        <p:spPr>
          <a:xfrm>
            <a:off x="6163457" y="2492376"/>
            <a:ext cx="4673274" cy="3563372"/>
          </a:xfrm>
          <a:prstGeom prst="rect">
            <a:avLst/>
          </a:prstGeom>
        </p:spPr>
      </p:pic>
      <p:sp>
        <p:nvSpPr>
          <p:cNvPr id="9" name="Slide Number Placeholder 2">
            <a:extLst>
              <a:ext uri="{FF2B5EF4-FFF2-40B4-BE49-F238E27FC236}">
                <a16:creationId xmlns:a16="http://schemas.microsoft.com/office/drawing/2014/main" id="{3E35B2DF-20D3-8C2D-3658-15FF3B05F82D}"/>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16</a:t>
            </a:fld>
            <a:endParaRPr lang="en-US" dirty="0"/>
          </a:p>
        </p:txBody>
      </p:sp>
    </p:spTree>
    <p:extLst>
      <p:ext uri="{BB962C8B-B14F-4D97-AF65-F5344CB8AC3E}">
        <p14:creationId xmlns:p14="http://schemas.microsoft.com/office/powerpoint/2010/main" val="829947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586C7-B68C-C9E3-02D4-2DE6D5785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52C7C-7000-69E4-9BCE-7A3415684F24}"/>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Pre-project pha</a:t>
            </a:r>
            <a:r>
              <a:rPr lang="en-US" kern="1200" spc="-40" dirty="0">
                <a:solidFill>
                  <a:schemeClr val="bg2">
                    <a:lumMod val="10000"/>
                  </a:schemeClr>
                </a:solidFill>
                <a:latin typeface="Arial" panose="020B0604020202020204" pitchFamily="34" charset="0"/>
                <a:cs typeface="Arial" panose="020B0604020202020204" pitchFamily="34" charset="0"/>
                <a:sym typeface="+mn-ea"/>
              </a:rPr>
              <a:t>s</a:t>
            </a:r>
            <a:r>
              <a:rPr lang="en-US" kern="1200" dirty="0">
                <a:solidFill>
                  <a:schemeClr val="bg2">
                    <a:lumMod val="10000"/>
                  </a:schemeClr>
                </a:solidFill>
                <a:latin typeface="Arial" panose="020B0604020202020204" pitchFamily="34" charset="0"/>
                <a:cs typeface="Arial" panose="020B0604020202020204" pitchFamily="34" charset="0"/>
                <a:sym typeface="+mn-ea"/>
              </a:rPr>
              <a:t>e</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5FD47BF3-0B96-5420-F231-34B8B6B9DFBF}"/>
              </a:ext>
            </a:extLst>
          </p:cNvPr>
          <p:cNvSpPr>
            <a:spLocks noGrp="1"/>
          </p:cNvSpPr>
          <p:nvPr>
            <p:ph idx="1"/>
          </p:nvPr>
        </p:nvSpPr>
        <p:spPr>
          <a:xfrm>
            <a:off x="1164221" y="1729212"/>
            <a:ext cx="10306519"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a:t>
            </a:r>
            <a:r>
              <a:rPr lang="en-US" sz="2400" b="0" spc="-60" dirty="0">
                <a:solidFill>
                  <a:schemeClr val="bg2">
                    <a:lumMod val="10000"/>
                  </a:schemeClr>
                </a:solidFill>
                <a:latin typeface="Arial" panose="020B0604020202020204" pitchFamily="34" charset="0"/>
                <a:cs typeface="Arial" panose="020B0604020202020204" pitchFamily="34" charset="0"/>
                <a:sym typeface="+mn-ea"/>
              </a:rPr>
              <a:t>nitial phase that occurs before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actual development</a:t>
            </a:r>
            <a:r>
              <a:rPr lang="en-US" sz="2400" b="0" spc="-60" dirty="0">
                <a:solidFill>
                  <a:schemeClr val="bg2">
                    <a:lumMod val="10000"/>
                  </a:schemeClr>
                </a:solidFill>
                <a:latin typeface="Arial" panose="020B0604020202020204" pitchFamily="34" charset="0"/>
                <a:cs typeface="Arial" panose="020B0604020202020204" pitchFamily="34" charset="0"/>
                <a:sym typeface="+mn-ea"/>
              </a:rPr>
              <a:t> work begins. </a:t>
            </a:r>
          </a:p>
          <a:p>
            <a:pPr defTabSz="914400">
              <a:buFont typeface="Arial" panose="020B0604020202020204" pitchFamily="34" charset="0"/>
              <a:buChar char="•"/>
            </a:pPr>
            <a:r>
              <a:rPr lang="en-US" sz="2400" b="0" spc="-60" dirty="0">
                <a:solidFill>
                  <a:schemeClr val="bg2">
                    <a:lumMod val="10000"/>
                  </a:schemeClr>
                </a:solidFill>
                <a:latin typeface="Arial" panose="020B0604020202020204" pitchFamily="34" charset="0"/>
                <a:cs typeface="Arial" panose="020B0604020202020204" pitchFamily="34" charset="0"/>
                <a:sym typeface="+mn-ea"/>
              </a:rPr>
              <a:t>The purpose of this phase is to set the stage for the project by aligning key stakeholders, </a:t>
            </a:r>
            <a:r>
              <a:rPr lang="en-US" sz="2400" spc="-60" dirty="0">
                <a:solidFill>
                  <a:schemeClr val="bg2">
                    <a:lumMod val="10000"/>
                  </a:schemeClr>
                </a:solidFill>
                <a:latin typeface="Arial" panose="020B0604020202020204" pitchFamily="34" charset="0"/>
                <a:cs typeface="Arial" panose="020B0604020202020204" pitchFamily="34" charset="0"/>
                <a:sym typeface="+mn-ea"/>
              </a:rPr>
              <a:t>establishing </a:t>
            </a:r>
            <a:r>
              <a:rPr lang="en-US" sz="2400" b="1" spc="-60" dirty="0">
                <a:solidFill>
                  <a:schemeClr val="bg2">
                    <a:lumMod val="10000"/>
                  </a:schemeClr>
                </a:solidFill>
                <a:latin typeface="Arial" panose="020B0604020202020204" pitchFamily="34" charset="0"/>
                <a:cs typeface="Arial" panose="020B0604020202020204" pitchFamily="34" charset="0"/>
                <a:sym typeface="+mn-ea"/>
              </a:rPr>
              <a:t>project goals</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preparing the project for a successful launch</a:t>
            </a:r>
            <a:r>
              <a:rPr lang="en-US" sz="2400" b="0" spc="-60" dirty="0">
                <a:solidFill>
                  <a:schemeClr val="bg2">
                    <a:lumMod val="10000"/>
                  </a:schemeClr>
                </a:solidFill>
                <a:latin typeface="Arial" panose="020B0604020202020204" pitchFamily="34" charset="0"/>
                <a:cs typeface="Arial" panose="020B0604020202020204" pitchFamily="34" charset="0"/>
                <a:sym typeface="+mn-ea"/>
              </a:rPr>
              <a:t>. </a:t>
            </a:r>
          </a:p>
          <a:p>
            <a:pPr defTabSz="914400">
              <a:buFont typeface="Arial" panose="020B0604020202020204" pitchFamily="34" charset="0"/>
              <a:buChar char="•"/>
            </a:pPr>
            <a:r>
              <a:rPr lang="en-US" sz="2400" b="0" spc="-60" dirty="0">
                <a:solidFill>
                  <a:schemeClr val="bg2">
                    <a:lumMod val="10000"/>
                  </a:schemeClr>
                </a:solidFill>
                <a:latin typeface="Arial" panose="020B0604020202020204" pitchFamily="34" charset="0"/>
                <a:cs typeface="Arial" panose="020B0604020202020204" pitchFamily="34" charset="0"/>
                <a:sym typeface="+mn-ea"/>
              </a:rPr>
              <a:t>It’s a critical phase that helps ensure that the project is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well-defined</a:t>
            </a:r>
            <a:r>
              <a:rPr lang="en-US" sz="2400" b="0" spc="-60" dirty="0">
                <a:solidFill>
                  <a:schemeClr val="bg2">
                    <a:lumMod val="10000"/>
                  </a:schemeClr>
                </a:solidFill>
                <a:latin typeface="Arial" panose="020B0604020202020204" pitchFamily="34" charset="0"/>
                <a:cs typeface="Arial" panose="020B0604020202020204" pitchFamily="34" charset="0"/>
                <a:sym typeface="+mn-ea"/>
              </a:rPr>
              <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properly scoped</a:t>
            </a:r>
            <a:r>
              <a:rPr lang="en-US" sz="2400" b="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ready for the next steps </a:t>
            </a:r>
            <a:r>
              <a:rPr lang="en-US" sz="2400" b="0" spc="-60" dirty="0">
                <a:solidFill>
                  <a:schemeClr val="bg2">
                    <a:lumMod val="10000"/>
                  </a:schemeClr>
                </a:solidFill>
                <a:latin typeface="Arial" panose="020B0604020202020204" pitchFamily="34" charset="0"/>
                <a:cs typeface="Arial" panose="020B0604020202020204" pitchFamily="34" charset="0"/>
                <a:sym typeface="+mn-ea"/>
              </a:rPr>
              <a:t>in the development process.</a:t>
            </a:r>
          </a:p>
        </p:txBody>
      </p:sp>
      <p:sp>
        <p:nvSpPr>
          <p:cNvPr id="9" name="Slide Number Placeholder 2">
            <a:extLst>
              <a:ext uri="{FF2B5EF4-FFF2-40B4-BE49-F238E27FC236}">
                <a16:creationId xmlns:a16="http://schemas.microsoft.com/office/drawing/2014/main" id="{10A3B06C-9C6C-B47D-0262-7DCAF367307D}"/>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17</a:t>
            </a:fld>
            <a:endParaRPr lang="en-US" dirty="0"/>
          </a:p>
        </p:txBody>
      </p:sp>
    </p:spTree>
    <p:extLst>
      <p:ext uri="{BB962C8B-B14F-4D97-AF65-F5344CB8AC3E}">
        <p14:creationId xmlns:p14="http://schemas.microsoft.com/office/powerpoint/2010/main" val="3571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8DBE0-6020-6FE0-D6A6-D31ED968F605}"/>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Pre-project pha</a:t>
            </a:r>
            <a:r>
              <a:rPr lang="en-US" spc="-40" dirty="0">
                <a:solidFill>
                  <a:schemeClr val="bg2">
                    <a:lumMod val="10000"/>
                  </a:schemeClr>
                </a:solidFill>
                <a:latin typeface="Arial" panose="020B0604020202020204" pitchFamily="34" charset="0"/>
                <a:cs typeface="Arial" panose="020B0604020202020204" pitchFamily="34" charset="0"/>
                <a:sym typeface="+mn-ea"/>
              </a:rPr>
              <a:t>s</a:t>
            </a:r>
            <a:r>
              <a:rPr lang="en-US" dirty="0">
                <a:solidFill>
                  <a:schemeClr val="bg2">
                    <a:lumMod val="10000"/>
                  </a:schemeClr>
                </a:solidFill>
                <a:latin typeface="Arial" panose="020B0604020202020204" pitchFamily="34" charset="0"/>
                <a:cs typeface="Arial" panose="020B0604020202020204" pitchFamily="34" charset="0"/>
                <a:sym typeface="+mn-ea"/>
              </a:rPr>
              <a:t>e</a:t>
            </a:r>
            <a:endParaRPr lang="en-US" dirty="0"/>
          </a:p>
        </p:txBody>
      </p:sp>
      <p:sp>
        <p:nvSpPr>
          <p:cNvPr id="4" name="Content Placeholder 3">
            <a:extLst>
              <a:ext uri="{FF2B5EF4-FFF2-40B4-BE49-F238E27FC236}">
                <a16:creationId xmlns:a16="http://schemas.microsoft.com/office/drawing/2014/main" id="{21DBB7A2-D686-C2AF-797D-82BE919BBECE}"/>
              </a:ext>
            </a:extLst>
          </p:cNvPr>
          <p:cNvSpPr>
            <a:spLocks noGrp="1"/>
          </p:cNvSpPr>
          <p:nvPr>
            <p:ph idx="1"/>
          </p:nvPr>
        </p:nvSpPr>
        <p:spPr>
          <a:xfrm>
            <a:off x="644771" y="1533832"/>
            <a:ext cx="10709031" cy="4548315"/>
          </a:xfrm>
        </p:spPr>
        <p:txBody>
          <a:bodyPr/>
          <a:lstStyle/>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In essence, the Pre-project Phase ensures that the project is </a:t>
            </a:r>
            <a:r>
              <a:rPr lang="en-US" sz="2400" b="1" dirty="0">
                <a:solidFill>
                  <a:schemeClr val="bg2">
                    <a:lumMod val="10000"/>
                  </a:schemeClr>
                </a:solidFill>
                <a:latin typeface="Arial" panose="020B0604020202020204" pitchFamily="34" charset="0"/>
                <a:cs typeface="Arial" panose="020B0604020202020204" pitchFamily="34" charset="0"/>
              </a:rPr>
              <a:t>worth undertaking </a:t>
            </a:r>
            <a:r>
              <a:rPr lang="en-US" sz="2400" dirty="0">
                <a:solidFill>
                  <a:schemeClr val="bg2">
                    <a:lumMod val="10000"/>
                  </a:schemeClr>
                </a:solidFill>
                <a:latin typeface="Arial" panose="020B0604020202020204" pitchFamily="34" charset="0"/>
                <a:cs typeface="Arial" panose="020B0604020202020204" pitchFamily="34" charset="0"/>
              </a:rPr>
              <a:t>and is </a:t>
            </a:r>
            <a:r>
              <a:rPr lang="en-US" sz="2400" b="1" dirty="0">
                <a:solidFill>
                  <a:schemeClr val="bg2">
                    <a:lumMod val="10000"/>
                  </a:schemeClr>
                </a:solidFill>
                <a:latin typeface="Arial" panose="020B0604020202020204" pitchFamily="34" charset="0"/>
                <a:cs typeface="Arial" panose="020B0604020202020204" pitchFamily="34" charset="0"/>
              </a:rPr>
              <a:t>well-prepared</a:t>
            </a:r>
            <a:r>
              <a:rPr lang="en-US" sz="2400" dirty="0">
                <a:solidFill>
                  <a:schemeClr val="bg2">
                    <a:lumMod val="10000"/>
                  </a:schemeClr>
                </a:solidFill>
                <a:latin typeface="Arial" panose="020B0604020202020204" pitchFamily="34" charset="0"/>
                <a:cs typeface="Arial" panose="020B0604020202020204" pitchFamily="34" charset="0"/>
              </a:rPr>
              <a:t> before diving into more detailed planning and development. </a:t>
            </a: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It’s about setting a </a:t>
            </a:r>
            <a:r>
              <a:rPr lang="en-US" sz="2400" b="1" dirty="0">
                <a:solidFill>
                  <a:schemeClr val="bg2">
                    <a:lumMod val="10000"/>
                  </a:schemeClr>
                </a:solidFill>
                <a:latin typeface="Arial" panose="020B0604020202020204" pitchFamily="34" charset="0"/>
                <a:cs typeface="Arial" panose="020B0604020202020204" pitchFamily="34" charset="0"/>
              </a:rPr>
              <a:t>strong foundation </a:t>
            </a:r>
            <a:r>
              <a:rPr lang="en-US" sz="2400" dirty="0">
                <a:solidFill>
                  <a:schemeClr val="bg2">
                    <a:lumMod val="10000"/>
                  </a:schemeClr>
                </a:solidFill>
                <a:latin typeface="Arial" panose="020B0604020202020204" pitchFamily="34" charset="0"/>
                <a:cs typeface="Arial" panose="020B0604020202020204" pitchFamily="34" charset="0"/>
              </a:rPr>
              <a:t>for the success of the project.</a:t>
            </a:r>
          </a:p>
          <a:p>
            <a:endParaRPr lang="en-US" dirty="0"/>
          </a:p>
        </p:txBody>
      </p:sp>
      <p:sp>
        <p:nvSpPr>
          <p:cNvPr id="5" name="Slide Number Placeholder 4">
            <a:extLst>
              <a:ext uri="{FF2B5EF4-FFF2-40B4-BE49-F238E27FC236}">
                <a16:creationId xmlns:a16="http://schemas.microsoft.com/office/drawing/2014/main" id="{6EDCF1F1-D8B9-A0FA-8369-1B168E2A49FC}"/>
              </a:ext>
            </a:extLst>
          </p:cNvPr>
          <p:cNvSpPr>
            <a:spLocks noGrp="1"/>
          </p:cNvSpPr>
          <p:nvPr>
            <p:ph type="sldNum" sz="quarter" idx="12"/>
          </p:nvPr>
        </p:nvSpPr>
        <p:spPr/>
        <p:txBody>
          <a:bodyPr/>
          <a:lstStyle/>
          <a:p>
            <a:fld id="{4267CD5E-26CF-4249-8540-BB1D07FD4227}" type="slidenum">
              <a:rPr lang="en-US" smtClean="0"/>
              <a:t>18</a:t>
            </a:fld>
            <a:endParaRPr lang="en-US"/>
          </a:p>
        </p:txBody>
      </p:sp>
    </p:spTree>
    <p:extLst>
      <p:ext uri="{BB962C8B-B14F-4D97-AF65-F5344CB8AC3E}">
        <p14:creationId xmlns:p14="http://schemas.microsoft.com/office/powerpoint/2010/main" val="659837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4"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kern="1200" spc="-80" dirty="0">
                <a:solidFill>
                  <a:srgbClr val="FFFFFF"/>
                </a:solidFill>
                <a:latin typeface="Arial" panose="020B0604020202020204" pitchFamily="34" charset="0"/>
                <a:cs typeface="Arial" panose="020B0604020202020204" pitchFamily="34" charset="0"/>
                <a:sym typeface="+mn-ea"/>
              </a:rPr>
              <a:t>Feasibility Stu</a:t>
            </a:r>
            <a:r>
              <a:rPr lang="en-US" kern="1200" spc="-30" dirty="0">
                <a:solidFill>
                  <a:srgbClr val="FFFFFF"/>
                </a:solidFill>
                <a:latin typeface="Arial" panose="020B0604020202020204" pitchFamily="34" charset="0"/>
                <a:cs typeface="Arial" panose="020B0604020202020204" pitchFamily="34" charset="0"/>
                <a:sym typeface="+mn-ea"/>
              </a:rPr>
              <a:t>d</a:t>
            </a:r>
            <a:r>
              <a:rPr lang="en-US" kern="1200" dirty="0">
                <a:solidFill>
                  <a:srgbClr val="FFFFFF"/>
                </a:solidFill>
                <a:latin typeface="Arial" panose="020B0604020202020204" pitchFamily="34" charset="0"/>
                <a:cs typeface="Arial" panose="020B0604020202020204" pitchFamily="34" charset="0"/>
                <a:sym typeface="+mn-ea"/>
              </a:rPr>
              <a:t>y</a:t>
            </a:r>
            <a:br>
              <a:rPr lang="en-US" altLang="en-US" kern="1200" dirty="0">
                <a:solidFill>
                  <a:srgbClr val="FFFFFF"/>
                </a:solidFill>
                <a:latin typeface="Arial" panose="020B0604020202020204" pitchFamily="34" charset="0"/>
                <a:cs typeface="Arial" panose="020B0604020202020204" pitchFamily="34" charset="0"/>
              </a:rPr>
            </a:br>
            <a:endParaRPr lang="en-US" kern="1200"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424902" y="2354089"/>
            <a:ext cx="5466551" cy="4287876"/>
          </a:xfrm>
        </p:spPr>
        <p:txBody>
          <a:bodyPr vert="horz" lIns="91440" tIns="45720" rIns="91440" bIns="45720" rtlCol="0">
            <a:normAutofit/>
          </a:bodyPr>
          <a:lstStyle/>
          <a:p>
            <a:pPr defTabSz="914400" fontAlgn="auto">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Starts with a Facilitated Joint Worksho</a:t>
            </a:r>
            <a:r>
              <a:rPr lang="en-US" sz="2400" spc="-40" dirty="0">
                <a:solidFill>
                  <a:schemeClr val="bg2">
                    <a:lumMod val="10000"/>
                  </a:schemeClr>
                </a:solidFill>
                <a:latin typeface="Arial" panose="020B0604020202020204" pitchFamily="34" charset="0"/>
                <a:cs typeface="Arial" panose="020B0604020202020204" pitchFamily="34" charset="0"/>
                <a:sym typeface="+mn-ea"/>
              </a:rPr>
              <a:t>p</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952500" lvl="1" defTabSz="914400" fontAlgn="auto">
              <a:buFont typeface="Arial" panose="020B0604020202020204" pitchFamily="34" charset="0"/>
              <a:buChar char="•"/>
            </a:pPr>
            <a:r>
              <a:rPr lang="en-US" sz="2000" spc="-50" dirty="0">
                <a:solidFill>
                  <a:schemeClr val="bg2">
                    <a:lumMod val="10000"/>
                  </a:schemeClr>
                </a:solidFill>
                <a:latin typeface="Arial" panose="020B0604020202020204" pitchFamily="34" charset="0"/>
                <a:cs typeface="Arial" panose="020B0604020202020204" pitchFamily="34" charset="0"/>
                <a:sym typeface="+mn-ea"/>
              </a:rPr>
              <a:t>Includes users and develop</a:t>
            </a:r>
            <a:r>
              <a:rPr lang="en-US" sz="2000" dirty="0">
                <a:solidFill>
                  <a:schemeClr val="bg2">
                    <a:lumMod val="10000"/>
                  </a:schemeClr>
                </a:solidFill>
                <a:latin typeface="Arial" panose="020B0604020202020204" pitchFamily="34" charset="0"/>
                <a:cs typeface="Arial" panose="020B0604020202020204" pitchFamily="34" charset="0"/>
                <a:sym typeface="+mn-ea"/>
              </a:rPr>
              <a:t>ers </a:t>
            </a:r>
            <a:endParaRPr lang="en-US" sz="2400" spc="-50" dirty="0">
              <a:solidFill>
                <a:schemeClr val="bg2">
                  <a:lumMod val="10000"/>
                </a:schemeClr>
              </a:solidFill>
              <a:latin typeface="Arial" panose="020B0604020202020204" pitchFamily="34" charset="0"/>
              <a:cs typeface="Arial" panose="020B0604020202020204" pitchFamily="34" charset="0"/>
              <a:sym typeface="+mn-ea"/>
            </a:endParaRPr>
          </a:p>
          <a:p>
            <a:pPr marL="12700" defTabSz="914400">
              <a:buFont typeface="Arial" panose="020B0604020202020204" pitchFamily="34" charset="0"/>
              <a:buChar char="•"/>
            </a:pPr>
            <a:r>
              <a:rPr lang="en-US" sz="2400" spc="-50" dirty="0">
                <a:solidFill>
                  <a:schemeClr val="bg2">
                    <a:lumMod val="10000"/>
                  </a:schemeClr>
                </a:solidFill>
                <a:latin typeface="Arial" panose="020B0604020202020204" pitchFamily="34" charset="0"/>
                <a:cs typeface="Arial" panose="020B0604020202020204" pitchFamily="34" charset="0"/>
                <a:sym typeface="+mn-ea"/>
              </a:rPr>
              <a:t>Produces a Feasibility R</a:t>
            </a:r>
            <a:r>
              <a:rPr lang="en-US" sz="2400" spc="-30" dirty="0">
                <a:solidFill>
                  <a:schemeClr val="bg2">
                    <a:lumMod val="10000"/>
                  </a:schemeClr>
                </a:solidFill>
                <a:latin typeface="Arial" panose="020B0604020202020204" pitchFamily="34" charset="0"/>
                <a:cs typeface="Arial" panose="020B0604020202020204" pitchFamily="34" charset="0"/>
                <a:sym typeface="+mn-ea"/>
              </a:rPr>
              <a:t>e</a:t>
            </a:r>
            <a:r>
              <a:rPr lang="en-US" sz="2400" dirty="0">
                <a:solidFill>
                  <a:schemeClr val="bg2">
                    <a:lumMod val="10000"/>
                  </a:schemeClr>
                </a:solidFill>
                <a:latin typeface="Arial" panose="020B0604020202020204" pitchFamily="34" charset="0"/>
                <a:cs typeface="Arial" panose="020B0604020202020204" pitchFamily="34" charset="0"/>
                <a:sym typeface="+mn-ea"/>
              </a:rPr>
              <a:t>port</a:t>
            </a:r>
            <a:r>
              <a:rPr lang="en-US" sz="2400" spc="-50" dirty="0">
                <a:solidFill>
                  <a:schemeClr val="bg2">
                    <a:lumMod val="10000"/>
                  </a:schemeClr>
                </a:solidFill>
                <a:latin typeface="Arial" panose="020B0604020202020204" pitchFamily="34" charset="0"/>
                <a:cs typeface="Arial" panose="020B0604020202020204" pitchFamily="34" charset="0"/>
                <a:sym typeface="+mn-ea"/>
              </a:rPr>
              <a:t>:</a:t>
            </a:r>
            <a:r>
              <a:rPr lang="en-US" sz="2400" dirty="0">
                <a:solidFill>
                  <a:schemeClr val="bg2">
                    <a:lumMod val="10000"/>
                  </a:schemeClr>
                </a:solidFill>
                <a:latin typeface="Arial" panose="020B0604020202020204" pitchFamily="34" charset="0"/>
                <a:cs typeface="Arial" panose="020B0604020202020204" pitchFamily="34" charset="0"/>
                <a:sym typeface="+mn-ea"/>
              </a:rPr>
              <a:t>           </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939800" lvl="1" defTabSz="914400" fontAlgn="auto">
              <a:spcBef>
                <a:spcPts val="670"/>
              </a:spcBef>
              <a:buFont typeface="Arial" panose="020B0604020202020204" pitchFamily="34" charset="0"/>
              <a:buChar char="•"/>
            </a:pPr>
            <a:r>
              <a:rPr lang="en-US" sz="2000" spc="-50" dirty="0">
                <a:solidFill>
                  <a:schemeClr val="bg2">
                    <a:lumMod val="10000"/>
                  </a:schemeClr>
                </a:solidFill>
                <a:latin typeface="Arial" panose="020B0604020202020204" pitchFamily="34" charset="0"/>
                <a:cs typeface="Arial" panose="020B0604020202020204" pitchFamily="34" charset="0"/>
                <a:sym typeface="+mn-ea"/>
              </a:rPr>
              <a:t>Short business </a:t>
            </a:r>
            <a:r>
              <a:rPr lang="en-US" sz="2000" spc="-30" dirty="0">
                <a:solidFill>
                  <a:schemeClr val="bg2">
                    <a:lumMod val="10000"/>
                  </a:schemeClr>
                </a:solidFill>
                <a:latin typeface="Arial" panose="020B0604020202020204" pitchFamily="34" charset="0"/>
                <a:cs typeface="Arial" panose="020B0604020202020204" pitchFamily="34" charset="0"/>
                <a:sym typeface="+mn-ea"/>
              </a:rPr>
              <a:t>c</a:t>
            </a:r>
            <a:r>
              <a:rPr lang="en-US" sz="2000" dirty="0">
                <a:solidFill>
                  <a:schemeClr val="bg2">
                    <a:lumMod val="10000"/>
                  </a:schemeClr>
                </a:solidFill>
                <a:latin typeface="Arial" panose="020B0604020202020204" pitchFamily="34" charset="0"/>
                <a:cs typeface="Arial" panose="020B0604020202020204" pitchFamily="34" charset="0"/>
                <a:sym typeface="+mn-ea"/>
              </a:rPr>
              <a:t>ase</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939800" lvl="1" defTabSz="914400" fontAlgn="auto">
              <a:buFont typeface="Arial" panose="020B0604020202020204" pitchFamily="34" charset="0"/>
              <a:buChar char="•"/>
            </a:pPr>
            <a:r>
              <a:rPr lang="en-US" sz="2000" spc="-80" dirty="0">
                <a:solidFill>
                  <a:schemeClr val="bg2">
                    <a:lumMod val="10000"/>
                  </a:schemeClr>
                </a:solidFill>
                <a:latin typeface="Arial" panose="020B0604020202020204" pitchFamily="34" charset="0"/>
                <a:cs typeface="Arial" panose="020B0604020202020204" pitchFamily="34" charset="0"/>
                <a:sym typeface="+mn-ea"/>
              </a:rPr>
              <a:t>Suitability of DSD</a:t>
            </a:r>
            <a:r>
              <a:rPr lang="en-US" sz="2000" spc="-40" dirty="0">
                <a:solidFill>
                  <a:schemeClr val="bg2">
                    <a:lumMod val="10000"/>
                  </a:schemeClr>
                </a:solidFill>
                <a:latin typeface="Arial" panose="020B0604020202020204" pitchFamily="34" charset="0"/>
                <a:cs typeface="Arial" panose="020B0604020202020204" pitchFamily="34" charset="0"/>
                <a:sym typeface="+mn-ea"/>
              </a:rPr>
              <a:t>M</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949960" lvl="1" defTabSz="914400" fontAlgn="auto">
              <a:buFont typeface="Arial" panose="020B0604020202020204" pitchFamily="34" charset="0"/>
              <a:buChar char="•"/>
            </a:pPr>
            <a:r>
              <a:rPr lang="en-US" sz="2000" spc="-50" dirty="0">
                <a:solidFill>
                  <a:schemeClr val="bg2">
                    <a:lumMod val="10000"/>
                  </a:schemeClr>
                </a:solidFill>
                <a:latin typeface="Arial" panose="020B0604020202020204" pitchFamily="34" charset="0"/>
                <a:cs typeface="Arial" panose="020B0604020202020204" pitchFamily="34" charset="0"/>
                <a:sym typeface="+mn-ea"/>
              </a:rPr>
              <a:t>Early investigation of requirement</a:t>
            </a:r>
            <a:r>
              <a:rPr lang="en-US" sz="2000" spc="-40" dirty="0">
                <a:solidFill>
                  <a:schemeClr val="bg2">
                    <a:lumMod val="10000"/>
                  </a:schemeClr>
                </a:solidFill>
                <a:latin typeface="Arial" panose="020B0604020202020204" pitchFamily="34" charset="0"/>
                <a:cs typeface="Arial" panose="020B0604020202020204" pitchFamily="34" charset="0"/>
                <a:sym typeface="+mn-ea"/>
              </a:rPr>
              <a:t>s</a:t>
            </a:r>
            <a:endParaRPr lang="en-US" sz="2400" spc="-110" dirty="0">
              <a:solidFill>
                <a:schemeClr val="bg2">
                  <a:lumMod val="10000"/>
                </a:schemeClr>
              </a:solidFill>
              <a:latin typeface="Arial" panose="020B0604020202020204" pitchFamily="34" charset="0"/>
              <a:cs typeface="Arial" panose="020B0604020202020204" pitchFamily="34" charset="0"/>
              <a:sym typeface="+mn-ea"/>
            </a:endParaRPr>
          </a:p>
          <a:p>
            <a:pPr marL="12700" defTabSz="914400" fontAlgn="auto">
              <a:buFont typeface="Arial" panose="020B0604020202020204" pitchFamily="34" charset="0"/>
              <a:buChar char="•"/>
            </a:pPr>
            <a:r>
              <a:rPr lang="en-US" sz="2400" spc="-110" dirty="0">
                <a:solidFill>
                  <a:schemeClr val="bg2">
                    <a:lumMod val="10000"/>
                  </a:schemeClr>
                </a:solidFill>
                <a:latin typeface="Arial" panose="020B0604020202020204" pitchFamily="34" charset="0"/>
                <a:cs typeface="Arial" panose="020B0604020202020204" pitchFamily="34" charset="0"/>
                <a:sym typeface="+mn-ea"/>
              </a:rPr>
              <a:t>Also produc</a:t>
            </a:r>
            <a:r>
              <a:rPr lang="en-US" sz="2400" spc="-90" dirty="0">
                <a:solidFill>
                  <a:schemeClr val="bg2">
                    <a:lumMod val="10000"/>
                  </a:schemeClr>
                </a:solidFill>
                <a:latin typeface="Arial" panose="020B0604020202020204" pitchFamily="34" charset="0"/>
                <a:cs typeface="Arial" panose="020B0604020202020204" pitchFamily="34" charset="0"/>
                <a:sym typeface="+mn-ea"/>
              </a:rPr>
              <a:t>e</a:t>
            </a:r>
            <a:r>
              <a:rPr lang="en-US" sz="2400" dirty="0">
                <a:solidFill>
                  <a:schemeClr val="bg2">
                    <a:lumMod val="10000"/>
                  </a:schemeClr>
                </a:solidFill>
                <a:latin typeface="Arial" panose="020B0604020202020204" pitchFamily="34" charset="0"/>
                <a:cs typeface="Arial" panose="020B0604020202020204" pitchFamily="34" charset="0"/>
                <a:sym typeface="+mn-ea"/>
              </a:rPr>
              <a:t>s</a:t>
            </a:r>
            <a:r>
              <a:rPr lang="en-US" sz="2400" spc="-110" dirty="0">
                <a:solidFill>
                  <a:schemeClr val="bg2">
                    <a:lumMod val="10000"/>
                  </a:schemeClr>
                </a:solidFill>
                <a:latin typeface="Arial" panose="020B0604020202020204" pitchFamily="34" charset="0"/>
                <a:cs typeface="Arial" panose="020B0604020202020204" pitchFamily="34" charset="0"/>
                <a:sym typeface="+mn-ea"/>
              </a:rPr>
              <a:t>:</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941070" lvl="1" defTabSz="914400" fontAlgn="auto">
              <a:spcBef>
                <a:spcPts val="5"/>
              </a:spcBef>
              <a:buFont typeface="Arial" panose="020B0604020202020204" pitchFamily="34" charset="0"/>
              <a:buChar char="•"/>
            </a:pPr>
            <a:r>
              <a:rPr lang="en-US" sz="2000" spc="-60" dirty="0">
                <a:solidFill>
                  <a:schemeClr val="bg2">
                    <a:lumMod val="10000"/>
                  </a:schemeClr>
                </a:solidFill>
                <a:latin typeface="Arial" panose="020B0604020202020204" pitchFamily="34" charset="0"/>
                <a:cs typeface="Arial" panose="020B0604020202020204" pitchFamily="34" charset="0"/>
                <a:sym typeface="+mn-ea"/>
              </a:rPr>
              <a:t>Outline plan with schedules and </a:t>
            </a:r>
            <a:r>
              <a:rPr lang="en-US" sz="2000" spc="-20" dirty="0">
                <a:solidFill>
                  <a:schemeClr val="bg2">
                    <a:lumMod val="10000"/>
                  </a:schemeClr>
                </a:solidFill>
                <a:latin typeface="Arial" panose="020B0604020202020204" pitchFamily="34" charset="0"/>
                <a:cs typeface="Arial" panose="020B0604020202020204" pitchFamily="34" charset="0"/>
                <a:sym typeface="+mn-ea"/>
              </a:rPr>
              <a:t>b</a:t>
            </a:r>
            <a:r>
              <a:rPr lang="en-US" sz="2000" dirty="0">
                <a:solidFill>
                  <a:schemeClr val="bg2">
                    <a:lumMod val="10000"/>
                  </a:schemeClr>
                </a:solidFill>
                <a:latin typeface="Arial" panose="020B0604020202020204" pitchFamily="34" charset="0"/>
                <a:cs typeface="Arial" panose="020B0604020202020204" pitchFamily="34" charset="0"/>
                <a:sym typeface="+mn-ea"/>
              </a:rPr>
              <a:t>udget</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950595" lvl="1" defTabSz="914400" fontAlgn="auto">
              <a:spcBef>
                <a:spcPts val="20"/>
              </a:spcBef>
              <a:buFont typeface="Arial" panose="020B0604020202020204" pitchFamily="34" charset="0"/>
              <a:buChar char="•"/>
            </a:pPr>
            <a:r>
              <a:rPr lang="en-US" sz="2000" spc="-60" dirty="0">
                <a:solidFill>
                  <a:schemeClr val="bg2">
                    <a:lumMod val="10000"/>
                  </a:schemeClr>
                </a:solidFill>
                <a:latin typeface="Arial" panose="020B0604020202020204" pitchFamily="34" charset="0"/>
                <a:cs typeface="Arial" panose="020B0604020202020204" pitchFamily="34" charset="0"/>
                <a:sym typeface="+mn-ea"/>
              </a:rPr>
              <a:t>Risk lo</a:t>
            </a:r>
            <a:r>
              <a:rPr lang="en-US" sz="2000" spc="-50" dirty="0">
                <a:solidFill>
                  <a:schemeClr val="bg2">
                    <a:lumMod val="10000"/>
                  </a:schemeClr>
                </a:solidFill>
                <a:latin typeface="Arial" panose="020B0604020202020204" pitchFamily="34" charset="0"/>
                <a:cs typeface="Arial" panose="020B0604020202020204" pitchFamily="34" charset="0"/>
                <a:sym typeface="+mn-ea"/>
              </a:rPr>
              <a:t>g</a:t>
            </a:r>
            <a:endParaRPr lang="en-US" sz="2400" spc="-90" dirty="0">
              <a:solidFill>
                <a:schemeClr val="bg2">
                  <a:lumMod val="10000"/>
                </a:schemeClr>
              </a:solidFill>
              <a:latin typeface="Arial" panose="020B0604020202020204" pitchFamily="34" charset="0"/>
              <a:cs typeface="Arial" panose="020B0604020202020204" pitchFamily="34" charset="0"/>
              <a:sym typeface="+mn-ea"/>
            </a:endParaRPr>
          </a:p>
          <a:p>
            <a:pPr marL="38735" defTabSz="914400" fontAlgn="auto">
              <a:spcBef>
                <a:spcPts val="5"/>
              </a:spcBef>
              <a:buFont typeface="Arial" panose="020B0604020202020204" pitchFamily="34" charset="0"/>
              <a:buChar char="•"/>
            </a:pPr>
            <a:r>
              <a:rPr lang="en-US" sz="2400" spc="-90" dirty="0">
                <a:solidFill>
                  <a:schemeClr val="bg2">
                    <a:lumMod val="10000"/>
                  </a:schemeClr>
                </a:solidFill>
                <a:latin typeface="Arial" panose="020B0604020202020204" pitchFamily="34" charset="0"/>
                <a:cs typeface="Arial" panose="020B0604020202020204" pitchFamily="34" charset="0"/>
                <a:sym typeface="+mn-ea"/>
              </a:rPr>
              <a:t>May produce a first protot</a:t>
            </a:r>
            <a:r>
              <a:rPr lang="en-US" sz="2400" spc="-40" dirty="0">
                <a:solidFill>
                  <a:schemeClr val="bg2">
                    <a:lumMod val="10000"/>
                  </a:schemeClr>
                </a:solidFill>
                <a:latin typeface="Arial" panose="020B0604020202020204" pitchFamily="34" charset="0"/>
                <a:cs typeface="Arial" panose="020B0604020202020204" pitchFamily="34" charset="0"/>
                <a:sym typeface="+mn-ea"/>
              </a:rPr>
              <a:t>y</a:t>
            </a:r>
            <a:r>
              <a:rPr lang="en-US" sz="2400" dirty="0">
                <a:solidFill>
                  <a:schemeClr val="bg2">
                    <a:lumMod val="10000"/>
                  </a:schemeClr>
                </a:solidFill>
                <a:latin typeface="Arial" panose="020B0604020202020204" pitchFamily="34" charset="0"/>
                <a:cs typeface="Arial" panose="020B0604020202020204" pitchFamily="34" charset="0"/>
                <a:sym typeface="+mn-ea"/>
              </a:rPr>
              <a:t>pe</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fontAlgn="auto">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4AEB5B9F-A946-82C2-3BFF-0E6CDE6BAE3C}"/>
              </a:ext>
            </a:extLst>
          </p:cNvPr>
          <p:cNvPicPr>
            <a:picLocks noChangeAspect="1"/>
          </p:cNvPicPr>
          <p:nvPr/>
        </p:nvPicPr>
        <p:blipFill>
          <a:blip r:embed="rId3"/>
          <a:stretch>
            <a:fillRect/>
          </a:stretch>
        </p:blipFill>
        <p:spPr>
          <a:xfrm>
            <a:off x="6549929" y="2502797"/>
            <a:ext cx="4673274" cy="3563372"/>
          </a:xfrm>
          <a:prstGeom prst="rect">
            <a:avLst/>
          </a:prstGeom>
        </p:spPr>
      </p:pic>
      <p:sp>
        <p:nvSpPr>
          <p:cNvPr id="7" name="Slide Number Placeholder 2">
            <a:extLst>
              <a:ext uri="{FF2B5EF4-FFF2-40B4-BE49-F238E27FC236}">
                <a16:creationId xmlns:a16="http://schemas.microsoft.com/office/drawing/2014/main" id="{BEE48F83-C715-D0F7-CAC5-13E8ED70ADA3}"/>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58443-F709-9AA6-4C3A-02134CA6D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C873F-5FC7-7DB9-507B-03FEB4BCE33D}"/>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Feasibility Study</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B5F2B3D-3336-CD33-0672-F7A7D1A2E1BC}"/>
              </a:ext>
            </a:extLst>
          </p:cNvPr>
          <p:cNvSpPr>
            <a:spLocks noGrp="1"/>
          </p:cNvSpPr>
          <p:nvPr>
            <p:ph idx="1"/>
          </p:nvPr>
        </p:nvSpPr>
        <p:spPr>
          <a:xfrm>
            <a:off x="1424903" y="1729212"/>
            <a:ext cx="10045837"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The main goal of this phase is to assess whether the proposed project is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feasible</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viable</a:t>
            </a:r>
            <a:r>
              <a:rPr lang="en-US" sz="2400" spc="-60" dirty="0">
                <a:solidFill>
                  <a:schemeClr val="bg2">
                    <a:lumMod val="10000"/>
                  </a:schemeClr>
                </a:solidFill>
                <a:latin typeface="Arial" panose="020B0604020202020204" pitchFamily="34" charset="0"/>
                <a:cs typeface="Arial" panose="020B0604020202020204" pitchFamily="34" charset="0"/>
                <a:sym typeface="+mn-ea"/>
              </a:rPr>
              <a:t> from a </a:t>
            </a:r>
            <a:r>
              <a:rPr lang="en-US" sz="2400" b="1" spc="-60" dirty="0">
                <a:solidFill>
                  <a:schemeClr val="bg2">
                    <a:lumMod val="10000"/>
                  </a:schemeClr>
                </a:solidFill>
                <a:latin typeface="Arial" panose="020B0604020202020204" pitchFamily="34" charset="0"/>
                <a:cs typeface="Arial" panose="020B0604020202020204" pitchFamily="34" charset="0"/>
                <a:sym typeface="+mn-ea"/>
              </a:rPr>
              <a:t>technical, financial, and operational </a:t>
            </a:r>
            <a:r>
              <a:rPr lang="en-US" sz="2400" spc="-60" dirty="0">
                <a:solidFill>
                  <a:schemeClr val="bg2">
                    <a:lumMod val="10000"/>
                  </a:schemeClr>
                </a:solidFill>
                <a:latin typeface="Arial" panose="020B0604020202020204" pitchFamily="34" charset="0"/>
                <a:cs typeface="Arial" panose="020B0604020202020204" pitchFamily="34" charset="0"/>
                <a:sym typeface="+mn-ea"/>
              </a:rPr>
              <a:t>perspective before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fully committing </a:t>
            </a:r>
            <a:r>
              <a:rPr lang="en-US" sz="2400" spc="-60" dirty="0">
                <a:solidFill>
                  <a:schemeClr val="bg2">
                    <a:lumMod val="10000"/>
                  </a:schemeClr>
                </a:solidFill>
                <a:latin typeface="Arial" panose="020B0604020202020204" pitchFamily="34" charset="0"/>
                <a:cs typeface="Arial" panose="020B0604020202020204" pitchFamily="34" charset="0"/>
                <a:sym typeface="+mn-ea"/>
              </a:rPr>
              <a:t>to the development process.</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In the Feasibility Phase, the focus is on determining whether the project can be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realistically </a:t>
            </a:r>
            <a:r>
              <a:rPr lang="en-US" sz="2400" spc="-60" dirty="0">
                <a:solidFill>
                  <a:schemeClr val="bg2">
                    <a:lumMod val="10000"/>
                  </a:schemeClr>
                </a:solidFill>
                <a:latin typeface="Arial" panose="020B0604020202020204" pitchFamily="34" charset="0"/>
                <a:cs typeface="Arial" panose="020B0604020202020204" pitchFamily="34" charset="0"/>
                <a:sym typeface="+mn-ea"/>
              </a:rPr>
              <a:t>delivered within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defined constraints </a:t>
            </a:r>
            <a:r>
              <a:rPr lang="en-US" sz="2400" spc="-60" dirty="0">
                <a:solidFill>
                  <a:schemeClr val="bg2">
                    <a:lumMod val="10000"/>
                  </a:schemeClr>
                </a:solidFill>
                <a:latin typeface="Arial" panose="020B0604020202020204" pitchFamily="34" charset="0"/>
                <a:cs typeface="Arial" panose="020B0604020202020204" pitchFamily="34" charset="0"/>
                <a:sym typeface="+mn-ea"/>
              </a:rPr>
              <a:t>(such as time, budget, resources, and technology).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It sets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groundwork for moving forward </a:t>
            </a:r>
            <a:r>
              <a:rPr lang="en-US" sz="2400" spc="-60" dirty="0">
                <a:solidFill>
                  <a:schemeClr val="bg2">
                    <a:lumMod val="10000"/>
                  </a:schemeClr>
                </a:solidFill>
                <a:latin typeface="Arial" panose="020B0604020202020204" pitchFamily="34" charset="0"/>
                <a:cs typeface="Arial" panose="020B0604020202020204" pitchFamily="34" charset="0"/>
                <a:sym typeface="+mn-ea"/>
              </a:rPr>
              <a:t>to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next phases of the project</a:t>
            </a:r>
            <a:r>
              <a:rPr lang="en-US" sz="2400" spc="-60" dirty="0">
                <a:solidFill>
                  <a:schemeClr val="bg2">
                    <a:lumMod val="10000"/>
                  </a:schemeClr>
                </a:solidFill>
                <a:latin typeface="Arial" panose="020B0604020202020204" pitchFamily="34" charset="0"/>
                <a:cs typeface="Arial" panose="020B0604020202020204" pitchFamily="34" charset="0"/>
                <a:sym typeface="+mn-ea"/>
              </a:rPr>
              <a:t>.</a:t>
            </a:r>
          </a:p>
        </p:txBody>
      </p:sp>
      <p:sp>
        <p:nvSpPr>
          <p:cNvPr id="9" name="Slide Number Placeholder 2">
            <a:extLst>
              <a:ext uri="{FF2B5EF4-FFF2-40B4-BE49-F238E27FC236}">
                <a16:creationId xmlns:a16="http://schemas.microsoft.com/office/drawing/2014/main" id="{F1A6F400-6A67-50F6-42E2-8924EE062802}"/>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20</a:t>
            </a:fld>
            <a:endParaRPr lang="en-US" dirty="0"/>
          </a:p>
        </p:txBody>
      </p:sp>
    </p:spTree>
    <p:extLst>
      <p:ext uri="{BB962C8B-B14F-4D97-AF65-F5344CB8AC3E}">
        <p14:creationId xmlns:p14="http://schemas.microsoft.com/office/powerpoint/2010/main" val="3738860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DAE33-47D4-9728-19E8-8998B7EF1394}"/>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Feasibility Study</a:t>
            </a:r>
            <a:endParaRPr lang="en-US" dirty="0"/>
          </a:p>
        </p:txBody>
      </p:sp>
      <p:sp>
        <p:nvSpPr>
          <p:cNvPr id="4" name="Content Placeholder 3">
            <a:extLst>
              <a:ext uri="{FF2B5EF4-FFF2-40B4-BE49-F238E27FC236}">
                <a16:creationId xmlns:a16="http://schemas.microsoft.com/office/drawing/2014/main" id="{C4E3A8B4-0499-F3A7-5D2D-A84833ABBAEB}"/>
              </a:ext>
            </a:extLst>
          </p:cNvPr>
          <p:cNvSpPr>
            <a:spLocks noGrp="1"/>
          </p:cNvSpPr>
          <p:nvPr>
            <p:ph idx="1"/>
          </p:nvPr>
        </p:nvSpPr>
        <p:spPr>
          <a:xfrm>
            <a:off x="644771" y="1474840"/>
            <a:ext cx="10709031" cy="4607308"/>
          </a:xfrm>
        </p:spPr>
        <p:txBody>
          <a:bodyPr/>
          <a:lstStyle/>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If the project is deemed </a:t>
            </a:r>
            <a:r>
              <a:rPr lang="en-US" sz="2400" b="1" dirty="0">
                <a:solidFill>
                  <a:schemeClr val="bg2">
                    <a:lumMod val="10000"/>
                  </a:schemeClr>
                </a:solidFill>
                <a:latin typeface="Arial" panose="020B0604020202020204" pitchFamily="34" charset="0"/>
                <a:cs typeface="Arial" panose="020B0604020202020204" pitchFamily="34" charset="0"/>
              </a:rPr>
              <a:t>feasible and the risks can be managed</a:t>
            </a:r>
            <a:r>
              <a:rPr lang="en-US" sz="2400" dirty="0">
                <a:solidFill>
                  <a:schemeClr val="bg2">
                    <a:lumMod val="10000"/>
                  </a:schemeClr>
                </a:solidFill>
                <a:latin typeface="Arial" panose="020B0604020202020204" pitchFamily="34" charset="0"/>
                <a:cs typeface="Arial" panose="020B0604020202020204" pitchFamily="34" charset="0"/>
              </a:rPr>
              <a:t>, it moves on to the next phase where more </a:t>
            </a:r>
            <a:r>
              <a:rPr lang="en-US" sz="2400" b="1" dirty="0">
                <a:solidFill>
                  <a:schemeClr val="bg2">
                    <a:lumMod val="10000"/>
                  </a:schemeClr>
                </a:solidFill>
                <a:latin typeface="Arial" panose="020B0604020202020204" pitchFamily="34" charset="0"/>
                <a:cs typeface="Arial" panose="020B0604020202020204" pitchFamily="34" charset="0"/>
              </a:rPr>
              <a:t>detailed requirements and planning </a:t>
            </a:r>
            <a:r>
              <a:rPr lang="en-US" sz="2400" dirty="0">
                <a:solidFill>
                  <a:schemeClr val="bg2">
                    <a:lumMod val="10000"/>
                  </a:schemeClr>
                </a:solidFill>
                <a:latin typeface="Arial" panose="020B0604020202020204" pitchFamily="34" charset="0"/>
                <a:cs typeface="Arial" panose="020B0604020202020204" pitchFamily="34" charset="0"/>
              </a:rPr>
              <a:t>are developed. </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If the project is found to be </a:t>
            </a:r>
            <a:r>
              <a:rPr lang="en-US" sz="2400" b="1" dirty="0">
                <a:solidFill>
                  <a:schemeClr val="bg2">
                    <a:lumMod val="10000"/>
                  </a:schemeClr>
                </a:solidFill>
                <a:latin typeface="Arial" panose="020B0604020202020204" pitchFamily="34" charset="0"/>
                <a:cs typeface="Arial" panose="020B0604020202020204" pitchFamily="34" charset="0"/>
              </a:rPr>
              <a:t>unfeasible</a:t>
            </a:r>
            <a:r>
              <a:rPr lang="en-US" sz="2400" dirty="0">
                <a:solidFill>
                  <a:schemeClr val="bg2">
                    <a:lumMod val="10000"/>
                  </a:schemeClr>
                </a:solidFill>
                <a:latin typeface="Arial" panose="020B0604020202020204" pitchFamily="34" charset="0"/>
                <a:cs typeface="Arial" panose="020B0604020202020204" pitchFamily="34" charset="0"/>
              </a:rPr>
              <a:t>, the decision may be made to </a:t>
            </a:r>
            <a:r>
              <a:rPr lang="en-US" sz="2400" b="1" dirty="0">
                <a:solidFill>
                  <a:schemeClr val="bg2">
                    <a:lumMod val="10000"/>
                  </a:schemeClr>
                </a:solidFill>
                <a:latin typeface="Arial" panose="020B0604020202020204" pitchFamily="34" charset="0"/>
                <a:cs typeface="Arial" panose="020B0604020202020204" pitchFamily="34" charset="0"/>
              </a:rPr>
              <a:t>alter the scope</a:t>
            </a:r>
            <a:r>
              <a:rPr lang="en-US" sz="2400" dirty="0">
                <a:solidFill>
                  <a:schemeClr val="bg2">
                    <a:lumMod val="10000"/>
                  </a:schemeClr>
                </a:solidFill>
                <a:latin typeface="Arial" panose="020B0604020202020204" pitchFamily="34" charset="0"/>
                <a:cs typeface="Arial" panose="020B0604020202020204" pitchFamily="34" charset="0"/>
              </a:rPr>
              <a:t>, </a:t>
            </a:r>
            <a:r>
              <a:rPr lang="en-US" sz="2400" b="1" dirty="0">
                <a:solidFill>
                  <a:schemeClr val="bg2">
                    <a:lumMod val="10000"/>
                  </a:schemeClr>
                </a:solidFill>
                <a:latin typeface="Arial" panose="020B0604020202020204" pitchFamily="34" charset="0"/>
                <a:cs typeface="Arial" panose="020B0604020202020204" pitchFamily="34" charset="0"/>
              </a:rPr>
              <a:t>re-evaluate the approach</a:t>
            </a:r>
            <a:r>
              <a:rPr lang="en-US" sz="2400" dirty="0">
                <a:solidFill>
                  <a:schemeClr val="bg2">
                    <a:lumMod val="10000"/>
                  </a:schemeClr>
                </a:solidFill>
                <a:latin typeface="Arial" panose="020B0604020202020204" pitchFamily="34" charset="0"/>
                <a:cs typeface="Arial" panose="020B0604020202020204" pitchFamily="34" charset="0"/>
              </a:rPr>
              <a:t>, or </a:t>
            </a:r>
            <a:r>
              <a:rPr lang="en-US" sz="2400" b="1" dirty="0">
                <a:solidFill>
                  <a:schemeClr val="bg2">
                    <a:lumMod val="10000"/>
                  </a:schemeClr>
                </a:solidFill>
                <a:latin typeface="Arial" panose="020B0604020202020204" pitchFamily="34" charset="0"/>
                <a:cs typeface="Arial" panose="020B0604020202020204" pitchFamily="34" charset="0"/>
              </a:rPr>
              <a:t>even abandon the project</a:t>
            </a:r>
            <a:r>
              <a:rPr lang="en-US" sz="2400" dirty="0">
                <a:solidFill>
                  <a:schemeClr val="bg2">
                    <a:lumMod val="10000"/>
                  </a:schemeClr>
                </a:solidFill>
                <a:latin typeface="Arial" panose="020B0604020202020204" pitchFamily="34" charset="0"/>
                <a:cs typeface="Arial" panose="020B0604020202020204" pitchFamily="34" charset="0"/>
              </a:rPr>
              <a:t>.</a:t>
            </a:r>
          </a:p>
          <a:p>
            <a:endParaRPr lang="en-US" dirty="0"/>
          </a:p>
        </p:txBody>
      </p:sp>
      <p:sp>
        <p:nvSpPr>
          <p:cNvPr id="5" name="Slide Number Placeholder 4">
            <a:extLst>
              <a:ext uri="{FF2B5EF4-FFF2-40B4-BE49-F238E27FC236}">
                <a16:creationId xmlns:a16="http://schemas.microsoft.com/office/drawing/2014/main" id="{B1EAAB09-3BF0-CE18-5DDA-D884A0E105F7}"/>
              </a:ext>
            </a:extLst>
          </p:cNvPr>
          <p:cNvSpPr>
            <a:spLocks noGrp="1"/>
          </p:cNvSpPr>
          <p:nvPr>
            <p:ph type="sldNum" sz="quarter" idx="12"/>
          </p:nvPr>
        </p:nvSpPr>
        <p:spPr/>
        <p:txBody>
          <a:bodyPr/>
          <a:lstStyle/>
          <a:p>
            <a:fld id="{4267CD5E-26CF-4249-8540-BB1D07FD4227}" type="slidenum">
              <a:rPr lang="en-US" smtClean="0"/>
              <a:t>21</a:t>
            </a:fld>
            <a:endParaRPr lang="en-US"/>
          </a:p>
        </p:txBody>
      </p:sp>
    </p:spTree>
    <p:extLst>
      <p:ext uri="{BB962C8B-B14F-4D97-AF65-F5344CB8AC3E}">
        <p14:creationId xmlns:p14="http://schemas.microsoft.com/office/powerpoint/2010/main" val="4141455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kern="1200" spc="-80" dirty="0">
                <a:solidFill>
                  <a:srgbClr val="FFFFFF"/>
                </a:solidFill>
                <a:latin typeface="Arial" panose="020B0604020202020204" pitchFamily="34" charset="0"/>
                <a:cs typeface="Arial" panose="020B0604020202020204" pitchFamily="34" charset="0"/>
                <a:sym typeface="+mn-ea"/>
              </a:rPr>
              <a:t>Business Stu</a:t>
            </a:r>
            <a:r>
              <a:rPr lang="en-US" kern="1200" spc="-30" dirty="0">
                <a:solidFill>
                  <a:srgbClr val="FFFFFF"/>
                </a:solidFill>
                <a:latin typeface="Arial" panose="020B0604020202020204" pitchFamily="34" charset="0"/>
                <a:cs typeface="Arial" panose="020B0604020202020204" pitchFamily="34" charset="0"/>
                <a:sym typeface="+mn-ea"/>
              </a:rPr>
              <a:t>d</a:t>
            </a:r>
            <a:r>
              <a:rPr lang="en-US" kern="1200" dirty="0">
                <a:solidFill>
                  <a:srgbClr val="FFFFFF"/>
                </a:solidFill>
                <a:latin typeface="Arial" panose="020B0604020202020204" pitchFamily="34" charset="0"/>
                <a:cs typeface="Arial" panose="020B0604020202020204" pitchFamily="34" charset="0"/>
                <a:sym typeface="+mn-ea"/>
              </a:rPr>
              <a:t>y</a:t>
            </a:r>
            <a:br>
              <a:rPr lang="en-US" altLang="en-US" kern="1200" dirty="0">
                <a:solidFill>
                  <a:srgbClr val="FFFFFF"/>
                </a:solidFill>
                <a:latin typeface="Arial" panose="020B0604020202020204" pitchFamily="34" charset="0"/>
                <a:cs typeface="Arial" panose="020B0604020202020204" pitchFamily="34" charset="0"/>
              </a:rPr>
            </a:br>
            <a:endParaRPr lang="en-US" kern="1200"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396688" y="2378076"/>
            <a:ext cx="5133421" cy="3372316"/>
          </a:xfrm>
        </p:spPr>
        <p:txBody>
          <a:bodyPr vert="horz" lIns="91440" tIns="45720" rIns="91440" bIns="45720" rtlCol="0">
            <a:noAutofit/>
          </a:bodyPr>
          <a:lstStyle/>
          <a:p>
            <a:pPr marL="0" indent="0" defTabSz="914400" fontAlgn="auto">
              <a:spcBef>
                <a:spcPts val="845"/>
              </a:spcBef>
              <a:buNone/>
            </a:pPr>
            <a:endParaRPr lang="en-US" sz="2400" spc="-100" dirty="0">
              <a:solidFill>
                <a:schemeClr val="bg2">
                  <a:lumMod val="10000"/>
                </a:schemeClr>
              </a:solidFill>
              <a:latin typeface="Arial" panose="020B0604020202020204" pitchFamily="34" charset="0"/>
              <a:cs typeface="Arial" panose="020B0604020202020204" pitchFamily="34" charset="0"/>
              <a:sym typeface="+mn-ea"/>
            </a:endParaRPr>
          </a:p>
          <a:p>
            <a:pPr marL="0" indent="0" defTabSz="914400" fontAlgn="auto">
              <a:spcBef>
                <a:spcPts val="845"/>
              </a:spcBef>
              <a:buNone/>
            </a:pPr>
            <a:r>
              <a:rPr lang="en-US" sz="2400" spc="-100" dirty="0">
                <a:solidFill>
                  <a:schemeClr val="bg2">
                    <a:lumMod val="10000"/>
                  </a:schemeClr>
                </a:solidFill>
                <a:latin typeface="Arial" panose="020B0604020202020204" pitchFamily="34" charset="0"/>
                <a:cs typeface="Arial" panose="020B0604020202020204" pitchFamily="34" charset="0"/>
                <a:sym typeface="+mn-ea"/>
              </a:rPr>
              <a:t>Another Facilitated Joint Work</a:t>
            </a:r>
            <a:r>
              <a:rPr lang="en-US" sz="2400" spc="-70" dirty="0">
                <a:solidFill>
                  <a:schemeClr val="bg2">
                    <a:lumMod val="10000"/>
                  </a:schemeClr>
                </a:solidFill>
                <a:latin typeface="Arial" panose="020B0604020202020204" pitchFamily="34" charset="0"/>
                <a:cs typeface="Arial" panose="020B0604020202020204" pitchFamily="34" charset="0"/>
                <a:sym typeface="+mn-ea"/>
              </a:rPr>
              <a:t>s</a:t>
            </a:r>
            <a:r>
              <a:rPr lang="en-US" sz="2400" dirty="0">
                <a:solidFill>
                  <a:schemeClr val="bg2">
                    <a:lumMod val="10000"/>
                  </a:schemeClr>
                </a:solidFill>
                <a:latin typeface="Arial" panose="020B0604020202020204" pitchFamily="34" charset="0"/>
                <a:cs typeface="Arial" panose="020B0604020202020204" pitchFamily="34" charset="0"/>
                <a:sym typeface="+mn-ea"/>
              </a:rPr>
              <a:t>hop</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452755" defTabSz="914400" fontAlgn="auto">
              <a:spcBef>
                <a:spcPts val="35"/>
              </a:spcBef>
              <a:buFont typeface="Arial" panose="020B0604020202020204" pitchFamily="34" charset="0"/>
              <a:buChar char="•"/>
            </a:pPr>
            <a:r>
              <a:rPr lang="en-US" sz="2200" spc="-60" dirty="0">
                <a:solidFill>
                  <a:schemeClr val="bg2">
                    <a:lumMod val="10000"/>
                  </a:schemeClr>
                </a:solidFill>
                <a:latin typeface="Arial" panose="020B0604020202020204" pitchFamily="34" charset="0"/>
                <a:cs typeface="Arial" panose="020B0604020202020204" pitchFamily="34" charset="0"/>
                <a:sym typeface="+mn-ea"/>
              </a:rPr>
              <a:t>Go down to the next level of det</a:t>
            </a:r>
            <a:r>
              <a:rPr lang="en-US" sz="2200" spc="-30" dirty="0">
                <a:solidFill>
                  <a:schemeClr val="bg2">
                    <a:lumMod val="10000"/>
                  </a:schemeClr>
                </a:solidFill>
                <a:latin typeface="Arial" panose="020B0604020202020204" pitchFamily="34" charset="0"/>
                <a:cs typeface="Arial" panose="020B0604020202020204" pitchFamily="34" charset="0"/>
                <a:sym typeface="+mn-ea"/>
              </a:rPr>
              <a:t>a</a:t>
            </a:r>
            <a:r>
              <a:rPr lang="en-US" sz="2200" dirty="0">
                <a:solidFill>
                  <a:schemeClr val="bg2">
                    <a:lumMod val="10000"/>
                  </a:schemeClr>
                </a:solidFill>
                <a:latin typeface="Arial" panose="020B0604020202020204" pitchFamily="34" charset="0"/>
                <a:cs typeface="Arial" panose="020B0604020202020204" pitchFamily="34" charset="0"/>
                <a:sym typeface="+mn-ea"/>
              </a:rPr>
              <a:t>il       </a:t>
            </a:r>
          </a:p>
          <a:p>
            <a:pPr marL="452755" defTabSz="914400" fontAlgn="auto">
              <a:spcBef>
                <a:spcPts val="35"/>
              </a:spcBef>
              <a:buFont typeface="Arial" panose="020B0604020202020204" pitchFamily="34" charset="0"/>
              <a:buChar char="•"/>
            </a:pPr>
            <a:endParaRPr lang="en-US" sz="2200" spc="-130" dirty="0">
              <a:solidFill>
                <a:schemeClr val="bg2">
                  <a:lumMod val="10000"/>
                </a:schemeClr>
              </a:solidFill>
              <a:latin typeface="Arial" panose="020B0604020202020204" pitchFamily="34" charset="0"/>
              <a:cs typeface="Arial" panose="020B0604020202020204" pitchFamily="34" charset="0"/>
              <a:sym typeface="+mn-ea"/>
            </a:endParaRPr>
          </a:p>
          <a:p>
            <a:pPr marL="452755" defTabSz="914400" fontAlgn="auto">
              <a:spcBef>
                <a:spcPts val="35"/>
              </a:spcBef>
              <a:buFont typeface="Arial" panose="020B0604020202020204" pitchFamily="34" charset="0"/>
              <a:buChar char="•"/>
            </a:pPr>
            <a:r>
              <a:rPr lang="en-US" sz="2200" spc="-130" dirty="0">
                <a:solidFill>
                  <a:schemeClr val="bg2">
                    <a:lumMod val="10000"/>
                  </a:schemeClr>
                </a:solidFill>
                <a:latin typeface="Arial" panose="020B0604020202020204" pitchFamily="34" charset="0"/>
                <a:cs typeface="Arial" panose="020B0604020202020204" pitchFamily="34" charset="0"/>
                <a:sym typeface="+mn-ea"/>
              </a:rPr>
              <a:t>Produce</a:t>
            </a:r>
            <a:r>
              <a:rPr lang="en-US" sz="2200" spc="-60" dirty="0">
                <a:solidFill>
                  <a:schemeClr val="bg2">
                    <a:lumMod val="10000"/>
                  </a:schemeClr>
                </a:solidFill>
                <a:latin typeface="Arial" panose="020B0604020202020204" pitchFamily="34" charset="0"/>
                <a:cs typeface="Arial" panose="020B0604020202020204" pitchFamily="34" charset="0"/>
                <a:sym typeface="+mn-ea"/>
              </a:rPr>
              <a:t>s</a:t>
            </a:r>
            <a:r>
              <a:rPr lang="en-US" sz="2200" spc="-130" dirty="0">
                <a:solidFill>
                  <a:schemeClr val="bg2">
                    <a:lumMod val="10000"/>
                  </a:schemeClr>
                </a:solidFill>
                <a:latin typeface="Arial" panose="020B0604020202020204" pitchFamily="34" charset="0"/>
                <a:cs typeface="Arial" panose="020B0604020202020204" pitchFamily="34" charset="0"/>
                <a:sym typeface="+mn-ea"/>
              </a:rPr>
              <a:t>:</a:t>
            </a:r>
            <a:endParaRPr lang="en-US" sz="2200" spc="-80" dirty="0">
              <a:solidFill>
                <a:schemeClr val="bg2">
                  <a:lumMod val="10000"/>
                </a:schemeClr>
              </a:solidFill>
              <a:latin typeface="Arial" panose="020B0604020202020204" pitchFamily="34" charset="0"/>
              <a:cs typeface="Arial" panose="020B0604020202020204" pitchFamily="34" charset="0"/>
              <a:sym typeface="+mn-ea"/>
            </a:endParaRPr>
          </a:p>
          <a:p>
            <a:pPr marL="777240" lvl="3" defTabSz="914400">
              <a:buFont typeface="Arial" panose="020B0604020202020204" pitchFamily="34" charset="0"/>
              <a:buChar char="•"/>
            </a:pPr>
            <a:r>
              <a:rPr lang="en-US" sz="2200" spc="-80" dirty="0">
                <a:solidFill>
                  <a:schemeClr val="bg2">
                    <a:lumMod val="10000"/>
                  </a:schemeClr>
                </a:solidFill>
                <a:latin typeface="Arial" panose="020B0604020202020204" pitchFamily="34" charset="0"/>
                <a:cs typeface="Arial" panose="020B0604020202020204" pitchFamily="34" charset="0"/>
                <a:sym typeface="+mn-ea"/>
              </a:rPr>
              <a:t>	Business Area definiti</a:t>
            </a:r>
            <a:r>
              <a:rPr lang="en-US" sz="2200" spc="-60" dirty="0">
                <a:solidFill>
                  <a:schemeClr val="bg2">
                    <a:lumMod val="10000"/>
                  </a:schemeClr>
                </a:solidFill>
                <a:latin typeface="Arial" panose="020B0604020202020204" pitchFamily="34" charset="0"/>
                <a:cs typeface="Arial" panose="020B0604020202020204" pitchFamily="34" charset="0"/>
                <a:sym typeface="+mn-ea"/>
              </a:rPr>
              <a:t>o</a:t>
            </a:r>
            <a:r>
              <a:rPr lang="en-US" sz="2200" dirty="0">
                <a:solidFill>
                  <a:schemeClr val="bg2">
                    <a:lumMod val="10000"/>
                  </a:schemeClr>
                </a:solidFill>
                <a:latin typeface="Arial" panose="020B0604020202020204" pitchFamily="34" charset="0"/>
                <a:cs typeface="Arial" panose="020B0604020202020204" pitchFamily="34" charset="0"/>
                <a:sym typeface="+mn-ea"/>
              </a:rPr>
              <a:t>n</a:t>
            </a:r>
          </a:p>
          <a:p>
            <a:pPr marL="777240" lvl="3" defTabSz="914400">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sym typeface="+mn-ea"/>
              </a:rPr>
              <a:t>	</a:t>
            </a:r>
            <a:r>
              <a:rPr lang="en-US" sz="2200" spc="-70" dirty="0">
                <a:solidFill>
                  <a:schemeClr val="bg2">
                    <a:lumMod val="10000"/>
                  </a:schemeClr>
                </a:solidFill>
                <a:latin typeface="Arial" panose="020B0604020202020204" pitchFamily="34" charset="0"/>
                <a:cs typeface="Arial" panose="020B0604020202020204" pitchFamily="34" charset="0"/>
                <a:sym typeface="+mn-ea"/>
              </a:rPr>
              <a:t>Prioritized requirements Lis</a:t>
            </a:r>
            <a:r>
              <a:rPr lang="en-US" sz="2200" spc="-50" dirty="0">
                <a:solidFill>
                  <a:schemeClr val="bg2">
                    <a:lumMod val="10000"/>
                  </a:schemeClr>
                </a:solidFill>
                <a:latin typeface="Arial" panose="020B0604020202020204" pitchFamily="34" charset="0"/>
                <a:cs typeface="Arial" panose="020B0604020202020204" pitchFamily="34" charset="0"/>
                <a:sym typeface="+mn-ea"/>
              </a:rPr>
              <a:t>t</a:t>
            </a:r>
          </a:p>
          <a:p>
            <a:pPr marL="777240" lvl="3" defTabSz="914400">
              <a:buFont typeface="Arial" panose="020B0604020202020204" pitchFamily="34" charset="0"/>
              <a:buChar char="•"/>
            </a:pPr>
            <a:r>
              <a:rPr lang="en-US" sz="2200" spc="-50" dirty="0">
                <a:solidFill>
                  <a:schemeClr val="bg2">
                    <a:lumMod val="10000"/>
                  </a:schemeClr>
                </a:solidFill>
                <a:latin typeface="Arial" panose="020B0604020202020204" pitchFamily="34" charset="0"/>
                <a:cs typeface="Arial" panose="020B0604020202020204" pitchFamily="34" charset="0"/>
                <a:sym typeface="+mn-ea"/>
              </a:rPr>
              <a:t>	</a:t>
            </a:r>
            <a:r>
              <a:rPr lang="en-US" sz="2200" spc="-60" dirty="0">
                <a:solidFill>
                  <a:schemeClr val="bg2">
                    <a:lumMod val="10000"/>
                  </a:schemeClr>
                </a:solidFill>
                <a:latin typeface="Arial" panose="020B0604020202020204" pitchFamily="34" charset="0"/>
                <a:cs typeface="Arial" panose="020B0604020202020204" pitchFamily="34" charset="0"/>
                <a:sym typeface="+mn-ea"/>
              </a:rPr>
              <a:t>Development pl</a:t>
            </a:r>
            <a:r>
              <a:rPr lang="en-US" sz="2200" spc="-20" dirty="0">
                <a:solidFill>
                  <a:schemeClr val="bg2">
                    <a:lumMod val="10000"/>
                  </a:schemeClr>
                </a:solidFill>
                <a:latin typeface="Arial" panose="020B0604020202020204" pitchFamily="34" charset="0"/>
                <a:cs typeface="Arial" panose="020B0604020202020204" pitchFamily="34" charset="0"/>
                <a:sym typeface="+mn-ea"/>
              </a:rPr>
              <a:t>a</a:t>
            </a:r>
            <a:r>
              <a:rPr lang="en-US" sz="2200" dirty="0">
                <a:solidFill>
                  <a:schemeClr val="bg2">
                    <a:lumMod val="10000"/>
                  </a:schemeClr>
                </a:solidFill>
                <a:latin typeface="Arial" panose="020B0604020202020204" pitchFamily="34" charset="0"/>
                <a:cs typeface="Arial" panose="020B0604020202020204" pitchFamily="34" charset="0"/>
                <a:sym typeface="+mn-ea"/>
              </a:rPr>
              <a:t>n</a:t>
            </a:r>
          </a:p>
          <a:p>
            <a:pPr marL="777240" lvl="3" defTabSz="914400">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sym typeface="+mn-ea"/>
              </a:rPr>
              <a:t>	</a:t>
            </a:r>
            <a:r>
              <a:rPr lang="en-US" sz="2200" spc="-90" dirty="0">
                <a:solidFill>
                  <a:schemeClr val="bg2">
                    <a:lumMod val="10000"/>
                  </a:schemeClr>
                </a:solidFill>
                <a:latin typeface="Arial" panose="020B0604020202020204" pitchFamily="34" charset="0"/>
                <a:cs typeface="Arial" panose="020B0604020202020204" pitchFamily="34" charset="0"/>
                <a:sym typeface="+mn-ea"/>
              </a:rPr>
              <a:t>System architecture defini</a:t>
            </a:r>
            <a:r>
              <a:rPr lang="en-US" sz="2200" spc="-80" dirty="0">
                <a:solidFill>
                  <a:schemeClr val="bg2">
                    <a:lumMod val="10000"/>
                  </a:schemeClr>
                </a:solidFill>
                <a:latin typeface="Arial" panose="020B0604020202020204" pitchFamily="34" charset="0"/>
                <a:cs typeface="Arial" panose="020B0604020202020204" pitchFamily="34" charset="0"/>
                <a:sym typeface="+mn-ea"/>
              </a:rPr>
              <a:t>t</a:t>
            </a:r>
            <a:r>
              <a:rPr lang="en-US" sz="2200" dirty="0">
                <a:solidFill>
                  <a:schemeClr val="bg2">
                    <a:lumMod val="10000"/>
                  </a:schemeClr>
                </a:solidFill>
                <a:latin typeface="Arial" panose="020B0604020202020204" pitchFamily="34" charset="0"/>
                <a:cs typeface="Arial" panose="020B0604020202020204" pitchFamily="34" charset="0"/>
                <a:sym typeface="+mn-ea"/>
              </a:rPr>
              <a:t>ion</a:t>
            </a:r>
          </a:p>
          <a:p>
            <a:pPr marL="777240" lvl="3" defTabSz="914400">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sym typeface="+mn-ea"/>
              </a:rPr>
              <a:t>	</a:t>
            </a:r>
            <a:r>
              <a:rPr lang="en-US" sz="2200" spc="-70" dirty="0">
                <a:solidFill>
                  <a:schemeClr val="bg2">
                    <a:lumMod val="10000"/>
                  </a:schemeClr>
                </a:solidFill>
                <a:latin typeface="Arial" panose="020B0604020202020204" pitchFamily="34" charset="0"/>
                <a:cs typeface="Arial" panose="020B0604020202020204" pitchFamily="34" charset="0"/>
                <a:sym typeface="+mn-ea"/>
              </a:rPr>
              <a:t>Updated risk lo</a:t>
            </a:r>
            <a:r>
              <a:rPr lang="en-US" sz="2200" spc="-60" dirty="0">
                <a:solidFill>
                  <a:schemeClr val="bg2">
                    <a:lumMod val="10000"/>
                  </a:schemeClr>
                </a:solidFill>
                <a:latin typeface="Arial" panose="020B0604020202020204" pitchFamily="34" charset="0"/>
                <a:cs typeface="Arial" panose="020B0604020202020204" pitchFamily="34" charset="0"/>
                <a:sym typeface="+mn-ea"/>
              </a:rPr>
              <a:t>g</a:t>
            </a:r>
            <a:endParaRPr lang="en-US" altLang="en-US" sz="2200" dirty="0">
              <a:solidFill>
                <a:schemeClr val="bg2">
                  <a:lumMod val="10000"/>
                </a:schemeClr>
              </a:solidFill>
              <a:latin typeface="Arial" panose="020B0604020202020204" pitchFamily="34" charset="0"/>
              <a:cs typeface="Arial" panose="020B0604020202020204" pitchFamily="34" charset="0"/>
            </a:endParaRPr>
          </a:p>
          <a:p>
            <a:pPr marL="0" defTabSz="914400" fontAlgn="auto">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0" defTabSz="914400" fontAlgn="auto">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452755" defTabSz="914400" fontAlgn="auto">
              <a:spcBef>
                <a:spcPts val="35"/>
              </a:spcBef>
              <a:buFont typeface="Arial" panose="020B0604020202020204" pitchFamily="34" charset="0"/>
              <a:buChar char="•"/>
            </a:pPr>
            <a:endParaRPr lang="en-US" sz="2400" spc="-130" dirty="0">
              <a:solidFill>
                <a:schemeClr val="bg2">
                  <a:lumMod val="10000"/>
                </a:schemeClr>
              </a:solidFill>
              <a:latin typeface="Arial" panose="020B0604020202020204" pitchFamily="34" charset="0"/>
              <a:cs typeface="Arial" panose="020B0604020202020204" pitchFamily="34" charset="0"/>
              <a:sym typeface="+mn-ea"/>
            </a:endParaRPr>
          </a:p>
          <a:p>
            <a:pPr marL="452755" defTabSz="914400" fontAlgn="auto">
              <a:spcBef>
                <a:spcPts val="35"/>
              </a:spcBef>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fontAlgn="auto">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fontAlgn="auto">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5" name="Picture 4" descr="Diagram&#10;&#10;Description automatically generated">
            <a:extLst>
              <a:ext uri="{FF2B5EF4-FFF2-40B4-BE49-F238E27FC236}">
                <a16:creationId xmlns:a16="http://schemas.microsoft.com/office/drawing/2014/main" id="{1675EEC1-2FEC-A535-A9A0-B9FFEE166B63}"/>
              </a:ext>
            </a:extLst>
          </p:cNvPr>
          <p:cNvPicPr>
            <a:picLocks noChangeAspect="1"/>
          </p:cNvPicPr>
          <p:nvPr/>
        </p:nvPicPr>
        <p:blipFill>
          <a:blip r:embed="rId2"/>
          <a:stretch>
            <a:fillRect/>
          </a:stretch>
        </p:blipFill>
        <p:spPr>
          <a:xfrm>
            <a:off x="6163457" y="2492376"/>
            <a:ext cx="4673274" cy="3563372"/>
          </a:xfrm>
          <a:prstGeom prst="rect">
            <a:avLst/>
          </a:prstGeom>
        </p:spPr>
      </p:pic>
      <p:sp>
        <p:nvSpPr>
          <p:cNvPr id="6" name="Slide Number Placeholder 2">
            <a:extLst>
              <a:ext uri="{FF2B5EF4-FFF2-40B4-BE49-F238E27FC236}">
                <a16:creationId xmlns:a16="http://schemas.microsoft.com/office/drawing/2014/main" id="{91B90BE4-941A-AAE2-0349-75B30E96550E}"/>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7D893-A200-A9D9-57E5-5A4C49A55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7A887-247C-D1E8-ED2E-EA867052B143}"/>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Business Study</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CCC8B3CC-D805-9013-2060-EB7F68FFE5E1}"/>
              </a:ext>
            </a:extLst>
          </p:cNvPr>
          <p:cNvSpPr>
            <a:spLocks noGrp="1"/>
          </p:cNvSpPr>
          <p:nvPr>
            <p:ph idx="1"/>
          </p:nvPr>
        </p:nvSpPr>
        <p:spPr>
          <a:xfrm>
            <a:off x="1424903" y="1729212"/>
            <a:ext cx="10045837"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The primary objective of this phase is to gather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detailed business requirements</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understand the business needs in-depth</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refine the project’s scope and goals</a:t>
            </a:r>
            <a:r>
              <a:rPr lang="en-US" sz="2400" spc="-60" dirty="0">
                <a:solidFill>
                  <a:schemeClr val="bg2">
                    <a:lumMod val="10000"/>
                  </a:schemeClr>
                </a:solidFill>
                <a:latin typeface="Arial" panose="020B0604020202020204" pitchFamily="34" charset="0"/>
                <a:cs typeface="Arial" panose="020B0604020202020204" pitchFamily="34" charset="0"/>
                <a:sym typeface="+mn-ea"/>
              </a:rPr>
              <a:t>.</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During the Business Study Phase, the focus is on identifying and clearly defining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functional</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non-functional</a:t>
            </a:r>
            <a:r>
              <a:rPr lang="en-US" sz="2400" spc="-60" dirty="0">
                <a:solidFill>
                  <a:schemeClr val="bg2">
                    <a:lumMod val="10000"/>
                  </a:schemeClr>
                </a:solidFill>
                <a:latin typeface="Arial" panose="020B0604020202020204" pitchFamily="34" charset="0"/>
                <a:cs typeface="Arial" panose="020B0604020202020204" pitchFamily="34" charset="0"/>
                <a:sym typeface="+mn-ea"/>
              </a:rPr>
              <a:t> requirements of the system, ensuring that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the solution aligns with the business objectives</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It is a critical phase for setting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foundation</a:t>
            </a:r>
            <a:r>
              <a:rPr lang="en-US" sz="2400" spc="-60" dirty="0">
                <a:solidFill>
                  <a:schemeClr val="bg2">
                    <a:lumMod val="10000"/>
                  </a:schemeClr>
                </a:solidFill>
                <a:latin typeface="Arial" panose="020B0604020202020204" pitchFamily="34" charset="0"/>
                <a:cs typeface="Arial" panose="020B0604020202020204" pitchFamily="34" charset="0"/>
                <a:sym typeface="+mn-ea"/>
              </a:rPr>
              <a:t> for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solution</a:t>
            </a:r>
            <a:r>
              <a:rPr lang="en-US" sz="2400" spc="-60" dirty="0">
                <a:solidFill>
                  <a:schemeClr val="bg2">
                    <a:lumMod val="10000"/>
                  </a:schemeClr>
                </a:solidFill>
                <a:latin typeface="Arial" panose="020B0604020202020204" pitchFamily="34" charset="0"/>
                <a:cs typeface="Arial" panose="020B0604020202020204" pitchFamily="34" charset="0"/>
                <a:sym typeface="+mn-ea"/>
              </a:rPr>
              <a:t> that will be developed in later phases.</a:t>
            </a:r>
          </a:p>
        </p:txBody>
      </p:sp>
      <p:sp>
        <p:nvSpPr>
          <p:cNvPr id="9" name="Slide Number Placeholder 2">
            <a:extLst>
              <a:ext uri="{FF2B5EF4-FFF2-40B4-BE49-F238E27FC236}">
                <a16:creationId xmlns:a16="http://schemas.microsoft.com/office/drawing/2014/main" id="{CE382F97-82ED-7F8A-E94D-EF8A0B41CD4A}"/>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23</a:t>
            </a:fld>
            <a:endParaRPr lang="en-US" dirty="0"/>
          </a:p>
        </p:txBody>
      </p:sp>
    </p:spTree>
    <p:extLst>
      <p:ext uri="{BB962C8B-B14F-4D97-AF65-F5344CB8AC3E}">
        <p14:creationId xmlns:p14="http://schemas.microsoft.com/office/powerpoint/2010/main" val="261109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DD47-D0E4-D06C-6EE3-883FD6722862}"/>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Business Study</a:t>
            </a:r>
            <a:endParaRPr lang="en-US" dirty="0"/>
          </a:p>
        </p:txBody>
      </p:sp>
      <p:sp>
        <p:nvSpPr>
          <p:cNvPr id="4" name="Content Placeholder 3">
            <a:extLst>
              <a:ext uri="{FF2B5EF4-FFF2-40B4-BE49-F238E27FC236}">
                <a16:creationId xmlns:a16="http://schemas.microsoft.com/office/drawing/2014/main" id="{4F4A6F1A-9710-5180-4956-CBD3F39DC2A2}"/>
              </a:ext>
            </a:extLst>
          </p:cNvPr>
          <p:cNvSpPr>
            <a:spLocks noGrp="1"/>
          </p:cNvSpPr>
          <p:nvPr>
            <p:ph idx="1"/>
          </p:nvPr>
        </p:nvSpPr>
        <p:spPr>
          <a:xfrm>
            <a:off x="644771" y="1445342"/>
            <a:ext cx="10709031" cy="4636805"/>
          </a:xfrm>
        </p:spPr>
        <p:txBody>
          <a:bodyPr>
            <a:normAutofit/>
          </a:bodyPr>
          <a:lstStyle/>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The Business Study Phase is crucial because it ensures that the </a:t>
            </a:r>
            <a:r>
              <a:rPr lang="en-US" sz="2400" b="1" dirty="0">
                <a:solidFill>
                  <a:schemeClr val="bg2">
                    <a:lumMod val="10000"/>
                  </a:schemeClr>
                </a:solidFill>
                <a:latin typeface="Arial" panose="020B0604020202020204" pitchFamily="34" charset="0"/>
                <a:cs typeface="Arial" panose="020B0604020202020204" pitchFamily="34" charset="0"/>
              </a:rPr>
              <a:t>project remains focused on the business needs</a:t>
            </a:r>
            <a:r>
              <a:rPr lang="en-US" sz="2400" dirty="0">
                <a:solidFill>
                  <a:schemeClr val="bg2">
                    <a:lumMod val="10000"/>
                  </a:schemeClr>
                </a:solidFill>
                <a:latin typeface="Arial" panose="020B0604020202020204" pitchFamily="34" charset="0"/>
                <a:cs typeface="Arial" panose="020B0604020202020204" pitchFamily="34" charset="0"/>
              </a:rPr>
              <a:t>, </a:t>
            </a:r>
            <a:r>
              <a:rPr lang="en-US" sz="2400" b="1" dirty="0">
                <a:solidFill>
                  <a:schemeClr val="bg2">
                    <a:lumMod val="10000"/>
                  </a:schemeClr>
                </a:solidFill>
                <a:latin typeface="Arial" panose="020B0604020202020204" pitchFamily="34" charset="0"/>
                <a:cs typeface="Arial" panose="020B0604020202020204" pitchFamily="34" charset="0"/>
              </a:rPr>
              <a:t>delivering a solution that truly provides value.</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It serves as a </a:t>
            </a:r>
            <a:r>
              <a:rPr lang="en-US" sz="2400" b="1" dirty="0">
                <a:solidFill>
                  <a:schemeClr val="bg2">
                    <a:lumMod val="10000"/>
                  </a:schemeClr>
                </a:solidFill>
                <a:latin typeface="Arial" panose="020B0604020202020204" pitchFamily="34" charset="0"/>
                <a:cs typeface="Arial" panose="020B0604020202020204" pitchFamily="34" charset="0"/>
              </a:rPr>
              <a:t>bridge</a:t>
            </a:r>
            <a:r>
              <a:rPr lang="en-US" sz="2400" dirty="0">
                <a:solidFill>
                  <a:schemeClr val="bg2">
                    <a:lumMod val="10000"/>
                  </a:schemeClr>
                </a:solidFill>
                <a:latin typeface="Arial" panose="020B0604020202020204" pitchFamily="34" charset="0"/>
                <a:cs typeface="Arial" panose="020B0604020202020204" pitchFamily="34" charset="0"/>
              </a:rPr>
              <a:t> between </a:t>
            </a:r>
            <a:r>
              <a:rPr lang="en-US" sz="2400" b="1" dirty="0">
                <a:solidFill>
                  <a:schemeClr val="bg2">
                    <a:lumMod val="10000"/>
                  </a:schemeClr>
                </a:solidFill>
                <a:latin typeface="Arial" panose="020B0604020202020204" pitchFamily="34" charset="0"/>
                <a:cs typeface="Arial" panose="020B0604020202020204" pitchFamily="34" charset="0"/>
              </a:rPr>
              <a:t>understanding the business goals </a:t>
            </a:r>
            <a:r>
              <a:rPr lang="en-US" sz="2400" dirty="0">
                <a:solidFill>
                  <a:schemeClr val="bg2">
                    <a:lumMod val="10000"/>
                  </a:schemeClr>
                </a:solidFill>
                <a:latin typeface="Arial" panose="020B0604020202020204" pitchFamily="34" charset="0"/>
                <a:cs typeface="Arial" panose="020B0604020202020204" pitchFamily="34" charset="0"/>
              </a:rPr>
              <a:t>and </a:t>
            </a:r>
            <a:r>
              <a:rPr lang="en-US" sz="2400" b="1" dirty="0">
                <a:solidFill>
                  <a:schemeClr val="bg2">
                    <a:lumMod val="10000"/>
                  </a:schemeClr>
                </a:solidFill>
                <a:latin typeface="Arial" panose="020B0604020202020204" pitchFamily="34" charset="0"/>
                <a:cs typeface="Arial" panose="020B0604020202020204" pitchFamily="34" charset="0"/>
              </a:rPr>
              <a:t>moving forward with the technical development and detailed design of the system</a:t>
            </a:r>
            <a:r>
              <a:rPr lang="en-US" sz="2400" dirty="0">
                <a:solidFill>
                  <a:schemeClr val="bg2">
                    <a:lumMod val="10000"/>
                  </a:schemeClr>
                </a:solidFill>
                <a:latin typeface="Arial" panose="020B0604020202020204" pitchFamily="34" charset="0"/>
                <a:cs typeface="Arial" panose="020B0604020202020204" pitchFamily="34" charset="0"/>
              </a:rPr>
              <a:t> in the following phases (like the Functional Model Iteration Phase).</a:t>
            </a:r>
          </a:p>
          <a:p>
            <a:endParaRPr lang="en-US" sz="2400" dirty="0"/>
          </a:p>
        </p:txBody>
      </p:sp>
      <p:sp>
        <p:nvSpPr>
          <p:cNvPr id="5" name="Slide Number Placeholder 4">
            <a:extLst>
              <a:ext uri="{FF2B5EF4-FFF2-40B4-BE49-F238E27FC236}">
                <a16:creationId xmlns:a16="http://schemas.microsoft.com/office/drawing/2014/main" id="{A17FA1AF-515B-FAB0-1953-F3E3BDB08B92}"/>
              </a:ext>
            </a:extLst>
          </p:cNvPr>
          <p:cNvSpPr>
            <a:spLocks noGrp="1"/>
          </p:cNvSpPr>
          <p:nvPr>
            <p:ph type="sldNum" sz="quarter" idx="12"/>
          </p:nvPr>
        </p:nvSpPr>
        <p:spPr/>
        <p:txBody>
          <a:bodyPr/>
          <a:lstStyle/>
          <a:p>
            <a:fld id="{4267CD5E-26CF-4249-8540-BB1D07FD4227}" type="slidenum">
              <a:rPr lang="en-US" smtClean="0"/>
              <a:t>24</a:t>
            </a:fld>
            <a:endParaRPr lang="en-US"/>
          </a:p>
        </p:txBody>
      </p:sp>
    </p:spTree>
    <p:extLst>
      <p:ext uri="{BB962C8B-B14F-4D97-AF65-F5344CB8AC3E}">
        <p14:creationId xmlns:p14="http://schemas.microsoft.com/office/powerpoint/2010/main" val="4147004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79"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spc="-10" dirty="0">
                <a:solidFill>
                  <a:srgbClr val="FFFFFF"/>
                </a:solidFill>
                <a:latin typeface="Arial" panose="020B0604020202020204" pitchFamily="34" charset="0"/>
                <a:cs typeface="Arial" panose="020B0604020202020204" pitchFamily="34" charset="0"/>
                <a:sym typeface="+mn-ea"/>
              </a:rPr>
              <a:t>Functional model </a:t>
            </a:r>
            <a:r>
              <a:rPr lang="en-US" dirty="0">
                <a:solidFill>
                  <a:srgbClr val="FFFFFF"/>
                </a:solidFill>
                <a:latin typeface="Arial" panose="020B0604020202020204" pitchFamily="34" charset="0"/>
                <a:cs typeface="Arial" panose="020B0604020202020204" pitchFamily="34" charset="0"/>
                <a:sym typeface="+mn-ea"/>
              </a:rPr>
              <a:t>iteration</a:t>
            </a:r>
            <a:br>
              <a:rPr lang="en-US" altLang="en-US" dirty="0">
                <a:solidFill>
                  <a:srgbClr val="FFFFFF"/>
                </a:solidFill>
                <a:latin typeface="Arial" panose="020B0604020202020204" pitchFamily="34" charset="0"/>
                <a:cs typeface="Arial" panose="020B0604020202020204" pitchFamily="34" charset="0"/>
              </a:rPr>
            </a:br>
            <a:endParaRPr lang="en-US"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299099" y="2543175"/>
            <a:ext cx="5704374" cy="3972241"/>
          </a:xfrm>
        </p:spPr>
        <p:txBody>
          <a:bodyPr vert="horz" lIns="91440" tIns="45720" rIns="91440" bIns="45720" rtlCol="0">
            <a:normAutofit fontScale="92500" lnSpcReduction="10000"/>
          </a:bodyPr>
          <a:lstStyle/>
          <a:p>
            <a:pPr defTabSz="914400">
              <a:buFont typeface="Arial" panose="020B0604020202020204" pitchFamily="34" charset="0"/>
              <a:buChar char="•"/>
            </a:pPr>
            <a:r>
              <a:rPr lang="en-US" sz="2400" spc="-90" dirty="0">
                <a:solidFill>
                  <a:schemeClr val="bg2">
                    <a:lumMod val="10000"/>
                  </a:schemeClr>
                </a:solidFill>
                <a:latin typeface="Arial" panose="020B0604020202020204" pitchFamily="34" charset="0"/>
                <a:cs typeface="Arial" panose="020B0604020202020204" pitchFamily="34" charset="0"/>
                <a:sym typeface="+mn-ea"/>
              </a:rPr>
              <a:t>Produce functional model of sys</a:t>
            </a:r>
            <a:r>
              <a:rPr lang="en-US" sz="2400" spc="-80" dirty="0">
                <a:solidFill>
                  <a:schemeClr val="bg2">
                    <a:lumMod val="10000"/>
                  </a:schemeClr>
                </a:solidFill>
                <a:latin typeface="Arial" panose="020B0604020202020204" pitchFamily="34" charset="0"/>
                <a:cs typeface="Arial" panose="020B0604020202020204" pitchFamily="34" charset="0"/>
                <a:sym typeface="+mn-ea"/>
              </a:rPr>
              <a:t>t</a:t>
            </a:r>
            <a:r>
              <a:rPr lang="en-US" sz="2400" dirty="0">
                <a:solidFill>
                  <a:schemeClr val="bg2">
                    <a:lumMod val="10000"/>
                  </a:schemeClr>
                </a:solidFill>
                <a:latin typeface="Arial" panose="020B0604020202020204" pitchFamily="34" charset="0"/>
                <a:cs typeface="Arial" panose="020B0604020202020204" pitchFamily="34" charset="0"/>
                <a:sym typeface="+mn-ea"/>
              </a:rPr>
              <a:t>em</a:t>
            </a:r>
            <a:r>
              <a:rPr lang="en-US" sz="2400" spc="-90" dirty="0">
                <a:solidFill>
                  <a:schemeClr val="bg2">
                    <a:lumMod val="10000"/>
                  </a:schemeClr>
                </a:solidFill>
                <a:latin typeface="Arial" panose="020B0604020202020204" pitchFamily="34" charset="0"/>
                <a:cs typeface="Arial" panose="020B0604020202020204" pitchFamily="34" charset="0"/>
                <a:sym typeface="+mn-ea"/>
              </a:rPr>
              <a:t>:</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1107440" lvl="1" defTabSz="914400">
              <a:spcBef>
                <a:spcPts val="660"/>
              </a:spcBef>
              <a:buFont typeface="Arial" panose="020B0604020202020204" pitchFamily="34" charset="0"/>
              <a:buChar char="•"/>
            </a:pPr>
            <a:r>
              <a:rPr lang="en-US" sz="2000" spc="-60" dirty="0">
                <a:solidFill>
                  <a:schemeClr val="bg2">
                    <a:lumMod val="10000"/>
                  </a:schemeClr>
                </a:solidFill>
                <a:latin typeface="Arial" panose="020B0604020202020204" pitchFamily="34" charset="0"/>
                <a:cs typeface="Arial" panose="020B0604020202020204" pitchFamily="34" charset="0"/>
                <a:sym typeface="+mn-ea"/>
              </a:rPr>
              <a:t>Prototype</a:t>
            </a:r>
            <a:r>
              <a:rPr lang="en-US" sz="2000" dirty="0">
                <a:solidFill>
                  <a:schemeClr val="bg2">
                    <a:lumMod val="10000"/>
                  </a:schemeClr>
                </a:solidFill>
                <a:latin typeface="Arial" panose="020B0604020202020204" pitchFamily="34" charset="0"/>
                <a:cs typeface="Arial" panose="020B0604020202020204" pitchFamily="34" charset="0"/>
                <a:sym typeface="+mn-ea"/>
              </a:rPr>
              <a:t>s</a:t>
            </a:r>
          </a:p>
          <a:p>
            <a:pPr marL="1107440" lvl="1" defTabSz="914400">
              <a:spcBef>
                <a:spcPts val="660"/>
              </a:spcBef>
              <a:buFont typeface="Arial" panose="020B0604020202020204" pitchFamily="34" charset="0"/>
              <a:buChar char="•"/>
            </a:pPr>
            <a:r>
              <a:rPr lang="en-US" sz="2000" spc="-60" dirty="0">
                <a:solidFill>
                  <a:schemeClr val="bg2">
                    <a:lumMod val="10000"/>
                  </a:schemeClr>
                </a:solidFill>
                <a:latin typeface="Arial" panose="020B0604020202020204" pitchFamily="34" charset="0"/>
                <a:cs typeface="Arial" panose="020B0604020202020204" pitchFamily="34" charset="0"/>
                <a:sym typeface="+mn-ea"/>
              </a:rPr>
              <a:t>Early versions of the system’s functional</a:t>
            </a:r>
            <a:r>
              <a:rPr lang="en-US" sz="2000" spc="-10" dirty="0">
                <a:solidFill>
                  <a:schemeClr val="bg2">
                    <a:lumMod val="10000"/>
                  </a:schemeClr>
                </a:solidFill>
                <a:latin typeface="Arial" panose="020B0604020202020204" pitchFamily="34" charset="0"/>
                <a:cs typeface="Arial" panose="020B0604020202020204" pitchFamily="34" charset="0"/>
                <a:sym typeface="+mn-ea"/>
              </a:rPr>
              <a:t>i</a:t>
            </a:r>
            <a:r>
              <a:rPr lang="en-US" sz="2000" dirty="0">
                <a:solidFill>
                  <a:schemeClr val="bg2">
                    <a:lumMod val="10000"/>
                  </a:schemeClr>
                </a:solidFill>
                <a:latin typeface="Arial" panose="020B0604020202020204" pitchFamily="34" charset="0"/>
                <a:cs typeface="Arial" panose="020B0604020202020204" pitchFamily="34" charset="0"/>
                <a:sym typeface="+mn-ea"/>
              </a:rPr>
              <a:t>ty</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1109980" lvl="1" defTabSz="914400">
              <a:spcBef>
                <a:spcPts val="660"/>
              </a:spcBef>
              <a:buFont typeface="Arial" panose="020B0604020202020204" pitchFamily="34" charset="0"/>
              <a:buChar char="•"/>
            </a:pPr>
            <a:r>
              <a:rPr lang="en-US" sz="2000" spc="-40" dirty="0">
                <a:solidFill>
                  <a:schemeClr val="bg2">
                    <a:lumMod val="10000"/>
                  </a:schemeClr>
                </a:solidFill>
                <a:latin typeface="Arial" panose="020B0604020202020204" pitchFamily="34" charset="0"/>
                <a:cs typeface="Arial" panose="020B0604020202020204" pitchFamily="34" charset="0"/>
                <a:sym typeface="+mn-ea"/>
              </a:rPr>
              <a:t>Documentatio</a:t>
            </a:r>
            <a:r>
              <a:rPr lang="en-US" sz="2000" spc="-10" dirty="0">
                <a:solidFill>
                  <a:schemeClr val="bg2">
                    <a:lumMod val="10000"/>
                  </a:schemeClr>
                </a:solidFill>
                <a:latin typeface="Arial" panose="020B0604020202020204" pitchFamily="34" charset="0"/>
                <a:cs typeface="Arial" panose="020B0604020202020204" pitchFamily="34" charset="0"/>
                <a:sym typeface="+mn-ea"/>
              </a:rPr>
              <a:t>n</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355600" defTabSz="914400">
              <a:spcBef>
                <a:spcPts val="1420"/>
              </a:spcBef>
              <a:buFont typeface="Arial" panose="020B0604020202020204" pitchFamily="34" charset="0"/>
              <a:buChar char="•"/>
            </a:pPr>
            <a:endParaRPr lang="en-US" sz="2200" spc="-80" dirty="0">
              <a:solidFill>
                <a:schemeClr val="bg2">
                  <a:lumMod val="10000"/>
                </a:schemeClr>
              </a:solidFill>
              <a:latin typeface="Arial" panose="020B0604020202020204" pitchFamily="34" charset="0"/>
              <a:cs typeface="Arial" panose="020B0604020202020204" pitchFamily="34" charset="0"/>
              <a:sym typeface="+mn-ea"/>
            </a:endParaRPr>
          </a:p>
          <a:p>
            <a:pPr marL="355600" defTabSz="914400">
              <a:spcBef>
                <a:spcPts val="1420"/>
              </a:spcBef>
              <a:buFont typeface="Arial" panose="020B0604020202020204" pitchFamily="34" charset="0"/>
              <a:buChar char="•"/>
            </a:pPr>
            <a:r>
              <a:rPr lang="en-US" sz="2200" spc="-80" dirty="0">
                <a:solidFill>
                  <a:schemeClr val="bg2">
                    <a:lumMod val="10000"/>
                  </a:schemeClr>
                </a:solidFill>
                <a:latin typeface="Arial" panose="020B0604020202020204" pitchFamily="34" charset="0"/>
                <a:cs typeface="Arial" panose="020B0604020202020204" pitchFamily="34" charset="0"/>
                <a:sym typeface="+mn-ea"/>
              </a:rPr>
              <a:t>4 activitie</a:t>
            </a:r>
            <a:r>
              <a:rPr lang="en-US" sz="2200" spc="-60" dirty="0">
                <a:solidFill>
                  <a:schemeClr val="bg2">
                    <a:lumMod val="10000"/>
                  </a:schemeClr>
                </a:solidFill>
                <a:latin typeface="Arial" panose="020B0604020202020204" pitchFamily="34" charset="0"/>
                <a:cs typeface="Arial" panose="020B0604020202020204" pitchFamily="34" charset="0"/>
                <a:sym typeface="+mn-ea"/>
              </a:rPr>
              <a:t>s</a:t>
            </a:r>
            <a:r>
              <a:rPr lang="en-US" sz="2200" spc="-80" dirty="0">
                <a:solidFill>
                  <a:schemeClr val="bg2">
                    <a:lumMod val="10000"/>
                  </a:schemeClr>
                </a:solidFill>
                <a:latin typeface="Arial" panose="020B0604020202020204" pitchFamily="34" charset="0"/>
                <a:cs typeface="Arial" panose="020B0604020202020204" pitchFamily="34" charset="0"/>
                <a:sym typeface="+mn-ea"/>
              </a:rPr>
              <a:t>:</a:t>
            </a:r>
            <a:r>
              <a:rPr lang="en-US" sz="2200" dirty="0">
                <a:solidFill>
                  <a:schemeClr val="bg2">
                    <a:lumMod val="10000"/>
                  </a:schemeClr>
                </a:solidFill>
                <a:latin typeface="Arial" panose="020B0604020202020204" pitchFamily="34" charset="0"/>
                <a:cs typeface="Arial" panose="020B0604020202020204" pitchFamily="34" charset="0"/>
                <a:sym typeface="+mn-ea"/>
              </a:rPr>
              <a:t>       </a:t>
            </a:r>
          </a:p>
          <a:p>
            <a:pPr marL="904240" lvl="2" defTabSz="914400">
              <a:spcBef>
                <a:spcPts val="1420"/>
              </a:spcBef>
              <a:buFont typeface="Arial" panose="020B0604020202020204" pitchFamily="34" charset="0"/>
              <a:buChar char="•"/>
            </a:pPr>
            <a:r>
              <a:rPr lang="en-US" sz="2000" spc="-60" dirty="0">
                <a:solidFill>
                  <a:schemeClr val="bg2">
                    <a:lumMod val="10000"/>
                  </a:schemeClr>
                </a:solidFill>
                <a:latin typeface="Arial" panose="020B0604020202020204" pitchFamily="34" charset="0"/>
                <a:cs typeface="Arial" panose="020B0604020202020204" pitchFamily="34" charset="0"/>
                <a:sym typeface="+mn-ea"/>
              </a:rPr>
              <a:t>	1. Identify what is to be produce</a:t>
            </a:r>
            <a:r>
              <a:rPr lang="en-US" sz="2000" spc="-20" dirty="0">
                <a:solidFill>
                  <a:schemeClr val="bg2">
                    <a:lumMod val="10000"/>
                  </a:schemeClr>
                </a:solidFill>
                <a:latin typeface="Arial" panose="020B0604020202020204" pitchFamily="34" charset="0"/>
                <a:cs typeface="Arial" panose="020B0604020202020204" pitchFamily="34" charset="0"/>
                <a:sym typeface="+mn-ea"/>
              </a:rPr>
              <a:t>d</a:t>
            </a:r>
            <a:r>
              <a:rPr lang="en-US" sz="2000" dirty="0">
                <a:solidFill>
                  <a:schemeClr val="bg2">
                    <a:lumMod val="10000"/>
                  </a:schemeClr>
                </a:solidFill>
                <a:latin typeface="Arial" panose="020B0604020202020204" pitchFamily="34" charset="0"/>
                <a:cs typeface="Arial" panose="020B0604020202020204" pitchFamily="34" charset="0"/>
                <a:sym typeface="+mn-ea"/>
              </a:rPr>
              <a:t>                           </a:t>
            </a:r>
          </a:p>
          <a:p>
            <a:pPr marL="904240" lvl="2" defTabSz="914400">
              <a:spcBef>
                <a:spcPts val="1420"/>
              </a:spcBef>
              <a:buFont typeface="Arial" panose="020B0604020202020204" pitchFamily="34" charset="0"/>
              <a:buChar char="•"/>
            </a:pPr>
            <a:r>
              <a:rPr lang="en-US" sz="2000" spc="-40" dirty="0">
                <a:solidFill>
                  <a:schemeClr val="bg2">
                    <a:lumMod val="10000"/>
                  </a:schemeClr>
                </a:solidFill>
                <a:latin typeface="Arial" panose="020B0604020202020204" pitchFamily="34" charset="0"/>
                <a:cs typeface="Arial" panose="020B0604020202020204" pitchFamily="34" charset="0"/>
                <a:sym typeface="+mn-ea"/>
              </a:rPr>
              <a:t>	2. Agree how and when t</a:t>
            </a:r>
            <a:r>
              <a:rPr lang="en-US" sz="2000" spc="-30" dirty="0">
                <a:solidFill>
                  <a:schemeClr val="bg2">
                    <a:lumMod val="10000"/>
                  </a:schemeClr>
                </a:solidFill>
                <a:latin typeface="Arial" panose="020B0604020202020204" pitchFamily="34" charset="0"/>
                <a:cs typeface="Arial" panose="020B0604020202020204" pitchFamily="34" charset="0"/>
                <a:sym typeface="+mn-ea"/>
              </a:rPr>
              <a:t>o</a:t>
            </a:r>
            <a:r>
              <a:rPr lang="en-US" sz="2000" spc="-40" dirty="0">
                <a:solidFill>
                  <a:schemeClr val="bg2">
                    <a:lumMod val="10000"/>
                  </a:schemeClr>
                </a:solidFill>
                <a:latin typeface="Arial" panose="020B0604020202020204" pitchFamily="34" charset="0"/>
                <a:cs typeface="Arial" panose="020B0604020202020204" pitchFamily="34" charset="0"/>
                <a:sym typeface="+mn-ea"/>
              </a:rPr>
              <a:t> </a:t>
            </a:r>
            <a:r>
              <a:rPr lang="en-US" sz="2000" dirty="0">
                <a:solidFill>
                  <a:schemeClr val="bg2">
                    <a:lumMod val="10000"/>
                  </a:schemeClr>
                </a:solidFill>
                <a:latin typeface="Arial" panose="020B0604020202020204" pitchFamily="34" charset="0"/>
                <a:cs typeface="Arial" panose="020B0604020202020204" pitchFamily="34" charset="0"/>
                <a:sym typeface="+mn-ea"/>
              </a:rPr>
              <a:t>do</a:t>
            </a:r>
            <a:r>
              <a:rPr lang="en-US" sz="2000" spc="-40" dirty="0">
                <a:solidFill>
                  <a:schemeClr val="bg2">
                    <a:lumMod val="10000"/>
                  </a:schemeClr>
                </a:solidFill>
                <a:latin typeface="Arial" panose="020B0604020202020204" pitchFamily="34" charset="0"/>
                <a:cs typeface="Arial" panose="020B0604020202020204" pitchFamily="34" charset="0"/>
                <a:sym typeface="+mn-ea"/>
              </a:rPr>
              <a:t> </a:t>
            </a:r>
            <a:r>
              <a:rPr lang="en-US" sz="2000" dirty="0">
                <a:solidFill>
                  <a:schemeClr val="bg2">
                    <a:lumMod val="10000"/>
                  </a:schemeClr>
                </a:solidFill>
                <a:latin typeface="Arial" panose="020B0604020202020204" pitchFamily="34" charset="0"/>
                <a:cs typeface="Arial" panose="020B0604020202020204" pitchFamily="34" charset="0"/>
                <a:sym typeface="+mn-ea"/>
              </a:rPr>
              <a:t>it</a:t>
            </a:r>
          </a:p>
          <a:p>
            <a:pPr marL="904240" lvl="2" defTabSz="914400">
              <a:spcBef>
                <a:spcPts val="1420"/>
              </a:spcBef>
              <a:buFont typeface="Arial" panose="020B0604020202020204" pitchFamily="34" charset="0"/>
              <a:buChar char="•"/>
            </a:pPr>
            <a:r>
              <a:rPr lang="en-US" sz="2000" spc="-40" dirty="0">
                <a:solidFill>
                  <a:schemeClr val="bg2">
                    <a:lumMod val="10000"/>
                  </a:schemeClr>
                </a:solidFill>
                <a:latin typeface="Arial" panose="020B0604020202020204" pitchFamily="34" charset="0"/>
                <a:cs typeface="Arial" panose="020B0604020202020204" pitchFamily="34" charset="0"/>
                <a:sym typeface="+mn-ea"/>
              </a:rPr>
              <a:t>	3. Create the produ</a:t>
            </a:r>
            <a:r>
              <a:rPr lang="en-US" sz="2000" spc="-10" dirty="0">
                <a:solidFill>
                  <a:schemeClr val="bg2">
                    <a:lumMod val="10000"/>
                  </a:schemeClr>
                </a:solidFill>
                <a:latin typeface="Arial" panose="020B0604020202020204" pitchFamily="34" charset="0"/>
                <a:cs typeface="Arial" panose="020B0604020202020204" pitchFamily="34" charset="0"/>
                <a:sym typeface="+mn-ea"/>
              </a:rPr>
              <a:t>c</a:t>
            </a:r>
            <a:r>
              <a:rPr lang="en-US" sz="2000" dirty="0">
                <a:solidFill>
                  <a:schemeClr val="bg2">
                    <a:lumMod val="10000"/>
                  </a:schemeClr>
                </a:solidFill>
                <a:latin typeface="Arial" panose="020B0604020202020204" pitchFamily="34" charset="0"/>
                <a:cs typeface="Arial" panose="020B0604020202020204" pitchFamily="34" charset="0"/>
                <a:sym typeface="+mn-ea"/>
              </a:rPr>
              <a:t>t</a:t>
            </a:r>
          </a:p>
          <a:p>
            <a:pPr marL="904240" lvl="2" defTabSz="914400">
              <a:spcBef>
                <a:spcPts val="1420"/>
              </a:spcBef>
              <a:buFont typeface="Arial" panose="020B0604020202020204" pitchFamily="34" charset="0"/>
              <a:buChar char="•"/>
            </a:pPr>
            <a:r>
              <a:rPr lang="en-US" sz="2000" spc="-50" dirty="0">
                <a:solidFill>
                  <a:schemeClr val="bg2">
                    <a:lumMod val="10000"/>
                  </a:schemeClr>
                </a:solidFill>
                <a:latin typeface="Arial" panose="020B0604020202020204" pitchFamily="34" charset="0"/>
                <a:cs typeface="Arial" panose="020B0604020202020204" pitchFamily="34" charset="0"/>
                <a:sym typeface="+mn-ea"/>
              </a:rPr>
              <a:t>	4. Check that it has been produced corre</a:t>
            </a:r>
            <a:r>
              <a:rPr lang="en-US" sz="2000" spc="-10" dirty="0">
                <a:solidFill>
                  <a:schemeClr val="bg2">
                    <a:lumMod val="10000"/>
                  </a:schemeClr>
                </a:solidFill>
                <a:latin typeface="Arial" panose="020B0604020202020204" pitchFamily="34" charset="0"/>
                <a:cs typeface="Arial" panose="020B0604020202020204" pitchFamily="34" charset="0"/>
                <a:sym typeface="+mn-ea"/>
              </a:rPr>
              <a:t>c</a:t>
            </a:r>
            <a:r>
              <a:rPr lang="en-US" sz="2000" dirty="0">
                <a:solidFill>
                  <a:schemeClr val="bg2">
                    <a:lumMod val="10000"/>
                  </a:schemeClr>
                </a:solidFill>
                <a:latin typeface="Arial" panose="020B0604020202020204" pitchFamily="34" charset="0"/>
                <a:cs typeface="Arial" panose="020B0604020202020204" pitchFamily="34" charset="0"/>
                <a:sym typeface="+mn-ea"/>
              </a:rPr>
              <a:t>tly</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defTabSz="914400" fontAlgn="auto">
              <a:buFont typeface="Arial" panose="020B0604020202020204" pitchFamily="34" charset="0"/>
              <a:buChar char="•"/>
            </a:pPr>
            <a:endParaRPr lang="en-US" altLang="en-US" sz="2000" dirty="0">
              <a:solidFill>
                <a:schemeClr val="bg2">
                  <a:lumMod val="10000"/>
                </a:schemeClr>
              </a:solidFill>
              <a:latin typeface="Arial" panose="020B0604020202020204" pitchFamily="34" charset="0"/>
              <a:cs typeface="Arial" panose="020B0604020202020204" pitchFamily="34" charset="0"/>
            </a:endParaRPr>
          </a:p>
        </p:txBody>
      </p:sp>
      <p:pic>
        <p:nvPicPr>
          <p:cNvPr id="71" name="picture 71"/>
          <p:cNvPicPr>
            <a:picLocks noChangeAspect="1"/>
          </p:cNvPicPr>
          <p:nvPr/>
        </p:nvPicPr>
        <p:blipFill rotWithShape="1">
          <a:blip r:embed="rId3"/>
          <a:srcRect b="2689"/>
          <a:stretch/>
        </p:blipFill>
        <p:spPr>
          <a:xfrm rot="21600000">
            <a:off x="6585105" y="2476556"/>
            <a:ext cx="4802404" cy="3563372"/>
          </a:xfrm>
          <a:prstGeom prst="rect">
            <a:avLst/>
          </a:prstGeom>
        </p:spPr>
      </p:pic>
      <p:sp>
        <p:nvSpPr>
          <p:cNvPr id="5" name="Slide Number Placeholder 2">
            <a:extLst>
              <a:ext uri="{FF2B5EF4-FFF2-40B4-BE49-F238E27FC236}">
                <a16:creationId xmlns:a16="http://schemas.microsoft.com/office/drawing/2014/main" id="{3CA02A8C-1FC5-017D-679E-BF47FCC9890E}"/>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55DEA-F3B1-A39A-DBFF-E4BFE3F1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CD7CA-BD98-2706-1428-F35AE942D519}"/>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Functional Model Iteration</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6D13790D-1B7F-89F3-7CE6-98EB7F2176F0}"/>
              </a:ext>
            </a:extLst>
          </p:cNvPr>
          <p:cNvSpPr>
            <a:spLocks noGrp="1"/>
          </p:cNvSpPr>
          <p:nvPr>
            <p:ph idx="1"/>
          </p:nvPr>
        </p:nvSpPr>
        <p:spPr>
          <a:xfrm>
            <a:off x="1424903" y="1729212"/>
            <a:ext cx="10045837"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This phase focuses on building an </a:t>
            </a:r>
            <a:r>
              <a:rPr lang="en-US" sz="2400" b="1" spc="-60" dirty="0">
                <a:solidFill>
                  <a:schemeClr val="bg2">
                    <a:lumMod val="10000"/>
                  </a:schemeClr>
                </a:solidFill>
                <a:latin typeface="Arial" panose="020B0604020202020204" pitchFamily="34" charset="0"/>
                <a:cs typeface="Arial" panose="020B0604020202020204" pitchFamily="34" charset="0"/>
                <a:sym typeface="+mn-ea"/>
              </a:rPr>
              <a:t>early version </a:t>
            </a:r>
            <a:r>
              <a:rPr lang="en-US" sz="2400" spc="-60" dirty="0">
                <a:solidFill>
                  <a:schemeClr val="bg2">
                    <a:lumMod val="10000"/>
                  </a:schemeClr>
                </a:solidFill>
                <a:latin typeface="Arial" panose="020B0604020202020204" pitchFamily="34" charset="0"/>
                <a:cs typeface="Arial" panose="020B0604020202020204" pitchFamily="34" charset="0"/>
                <a:sym typeface="+mn-ea"/>
              </a:rPr>
              <a:t>of the system by developing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functional prototypes </a:t>
            </a:r>
            <a:r>
              <a:rPr lang="en-US" sz="2400" spc="-60" dirty="0">
                <a:solidFill>
                  <a:schemeClr val="bg2">
                    <a:lumMod val="10000"/>
                  </a:schemeClr>
                </a:solidFill>
                <a:latin typeface="Arial" panose="020B0604020202020204" pitchFamily="34" charset="0"/>
                <a:cs typeface="Arial" panose="020B0604020202020204" pitchFamily="34" charset="0"/>
                <a:sym typeface="+mn-ea"/>
              </a:rPr>
              <a:t>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iterating on them </a:t>
            </a:r>
            <a:r>
              <a:rPr lang="en-US" sz="2400" spc="-60" dirty="0">
                <a:solidFill>
                  <a:schemeClr val="bg2">
                    <a:lumMod val="10000"/>
                  </a:schemeClr>
                </a:solidFill>
                <a:latin typeface="Arial" panose="020B0604020202020204" pitchFamily="34" charset="0"/>
                <a:cs typeface="Arial" panose="020B0604020202020204" pitchFamily="34" charset="0"/>
                <a:sym typeface="+mn-ea"/>
              </a:rPr>
              <a:t>with </a:t>
            </a:r>
            <a:r>
              <a:rPr lang="en-US" sz="2400" b="1" spc="-60" dirty="0">
                <a:solidFill>
                  <a:schemeClr val="bg2">
                    <a:lumMod val="10000"/>
                  </a:schemeClr>
                </a:solidFill>
                <a:latin typeface="Arial" panose="020B0604020202020204" pitchFamily="34" charset="0"/>
                <a:cs typeface="Arial" panose="020B0604020202020204" pitchFamily="34" charset="0"/>
                <a:sym typeface="+mn-ea"/>
              </a:rPr>
              <a:t>constant feedback</a:t>
            </a:r>
            <a:r>
              <a:rPr lang="en-US" sz="2400" spc="-60" dirty="0">
                <a:solidFill>
                  <a:schemeClr val="bg2">
                    <a:lumMod val="10000"/>
                  </a:schemeClr>
                </a:solidFill>
                <a:latin typeface="Arial" panose="020B0604020202020204" pitchFamily="34" charset="0"/>
                <a:cs typeface="Arial" panose="020B0604020202020204" pitchFamily="34" charset="0"/>
                <a:sym typeface="+mn-ea"/>
              </a:rPr>
              <a:t> from the business stakeholders.</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The aim is to ensure that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system's functionality </a:t>
            </a:r>
            <a:r>
              <a:rPr lang="en-US" sz="2400" spc="-60" dirty="0">
                <a:solidFill>
                  <a:schemeClr val="bg2">
                    <a:lumMod val="10000"/>
                  </a:schemeClr>
                </a:solidFill>
                <a:latin typeface="Arial" panose="020B0604020202020204" pitchFamily="34" charset="0"/>
                <a:cs typeface="Arial" panose="020B0604020202020204" pitchFamily="34" charset="0"/>
                <a:sym typeface="+mn-ea"/>
              </a:rPr>
              <a:t>aligns with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business requirements </a:t>
            </a:r>
            <a:r>
              <a:rPr lang="en-US" sz="2400" spc="-60" dirty="0">
                <a:solidFill>
                  <a:schemeClr val="bg2">
                    <a:lumMod val="10000"/>
                  </a:schemeClr>
                </a:solidFill>
                <a:latin typeface="Arial" panose="020B0604020202020204" pitchFamily="34" charset="0"/>
                <a:cs typeface="Arial" panose="020B0604020202020204" pitchFamily="34" charset="0"/>
                <a:sym typeface="+mn-ea"/>
              </a:rPr>
              <a:t>and that any </a:t>
            </a:r>
            <a:r>
              <a:rPr lang="en-US" sz="2400" b="1" spc="-60" dirty="0">
                <a:solidFill>
                  <a:schemeClr val="bg2">
                    <a:lumMod val="10000"/>
                  </a:schemeClr>
                </a:solidFill>
                <a:latin typeface="Arial" panose="020B0604020202020204" pitchFamily="34" charset="0"/>
                <a:cs typeface="Arial" panose="020B0604020202020204" pitchFamily="34" charset="0"/>
                <a:sym typeface="+mn-ea"/>
              </a:rPr>
              <a:t>necessary changes or adjustments </a:t>
            </a:r>
            <a:r>
              <a:rPr lang="en-US" sz="2400" spc="-60" dirty="0">
                <a:solidFill>
                  <a:schemeClr val="bg2">
                    <a:lumMod val="10000"/>
                  </a:schemeClr>
                </a:solidFill>
                <a:latin typeface="Arial" panose="020B0604020202020204" pitchFamily="34" charset="0"/>
                <a:cs typeface="Arial" panose="020B0604020202020204" pitchFamily="34" charset="0"/>
                <a:sym typeface="+mn-ea"/>
              </a:rPr>
              <a:t>are made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early in the proces</a:t>
            </a:r>
            <a:r>
              <a:rPr lang="en-US" sz="2400" spc="-60" dirty="0">
                <a:solidFill>
                  <a:schemeClr val="bg2">
                    <a:lumMod val="10000"/>
                  </a:schemeClr>
                </a:solidFill>
                <a:latin typeface="Arial" panose="020B0604020202020204" pitchFamily="34" charset="0"/>
                <a:cs typeface="Arial" panose="020B0604020202020204" pitchFamily="34" charset="0"/>
                <a:sym typeface="+mn-ea"/>
              </a:rPr>
              <a:t>s.</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The Functional Model Iteration Phase allows for </a:t>
            </a:r>
            <a:r>
              <a:rPr lang="en-US" sz="2400" b="1" dirty="0">
                <a:solidFill>
                  <a:schemeClr val="bg2">
                    <a:lumMod val="10000"/>
                  </a:schemeClr>
                </a:solidFill>
                <a:latin typeface="Arial" panose="020B0604020202020204" pitchFamily="34" charset="0"/>
                <a:cs typeface="Arial" panose="020B0604020202020204" pitchFamily="34" charset="0"/>
              </a:rPr>
              <a:t>early delivery of functional software</a:t>
            </a:r>
            <a:r>
              <a:rPr lang="en-US" sz="2400" dirty="0">
                <a:solidFill>
                  <a:schemeClr val="bg2">
                    <a:lumMod val="10000"/>
                  </a:schemeClr>
                </a:solidFill>
                <a:latin typeface="Arial" panose="020B0604020202020204" pitchFamily="34" charset="0"/>
                <a:cs typeface="Arial" panose="020B0604020202020204" pitchFamily="34" charset="0"/>
              </a:rPr>
              <a:t> that stakeholders can interact with and evaluate. </a:t>
            </a:r>
          </a:p>
        </p:txBody>
      </p:sp>
      <p:sp>
        <p:nvSpPr>
          <p:cNvPr id="9" name="Slide Number Placeholder 2">
            <a:extLst>
              <a:ext uri="{FF2B5EF4-FFF2-40B4-BE49-F238E27FC236}">
                <a16:creationId xmlns:a16="http://schemas.microsoft.com/office/drawing/2014/main" id="{B81DF765-B203-C72D-6010-FB8B33162794}"/>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26</a:t>
            </a:fld>
            <a:endParaRPr lang="en-US" dirty="0"/>
          </a:p>
        </p:txBody>
      </p:sp>
    </p:spTree>
    <p:extLst>
      <p:ext uri="{BB962C8B-B14F-4D97-AF65-F5344CB8AC3E}">
        <p14:creationId xmlns:p14="http://schemas.microsoft.com/office/powerpoint/2010/main" val="814745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6560-C78F-B258-4CE7-A5FC7684285D}"/>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Functional Model Iteration</a:t>
            </a:r>
            <a:endParaRPr lang="en-US" dirty="0"/>
          </a:p>
        </p:txBody>
      </p:sp>
      <p:sp>
        <p:nvSpPr>
          <p:cNvPr id="4" name="Content Placeholder 3">
            <a:extLst>
              <a:ext uri="{FF2B5EF4-FFF2-40B4-BE49-F238E27FC236}">
                <a16:creationId xmlns:a16="http://schemas.microsoft.com/office/drawing/2014/main" id="{D8B96C9D-03C5-D531-AE60-F3859A9C10E8}"/>
              </a:ext>
            </a:extLst>
          </p:cNvPr>
          <p:cNvSpPr>
            <a:spLocks noGrp="1"/>
          </p:cNvSpPr>
          <p:nvPr>
            <p:ph idx="1"/>
          </p:nvPr>
        </p:nvSpPr>
        <p:spPr>
          <a:xfrm>
            <a:off x="644771" y="1465006"/>
            <a:ext cx="10709031" cy="4617141"/>
          </a:xfrm>
        </p:spPr>
        <p:txBody>
          <a:bodyPr>
            <a:normAutofit/>
          </a:bodyPr>
          <a:lstStyle/>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This helps ensure that the </a:t>
            </a:r>
            <a:r>
              <a:rPr lang="en-US" sz="2400" b="1" dirty="0">
                <a:solidFill>
                  <a:schemeClr val="bg2">
                    <a:lumMod val="10000"/>
                  </a:schemeClr>
                </a:solidFill>
                <a:latin typeface="Arial" panose="020B0604020202020204" pitchFamily="34" charset="0"/>
                <a:cs typeface="Arial" panose="020B0604020202020204" pitchFamily="34" charset="0"/>
              </a:rPr>
              <a:t>system aligns with business goals </a:t>
            </a:r>
            <a:r>
              <a:rPr lang="en-US" sz="2400" dirty="0">
                <a:solidFill>
                  <a:schemeClr val="bg2">
                    <a:lumMod val="10000"/>
                  </a:schemeClr>
                </a:solidFill>
                <a:latin typeface="Arial" panose="020B0604020202020204" pitchFamily="34" charset="0"/>
                <a:cs typeface="Arial" panose="020B0604020202020204" pitchFamily="34" charset="0"/>
              </a:rPr>
              <a:t>and can be adjusted as needed. </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The </a:t>
            </a:r>
            <a:r>
              <a:rPr lang="en-US" sz="2400" b="1" dirty="0">
                <a:solidFill>
                  <a:schemeClr val="bg2">
                    <a:lumMod val="10000"/>
                  </a:schemeClr>
                </a:solidFill>
                <a:latin typeface="Arial" panose="020B0604020202020204" pitchFamily="34" charset="0"/>
                <a:cs typeface="Arial" panose="020B0604020202020204" pitchFamily="34" charset="0"/>
              </a:rPr>
              <a:t>iterative approach </a:t>
            </a:r>
            <a:r>
              <a:rPr lang="en-US" sz="2400" dirty="0">
                <a:solidFill>
                  <a:schemeClr val="bg2">
                    <a:lumMod val="10000"/>
                  </a:schemeClr>
                </a:solidFill>
                <a:latin typeface="Arial" panose="020B0604020202020204" pitchFamily="34" charset="0"/>
                <a:cs typeface="Arial" panose="020B0604020202020204" pitchFamily="34" charset="0"/>
              </a:rPr>
              <a:t>fosters close collaboration between </a:t>
            </a:r>
            <a:r>
              <a:rPr lang="en-US" sz="2400" b="1" dirty="0">
                <a:solidFill>
                  <a:schemeClr val="bg2">
                    <a:lumMod val="10000"/>
                  </a:schemeClr>
                </a:solidFill>
                <a:latin typeface="Arial" panose="020B0604020202020204" pitchFamily="34" charset="0"/>
                <a:cs typeface="Arial" panose="020B0604020202020204" pitchFamily="34" charset="0"/>
              </a:rPr>
              <a:t>the development team and stakeholders</a:t>
            </a:r>
            <a:r>
              <a:rPr lang="en-US" sz="2400" dirty="0">
                <a:solidFill>
                  <a:schemeClr val="bg2">
                    <a:lumMod val="10000"/>
                  </a:schemeClr>
                </a:solidFill>
                <a:latin typeface="Arial" panose="020B0604020202020204" pitchFamily="34" charset="0"/>
                <a:cs typeface="Arial" panose="020B0604020202020204" pitchFamily="34" charset="0"/>
              </a:rPr>
              <a:t>, leading to a </a:t>
            </a:r>
            <a:r>
              <a:rPr lang="en-US" sz="2400" b="1" dirty="0">
                <a:solidFill>
                  <a:schemeClr val="bg2">
                    <a:lumMod val="10000"/>
                  </a:schemeClr>
                </a:solidFill>
                <a:latin typeface="Arial" panose="020B0604020202020204" pitchFamily="34" charset="0"/>
                <a:cs typeface="Arial" panose="020B0604020202020204" pitchFamily="34" charset="0"/>
              </a:rPr>
              <a:t>higher-quality</a:t>
            </a:r>
            <a:r>
              <a:rPr lang="en-US" sz="2400" dirty="0">
                <a:solidFill>
                  <a:schemeClr val="bg2">
                    <a:lumMod val="10000"/>
                  </a:schemeClr>
                </a:solidFill>
                <a:latin typeface="Arial" panose="020B0604020202020204" pitchFamily="34" charset="0"/>
                <a:cs typeface="Arial" panose="020B0604020202020204" pitchFamily="34" charset="0"/>
              </a:rPr>
              <a:t> product that </a:t>
            </a:r>
            <a:r>
              <a:rPr lang="en-US" sz="2400" b="1" dirty="0">
                <a:solidFill>
                  <a:schemeClr val="bg2">
                    <a:lumMod val="10000"/>
                  </a:schemeClr>
                </a:solidFill>
                <a:latin typeface="Arial" panose="020B0604020202020204" pitchFamily="34" charset="0"/>
                <a:cs typeface="Arial" panose="020B0604020202020204" pitchFamily="34" charset="0"/>
              </a:rPr>
              <a:t>better meets</a:t>
            </a:r>
            <a:r>
              <a:rPr lang="en-US" sz="2400" dirty="0">
                <a:solidFill>
                  <a:schemeClr val="bg2">
                    <a:lumMod val="10000"/>
                  </a:schemeClr>
                </a:solidFill>
                <a:latin typeface="Arial" panose="020B0604020202020204" pitchFamily="34" charset="0"/>
                <a:cs typeface="Arial" panose="020B0604020202020204" pitchFamily="34" charset="0"/>
              </a:rPr>
              <a:t> user needs.</a:t>
            </a:r>
          </a:p>
          <a:p>
            <a:endParaRPr lang="en-US" sz="2400" dirty="0"/>
          </a:p>
        </p:txBody>
      </p:sp>
      <p:sp>
        <p:nvSpPr>
          <p:cNvPr id="5" name="Slide Number Placeholder 4">
            <a:extLst>
              <a:ext uri="{FF2B5EF4-FFF2-40B4-BE49-F238E27FC236}">
                <a16:creationId xmlns:a16="http://schemas.microsoft.com/office/drawing/2014/main" id="{5A77E65B-FEA3-E890-8084-E9FBD7254BB0}"/>
              </a:ext>
            </a:extLst>
          </p:cNvPr>
          <p:cNvSpPr>
            <a:spLocks noGrp="1"/>
          </p:cNvSpPr>
          <p:nvPr>
            <p:ph type="sldNum" sz="quarter" idx="12"/>
          </p:nvPr>
        </p:nvSpPr>
        <p:spPr/>
        <p:txBody>
          <a:bodyPr/>
          <a:lstStyle/>
          <a:p>
            <a:fld id="{4267CD5E-26CF-4249-8540-BB1D07FD4227}" type="slidenum">
              <a:rPr lang="en-US" smtClean="0"/>
              <a:t>27</a:t>
            </a:fld>
            <a:endParaRPr lang="en-US"/>
          </a:p>
        </p:txBody>
      </p:sp>
    </p:spTree>
    <p:extLst>
      <p:ext uri="{BB962C8B-B14F-4D97-AF65-F5344CB8AC3E}">
        <p14:creationId xmlns:p14="http://schemas.microsoft.com/office/powerpoint/2010/main" val="291025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7" name="Group 86">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88"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Rectangle 91">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40" dirty="0">
                <a:solidFill>
                  <a:srgbClr val="FFFFFF"/>
                </a:solidFill>
                <a:latin typeface="Arial" panose="020B0604020202020204" pitchFamily="34" charset="0"/>
                <a:cs typeface="Arial" panose="020B0604020202020204" pitchFamily="34" charset="0"/>
                <a:sym typeface="+mn-ea"/>
              </a:rPr>
              <a:t>Design and build itera</a:t>
            </a:r>
            <a:r>
              <a:rPr lang="en-US" kern="1200" spc="-30" dirty="0">
                <a:solidFill>
                  <a:srgbClr val="FFFFFF"/>
                </a:solidFill>
                <a:latin typeface="Arial" panose="020B0604020202020204" pitchFamily="34" charset="0"/>
                <a:cs typeface="Arial" panose="020B0604020202020204" pitchFamily="34" charset="0"/>
                <a:sym typeface="+mn-ea"/>
              </a:rPr>
              <a:t>t</a:t>
            </a:r>
            <a:r>
              <a:rPr lang="en-US" kern="1200" dirty="0">
                <a:solidFill>
                  <a:srgbClr val="FFFFFF"/>
                </a:solidFill>
                <a:latin typeface="Arial" panose="020B0604020202020204" pitchFamily="34" charset="0"/>
                <a:cs typeface="Arial" panose="020B0604020202020204" pitchFamily="34" charset="0"/>
                <a:sym typeface="+mn-ea"/>
              </a:rPr>
              <a:t>ion</a:t>
            </a:r>
            <a:endParaRPr lang="en-US" kern="1200"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424904" y="2494450"/>
            <a:ext cx="4738552" cy="3563159"/>
          </a:xfrm>
        </p:spPr>
        <p:txBody>
          <a:bodyPr vert="horz" lIns="91440" tIns="45720" rIns="91440" bIns="45720" rtlCol="0">
            <a:normAutofit/>
          </a:bodyPr>
          <a:lstStyle/>
          <a:p>
            <a:pPr defTabSz="914400">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spc="-50" dirty="0">
                <a:solidFill>
                  <a:schemeClr val="bg2">
                    <a:lumMod val="10000"/>
                  </a:schemeClr>
                </a:solidFill>
                <a:latin typeface="Arial" panose="020B0604020202020204" pitchFamily="34" charset="0"/>
                <a:cs typeface="Arial" panose="020B0604020202020204" pitchFamily="34" charset="0"/>
                <a:sym typeface="+mn-ea"/>
              </a:rPr>
              <a:t>Continue to refine the current prototyp</a:t>
            </a:r>
            <a:r>
              <a:rPr lang="en-US" sz="2400" spc="-40" dirty="0">
                <a:solidFill>
                  <a:schemeClr val="bg2">
                    <a:lumMod val="10000"/>
                  </a:schemeClr>
                </a:solidFill>
                <a:latin typeface="Arial" panose="020B0604020202020204" pitchFamily="34" charset="0"/>
                <a:cs typeface="Arial" panose="020B0604020202020204" pitchFamily="34" charset="0"/>
                <a:sym typeface="+mn-ea"/>
              </a:rPr>
              <a:t>e</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12700" defTabSz="914400">
              <a:spcBef>
                <a:spcPts val="1055"/>
              </a:spcBef>
              <a:buFont typeface="Arial" panose="020B0604020202020204" pitchFamily="34" charset="0"/>
              <a:buChar char="•"/>
            </a:pPr>
            <a:r>
              <a:rPr lang="en-US" sz="2400" spc="-70" dirty="0">
                <a:solidFill>
                  <a:schemeClr val="bg2">
                    <a:lumMod val="10000"/>
                  </a:schemeClr>
                </a:solidFill>
                <a:latin typeface="Arial" panose="020B0604020202020204" pitchFamily="34" charset="0"/>
                <a:cs typeface="Arial" panose="020B0604020202020204" pitchFamily="34" charset="0"/>
                <a:sym typeface="+mn-ea"/>
              </a:rPr>
              <a:t>Test ofte</a:t>
            </a:r>
            <a:r>
              <a:rPr lang="en-US" sz="2400" spc="-10" dirty="0">
                <a:solidFill>
                  <a:schemeClr val="bg2">
                    <a:lumMod val="10000"/>
                  </a:schemeClr>
                </a:solidFill>
                <a:latin typeface="Arial" panose="020B0604020202020204" pitchFamily="34" charset="0"/>
                <a:cs typeface="Arial" panose="020B0604020202020204" pitchFamily="34" charset="0"/>
                <a:sym typeface="+mn-ea"/>
              </a:rPr>
              <a:t>n</a:t>
            </a:r>
            <a:endParaRPr lang="en-US" sz="2400" dirty="0">
              <a:solidFill>
                <a:schemeClr val="bg2">
                  <a:lumMod val="10000"/>
                </a:schemeClr>
              </a:solidFill>
              <a:latin typeface="Arial" panose="020B0604020202020204" pitchFamily="34" charset="0"/>
              <a:cs typeface="Arial" panose="020B0604020202020204" pitchFamily="34" charset="0"/>
              <a:sym typeface="+mn-ea"/>
            </a:endParaRPr>
          </a:p>
          <a:p>
            <a:pPr defTabSz="914400">
              <a:spcBef>
                <a:spcPts val="1055"/>
              </a:spcBef>
              <a:buFont typeface="Arial" panose="020B0604020202020204" pitchFamily="34" charset="0"/>
              <a:buChar char="•"/>
            </a:pPr>
            <a:r>
              <a:rPr lang="en-US" sz="2400" spc="-70" dirty="0">
                <a:solidFill>
                  <a:schemeClr val="bg2">
                    <a:lumMod val="10000"/>
                  </a:schemeClr>
                </a:solidFill>
                <a:latin typeface="Arial" panose="020B0604020202020204" pitchFamily="34" charset="0"/>
                <a:cs typeface="Arial" panose="020B0604020202020204" pitchFamily="34" charset="0"/>
                <a:sym typeface="+mn-ea"/>
              </a:rPr>
              <a:t>Result is current release of syste</a:t>
            </a:r>
            <a:r>
              <a:rPr lang="en-US" sz="2400" spc="-50" dirty="0">
                <a:solidFill>
                  <a:schemeClr val="bg2">
                    <a:lumMod val="10000"/>
                  </a:schemeClr>
                </a:solidFill>
                <a:latin typeface="Arial" panose="020B0604020202020204" pitchFamily="34" charset="0"/>
                <a:cs typeface="Arial" panose="020B0604020202020204" pitchFamily="34" charset="0"/>
                <a:sym typeface="+mn-ea"/>
              </a:rPr>
              <a:t>m</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80" name="picture 80"/>
          <p:cNvPicPr>
            <a:picLocks noChangeAspect="1"/>
          </p:cNvPicPr>
          <p:nvPr/>
        </p:nvPicPr>
        <p:blipFill>
          <a:blip r:embed="rId2"/>
          <a:stretch/>
        </p:blipFill>
        <p:spPr>
          <a:xfrm rot="21600000">
            <a:off x="6163457" y="2492376"/>
            <a:ext cx="4673274" cy="3563372"/>
          </a:xfrm>
          <a:prstGeom prst="rect">
            <a:avLst/>
          </a:prstGeom>
        </p:spPr>
      </p:pic>
      <p:sp>
        <p:nvSpPr>
          <p:cNvPr id="5" name="Slide Number Placeholder 2">
            <a:extLst>
              <a:ext uri="{FF2B5EF4-FFF2-40B4-BE49-F238E27FC236}">
                <a16:creationId xmlns:a16="http://schemas.microsoft.com/office/drawing/2014/main" id="{25144AAD-517C-D41A-2D87-2903E809206F}"/>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D1A5-791A-3E42-2766-9467B637A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7F76F-12A4-405F-0942-1F0D5AE7C72E}"/>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Design and Build Iteration</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6E6AC670-C3CF-31AA-FD3E-959F125CE8DA}"/>
              </a:ext>
            </a:extLst>
          </p:cNvPr>
          <p:cNvSpPr>
            <a:spLocks noGrp="1"/>
          </p:cNvSpPr>
          <p:nvPr>
            <p:ph idx="1"/>
          </p:nvPr>
        </p:nvSpPr>
        <p:spPr>
          <a:xfrm>
            <a:off x="1424903" y="1729212"/>
            <a:ext cx="10045837"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It focuses on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detailed design</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development</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integration of the system’s components</a:t>
            </a:r>
            <a:r>
              <a:rPr lang="en-US" sz="2400" spc="-60" dirty="0">
                <a:solidFill>
                  <a:schemeClr val="bg2">
                    <a:lumMod val="10000"/>
                  </a:schemeClr>
                </a:solidFill>
                <a:latin typeface="Arial" panose="020B0604020202020204" pitchFamily="34" charset="0"/>
                <a:cs typeface="Arial" panose="020B0604020202020204" pitchFamily="34" charset="0"/>
                <a:sym typeface="+mn-ea"/>
              </a:rPr>
              <a:t> based on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feedback and functional prototypes </a:t>
            </a:r>
            <a:r>
              <a:rPr lang="en-US" sz="2400" spc="-60" dirty="0">
                <a:solidFill>
                  <a:schemeClr val="bg2">
                    <a:lumMod val="10000"/>
                  </a:schemeClr>
                </a:solidFill>
                <a:latin typeface="Arial" panose="020B0604020202020204" pitchFamily="34" charset="0"/>
                <a:cs typeface="Arial" panose="020B0604020202020204" pitchFamily="34" charset="0"/>
                <a:sym typeface="+mn-ea"/>
              </a:rPr>
              <a:t>created in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earlier phases</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The key goal of this phase is to create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fully functional system</a:t>
            </a:r>
            <a:r>
              <a:rPr lang="en-US" sz="2400" spc="-60" dirty="0">
                <a:solidFill>
                  <a:schemeClr val="bg2">
                    <a:lumMod val="10000"/>
                  </a:schemeClr>
                </a:solidFill>
                <a:latin typeface="Arial" panose="020B0604020202020204" pitchFamily="34" charset="0"/>
                <a:cs typeface="Arial" panose="020B0604020202020204" pitchFamily="34" charset="0"/>
                <a:sym typeface="+mn-ea"/>
              </a:rPr>
              <a:t>, iteratively refining and building on it through ongoing </a:t>
            </a:r>
            <a:r>
              <a:rPr lang="en-US" sz="2400" b="1" spc="-60" dirty="0">
                <a:solidFill>
                  <a:schemeClr val="bg2">
                    <a:lumMod val="10000"/>
                  </a:schemeClr>
                </a:solidFill>
                <a:latin typeface="Arial" panose="020B0604020202020204" pitchFamily="34" charset="0"/>
                <a:cs typeface="Arial" panose="020B0604020202020204" pitchFamily="34" charset="0"/>
                <a:sym typeface="+mn-ea"/>
              </a:rPr>
              <a:t>cycles of development and testing</a:t>
            </a:r>
            <a:r>
              <a:rPr lang="en-US" sz="2400" spc="-60" dirty="0">
                <a:solidFill>
                  <a:schemeClr val="bg2">
                    <a:lumMod val="10000"/>
                  </a:schemeClr>
                </a:solidFill>
                <a:latin typeface="Arial" panose="020B0604020202020204" pitchFamily="34" charset="0"/>
                <a:cs typeface="Arial" panose="020B0604020202020204" pitchFamily="34" charset="0"/>
                <a:sym typeface="+mn-ea"/>
              </a:rPr>
              <a:t>.</a:t>
            </a:r>
          </a:p>
        </p:txBody>
      </p:sp>
      <p:sp>
        <p:nvSpPr>
          <p:cNvPr id="9" name="Slide Number Placeholder 2">
            <a:extLst>
              <a:ext uri="{FF2B5EF4-FFF2-40B4-BE49-F238E27FC236}">
                <a16:creationId xmlns:a16="http://schemas.microsoft.com/office/drawing/2014/main" id="{0111C53F-7E86-460B-F7C8-89E6959A27E7}"/>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29</a:t>
            </a:fld>
            <a:endParaRPr lang="en-US" dirty="0"/>
          </a:p>
        </p:txBody>
      </p:sp>
    </p:spTree>
    <p:extLst>
      <p:ext uri="{BB962C8B-B14F-4D97-AF65-F5344CB8AC3E}">
        <p14:creationId xmlns:p14="http://schemas.microsoft.com/office/powerpoint/2010/main" val="2995456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FAEB-01BD-68B4-AA02-2C9E09F347D1}"/>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Design and Build Iteration</a:t>
            </a:r>
            <a:endParaRPr lang="en-US" dirty="0"/>
          </a:p>
        </p:txBody>
      </p:sp>
      <p:sp>
        <p:nvSpPr>
          <p:cNvPr id="4" name="Content Placeholder 3">
            <a:extLst>
              <a:ext uri="{FF2B5EF4-FFF2-40B4-BE49-F238E27FC236}">
                <a16:creationId xmlns:a16="http://schemas.microsoft.com/office/drawing/2014/main" id="{DDF29C42-9CF6-D632-FC57-B1D06D38BAEC}"/>
              </a:ext>
            </a:extLst>
          </p:cNvPr>
          <p:cNvSpPr>
            <a:spLocks noGrp="1"/>
          </p:cNvSpPr>
          <p:nvPr>
            <p:ph idx="1"/>
          </p:nvPr>
        </p:nvSpPr>
        <p:spPr>
          <a:xfrm>
            <a:off x="644771" y="1445342"/>
            <a:ext cx="10709031" cy="4636806"/>
          </a:xfrm>
        </p:spPr>
        <p:txBody>
          <a:bodyPr>
            <a:normAutofit/>
          </a:bodyPr>
          <a:lstStyle/>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This phase is essential for:</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Ensuring that the system is </a:t>
            </a:r>
            <a:r>
              <a:rPr lang="en-US" sz="2000" b="1" dirty="0">
                <a:solidFill>
                  <a:schemeClr val="bg2">
                    <a:lumMod val="10000"/>
                  </a:schemeClr>
                </a:solidFill>
                <a:latin typeface="Arial" panose="020B0604020202020204" pitchFamily="34" charset="0"/>
                <a:cs typeface="Arial" panose="020B0604020202020204" pitchFamily="34" charset="0"/>
              </a:rPr>
              <a:t>scalable</a:t>
            </a:r>
            <a:r>
              <a:rPr lang="en-US" sz="2000" dirty="0">
                <a:solidFill>
                  <a:schemeClr val="bg2">
                    <a:lumMod val="10000"/>
                  </a:schemeClr>
                </a:solidFill>
                <a:latin typeface="Arial" panose="020B0604020202020204" pitchFamily="34" charset="0"/>
                <a:cs typeface="Arial" panose="020B0604020202020204" pitchFamily="34" charset="0"/>
              </a:rPr>
              <a:t> and </a:t>
            </a:r>
            <a:r>
              <a:rPr lang="en-US" sz="2000" b="1" dirty="0">
                <a:solidFill>
                  <a:schemeClr val="bg2">
                    <a:lumMod val="10000"/>
                  </a:schemeClr>
                </a:solidFill>
                <a:latin typeface="Arial" panose="020B0604020202020204" pitchFamily="34" charset="0"/>
                <a:cs typeface="Arial" panose="020B0604020202020204" pitchFamily="34" charset="0"/>
              </a:rPr>
              <a:t>works well </a:t>
            </a:r>
            <a:r>
              <a:rPr lang="en-US" sz="2000" dirty="0">
                <a:solidFill>
                  <a:schemeClr val="bg2">
                    <a:lumMod val="10000"/>
                  </a:schemeClr>
                </a:solidFill>
                <a:latin typeface="Arial" panose="020B0604020202020204" pitchFamily="34" charset="0"/>
                <a:cs typeface="Arial" panose="020B0604020202020204" pitchFamily="34" charset="0"/>
              </a:rPr>
              <a:t>in </a:t>
            </a:r>
            <a:r>
              <a:rPr lang="en-US" sz="2000" b="1" dirty="0">
                <a:solidFill>
                  <a:schemeClr val="bg2">
                    <a:lumMod val="10000"/>
                  </a:schemeClr>
                </a:solidFill>
                <a:latin typeface="Arial" panose="020B0604020202020204" pitchFamily="34" charset="0"/>
                <a:cs typeface="Arial" panose="020B0604020202020204" pitchFamily="34" charset="0"/>
              </a:rPr>
              <a:t>real-world environments</a:t>
            </a:r>
            <a:r>
              <a:rPr lang="en-US" sz="2000" dirty="0">
                <a:solidFill>
                  <a:schemeClr val="bg2">
                    <a:lumMod val="10000"/>
                  </a:schemeClr>
                </a:solidFill>
                <a:latin typeface="Arial" panose="020B0604020202020204" pitchFamily="34" charset="0"/>
                <a:cs typeface="Arial" panose="020B0604020202020204" pitchFamily="34" charset="0"/>
              </a:rPr>
              <a:t>.</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Refining and optimizing the </a:t>
            </a:r>
            <a:r>
              <a:rPr lang="en-US" sz="2000" b="1" dirty="0">
                <a:solidFill>
                  <a:schemeClr val="bg2">
                    <a:lumMod val="10000"/>
                  </a:schemeClr>
                </a:solidFill>
                <a:latin typeface="Arial" panose="020B0604020202020204" pitchFamily="34" charset="0"/>
                <a:cs typeface="Arial" panose="020B0604020202020204" pitchFamily="34" charset="0"/>
              </a:rPr>
              <a:t>system’s performance</a:t>
            </a:r>
            <a:r>
              <a:rPr lang="en-US" sz="2000" dirty="0">
                <a:solidFill>
                  <a:schemeClr val="bg2">
                    <a:lumMod val="10000"/>
                  </a:schemeClr>
                </a:solidFill>
                <a:latin typeface="Arial" panose="020B0604020202020204" pitchFamily="34" charset="0"/>
                <a:cs typeface="Arial" panose="020B0604020202020204" pitchFamily="34" charset="0"/>
              </a:rPr>
              <a:t>, </a:t>
            </a:r>
            <a:r>
              <a:rPr lang="en-US" sz="2000" b="1" dirty="0">
                <a:solidFill>
                  <a:schemeClr val="bg2">
                    <a:lumMod val="10000"/>
                  </a:schemeClr>
                </a:solidFill>
                <a:latin typeface="Arial" panose="020B0604020202020204" pitchFamily="34" charset="0"/>
                <a:cs typeface="Arial" panose="020B0604020202020204" pitchFamily="34" charset="0"/>
              </a:rPr>
              <a:t>usability</a:t>
            </a:r>
            <a:r>
              <a:rPr lang="en-US" sz="2000" dirty="0">
                <a:solidFill>
                  <a:schemeClr val="bg2">
                    <a:lumMod val="10000"/>
                  </a:schemeClr>
                </a:solidFill>
                <a:latin typeface="Arial" panose="020B0604020202020204" pitchFamily="34" charset="0"/>
                <a:cs typeface="Arial" panose="020B0604020202020204" pitchFamily="34" charset="0"/>
              </a:rPr>
              <a:t>, and </a:t>
            </a:r>
            <a:r>
              <a:rPr lang="en-US" sz="2000" b="1" dirty="0">
                <a:solidFill>
                  <a:schemeClr val="bg2">
                    <a:lumMod val="10000"/>
                  </a:schemeClr>
                </a:solidFill>
                <a:latin typeface="Arial" panose="020B0604020202020204" pitchFamily="34" charset="0"/>
                <a:cs typeface="Arial" panose="020B0604020202020204" pitchFamily="34" charset="0"/>
              </a:rPr>
              <a:t>functionality</a:t>
            </a:r>
            <a:r>
              <a:rPr lang="en-US" sz="2000" dirty="0">
                <a:solidFill>
                  <a:schemeClr val="bg2">
                    <a:lumMod val="10000"/>
                  </a:schemeClr>
                </a:solidFill>
                <a:latin typeface="Arial" panose="020B0604020202020204" pitchFamily="34" charset="0"/>
                <a:cs typeface="Arial" panose="020B0604020202020204" pitchFamily="34" charset="0"/>
              </a:rPr>
              <a:t>.</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Ensuring that the system is </a:t>
            </a:r>
            <a:r>
              <a:rPr lang="en-US" sz="2000" b="1" dirty="0">
                <a:solidFill>
                  <a:schemeClr val="bg2">
                    <a:lumMod val="10000"/>
                  </a:schemeClr>
                </a:solidFill>
                <a:latin typeface="Arial" panose="020B0604020202020204" pitchFamily="34" charset="0"/>
                <a:cs typeface="Arial" panose="020B0604020202020204" pitchFamily="34" charset="0"/>
              </a:rPr>
              <a:t>tested in-depth and is ready for production </a:t>
            </a:r>
            <a:r>
              <a:rPr lang="en-US" sz="2000" dirty="0">
                <a:solidFill>
                  <a:schemeClr val="bg2">
                    <a:lumMod val="10000"/>
                  </a:schemeClr>
                </a:solidFill>
                <a:latin typeface="Arial" panose="020B0604020202020204" pitchFamily="34" charset="0"/>
                <a:cs typeface="Arial" panose="020B0604020202020204" pitchFamily="34" charset="0"/>
              </a:rPr>
              <a:t>by the end of the phase.</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It is a crucial part of the DSDM methodology because it </a:t>
            </a:r>
            <a:r>
              <a:rPr lang="en-US" sz="2400" b="1" dirty="0">
                <a:solidFill>
                  <a:schemeClr val="bg2">
                    <a:lumMod val="10000"/>
                  </a:schemeClr>
                </a:solidFill>
                <a:latin typeface="Arial" panose="020B0604020202020204" pitchFamily="34" charset="0"/>
                <a:cs typeface="Arial" panose="020B0604020202020204" pitchFamily="34" charset="0"/>
              </a:rPr>
              <a:t>emphasizes</a:t>
            </a:r>
            <a:r>
              <a:rPr lang="en-US" sz="2400" dirty="0">
                <a:solidFill>
                  <a:schemeClr val="bg2">
                    <a:lumMod val="10000"/>
                  </a:schemeClr>
                </a:solidFill>
                <a:latin typeface="Arial" panose="020B0604020202020204" pitchFamily="34" charset="0"/>
                <a:cs typeface="Arial" panose="020B0604020202020204" pitchFamily="34" charset="0"/>
              </a:rPr>
              <a:t> the </a:t>
            </a:r>
            <a:r>
              <a:rPr lang="en-US" sz="2400" b="1" dirty="0">
                <a:solidFill>
                  <a:schemeClr val="bg2">
                    <a:lumMod val="10000"/>
                  </a:schemeClr>
                </a:solidFill>
                <a:latin typeface="Arial" panose="020B0604020202020204" pitchFamily="34" charset="0"/>
                <a:cs typeface="Arial" panose="020B0604020202020204" pitchFamily="34" charset="0"/>
              </a:rPr>
              <a:t>delivery of value early and often</a:t>
            </a:r>
            <a:r>
              <a:rPr lang="en-US" sz="2400" dirty="0">
                <a:solidFill>
                  <a:schemeClr val="bg2">
                    <a:lumMod val="10000"/>
                  </a:schemeClr>
                </a:solidFill>
                <a:latin typeface="Arial" panose="020B0604020202020204" pitchFamily="34" charset="0"/>
                <a:cs typeface="Arial" panose="020B0604020202020204" pitchFamily="34" charset="0"/>
              </a:rPr>
              <a:t>, while still allowing room for </a:t>
            </a:r>
            <a:r>
              <a:rPr lang="en-US" sz="2400" b="1" dirty="0">
                <a:solidFill>
                  <a:schemeClr val="bg2">
                    <a:lumMod val="10000"/>
                  </a:schemeClr>
                </a:solidFill>
                <a:latin typeface="Arial" panose="020B0604020202020204" pitchFamily="34" charset="0"/>
                <a:cs typeface="Arial" panose="020B0604020202020204" pitchFamily="34" charset="0"/>
              </a:rPr>
              <a:t>adjustments </a:t>
            </a:r>
            <a:r>
              <a:rPr lang="en-US" sz="2400" dirty="0">
                <a:solidFill>
                  <a:schemeClr val="bg2">
                    <a:lumMod val="10000"/>
                  </a:schemeClr>
                </a:solidFill>
                <a:latin typeface="Arial" panose="020B0604020202020204" pitchFamily="34" charset="0"/>
                <a:cs typeface="Arial" panose="020B0604020202020204" pitchFamily="34" charset="0"/>
              </a:rPr>
              <a:t>and </a:t>
            </a:r>
            <a:r>
              <a:rPr lang="en-US" sz="2400" b="1" dirty="0">
                <a:solidFill>
                  <a:schemeClr val="bg2">
                    <a:lumMod val="10000"/>
                  </a:schemeClr>
                </a:solidFill>
                <a:latin typeface="Arial" panose="020B0604020202020204" pitchFamily="34" charset="0"/>
                <a:cs typeface="Arial" panose="020B0604020202020204" pitchFamily="34" charset="0"/>
              </a:rPr>
              <a:t>refinements</a:t>
            </a:r>
            <a:r>
              <a:rPr lang="en-US" sz="2400" dirty="0">
                <a:solidFill>
                  <a:schemeClr val="bg2">
                    <a:lumMod val="10000"/>
                  </a:schemeClr>
                </a:solidFill>
                <a:latin typeface="Arial" panose="020B0604020202020204" pitchFamily="34" charset="0"/>
                <a:cs typeface="Arial" panose="020B0604020202020204" pitchFamily="34" charset="0"/>
              </a:rPr>
              <a:t> based on </a:t>
            </a:r>
            <a:r>
              <a:rPr lang="en-US" sz="2400" b="1" dirty="0">
                <a:solidFill>
                  <a:schemeClr val="bg2">
                    <a:lumMod val="10000"/>
                  </a:schemeClr>
                </a:solidFill>
                <a:latin typeface="Arial" panose="020B0604020202020204" pitchFamily="34" charset="0"/>
                <a:cs typeface="Arial" panose="020B0604020202020204" pitchFamily="34" charset="0"/>
              </a:rPr>
              <a:t>continuous feedback</a:t>
            </a:r>
            <a:r>
              <a:rPr lang="en-US" sz="2400" dirty="0">
                <a:solidFill>
                  <a:schemeClr val="bg2">
                    <a:lumMod val="10000"/>
                  </a:schemeClr>
                </a:solidFill>
                <a:latin typeface="Arial" panose="020B0604020202020204" pitchFamily="34" charset="0"/>
                <a:cs typeface="Arial" panose="020B0604020202020204" pitchFamily="34" charset="0"/>
              </a:rPr>
              <a:t>.</a:t>
            </a:r>
          </a:p>
          <a:p>
            <a:endParaRPr lang="en-US" sz="2000" dirty="0"/>
          </a:p>
        </p:txBody>
      </p:sp>
      <p:sp>
        <p:nvSpPr>
          <p:cNvPr id="5" name="Slide Number Placeholder 4">
            <a:extLst>
              <a:ext uri="{FF2B5EF4-FFF2-40B4-BE49-F238E27FC236}">
                <a16:creationId xmlns:a16="http://schemas.microsoft.com/office/drawing/2014/main" id="{99F957AE-F32B-E1AE-BB5F-D702DB8AFEFD}"/>
              </a:ext>
            </a:extLst>
          </p:cNvPr>
          <p:cNvSpPr>
            <a:spLocks noGrp="1"/>
          </p:cNvSpPr>
          <p:nvPr>
            <p:ph type="sldNum" sz="quarter" idx="12"/>
          </p:nvPr>
        </p:nvSpPr>
        <p:spPr/>
        <p:txBody>
          <a:bodyPr/>
          <a:lstStyle/>
          <a:p>
            <a:fld id="{4267CD5E-26CF-4249-8540-BB1D07FD4227}" type="slidenum">
              <a:rPr lang="en-US" smtClean="0"/>
              <a:t>30</a:t>
            </a:fld>
            <a:endParaRPr lang="en-US"/>
          </a:p>
        </p:txBody>
      </p:sp>
    </p:spTree>
    <p:extLst>
      <p:ext uri="{BB962C8B-B14F-4D97-AF65-F5344CB8AC3E}">
        <p14:creationId xmlns:p14="http://schemas.microsoft.com/office/powerpoint/2010/main" val="2355240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1"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24">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spc="40" dirty="0">
                <a:solidFill>
                  <a:srgbClr val="FFFFFF"/>
                </a:solidFill>
                <a:latin typeface="Arial" panose="020B0604020202020204" pitchFamily="34" charset="0"/>
                <a:cs typeface="Arial" panose="020B0604020202020204" pitchFamily="34" charset="0"/>
                <a:sym typeface="+mn-ea"/>
              </a:rPr>
              <a:t>Implementat</a:t>
            </a:r>
            <a:r>
              <a:rPr lang="en-US" spc="20" dirty="0">
                <a:solidFill>
                  <a:srgbClr val="FFFFFF"/>
                </a:solidFill>
                <a:latin typeface="Arial" panose="020B0604020202020204" pitchFamily="34" charset="0"/>
                <a:cs typeface="Arial" panose="020B0604020202020204" pitchFamily="34" charset="0"/>
                <a:sym typeface="+mn-ea"/>
              </a:rPr>
              <a:t>i</a:t>
            </a:r>
            <a:r>
              <a:rPr lang="en-US" dirty="0">
                <a:solidFill>
                  <a:srgbClr val="FFFFFF"/>
                </a:solidFill>
                <a:latin typeface="Arial" panose="020B0604020202020204" pitchFamily="34" charset="0"/>
                <a:cs typeface="Arial" panose="020B0604020202020204" pitchFamily="34" charset="0"/>
                <a:sym typeface="+mn-ea"/>
              </a:rPr>
              <a:t>on</a:t>
            </a:r>
            <a:br>
              <a:rPr lang="en-US" altLang="en-US" dirty="0">
                <a:solidFill>
                  <a:srgbClr val="FFFFFF"/>
                </a:solidFill>
                <a:latin typeface="Arial" panose="020B0604020202020204" pitchFamily="34" charset="0"/>
                <a:cs typeface="Arial" panose="020B0604020202020204" pitchFamily="34" charset="0"/>
              </a:rPr>
            </a:br>
            <a:endParaRPr lang="en-US"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424904" y="2494450"/>
            <a:ext cx="4668205" cy="3563159"/>
          </a:xfrm>
        </p:spPr>
        <p:txBody>
          <a:bodyPr vert="horz" lIns="91440" tIns="45720" rIns="91440" bIns="45720" rtlCol="0">
            <a:normAutofit/>
          </a:bodyPr>
          <a:lstStyle/>
          <a:p>
            <a:pPr defTabSz="914400">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33655" defTabSz="914400">
              <a:buFont typeface="Arial" panose="020B0604020202020204" pitchFamily="34" charset="0"/>
              <a:buChar char="•"/>
            </a:pPr>
            <a:r>
              <a:rPr lang="en-US" sz="2400" spc="-70" dirty="0">
                <a:solidFill>
                  <a:schemeClr val="bg2">
                    <a:lumMod val="10000"/>
                  </a:schemeClr>
                </a:solidFill>
                <a:latin typeface="Arial" panose="020B0604020202020204" pitchFamily="34" charset="0"/>
                <a:cs typeface="Arial" panose="020B0604020202020204" pitchFamily="34" charset="0"/>
                <a:sym typeface="+mn-ea"/>
              </a:rPr>
              <a:t>Installation and Deploym</a:t>
            </a:r>
            <a:r>
              <a:rPr lang="en-US" sz="2400" dirty="0">
                <a:solidFill>
                  <a:schemeClr val="bg2">
                    <a:lumMod val="10000"/>
                  </a:schemeClr>
                </a:solidFill>
                <a:latin typeface="Arial" panose="020B0604020202020204" pitchFamily="34" charset="0"/>
                <a:cs typeface="Arial" panose="020B0604020202020204" pitchFamily="34" charset="0"/>
                <a:sym typeface="+mn-ea"/>
              </a:rPr>
              <a:t>ent</a:t>
            </a:r>
          </a:p>
          <a:p>
            <a:pPr marL="33655" defTabSz="914400">
              <a:buFont typeface="Arial" panose="020B0604020202020204" pitchFamily="34" charset="0"/>
              <a:buChar char="•"/>
            </a:pPr>
            <a:r>
              <a:rPr lang="en-US" sz="2400" spc="-100" dirty="0">
                <a:solidFill>
                  <a:schemeClr val="bg2">
                    <a:lumMod val="10000"/>
                  </a:schemeClr>
                </a:solidFill>
                <a:latin typeface="Arial" panose="020B0604020202020204" pitchFamily="34" charset="0"/>
                <a:cs typeface="Arial" panose="020B0604020202020204" pitchFamily="34" charset="0"/>
                <a:sym typeface="+mn-ea"/>
              </a:rPr>
              <a:t>Represents cutover to operation</a:t>
            </a:r>
            <a:r>
              <a:rPr lang="en-US" sz="2400" spc="-50" dirty="0">
                <a:solidFill>
                  <a:schemeClr val="bg2">
                    <a:lumMod val="10000"/>
                  </a:schemeClr>
                </a:solidFill>
                <a:latin typeface="Arial" panose="020B0604020202020204" pitchFamily="34" charset="0"/>
                <a:cs typeface="Arial" panose="020B0604020202020204" pitchFamily="34" charset="0"/>
                <a:sym typeface="+mn-ea"/>
              </a:rPr>
              <a:t>s</a:t>
            </a:r>
            <a:r>
              <a:rPr lang="en-US" sz="2400" dirty="0">
                <a:solidFill>
                  <a:schemeClr val="bg2">
                    <a:lumMod val="10000"/>
                  </a:schemeClr>
                </a:solidFill>
                <a:latin typeface="Arial" panose="020B0604020202020204" pitchFamily="34" charset="0"/>
                <a:cs typeface="Arial" panose="020B0604020202020204" pitchFamily="34" charset="0"/>
                <a:sym typeface="+mn-ea"/>
              </a:rPr>
              <a:t> </a:t>
            </a:r>
          </a:p>
          <a:p>
            <a:pPr marL="490855" lvl="1" defTabSz="914400">
              <a:buFont typeface="Arial" panose="020B0604020202020204" pitchFamily="34" charset="0"/>
              <a:buChar char="•"/>
            </a:pPr>
            <a:r>
              <a:rPr lang="en-US" sz="2000" spc="-80" dirty="0">
                <a:solidFill>
                  <a:schemeClr val="bg2">
                    <a:lumMod val="10000"/>
                  </a:schemeClr>
                </a:solidFill>
                <a:latin typeface="Arial" panose="020B0604020202020204" pitchFamily="34" charset="0"/>
                <a:cs typeface="Arial" panose="020B0604020202020204" pitchFamily="34" charset="0"/>
                <a:sym typeface="+mn-ea"/>
              </a:rPr>
              <a:t>Installation of the completed c</a:t>
            </a:r>
            <a:r>
              <a:rPr lang="en-US" sz="2000" spc="-40" dirty="0">
                <a:solidFill>
                  <a:schemeClr val="bg2">
                    <a:lumMod val="10000"/>
                  </a:schemeClr>
                </a:solidFill>
                <a:latin typeface="Arial" panose="020B0604020202020204" pitchFamily="34" charset="0"/>
                <a:cs typeface="Arial" panose="020B0604020202020204" pitchFamily="34" charset="0"/>
                <a:sym typeface="+mn-ea"/>
              </a:rPr>
              <a:t>o</a:t>
            </a:r>
            <a:r>
              <a:rPr lang="en-US" sz="2000" dirty="0">
                <a:solidFill>
                  <a:schemeClr val="bg2">
                    <a:lumMod val="10000"/>
                  </a:schemeClr>
                </a:solidFill>
                <a:latin typeface="Arial" panose="020B0604020202020204" pitchFamily="34" charset="0"/>
                <a:cs typeface="Arial" panose="020B0604020202020204" pitchFamily="34" charset="0"/>
                <a:sym typeface="+mn-ea"/>
              </a:rPr>
              <a:t>de</a:t>
            </a:r>
            <a:endParaRPr lang="en-US" altLang="en-US" sz="2000" dirty="0">
              <a:solidFill>
                <a:schemeClr val="bg2">
                  <a:lumMod val="10000"/>
                </a:schemeClr>
              </a:solidFill>
              <a:latin typeface="Arial" panose="020B0604020202020204" pitchFamily="34" charset="0"/>
              <a:cs typeface="Arial" panose="020B0604020202020204" pitchFamily="34" charset="0"/>
            </a:endParaRPr>
          </a:p>
          <a:p>
            <a:pPr marL="31750" defTabSz="914400">
              <a:spcBef>
                <a:spcPts val="1155"/>
              </a:spcBef>
              <a:buFont typeface="Arial" panose="020B0604020202020204" pitchFamily="34" charset="0"/>
              <a:buChar char="•"/>
            </a:pPr>
            <a:r>
              <a:rPr lang="en-US" sz="2400" spc="-120" dirty="0">
                <a:solidFill>
                  <a:schemeClr val="bg2">
                    <a:lumMod val="10000"/>
                  </a:schemeClr>
                </a:solidFill>
                <a:latin typeface="Arial" panose="020B0604020202020204" pitchFamily="34" charset="0"/>
                <a:cs typeface="Arial" panose="020B0604020202020204" pitchFamily="34" charset="0"/>
                <a:sym typeface="+mn-ea"/>
              </a:rPr>
              <a:t>Produce documentati</a:t>
            </a:r>
            <a:r>
              <a:rPr lang="en-US" sz="2400" spc="-40" dirty="0">
                <a:solidFill>
                  <a:schemeClr val="bg2">
                    <a:lumMod val="10000"/>
                  </a:schemeClr>
                </a:solidFill>
                <a:latin typeface="Arial" panose="020B0604020202020204" pitchFamily="34" charset="0"/>
                <a:cs typeface="Arial" panose="020B0604020202020204" pitchFamily="34" charset="0"/>
                <a:sym typeface="+mn-ea"/>
              </a:rPr>
              <a:t>o</a:t>
            </a:r>
            <a:r>
              <a:rPr lang="en-US" sz="2400" dirty="0">
                <a:solidFill>
                  <a:schemeClr val="bg2">
                    <a:lumMod val="10000"/>
                  </a:schemeClr>
                </a:solidFill>
                <a:latin typeface="Arial" panose="020B0604020202020204" pitchFamily="34" charset="0"/>
                <a:cs typeface="Arial" panose="020B0604020202020204" pitchFamily="34" charset="0"/>
                <a:sym typeface="+mn-ea"/>
              </a:rPr>
              <a:t>n</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12700" defTabSz="914400">
              <a:buFont typeface="Arial" panose="020B0604020202020204" pitchFamily="34" charset="0"/>
              <a:buChar char="•"/>
            </a:pPr>
            <a:r>
              <a:rPr lang="en-US" sz="2400" spc="-50" dirty="0">
                <a:solidFill>
                  <a:schemeClr val="bg2">
                    <a:lumMod val="10000"/>
                  </a:schemeClr>
                </a:solidFill>
                <a:latin typeface="Arial" panose="020B0604020202020204" pitchFamily="34" charset="0"/>
                <a:cs typeface="Arial" panose="020B0604020202020204" pitchFamily="34" charset="0"/>
                <a:sym typeface="+mn-ea"/>
              </a:rPr>
              <a:t>Train use</a:t>
            </a:r>
            <a:r>
              <a:rPr lang="en-US" sz="2400" spc="-30" dirty="0">
                <a:solidFill>
                  <a:schemeClr val="bg2">
                    <a:lumMod val="10000"/>
                  </a:schemeClr>
                </a:solidFill>
                <a:latin typeface="Arial" panose="020B0604020202020204" pitchFamily="34" charset="0"/>
                <a:cs typeface="Arial" panose="020B0604020202020204" pitchFamily="34" charset="0"/>
                <a:sym typeface="+mn-ea"/>
              </a:rPr>
              <a:t>r</a:t>
            </a:r>
            <a:r>
              <a:rPr lang="en-US" sz="2400" dirty="0">
                <a:solidFill>
                  <a:schemeClr val="bg2">
                    <a:lumMod val="10000"/>
                  </a:schemeClr>
                </a:solidFill>
                <a:latin typeface="Arial" panose="020B0604020202020204" pitchFamily="34" charset="0"/>
                <a:cs typeface="Arial" panose="020B0604020202020204" pitchFamily="34" charset="0"/>
                <a:sym typeface="+mn-ea"/>
              </a:rPr>
              <a:t>s</a:t>
            </a:r>
            <a:endParaRPr lang="en-US" alt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6" name="Picture 5" descr="Diagram, schematic&#10;&#10;Description automatically generated">
            <a:extLst>
              <a:ext uri="{FF2B5EF4-FFF2-40B4-BE49-F238E27FC236}">
                <a16:creationId xmlns:a16="http://schemas.microsoft.com/office/drawing/2014/main" id="{AF16A3D7-233D-9513-50E2-C425C017EF6D}"/>
              </a:ext>
            </a:extLst>
          </p:cNvPr>
          <p:cNvPicPr>
            <a:picLocks noChangeAspect="1"/>
          </p:cNvPicPr>
          <p:nvPr/>
        </p:nvPicPr>
        <p:blipFill rotWithShape="1">
          <a:blip r:embed="rId2"/>
          <a:srcRect b="2689"/>
          <a:stretch/>
        </p:blipFill>
        <p:spPr>
          <a:xfrm>
            <a:off x="6200540" y="2354089"/>
            <a:ext cx="4802404" cy="3563372"/>
          </a:xfrm>
          <a:prstGeom prst="rect">
            <a:avLst/>
          </a:prstGeom>
        </p:spPr>
      </p:pic>
      <p:sp>
        <p:nvSpPr>
          <p:cNvPr id="7" name="Slide Number Placeholder 2">
            <a:extLst>
              <a:ext uri="{FF2B5EF4-FFF2-40B4-BE49-F238E27FC236}">
                <a16:creationId xmlns:a16="http://schemas.microsoft.com/office/drawing/2014/main" id="{20851A7B-7911-9A63-A8C9-AAF0753A8725}"/>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DC43-A6F8-F978-C7AE-CEA6E2601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9581C-CC78-DEAB-1C0C-BA0AB5FC8280}"/>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Implementation</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D574C59D-ABCD-98C7-6F4B-0358E7018849}"/>
              </a:ext>
            </a:extLst>
          </p:cNvPr>
          <p:cNvSpPr>
            <a:spLocks noGrp="1"/>
          </p:cNvSpPr>
          <p:nvPr>
            <p:ph idx="1"/>
          </p:nvPr>
        </p:nvSpPr>
        <p:spPr>
          <a:xfrm>
            <a:off x="1424903" y="1729212"/>
            <a:ext cx="10045837" cy="4328397"/>
          </a:xfrm>
        </p:spPr>
        <p:txBody>
          <a:bodyPr vert="horz" lIns="91440" tIns="45720" rIns="91440" bIns="45720" rtlCol="0">
            <a:normAutofit/>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This phase focuses on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delivering the final, working system </a:t>
            </a:r>
            <a:r>
              <a:rPr lang="en-US" sz="2400" spc="-60" dirty="0">
                <a:solidFill>
                  <a:schemeClr val="bg2">
                    <a:lumMod val="10000"/>
                  </a:schemeClr>
                </a:solidFill>
                <a:latin typeface="Arial" panose="020B0604020202020204" pitchFamily="34" charset="0"/>
                <a:cs typeface="Arial" panose="020B0604020202020204" pitchFamily="34" charset="0"/>
                <a:sym typeface="+mn-ea"/>
              </a:rPr>
              <a:t>to the users and making sure that it is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fully operational </a:t>
            </a:r>
            <a:r>
              <a:rPr lang="en-US" sz="2400" spc="-60" dirty="0">
                <a:solidFill>
                  <a:schemeClr val="bg2">
                    <a:lumMod val="10000"/>
                  </a:schemeClr>
                </a:solidFill>
                <a:latin typeface="Arial" panose="020B0604020202020204" pitchFamily="34" charset="0"/>
                <a:cs typeface="Arial" panose="020B0604020202020204" pitchFamily="34" charset="0"/>
                <a:sym typeface="+mn-ea"/>
              </a:rPr>
              <a:t>within the </a:t>
            </a:r>
            <a:r>
              <a:rPr lang="en-US" sz="2400" b="1" spc="-60" dirty="0">
                <a:solidFill>
                  <a:schemeClr val="bg2">
                    <a:lumMod val="10000"/>
                  </a:schemeClr>
                </a:solidFill>
                <a:latin typeface="Arial" panose="020B0604020202020204" pitchFamily="34" charset="0"/>
                <a:cs typeface="Arial" panose="020B0604020202020204" pitchFamily="34" charset="0"/>
                <a:sym typeface="+mn-ea"/>
              </a:rPr>
              <a:t>business environment</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The main goal of this phase is to </a:t>
            </a:r>
            <a:r>
              <a:rPr lang="en-US" sz="2400" b="1" spc="-60" dirty="0">
                <a:solidFill>
                  <a:schemeClr val="bg2">
                    <a:lumMod val="10000"/>
                  </a:schemeClr>
                </a:solidFill>
                <a:latin typeface="Arial" panose="020B0604020202020204" pitchFamily="34" charset="0"/>
                <a:cs typeface="Arial" panose="020B0604020202020204" pitchFamily="34" charset="0"/>
                <a:sym typeface="+mn-ea"/>
              </a:rPr>
              <a:t>transition the system </a:t>
            </a:r>
            <a:r>
              <a:rPr lang="en-US" sz="2400" spc="-60" dirty="0">
                <a:solidFill>
                  <a:schemeClr val="bg2">
                    <a:lumMod val="10000"/>
                  </a:schemeClr>
                </a:solidFill>
                <a:latin typeface="Arial" panose="020B0604020202020204" pitchFamily="34" charset="0"/>
                <a:cs typeface="Arial" panose="020B0604020202020204" pitchFamily="34" charset="0"/>
                <a:sym typeface="+mn-ea"/>
              </a:rPr>
              <a:t>from </a:t>
            </a:r>
            <a:r>
              <a:rPr lang="en-US" sz="2400" b="1" spc="-60" dirty="0">
                <a:solidFill>
                  <a:schemeClr val="bg2">
                    <a:lumMod val="10000"/>
                  </a:schemeClr>
                </a:solidFill>
                <a:latin typeface="Arial" panose="020B0604020202020204" pitchFamily="34" charset="0"/>
                <a:cs typeface="Arial" panose="020B0604020202020204" pitchFamily="34" charset="0"/>
                <a:sym typeface="+mn-ea"/>
              </a:rPr>
              <a:t>development to live use</a:t>
            </a:r>
            <a:r>
              <a:rPr lang="en-US" sz="2400" spc="-60" dirty="0">
                <a:solidFill>
                  <a:schemeClr val="bg2">
                    <a:lumMod val="10000"/>
                  </a:schemeClr>
                </a:solidFill>
                <a:latin typeface="Arial" panose="020B0604020202020204" pitchFamily="34" charset="0"/>
                <a:cs typeface="Arial" panose="020B0604020202020204" pitchFamily="34" charset="0"/>
                <a:sym typeface="+mn-ea"/>
              </a:rPr>
              <a:t>, ensuring that the system meets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business needs </a:t>
            </a:r>
            <a:r>
              <a:rPr lang="en-US" sz="2400" spc="-60" dirty="0">
                <a:solidFill>
                  <a:schemeClr val="bg2">
                    <a:lumMod val="10000"/>
                  </a:schemeClr>
                </a:solidFill>
                <a:latin typeface="Arial" panose="020B0604020202020204" pitchFamily="34" charset="0"/>
                <a:cs typeface="Arial" panose="020B0604020202020204" pitchFamily="34" charset="0"/>
                <a:sym typeface="+mn-ea"/>
              </a:rPr>
              <a:t>and is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stable and well-supported.</a:t>
            </a:r>
          </a:p>
        </p:txBody>
      </p:sp>
      <p:sp>
        <p:nvSpPr>
          <p:cNvPr id="9" name="Slide Number Placeholder 2">
            <a:extLst>
              <a:ext uri="{FF2B5EF4-FFF2-40B4-BE49-F238E27FC236}">
                <a16:creationId xmlns:a16="http://schemas.microsoft.com/office/drawing/2014/main" id="{7F63708E-50F1-6646-F9FE-061D5669CCBF}"/>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32</a:t>
            </a:fld>
            <a:endParaRPr lang="en-US" dirty="0"/>
          </a:p>
        </p:txBody>
      </p:sp>
    </p:spTree>
    <p:extLst>
      <p:ext uri="{BB962C8B-B14F-4D97-AF65-F5344CB8AC3E}">
        <p14:creationId xmlns:p14="http://schemas.microsoft.com/office/powerpoint/2010/main" val="71359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A86A-4198-0215-ABBB-29CDA76E99CB}"/>
              </a:ext>
            </a:extLst>
          </p:cNvPr>
          <p:cNvSpPr>
            <a:spLocks noGrp="1"/>
          </p:cNvSpPr>
          <p:nvPr>
            <p:ph type="title"/>
          </p:nvPr>
        </p:nvSpPr>
        <p:spPr/>
        <p:txBody>
          <a:bodyPr/>
          <a:lstStyle/>
          <a:p>
            <a:r>
              <a:rPr lang="en-US" spc="-60" dirty="0">
                <a:solidFill>
                  <a:schemeClr val="bg2">
                    <a:lumMod val="10000"/>
                  </a:schemeClr>
                </a:solidFill>
                <a:latin typeface="Arial" panose="020B0604020202020204" pitchFamily="34" charset="0"/>
                <a:cs typeface="Arial" panose="020B0604020202020204" pitchFamily="34" charset="0"/>
                <a:sym typeface="+mn-ea"/>
              </a:rPr>
              <a:t>Implementation</a:t>
            </a:r>
            <a:endParaRPr lang="en-US" dirty="0"/>
          </a:p>
        </p:txBody>
      </p:sp>
      <p:sp>
        <p:nvSpPr>
          <p:cNvPr id="4" name="Content Placeholder 3">
            <a:extLst>
              <a:ext uri="{FF2B5EF4-FFF2-40B4-BE49-F238E27FC236}">
                <a16:creationId xmlns:a16="http://schemas.microsoft.com/office/drawing/2014/main" id="{3FBDC605-7910-4786-507D-FF037376B29E}"/>
              </a:ext>
            </a:extLst>
          </p:cNvPr>
          <p:cNvSpPr>
            <a:spLocks noGrp="1"/>
          </p:cNvSpPr>
          <p:nvPr>
            <p:ph idx="1"/>
          </p:nvPr>
        </p:nvSpPr>
        <p:spPr>
          <a:xfrm>
            <a:off x="644771" y="1494504"/>
            <a:ext cx="10709031" cy="4587644"/>
          </a:xfrm>
        </p:spPr>
        <p:txBody>
          <a:bodyPr>
            <a:normAutofit/>
          </a:bodyPr>
          <a:lstStyle/>
          <a:p>
            <a:pPr defTabSz="914400">
              <a:buFont typeface="Arial" panose="020B0604020202020204" pitchFamily="34" charset="0"/>
              <a:buChar char="•"/>
            </a:pPr>
            <a:r>
              <a:rPr lang="en-US" sz="2800" dirty="0">
                <a:solidFill>
                  <a:schemeClr val="bg2">
                    <a:lumMod val="10000"/>
                  </a:schemeClr>
                </a:solidFill>
                <a:latin typeface="Arial" panose="020B0604020202020204" pitchFamily="34" charset="0"/>
                <a:cs typeface="Arial" panose="020B0604020202020204" pitchFamily="34" charset="0"/>
              </a:rPr>
              <a:t>This phase ensures that:</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 system is ready for </a:t>
            </a:r>
            <a:r>
              <a:rPr lang="en-US" sz="2000" b="1" dirty="0">
                <a:solidFill>
                  <a:schemeClr val="bg2">
                    <a:lumMod val="10000"/>
                  </a:schemeClr>
                </a:solidFill>
                <a:latin typeface="Arial" panose="020B0604020202020204" pitchFamily="34" charset="0"/>
                <a:cs typeface="Arial" panose="020B0604020202020204" pitchFamily="34" charset="0"/>
              </a:rPr>
              <a:t>production, properly configured</a:t>
            </a:r>
            <a:r>
              <a:rPr lang="en-US" sz="2000" dirty="0">
                <a:solidFill>
                  <a:schemeClr val="bg2">
                    <a:lumMod val="10000"/>
                  </a:schemeClr>
                </a:solidFill>
                <a:latin typeface="Arial" panose="020B0604020202020204" pitchFamily="34" charset="0"/>
                <a:cs typeface="Arial" panose="020B0604020202020204" pitchFamily="34" charset="0"/>
              </a:rPr>
              <a:t>, and can be </a:t>
            </a:r>
            <a:r>
              <a:rPr lang="en-US" sz="2000" b="1" dirty="0">
                <a:solidFill>
                  <a:schemeClr val="bg2">
                    <a:lumMod val="10000"/>
                  </a:schemeClr>
                </a:solidFill>
                <a:latin typeface="Arial" panose="020B0604020202020204" pitchFamily="34" charset="0"/>
                <a:cs typeface="Arial" panose="020B0604020202020204" pitchFamily="34" charset="0"/>
              </a:rPr>
              <a:t>supported by users</a:t>
            </a:r>
            <a:r>
              <a:rPr lang="en-US" sz="2000" dirty="0">
                <a:solidFill>
                  <a:schemeClr val="bg2">
                    <a:lumMod val="10000"/>
                  </a:schemeClr>
                </a:solidFill>
                <a:latin typeface="Arial" panose="020B0604020202020204" pitchFamily="34" charset="0"/>
                <a:cs typeface="Arial" panose="020B0604020202020204" pitchFamily="34" charset="0"/>
              </a:rPr>
              <a:t>.</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Users are trained and can leverage the new system to improve </a:t>
            </a:r>
            <a:r>
              <a:rPr lang="en-US" sz="2000" b="1" dirty="0">
                <a:solidFill>
                  <a:schemeClr val="bg2">
                    <a:lumMod val="10000"/>
                  </a:schemeClr>
                </a:solidFill>
                <a:latin typeface="Arial" panose="020B0604020202020204" pitchFamily="34" charset="0"/>
                <a:cs typeface="Arial" panose="020B0604020202020204" pitchFamily="34" charset="0"/>
              </a:rPr>
              <a:t>productivity</a:t>
            </a:r>
            <a:r>
              <a:rPr lang="en-US" sz="2000" dirty="0">
                <a:solidFill>
                  <a:schemeClr val="bg2">
                    <a:lumMod val="10000"/>
                  </a:schemeClr>
                </a:solidFill>
                <a:latin typeface="Arial" panose="020B0604020202020204" pitchFamily="34" charset="0"/>
                <a:cs typeface="Arial" panose="020B0604020202020204" pitchFamily="34" charset="0"/>
              </a:rPr>
              <a:t>, </a:t>
            </a:r>
            <a:r>
              <a:rPr lang="en-US" sz="2000" b="1" dirty="0">
                <a:solidFill>
                  <a:schemeClr val="bg2">
                    <a:lumMod val="10000"/>
                  </a:schemeClr>
                </a:solidFill>
                <a:latin typeface="Arial" panose="020B0604020202020204" pitchFamily="34" charset="0"/>
                <a:cs typeface="Arial" panose="020B0604020202020204" pitchFamily="34" charset="0"/>
              </a:rPr>
              <a:t>performance</a:t>
            </a:r>
            <a:r>
              <a:rPr lang="en-US" sz="2000" dirty="0">
                <a:solidFill>
                  <a:schemeClr val="bg2">
                    <a:lumMod val="10000"/>
                  </a:schemeClr>
                </a:solidFill>
                <a:latin typeface="Arial" panose="020B0604020202020204" pitchFamily="34" charset="0"/>
                <a:cs typeface="Arial" panose="020B0604020202020204" pitchFamily="34" charset="0"/>
              </a:rPr>
              <a:t>, or </a:t>
            </a:r>
            <a:r>
              <a:rPr lang="en-US" sz="2000" b="1" dirty="0">
                <a:solidFill>
                  <a:schemeClr val="bg2">
                    <a:lumMod val="10000"/>
                  </a:schemeClr>
                </a:solidFill>
                <a:latin typeface="Arial" panose="020B0604020202020204" pitchFamily="34" charset="0"/>
                <a:cs typeface="Arial" panose="020B0604020202020204" pitchFamily="34" charset="0"/>
              </a:rPr>
              <a:t>whatever specific goals </a:t>
            </a:r>
            <a:r>
              <a:rPr lang="en-US" sz="2000" dirty="0">
                <a:solidFill>
                  <a:schemeClr val="bg2">
                    <a:lumMod val="10000"/>
                  </a:schemeClr>
                </a:solidFill>
                <a:latin typeface="Arial" panose="020B0604020202020204" pitchFamily="34" charset="0"/>
                <a:cs typeface="Arial" panose="020B0604020202020204" pitchFamily="34" charset="0"/>
              </a:rPr>
              <a:t>the system was designed to achieve.</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There is </a:t>
            </a:r>
            <a:r>
              <a:rPr lang="en-US" sz="2000" b="1" dirty="0">
                <a:solidFill>
                  <a:schemeClr val="bg2">
                    <a:lumMod val="10000"/>
                  </a:schemeClr>
                </a:solidFill>
                <a:latin typeface="Arial" panose="020B0604020202020204" pitchFamily="34" charset="0"/>
                <a:cs typeface="Arial" panose="020B0604020202020204" pitchFamily="34" charset="0"/>
              </a:rPr>
              <a:t>minimal disruption </a:t>
            </a:r>
            <a:r>
              <a:rPr lang="en-US" sz="2000" dirty="0">
                <a:solidFill>
                  <a:schemeClr val="bg2">
                    <a:lumMod val="10000"/>
                  </a:schemeClr>
                </a:solidFill>
                <a:latin typeface="Arial" panose="020B0604020202020204" pitchFamily="34" charset="0"/>
                <a:cs typeface="Arial" panose="020B0604020202020204" pitchFamily="34" charset="0"/>
              </a:rPr>
              <a:t>to the business during the system's transition from </a:t>
            </a:r>
            <a:r>
              <a:rPr lang="en-US" sz="2000" b="1" dirty="0">
                <a:solidFill>
                  <a:schemeClr val="bg2">
                    <a:lumMod val="10000"/>
                  </a:schemeClr>
                </a:solidFill>
                <a:latin typeface="Arial" panose="020B0604020202020204" pitchFamily="34" charset="0"/>
                <a:cs typeface="Arial" panose="020B0604020202020204" pitchFamily="34" charset="0"/>
              </a:rPr>
              <a:t>development to live use</a:t>
            </a:r>
            <a:r>
              <a:rPr lang="en-US" sz="2000" dirty="0">
                <a:solidFill>
                  <a:schemeClr val="bg2">
                    <a:lumMod val="10000"/>
                  </a:schemeClr>
                </a:solidFill>
                <a:latin typeface="Arial" panose="020B0604020202020204" pitchFamily="34" charset="0"/>
                <a:cs typeface="Arial" panose="020B0604020202020204" pitchFamily="34" charset="0"/>
              </a:rPr>
              <a:t>.</a:t>
            </a:r>
          </a:p>
          <a:p>
            <a:pPr lvl="1" defTabSz="914400">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 system is </a:t>
            </a:r>
            <a:r>
              <a:rPr lang="en-US" sz="2000" b="1" dirty="0">
                <a:solidFill>
                  <a:schemeClr val="bg2">
                    <a:lumMod val="10000"/>
                  </a:schemeClr>
                </a:solidFill>
                <a:latin typeface="Arial" panose="020B0604020202020204" pitchFamily="34" charset="0"/>
                <a:cs typeface="Arial" panose="020B0604020202020204" pitchFamily="34" charset="0"/>
              </a:rPr>
              <a:t>sustainable</a:t>
            </a:r>
            <a:r>
              <a:rPr lang="en-US" sz="2000" dirty="0">
                <a:solidFill>
                  <a:schemeClr val="bg2">
                    <a:lumMod val="10000"/>
                  </a:schemeClr>
                </a:solidFill>
                <a:latin typeface="Arial" panose="020B0604020202020204" pitchFamily="34" charset="0"/>
                <a:cs typeface="Arial" panose="020B0604020202020204" pitchFamily="34" charset="0"/>
              </a:rPr>
              <a:t>, with the </a:t>
            </a:r>
            <a:r>
              <a:rPr lang="en-US" sz="2000" b="1" dirty="0">
                <a:solidFill>
                  <a:schemeClr val="bg2">
                    <a:lumMod val="10000"/>
                  </a:schemeClr>
                </a:solidFill>
                <a:latin typeface="Arial" panose="020B0604020202020204" pitchFamily="34" charset="0"/>
                <a:cs typeface="Arial" panose="020B0604020202020204" pitchFamily="34" charset="0"/>
              </a:rPr>
              <a:t>necessary support mechanisms </a:t>
            </a:r>
            <a:r>
              <a:rPr lang="en-US" sz="2000" dirty="0">
                <a:solidFill>
                  <a:schemeClr val="bg2">
                    <a:lumMod val="10000"/>
                  </a:schemeClr>
                </a:solidFill>
                <a:latin typeface="Arial" panose="020B0604020202020204" pitchFamily="34" charset="0"/>
                <a:cs typeface="Arial" panose="020B0604020202020204" pitchFamily="34" charset="0"/>
              </a:rPr>
              <a:t>in place to resolve any </a:t>
            </a:r>
            <a:r>
              <a:rPr lang="en-US" sz="2000" b="1" dirty="0">
                <a:solidFill>
                  <a:schemeClr val="bg2">
                    <a:lumMod val="10000"/>
                  </a:schemeClr>
                </a:solidFill>
                <a:latin typeface="Arial" panose="020B0604020202020204" pitchFamily="34" charset="0"/>
                <a:cs typeface="Arial" panose="020B0604020202020204" pitchFamily="34" charset="0"/>
              </a:rPr>
              <a:t>issues or bugs </a:t>
            </a:r>
            <a:r>
              <a:rPr lang="en-US" sz="2000" dirty="0">
                <a:solidFill>
                  <a:schemeClr val="bg2">
                    <a:lumMod val="10000"/>
                  </a:schemeClr>
                </a:solidFill>
                <a:latin typeface="Arial" panose="020B0604020202020204" pitchFamily="34" charset="0"/>
                <a:cs typeface="Arial" panose="020B0604020202020204" pitchFamily="34" charset="0"/>
              </a:rPr>
              <a:t>after deployment.</a:t>
            </a:r>
          </a:p>
          <a:p>
            <a:endParaRPr lang="en-US" sz="2000" dirty="0"/>
          </a:p>
        </p:txBody>
      </p:sp>
      <p:sp>
        <p:nvSpPr>
          <p:cNvPr id="5" name="Slide Number Placeholder 4">
            <a:extLst>
              <a:ext uri="{FF2B5EF4-FFF2-40B4-BE49-F238E27FC236}">
                <a16:creationId xmlns:a16="http://schemas.microsoft.com/office/drawing/2014/main" id="{5506485E-18C9-ACE5-A8BF-630022C366FF}"/>
              </a:ext>
            </a:extLst>
          </p:cNvPr>
          <p:cNvSpPr>
            <a:spLocks noGrp="1"/>
          </p:cNvSpPr>
          <p:nvPr>
            <p:ph type="sldNum" sz="quarter" idx="12"/>
          </p:nvPr>
        </p:nvSpPr>
        <p:spPr/>
        <p:txBody>
          <a:bodyPr/>
          <a:lstStyle/>
          <a:p>
            <a:fld id="{4267CD5E-26CF-4249-8540-BB1D07FD4227}" type="slidenum">
              <a:rPr lang="en-US" smtClean="0"/>
              <a:t>33</a:t>
            </a:fld>
            <a:endParaRPr lang="en-US"/>
          </a:p>
        </p:txBody>
      </p:sp>
    </p:spTree>
    <p:extLst>
      <p:ext uri="{BB962C8B-B14F-4D97-AF65-F5344CB8AC3E}">
        <p14:creationId xmlns:p14="http://schemas.microsoft.com/office/powerpoint/2010/main" val="3700465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4"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itle 3"/>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kern="1200" spc="-90" dirty="0">
                <a:solidFill>
                  <a:srgbClr val="FFFFFF"/>
                </a:solidFill>
                <a:latin typeface="Arial" panose="020B0604020202020204" pitchFamily="34" charset="0"/>
                <a:cs typeface="Arial" panose="020B0604020202020204" pitchFamily="34" charset="0"/>
                <a:sym typeface="+mn-ea"/>
              </a:rPr>
              <a:t>Post-project phas</a:t>
            </a:r>
            <a:r>
              <a:rPr lang="en-US" kern="1200" spc="-30" dirty="0">
                <a:solidFill>
                  <a:srgbClr val="FFFFFF"/>
                </a:solidFill>
                <a:latin typeface="Arial" panose="020B0604020202020204" pitchFamily="34" charset="0"/>
                <a:cs typeface="Arial" panose="020B0604020202020204" pitchFamily="34" charset="0"/>
                <a:sym typeface="+mn-ea"/>
              </a:rPr>
              <a:t>e</a:t>
            </a:r>
            <a:br>
              <a:rPr lang="en-US" altLang="en-US" kern="1200" dirty="0">
                <a:solidFill>
                  <a:srgbClr val="FFFFFF"/>
                </a:solidFill>
                <a:latin typeface="Arial" panose="020B0604020202020204" pitchFamily="34" charset="0"/>
                <a:cs typeface="Arial" panose="020B0604020202020204" pitchFamily="34" charset="0"/>
              </a:rPr>
            </a:br>
            <a:endParaRPr lang="en-US" kern="1200" dirty="0">
              <a:solidFill>
                <a:srgbClr val="FFFFFF"/>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424904" y="2494450"/>
            <a:ext cx="4603640" cy="3563159"/>
          </a:xfrm>
        </p:spPr>
        <p:txBody>
          <a:bodyPr vert="horz" lIns="91440" tIns="45720" rIns="91440" bIns="45720" rtlCol="0">
            <a:normAutofit/>
          </a:bodyPr>
          <a:lstStyle/>
          <a:p>
            <a:pPr defTabSz="914400" fontAlgn="auto">
              <a:buFont typeface="Arial" panose="020B0604020202020204" pitchFamily="34" charset="0"/>
              <a:buChar char="•"/>
            </a:pPr>
            <a:endParaRPr lang="en-US" altLang="en-US" sz="2400" dirty="0">
              <a:solidFill>
                <a:schemeClr val="bg2">
                  <a:lumMod val="10000"/>
                </a:schemeClr>
              </a:solidFill>
              <a:latin typeface="Arial" panose="020B0604020202020204" pitchFamily="34" charset="0"/>
              <a:cs typeface="Arial" panose="020B0604020202020204" pitchFamily="34" charset="0"/>
            </a:endParaRPr>
          </a:p>
          <a:p>
            <a:pPr marL="355600" defTabSz="914400">
              <a:buFont typeface="Arial" panose="020B0604020202020204" pitchFamily="34" charset="0"/>
              <a:buChar char="•"/>
            </a:pPr>
            <a:r>
              <a:rPr lang="en-US" sz="2600" spc="-70" dirty="0">
                <a:solidFill>
                  <a:schemeClr val="bg2">
                    <a:lumMod val="10000"/>
                  </a:schemeClr>
                </a:solidFill>
                <a:latin typeface="Arial" panose="020B0604020202020204" pitchFamily="34" charset="0"/>
                <a:cs typeface="Arial" panose="020B0604020202020204" pitchFamily="34" charset="0"/>
                <a:sym typeface="+mn-ea"/>
              </a:rPr>
              <a:t>Support and maintenance of pr</a:t>
            </a:r>
            <a:r>
              <a:rPr lang="en-US" sz="2600" spc="-60" dirty="0">
                <a:solidFill>
                  <a:schemeClr val="bg2">
                    <a:lumMod val="10000"/>
                  </a:schemeClr>
                </a:solidFill>
                <a:latin typeface="Arial" panose="020B0604020202020204" pitchFamily="34" charset="0"/>
                <a:cs typeface="Arial" panose="020B0604020202020204" pitchFamily="34" charset="0"/>
                <a:sym typeface="+mn-ea"/>
              </a:rPr>
              <a:t>o</a:t>
            </a:r>
            <a:r>
              <a:rPr lang="en-US" sz="2600" dirty="0">
                <a:solidFill>
                  <a:schemeClr val="bg2">
                    <a:lumMod val="10000"/>
                  </a:schemeClr>
                </a:solidFill>
                <a:latin typeface="Arial" panose="020B0604020202020204" pitchFamily="34" charset="0"/>
                <a:cs typeface="Arial" panose="020B0604020202020204" pitchFamily="34" charset="0"/>
                <a:sym typeface="+mn-ea"/>
              </a:rPr>
              <a:t>duct</a:t>
            </a:r>
          </a:p>
          <a:p>
            <a:pPr marL="355600" defTabSz="914400">
              <a:buFont typeface="Arial" panose="020B0604020202020204" pitchFamily="34" charset="0"/>
              <a:buChar char="•"/>
            </a:pPr>
            <a:endParaRPr lang="en-US" altLang="en-US" sz="2600" dirty="0">
              <a:solidFill>
                <a:schemeClr val="bg2">
                  <a:lumMod val="10000"/>
                </a:schemeClr>
              </a:solidFill>
              <a:latin typeface="Arial" panose="020B0604020202020204" pitchFamily="34" charset="0"/>
              <a:cs typeface="Arial" panose="020B0604020202020204" pitchFamily="34" charset="0"/>
            </a:endParaRPr>
          </a:p>
          <a:p>
            <a:pPr marL="365760" defTabSz="914400">
              <a:buFont typeface="Arial" panose="020B0604020202020204" pitchFamily="34" charset="0"/>
              <a:buChar char="•"/>
            </a:pPr>
            <a:r>
              <a:rPr lang="en-US" sz="2600" spc="-100" dirty="0">
                <a:solidFill>
                  <a:schemeClr val="bg2">
                    <a:lumMod val="10000"/>
                  </a:schemeClr>
                </a:solidFill>
                <a:latin typeface="Arial" panose="020B0604020202020204" pitchFamily="34" charset="0"/>
                <a:cs typeface="Arial" panose="020B0604020202020204" pitchFamily="34" charset="0"/>
                <a:sym typeface="+mn-ea"/>
              </a:rPr>
              <a:t>Post-project revi</a:t>
            </a:r>
            <a:r>
              <a:rPr lang="en-US" sz="2600" spc="-60" dirty="0">
                <a:solidFill>
                  <a:schemeClr val="bg2">
                    <a:lumMod val="10000"/>
                  </a:schemeClr>
                </a:solidFill>
                <a:latin typeface="Arial" panose="020B0604020202020204" pitchFamily="34" charset="0"/>
                <a:cs typeface="Arial" panose="020B0604020202020204" pitchFamily="34" charset="0"/>
                <a:sym typeface="+mn-ea"/>
              </a:rPr>
              <a:t>e</a:t>
            </a:r>
            <a:r>
              <a:rPr lang="en-US" sz="2600" dirty="0">
                <a:solidFill>
                  <a:schemeClr val="bg2">
                    <a:lumMod val="10000"/>
                  </a:schemeClr>
                </a:solidFill>
                <a:latin typeface="Arial" panose="020B0604020202020204" pitchFamily="34" charset="0"/>
                <a:cs typeface="Arial" panose="020B0604020202020204" pitchFamily="34" charset="0"/>
                <a:sym typeface="+mn-ea"/>
              </a:rPr>
              <a:t>w</a:t>
            </a:r>
          </a:p>
          <a:p>
            <a:pPr marL="640080" lvl="1" defTabSz="914400">
              <a:buFont typeface="Arial" panose="020B0604020202020204" pitchFamily="34" charset="0"/>
              <a:buChar char="•"/>
            </a:pPr>
            <a:r>
              <a:rPr lang="en-US" sz="2200" spc="-60" dirty="0">
                <a:solidFill>
                  <a:schemeClr val="bg2">
                    <a:lumMod val="10000"/>
                  </a:schemeClr>
                </a:solidFill>
                <a:latin typeface="Arial" panose="020B0604020202020204" pitchFamily="34" charset="0"/>
                <a:cs typeface="Arial" panose="020B0604020202020204" pitchFamily="34" charset="0"/>
                <a:sym typeface="+mn-ea"/>
              </a:rPr>
              <a:t>DSDM waits until the end of the project to revi</a:t>
            </a:r>
            <a:r>
              <a:rPr lang="en-US" sz="2200" spc="-10" dirty="0">
                <a:solidFill>
                  <a:schemeClr val="bg2">
                    <a:lumMod val="10000"/>
                  </a:schemeClr>
                </a:solidFill>
                <a:latin typeface="Arial" panose="020B0604020202020204" pitchFamily="34" charset="0"/>
                <a:cs typeface="Arial" panose="020B0604020202020204" pitchFamily="34" charset="0"/>
                <a:sym typeface="+mn-ea"/>
              </a:rPr>
              <a:t>e</a:t>
            </a:r>
            <a:r>
              <a:rPr lang="en-US" sz="2200" dirty="0">
                <a:solidFill>
                  <a:schemeClr val="bg2">
                    <a:lumMod val="10000"/>
                  </a:schemeClr>
                </a:solidFill>
                <a:latin typeface="Arial" panose="020B0604020202020204" pitchFamily="34" charset="0"/>
                <a:cs typeface="Arial" panose="020B0604020202020204" pitchFamily="34" charset="0"/>
                <a:sym typeface="+mn-ea"/>
              </a:rPr>
              <a:t>w</a:t>
            </a:r>
          </a:p>
          <a:p>
            <a:pPr marL="640080" lvl="1" defTabSz="914400">
              <a:buFont typeface="Arial" panose="020B0604020202020204" pitchFamily="34" charset="0"/>
              <a:buChar char="•"/>
            </a:pPr>
            <a:r>
              <a:rPr lang="en-US" sz="2200" spc="-80" dirty="0">
                <a:solidFill>
                  <a:schemeClr val="bg2">
                    <a:lumMod val="10000"/>
                  </a:schemeClr>
                </a:solidFill>
                <a:latin typeface="Arial" panose="020B0604020202020204" pitchFamily="34" charset="0"/>
                <a:cs typeface="Arial" panose="020B0604020202020204" pitchFamily="34" charset="0"/>
                <a:sym typeface="+mn-ea"/>
              </a:rPr>
              <a:t>Extreme Programming reviews throughout the pro</a:t>
            </a:r>
            <a:r>
              <a:rPr lang="en-US" sz="2200" spc="-50" dirty="0">
                <a:solidFill>
                  <a:schemeClr val="bg2">
                    <a:lumMod val="10000"/>
                  </a:schemeClr>
                </a:solidFill>
                <a:latin typeface="Arial" panose="020B0604020202020204" pitchFamily="34" charset="0"/>
                <a:cs typeface="Arial" panose="020B0604020202020204" pitchFamily="34" charset="0"/>
                <a:sym typeface="+mn-ea"/>
              </a:rPr>
              <a:t>j</a:t>
            </a:r>
            <a:r>
              <a:rPr lang="en-US" sz="2200" dirty="0">
                <a:solidFill>
                  <a:schemeClr val="bg2">
                    <a:lumMod val="10000"/>
                  </a:schemeClr>
                </a:solidFill>
                <a:latin typeface="Arial" panose="020B0604020202020204" pitchFamily="34" charset="0"/>
                <a:cs typeface="Arial" panose="020B0604020202020204" pitchFamily="34" charset="0"/>
                <a:sym typeface="+mn-ea"/>
              </a:rPr>
              <a:t>ect</a:t>
            </a:r>
            <a:endParaRPr lang="en-US" altLang="en-US" sz="2200" dirty="0">
              <a:solidFill>
                <a:schemeClr val="bg2">
                  <a:lumMod val="10000"/>
                </a:schemeClr>
              </a:solidFill>
              <a:latin typeface="Arial" panose="020B0604020202020204" pitchFamily="34" charset="0"/>
              <a:cs typeface="Arial" panose="020B0604020202020204" pitchFamily="34" charset="0"/>
            </a:endParaRPr>
          </a:p>
          <a:p>
            <a:pPr defTabSz="914400" fontAlgn="auto">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C1A6D82-BB71-B33F-BF02-8118F94B86E3}"/>
              </a:ext>
            </a:extLst>
          </p:cNvPr>
          <p:cNvPicPr>
            <a:picLocks noChangeAspect="1"/>
          </p:cNvPicPr>
          <p:nvPr/>
        </p:nvPicPr>
        <p:blipFill>
          <a:blip r:embed="rId2"/>
          <a:stretch/>
        </p:blipFill>
        <p:spPr>
          <a:xfrm>
            <a:off x="6163457" y="2492376"/>
            <a:ext cx="4673274" cy="3563372"/>
          </a:xfrm>
          <a:prstGeom prst="rect">
            <a:avLst/>
          </a:prstGeom>
        </p:spPr>
      </p:pic>
      <p:sp>
        <p:nvSpPr>
          <p:cNvPr id="7" name="Slide Number Placeholder 2">
            <a:extLst>
              <a:ext uri="{FF2B5EF4-FFF2-40B4-BE49-F238E27FC236}">
                <a16:creationId xmlns:a16="http://schemas.microsoft.com/office/drawing/2014/main" id="{91CC7F2D-71DA-BD90-88B8-AF58EF4EC05C}"/>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7C40-C195-2466-B2C9-53C9CFF55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E1493-1D97-8A00-57DA-BA1EEC041512}"/>
              </a:ext>
            </a:extLst>
          </p:cNvPr>
          <p:cNvSpPr>
            <a:spLocks noGrp="1"/>
          </p:cNvSpPr>
          <p:nvPr>
            <p:ph type="title"/>
          </p:nvPr>
        </p:nvSpPr>
        <p:spPr>
          <a:xfrm>
            <a:off x="1047280" y="759805"/>
            <a:ext cx="10306520" cy="1325563"/>
          </a:xfrm>
        </p:spPr>
        <p:txBody>
          <a:bodyPr vert="horz" lIns="91440" tIns="45720" rIns="91440" bIns="45720" rtlCol="0" anchor="t">
            <a:normAutofit/>
          </a:bodyPr>
          <a:lstStyle/>
          <a:p>
            <a:pPr defTabSz="914400"/>
            <a:r>
              <a:rPr lang="en-US" kern="1200" spc="-60" dirty="0">
                <a:solidFill>
                  <a:schemeClr val="bg2">
                    <a:lumMod val="10000"/>
                  </a:schemeClr>
                </a:solidFill>
                <a:latin typeface="Arial" panose="020B0604020202020204" pitchFamily="34" charset="0"/>
                <a:cs typeface="Arial" panose="020B0604020202020204" pitchFamily="34" charset="0"/>
                <a:sym typeface="+mn-ea"/>
              </a:rPr>
              <a:t>Post-project phase</a:t>
            </a:r>
            <a:endParaRPr lang="en-US" kern="1200" dirty="0">
              <a:solidFill>
                <a:schemeClr val="bg2">
                  <a:lumMod val="10000"/>
                </a:schemeClr>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9DABEABC-6747-5D03-F9D2-F1B92D5072F6}"/>
              </a:ext>
            </a:extLst>
          </p:cNvPr>
          <p:cNvSpPr>
            <a:spLocks noGrp="1"/>
          </p:cNvSpPr>
          <p:nvPr>
            <p:ph idx="1"/>
          </p:nvPr>
        </p:nvSpPr>
        <p:spPr>
          <a:xfrm>
            <a:off x="1424903" y="1563329"/>
            <a:ext cx="10045837" cy="4713511"/>
          </a:xfrm>
        </p:spPr>
        <p:txBody>
          <a:bodyPr vert="horz" lIns="91440" tIns="45720" rIns="91440" bIns="45720" rtlCol="0">
            <a:normAutofit fontScale="92500" lnSpcReduction="10000"/>
          </a:bodyPr>
          <a:lstStyle/>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This phase focuses on the activities that occur </a:t>
            </a:r>
            <a:r>
              <a:rPr lang="en-US" sz="2400" b="1" spc="-60" dirty="0">
                <a:solidFill>
                  <a:schemeClr val="bg2">
                    <a:lumMod val="10000"/>
                  </a:schemeClr>
                </a:solidFill>
                <a:latin typeface="Arial" panose="020B0604020202020204" pitchFamily="34" charset="0"/>
                <a:cs typeface="Arial" panose="020B0604020202020204" pitchFamily="34" charset="0"/>
                <a:sym typeface="+mn-ea"/>
              </a:rPr>
              <a:t>after the system has been successfully implemented</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is fully operational.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It ensures that the system </a:t>
            </a:r>
            <a:r>
              <a:rPr lang="en-US" sz="2400" b="1" spc="-60" dirty="0">
                <a:solidFill>
                  <a:schemeClr val="bg2">
                    <a:lumMod val="10000"/>
                  </a:schemeClr>
                </a:solidFill>
                <a:latin typeface="Arial" panose="020B0604020202020204" pitchFamily="34" charset="0"/>
                <a:cs typeface="Arial" panose="020B0604020202020204" pitchFamily="34" charset="0"/>
                <a:sym typeface="+mn-ea"/>
              </a:rPr>
              <a:t>continues to function well</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provides value</a:t>
            </a:r>
            <a:r>
              <a:rPr lang="en-US" sz="2400" spc="-60" dirty="0">
                <a:solidFill>
                  <a:schemeClr val="bg2">
                    <a:lumMod val="10000"/>
                  </a:schemeClr>
                </a:solidFill>
                <a:latin typeface="Arial" panose="020B0604020202020204" pitchFamily="34" charset="0"/>
                <a:cs typeface="Arial" panose="020B0604020202020204" pitchFamily="34" charset="0"/>
                <a:sym typeface="+mn-ea"/>
              </a:rPr>
              <a:t>, and is </a:t>
            </a:r>
            <a:r>
              <a:rPr lang="en-US" sz="2400" b="1" spc="-60" dirty="0">
                <a:solidFill>
                  <a:schemeClr val="bg2">
                    <a:lumMod val="10000"/>
                  </a:schemeClr>
                </a:solidFill>
                <a:latin typeface="Arial" panose="020B0604020202020204" pitchFamily="34" charset="0"/>
                <a:cs typeface="Arial" panose="020B0604020202020204" pitchFamily="34" charset="0"/>
                <a:sym typeface="+mn-ea"/>
              </a:rPr>
              <a:t>supported effectively </a:t>
            </a:r>
            <a:r>
              <a:rPr lang="en-US" sz="2400" spc="-60" dirty="0">
                <a:solidFill>
                  <a:schemeClr val="bg2">
                    <a:lumMod val="10000"/>
                  </a:schemeClr>
                </a:solidFill>
                <a:latin typeface="Arial" panose="020B0604020202020204" pitchFamily="34" charset="0"/>
                <a:cs typeface="Arial" panose="020B0604020202020204" pitchFamily="34" charset="0"/>
                <a:sym typeface="+mn-ea"/>
              </a:rPr>
              <a:t>in the long term. </a:t>
            </a:r>
          </a:p>
          <a:p>
            <a:pPr defTabSz="914400">
              <a:buFont typeface="Arial" panose="020B0604020202020204" pitchFamily="34" charset="0"/>
              <a:buChar char="•"/>
            </a:pPr>
            <a:endParaRPr lang="en-US" sz="2400" spc="-60" dirty="0">
              <a:solidFill>
                <a:schemeClr val="bg2">
                  <a:lumMod val="10000"/>
                </a:schemeClr>
              </a:solidFill>
              <a:latin typeface="Arial" panose="020B0604020202020204" pitchFamily="34" charset="0"/>
              <a:cs typeface="Arial" panose="020B0604020202020204" pitchFamily="34" charset="0"/>
              <a:sym typeface="+mn-ea"/>
            </a:endParaRPr>
          </a:p>
          <a:p>
            <a:pPr defTabSz="914400">
              <a:buFont typeface="Arial" panose="020B0604020202020204" pitchFamily="34" charset="0"/>
              <a:buChar char="•"/>
            </a:pPr>
            <a:r>
              <a:rPr lang="en-US" sz="2400" spc="-60" dirty="0">
                <a:solidFill>
                  <a:schemeClr val="bg2">
                    <a:lumMod val="10000"/>
                  </a:schemeClr>
                </a:solidFill>
                <a:latin typeface="Arial" panose="020B0604020202020204" pitchFamily="34" charset="0"/>
                <a:cs typeface="Arial" panose="020B0604020202020204" pitchFamily="34" charset="0"/>
                <a:sym typeface="+mn-ea"/>
              </a:rPr>
              <a:t>This phase is essential for </a:t>
            </a:r>
            <a:r>
              <a:rPr lang="en-US" sz="2400" b="1" spc="-60" dirty="0">
                <a:solidFill>
                  <a:schemeClr val="bg2">
                    <a:lumMod val="10000"/>
                  </a:schemeClr>
                </a:solidFill>
                <a:latin typeface="Arial" panose="020B0604020202020204" pitchFamily="34" charset="0"/>
                <a:cs typeface="Arial" panose="020B0604020202020204" pitchFamily="34" charset="0"/>
                <a:sym typeface="+mn-ea"/>
              </a:rPr>
              <a:t>maintaining the system</a:t>
            </a:r>
            <a:r>
              <a:rPr lang="en-US" sz="2400" spc="-60" dirty="0">
                <a:solidFill>
                  <a:schemeClr val="bg2">
                    <a:lumMod val="10000"/>
                  </a:schemeClr>
                </a:solidFill>
                <a:latin typeface="Arial" panose="020B0604020202020204" pitchFamily="34" charset="0"/>
                <a:cs typeface="Arial" panose="020B0604020202020204" pitchFamily="34" charset="0"/>
                <a:sym typeface="+mn-ea"/>
              </a:rPr>
              <a:t>, </a:t>
            </a:r>
            <a:r>
              <a:rPr lang="en-US" sz="2400" b="1" spc="-60" dirty="0">
                <a:solidFill>
                  <a:schemeClr val="bg2">
                    <a:lumMod val="10000"/>
                  </a:schemeClr>
                </a:solidFill>
                <a:latin typeface="Arial" panose="020B0604020202020204" pitchFamily="34" charset="0"/>
                <a:cs typeface="Arial" panose="020B0604020202020204" pitchFamily="34" charset="0"/>
                <a:sym typeface="+mn-ea"/>
              </a:rPr>
              <a:t>addressing any issues </a:t>
            </a:r>
            <a:r>
              <a:rPr lang="en-US" sz="2400" spc="-60" dirty="0">
                <a:solidFill>
                  <a:schemeClr val="bg2">
                    <a:lumMod val="10000"/>
                  </a:schemeClr>
                </a:solidFill>
                <a:latin typeface="Arial" panose="020B0604020202020204" pitchFamily="34" charset="0"/>
                <a:cs typeface="Arial" panose="020B0604020202020204" pitchFamily="34" charset="0"/>
                <a:sym typeface="+mn-ea"/>
              </a:rPr>
              <a:t>that arise, and </a:t>
            </a:r>
            <a:r>
              <a:rPr lang="en-US" sz="2400" b="1" spc="-60" dirty="0">
                <a:solidFill>
                  <a:schemeClr val="bg2">
                    <a:lumMod val="10000"/>
                  </a:schemeClr>
                </a:solidFill>
                <a:latin typeface="Arial" panose="020B0604020202020204" pitchFamily="34" charset="0"/>
                <a:cs typeface="Arial" panose="020B0604020202020204" pitchFamily="34" charset="0"/>
                <a:sym typeface="+mn-ea"/>
              </a:rPr>
              <a:t>identifying opportunities </a:t>
            </a:r>
            <a:r>
              <a:rPr lang="en-US" sz="2400" spc="-60" dirty="0">
                <a:solidFill>
                  <a:schemeClr val="bg2">
                    <a:lumMod val="10000"/>
                  </a:schemeClr>
                </a:solidFill>
                <a:latin typeface="Arial" panose="020B0604020202020204" pitchFamily="34" charset="0"/>
                <a:cs typeface="Arial" panose="020B0604020202020204" pitchFamily="34" charset="0"/>
                <a:sym typeface="+mn-ea"/>
              </a:rPr>
              <a:t>for future improvements.</a:t>
            </a:r>
          </a:p>
          <a:p>
            <a:pPr defTabSz="914400">
              <a:buFont typeface="Arial" panose="020B0604020202020204" pitchFamily="34" charset="0"/>
              <a:buChar char="•"/>
            </a:pPr>
            <a:endParaRPr lang="en-US" sz="2400" dirty="0">
              <a:solidFill>
                <a:schemeClr val="bg2">
                  <a:lumMod val="10000"/>
                </a:schemeClr>
              </a:solidFill>
              <a:latin typeface="Arial" panose="020B0604020202020204" pitchFamily="34" charset="0"/>
              <a:cs typeface="Arial" panose="020B0604020202020204" pitchFamily="34" charset="0"/>
            </a:endParaRPr>
          </a:p>
          <a:p>
            <a:pPr defTabSz="914400">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In DSDM, the Post-Project Phase emphasizes </a:t>
            </a:r>
            <a:r>
              <a:rPr lang="en-US" sz="2400" b="1" dirty="0">
                <a:solidFill>
                  <a:schemeClr val="bg2">
                    <a:lumMod val="10000"/>
                  </a:schemeClr>
                </a:solidFill>
                <a:latin typeface="Arial" panose="020B0604020202020204" pitchFamily="34" charset="0"/>
                <a:cs typeface="Arial" panose="020B0604020202020204" pitchFamily="34" charset="0"/>
              </a:rPr>
              <a:t>continuous improvement</a:t>
            </a:r>
            <a:r>
              <a:rPr lang="en-US" sz="2400" dirty="0">
                <a:solidFill>
                  <a:schemeClr val="bg2">
                    <a:lumMod val="10000"/>
                  </a:schemeClr>
                </a:solidFill>
                <a:latin typeface="Arial" panose="020B0604020202020204" pitchFamily="34" charset="0"/>
                <a:cs typeface="Arial" panose="020B0604020202020204" pitchFamily="34" charset="0"/>
              </a:rPr>
              <a:t>, </a:t>
            </a:r>
            <a:r>
              <a:rPr lang="en-US" sz="2400" b="1" dirty="0">
                <a:solidFill>
                  <a:schemeClr val="bg2">
                    <a:lumMod val="10000"/>
                  </a:schemeClr>
                </a:solidFill>
                <a:latin typeface="Arial" panose="020B0604020202020204" pitchFamily="34" charset="0"/>
                <a:cs typeface="Arial" panose="020B0604020202020204" pitchFamily="34" charset="0"/>
              </a:rPr>
              <a:t>monitoring</a:t>
            </a:r>
            <a:r>
              <a:rPr lang="en-US" sz="2400" dirty="0">
                <a:solidFill>
                  <a:schemeClr val="bg2">
                    <a:lumMod val="10000"/>
                  </a:schemeClr>
                </a:solidFill>
                <a:latin typeface="Arial" panose="020B0604020202020204" pitchFamily="34" charset="0"/>
                <a:cs typeface="Arial" panose="020B0604020202020204" pitchFamily="34" charset="0"/>
              </a:rPr>
              <a:t>, and </a:t>
            </a:r>
            <a:r>
              <a:rPr lang="en-US" sz="2400" b="1" dirty="0">
                <a:solidFill>
                  <a:schemeClr val="bg2">
                    <a:lumMod val="10000"/>
                  </a:schemeClr>
                </a:solidFill>
                <a:latin typeface="Arial" panose="020B0604020202020204" pitchFamily="34" charset="0"/>
                <a:cs typeface="Arial" panose="020B0604020202020204" pitchFamily="34" charset="0"/>
              </a:rPr>
              <a:t>support</a:t>
            </a:r>
            <a:r>
              <a:rPr lang="en-US" sz="2400" dirty="0">
                <a:solidFill>
                  <a:schemeClr val="bg2">
                    <a:lumMod val="10000"/>
                  </a:schemeClr>
                </a:solidFill>
                <a:latin typeface="Arial" panose="020B0604020202020204" pitchFamily="34" charset="0"/>
                <a:cs typeface="Arial" panose="020B0604020202020204" pitchFamily="34" charset="0"/>
              </a:rPr>
              <a:t> to ensure that the solution delivers lasting business value.</a:t>
            </a:r>
          </a:p>
          <a:p>
            <a:pPr lvl="1" defTabSz="914400">
              <a:buFont typeface="Arial" panose="020B0604020202020204" pitchFamily="34" charset="0"/>
              <a:buChar char="•"/>
            </a:pPr>
            <a:r>
              <a:rPr lang="en-US" sz="2100" dirty="0">
                <a:solidFill>
                  <a:srgbClr val="080808"/>
                </a:solidFill>
                <a:latin typeface="Arial" panose="020B0604020202020204" pitchFamily="34" charset="0"/>
                <a:cs typeface="Arial" panose="020B0604020202020204" pitchFamily="34" charset="0"/>
              </a:rPr>
              <a:t>Delivers lasting business value means that a product, service, or project provides benefits to a business that are not just </a:t>
            </a:r>
            <a:r>
              <a:rPr lang="en-US" sz="2100" b="1" dirty="0">
                <a:solidFill>
                  <a:srgbClr val="080808"/>
                </a:solidFill>
                <a:latin typeface="Arial" panose="020B0604020202020204" pitchFamily="34" charset="0"/>
                <a:cs typeface="Arial" panose="020B0604020202020204" pitchFamily="34" charset="0"/>
              </a:rPr>
              <a:t>temporary but continue over a long period</a:t>
            </a:r>
            <a:r>
              <a:rPr lang="en-US" sz="2100" dirty="0">
                <a:solidFill>
                  <a:srgbClr val="080808"/>
                </a:solidFill>
                <a:latin typeface="Arial" panose="020B0604020202020204" pitchFamily="34" charset="0"/>
                <a:cs typeface="Arial" panose="020B0604020202020204" pitchFamily="34" charset="0"/>
              </a:rPr>
              <a:t>.</a:t>
            </a:r>
          </a:p>
        </p:txBody>
      </p:sp>
      <p:sp>
        <p:nvSpPr>
          <p:cNvPr id="9" name="Slide Number Placeholder 2">
            <a:extLst>
              <a:ext uri="{FF2B5EF4-FFF2-40B4-BE49-F238E27FC236}">
                <a16:creationId xmlns:a16="http://schemas.microsoft.com/office/drawing/2014/main" id="{83F7787C-3D87-F6F4-6026-F54C9C444713}"/>
              </a:ext>
            </a:extLst>
          </p:cNvPr>
          <p:cNvSpPr>
            <a:spLocks noGrp="1"/>
          </p:cNvSpPr>
          <p:nvPr>
            <p:ph type="sldNum" sz="quarter" idx="12"/>
          </p:nvPr>
        </p:nvSpPr>
        <p:spPr>
          <a:xfrm>
            <a:off x="9375913" y="6276840"/>
            <a:ext cx="2743200" cy="365125"/>
          </a:xfrm>
        </p:spPr>
        <p:txBody>
          <a:bodyPr/>
          <a:lstStyle/>
          <a:p>
            <a:fld id="{4267CD5E-26CF-4249-8540-BB1D07FD4227}" type="slidenum">
              <a:rPr lang="en-US" smtClean="0"/>
              <a:t>35</a:t>
            </a:fld>
            <a:endParaRPr lang="en-US" dirty="0"/>
          </a:p>
        </p:txBody>
      </p:sp>
    </p:spTree>
    <p:extLst>
      <p:ext uri="{BB962C8B-B14F-4D97-AF65-F5344CB8AC3E}">
        <p14:creationId xmlns:p14="http://schemas.microsoft.com/office/powerpoint/2010/main" val="3327446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930BC-6930-5E0B-EA7F-15D212FFCF04}"/>
              </a:ext>
            </a:extLst>
          </p:cNvPr>
          <p:cNvSpPr>
            <a:spLocks noGrp="1"/>
          </p:cNvSpPr>
          <p:nvPr>
            <p:ph type="title"/>
          </p:nvPr>
        </p:nvSpPr>
        <p:spPr/>
        <p:txBody>
          <a:bodyPr/>
          <a:lstStyle/>
          <a:p>
            <a:r>
              <a:rPr lang="en-US" dirty="0">
                <a:solidFill>
                  <a:srgbClr val="080808"/>
                </a:solidFill>
                <a:latin typeface="Arial" panose="020B0604020202020204" pitchFamily="34" charset="0"/>
                <a:cs typeface="Arial" panose="020B0604020202020204" pitchFamily="34" charset="0"/>
              </a:rPr>
              <a:t>Traditional development VS DSDM</a:t>
            </a:r>
          </a:p>
        </p:txBody>
      </p:sp>
      <p:sp>
        <p:nvSpPr>
          <p:cNvPr id="4" name="Content Placeholder 3">
            <a:extLst>
              <a:ext uri="{FF2B5EF4-FFF2-40B4-BE49-F238E27FC236}">
                <a16:creationId xmlns:a16="http://schemas.microsoft.com/office/drawing/2014/main" id="{65188402-E98A-C212-EA5C-20FEE747F3A5}"/>
              </a:ext>
            </a:extLst>
          </p:cNvPr>
          <p:cNvSpPr>
            <a:spLocks noGrp="1"/>
          </p:cNvSpPr>
          <p:nvPr>
            <p:ph idx="1"/>
          </p:nvPr>
        </p:nvSpPr>
        <p:spPr>
          <a:xfrm>
            <a:off x="644773" y="1219200"/>
            <a:ext cx="5746196" cy="4862947"/>
          </a:xfrm>
        </p:spPr>
        <p:txBody>
          <a:bodyPr>
            <a:normAutofit fontScale="92500" lnSpcReduction="10000"/>
          </a:bodyPr>
          <a:lstStyle/>
          <a:p>
            <a:pPr marL="0" indent="0">
              <a:buNone/>
            </a:pPr>
            <a:endParaRPr lang="en-US" sz="2000" dirty="0">
              <a:solidFill>
                <a:srgbClr val="080808"/>
              </a:solidFill>
              <a:latin typeface="Arial" panose="020B0604020202020204" pitchFamily="34" charset="0"/>
              <a:cs typeface="Arial" panose="020B0604020202020204" pitchFamily="34" charset="0"/>
            </a:endParaRPr>
          </a:p>
          <a:p>
            <a:r>
              <a:rPr lang="en-US" sz="2400" dirty="0">
                <a:solidFill>
                  <a:srgbClr val="080808"/>
                </a:solidFill>
                <a:latin typeface="Arial" panose="020B0604020202020204" pitchFamily="34" charset="0"/>
                <a:cs typeface="Arial" panose="020B0604020202020204" pitchFamily="34" charset="0"/>
              </a:rPr>
              <a:t>Whereas in traditional development methodologies:</a:t>
            </a:r>
          </a:p>
          <a:p>
            <a:pPr lvl="1"/>
            <a:r>
              <a:rPr lang="en-US" sz="1900" b="1" dirty="0">
                <a:solidFill>
                  <a:srgbClr val="080808"/>
                </a:solidFill>
                <a:latin typeface="Arial" panose="020B0604020202020204" pitchFamily="34" charset="0"/>
                <a:cs typeface="Arial" panose="020B0604020202020204" pitchFamily="34" charset="0"/>
              </a:rPr>
              <a:t>Functionality is fixed, and time and resources are variable</a:t>
            </a:r>
            <a:endParaRPr lang="en-US" sz="1900" dirty="0">
              <a:solidFill>
                <a:srgbClr val="080808"/>
              </a:solidFill>
              <a:latin typeface="Arial" panose="020B0604020202020204" pitchFamily="34" charset="0"/>
              <a:cs typeface="Arial" panose="020B0604020202020204" pitchFamily="34" charset="0"/>
            </a:endParaRPr>
          </a:p>
          <a:p>
            <a:pPr lvl="1"/>
            <a:r>
              <a:rPr lang="en-US" sz="1900" dirty="0">
                <a:solidFill>
                  <a:srgbClr val="080808"/>
                </a:solidFill>
                <a:latin typeface="Arial" panose="020B0604020202020204" pitchFamily="34" charset="0"/>
                <a:cs typeface="Arial" panose="020B0604020202020204" pitchFamily="34" charset="0"/>
              </a:rPr>
              <a:t>In DSDM, </a:t>
            </a:r>
            <a:r>
              <a:rPr lang="en-US" sz="1900" b="1" dirty="0">
                <a:solidFill>
                  <a:srgbClr val="080808"/>
                </a:solidFill>
                <a:latin typeface="Arial" panose="020B0604020202020204" pitchFamily="34" charset="0"/>
                <a:cs typeface="Arial" panose="020B0604020202020204" pitchFamily="34" charset="0"/>
              </a:rPr>
              <a:t>time is fixed, and functionality are variable</a:t>
            </a:r>
            <a:r>
              <a:rPr lang="en-US" sz="1900" dirty="0">
                <a:solidFill>
                  <a:srgbClr val="080808"/>
                </a:solidFill>
                <a:latin typeface="Arial" panose="020B0604020202020204" pitchFamily="34" charset="0"/>
                <a:cs typeface="Arial" panose="020B0604020202020204" pitchFamily="34" charset="0"/>
              </a:rPr>
              <a:t>.</a:t>
            </a:r>
          </a:p>
          <a:p>
            <a:endParaRPr lang="en-US" sz="2000" dirty="0">
              <a:solidFill>
                <a:srgbClr val="080808"/>
              </a:solidFill>
              <a:latin typeface="Arial" panose="020B0604020202020204" pitchFamily="34" charset="0"/>
              <a:cs typeface="Arial" panose="020B0604020202020204" pitchFamily="34" charset="0"/>
            </a:endParaRPr>
          </a:p>
          <a:p>
            <a:r>
              <a:rPr lang="en-US" sz="2000" dirty="0">
                <a:solidFill>
                  <a:srgbClr val="080808"/>
                </a:solidFill>
                <a:latin typeface="Arial" panose="020B0604020202020204" pitchFamily="34" charset="0"/>
                <a:cs typeface="Arial" panose="020B0604020202020204" pitchFamily="34" charset="0"/>
              </a:rPr>
              <a:t>Dynamic Systems Development Method (DSDM) is an </a:t>
            </a:r>
            <a:r>
              <a:rPr lang="en-US" sz="2000" b="1" dirty="0">
                <a:solidFill>
                  <a:srgbClr val="080808"/>
                </a:solidFill>
                <a:latin typeface="Arial" panose="020B0604020202020204" pitchFamily="34" charset="0"/>
                <a:cs typeface="Arial" panose="020B0604020202020204" pitchFamily="34" charset="0"/>
              </a:rPr>
              <a:t>organized</a:t>
            </a:r>
            <a:r>
              <a:rPr lang="en-US" sz="2000" dirty="0">
                <a:solidFill>
                  <a:srgbClr val="080808"/>
                </a:solidFill>
                <a:latin typeface="Arial" panose="020B0604020202020204" pitchFamily="34" charset="0"/>
                <a:cs typeface="Arial" panose="020B0604020202020204" pitchFamily="34" charset="0"/>
              </a:rPr>
              <a:t>, </a:t>
            </a:r>
            <a:r>
              <a:rPr lang="en-US" sz="2000" b="1" dirty="0">
                <a:solidFill>
                  <a:srgbClr val="080808"/>
                </a:solidFill>
                <a:latin typeface="Arial" panose="020B0604020202020204" pitchFamily="34" charset="0"/>
                <a:cs typeface="Arial" panose="020B0604020202020204" pitchFamily="34" charset="0"/>
              </a:rPr>
              <a:t>common-sense</a:t>
            </a:r>
            <a:r>
              <a:rPr lang="en-US" sz="2000" dirty="0">
                <a:solidFill>
                  <a:srgbClr val="080808"/>
                </a:solidFill>
                <a:latin typeface="Arial" panose="020B0604020202020204" pitchFamily="34" charset="0"/>
                <a:cs typeface="Arial" panose="020B0604020202020204" pitchFamily="34" charset="0"/>
              </a:rPr>
              <a:t> process focused on delivering </a:t>
            </a:r>
            <a:r>
              <a:rPr lang="en-US" sz="2000" b="1" dirty="0">
                <a:solidFill>
                  <a:srgbClr val="080808"/>
                </a:solidFill>
                <a:latin typeface="Arial" panose="020B0604020202020204" pitchFamily="34" charset="0"/>
                <a:cs typeface="Arial" panose="020B0604020202020204" pitchFamily="34" charset="0"/>
              </a:rPr>
              <a:t>business solutions quickly</a:t>
            </a:r>
            <a:r>
              <a:rPr lang="en-US" sz="2000" dirty="0">
                <a:solidFill>
                  <a:srgbClr val="080808"/>
                </a:solidFill>
                <a:latin typeface="Arial" panose="020B0604020202020204" pitchFamily="34" charset="0"/>
                <a:cs typeface="Arial" panose="020B0604020202020204" pitchFamily="34" charset="0"/>
              </a:rPr>
              <a:t> and </a:t>
            </a:r>
            <a:r>
              <a:rPr lang="en-US" sz="2000" b="1" dirty="0">
                <a:solidFill>
                  <a:srgbClr val="080808"/>
                </a:solidFill>
                <a:latin typeface="Arial" panose="020B0604020202020204" pitchFamily="34" charset="0"/>
                <a:cs typeface="Arial" panose="020B0604020202020204" pitchFamily="34" charset="0"/>
              </a:rPr>
              <a:t>efficiently</a:t>
            </a:r>
            <a:r>
              <a:rPr lang="en-US" sz="2000" dirty="0">
                <a:solidFill>
                  <a:srgbClr val="080808"/>
                </a:solidFill>
                <a:latin typeface="Arial" panose="020B0604020202020204" pitchFamily="34" charset="0"/>
                <a:cs typeface="Arial" panose="020B0604020202020204" pitchFamily="34" charset="0"/>
              </a:rPr>
              <a:t>. </a:t>
            </a:r>
          </a:p>
          <a:p>
            <a:endParaRPr lang="en-US" sz="2000" dirty="0">
              <a:solidFill>
                <a:srgbClr val="080808"/>
              </a:solidFill>
              <a:latin typeface="Arial" panose="020B0604020202020204" pitchFamily="34" charset="0"/>
              <a:cs typeface="Arial" panose="020B0604020202020204" pitchFamily="34" charset="0"/>
            </a:endParaRPr>
          </a:p>
          <a:p>
            <a:r>
              <a:rPr lang="en-US" sz="2000" dirty="0">
                <a:solidFill>
                  <a:srgbClr val="080808"/>
                </a:solidFill>
                <a:latin typeface="Arial" panose="020B0604020202020204" pitchFamily="34" charset="0"/>
                <a:cs typeface="Arial" panose="020B0604020202020204" pitchFamily="34" charset="0"/>
              </a:rPr>
              <a:t>It is similar in many ways to </a:t>
            </a:r>
            <a:r>
              <a:rPr lang="en-US" sz="2000" b="1" dirty="0">
                <a:solidFill>
                  <a:srgbClr val="080808"/>
                </a:solidFill>
                <a:latin typeface="Arial" panose="020B0604020202020204" pitchFamily="34" charset="0"/>
                <a:cs typeface="Arial" panose="020B0604020202020204" pitchFamily="34" charset="0"/>
              </a:rPr>
              <a:t>SCRUM and XP</a:t>
            </a:r>
            <a:r>
              <a:rPr lang="en-US" sz="2000" dirty="0">
                <a:solidFill>
                  <a:srgbClr val="080808"/>
                </a:solidFill>
                <a:latin typeface="Arial" panose="020B0604020202020204" pitchFamily="34" charset="0"/>
                <a:cs typeface="Arial" panose="020B0604020202020204" pitchFamily="34" charset="0"/>
              </a:rPr>
              <a:t>, but it has its best uses where the </a:t>
            </a:r>
            <a:r>
              <a:rPr lang="en-US" sz="2000" b="1" dirty="0">
                <a:solidFill>
                  <a:srgbClr val="080808"/>
                </a:solidFill>
                <a:latin typeface="Arial" panose="020B0604020202020204" pitchFamily="34" charset="0"/>
                <a:cs typeface="Arial" panose="020B0604020202020204" pitchFamily="34" charset="0"/>
              </a:rPr>
              <a:t>time requirement is fixed</a:t>
            </a:r>
            <a:r>
              <a:rPr lang="en-US" sz="2000" dirty="0">
                <a:solidFill>
                  <a:srgbClr val="080808"/>
                </a:solidFill>
                <a:latin typeface="Arial" panose="020B0604020202020204" pitchFamily="34" charset="0"/>
                <a:cs typeface="Arial" panose="020B0604020202020204" pitchFamily="34" charset="0"/>
              </a:rPr>
              <a:t>.</a:t>
            </a:r>
          </a:p>
        </p:txBody>
      </p:sp>
      <p:sp>
        <p:nvSpPr>
          <p:cNvPr id="5" name="Slide Number Placeholder 4">
            <a:extLst>
              <a:ext uri="{FF2B5EF4-FFF2-40B4-BE49-F238E27FC236}">
                <a16:creationId xmlns:a16="http://schemas.microsoft.com/office/drawing/2014/main" id="{BE47A121-EDE3-A60A-DFBB-0343A8B57652}"/>
              </a:ext>
            </a:extLst>
          </p:cNvPr>
          <p:cNvSpPr>
            <a:spLocks noGrp="1"/>
          </p:cNvSpPr>
          <p:nvPr>
            <p:ph type="sldNum" sz="quarter" idx="12"/>
          </p:nvPr>
        </p:nvSpPr>
        <p:spPr/>
        <p:txBody>
          <a:bodyPr/>
          <a:lstStyle/>
          <a:p>
            <a:fld id="{4267CD5E-26CF-4249-8540-BB1D07FD4227}" type="slidenum">
              <a:rPr lang="en-US" smtClean="0"/>
              <a:t>36</a:t>
            </a:fld>
            <a:endParaRPr lang="en-US"/>
          </a:p>
        </p:txBody>
      </p:sp>
      <p:pic>
        <p:nvPicPr>
          <p:cNvPr id="7" name="Picture 6">
            <a:extLst>
              <a:ext uri="{FF2B5EF4-FFF2-40B4-BE49-F238E27FC236}">
                <a16:creationId xmlns:a16="http://schemas.microsoft.com/office/drawing/2014/main" id="{A8D87866-09B3-9201-B0A5-9BCBF1F8FEB8}"/>
              </a:ext>
            </a:extLst>
          </p:cNvPr>
          <p:cNvPicPr>
            <a:picLocks noChangeAspect="1"/>
          </p:cNvPicPr>
          <p:nvPr/>
        </p:nvPicPr>
        <p:blipFill>
          <a:blip r:embed="rId2"/>
          <a:stretch>
            <a:fillRect/>
          </a:stretch>
        </p:blipFill>
        <p:spPr>
          <a:xfrm>
            <a:off x="6390969" y="1991763"/>
            <a:ext cx="5082104" cy="2028432"/>
          </a:xfrm>
          <a:prstGeom prst="rect">
            <a:avLst/>
          </a:prstGeom>
        </p:spPr>
      </p:pic>
    </p:spTree>
    <p:extLst>
      <p:ext uri="{BB962C8B-B14F-4D97-AF65-F5344CB8AC3E}">
        <p14:creationId xmlns:p14="http://schemas.microsoft.com/office/powerpoint/2010/main" val="3408263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20" dirty="0">
                <a:solidFill>
                  <a:srgbClr val="000000">
                    <a:alpha val="100000"/>
                  </a:srgbClr>
                </a:solidFill>
                <a:latin typeface="Arial" panose="020B0604020202090204"/>
                <a:ea typeface="Arial" panose="020B0604020202090204"/>
                <a:cs typeface="Arial" panose="020B0604020202090204"/>
                <a:sym typeface="+mn-ea"/>
              </a:rPr>
              <a:t>Core technique</a:t>
            </a:r>
            <a:r>
              <a:rPr spc="-10" dirty="0">
                <a:solidFill>
                  <a:srgbClr val="000000">
                    <a:alpha val="100000"/>
                  </a:srgbClr>
                </a:solidFill>
                <a:latin typeface="Arial" panose="020B0604020202090204"/>
                <a:ea typeface="Arial" panose="020B0604020202090204"/>
                <a:cs typeface="Arial" panose="020B0604020202090204"/>
                <a:sym typeface="+mn-ea"/>
              </a:rPr>
              <a:t>s</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of</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DSDM</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and</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RAD</a:t>
            </a:r>
            <a:br>
              <a:rPr lang="en-US" altLang="en-US" dirty="0"/>
            </a:br>
            <a:endParaRPr lang="en-US"/>
          </a:p>
        </p:txBody>
      </p:sp>
      <p:sp>
        <p:nvSpPr>
          <p:cNvPr id="2" name="Content Placeholder 1"/>
          <p:cNvSpPr>
            <a:spLocks noGrp="1"/>
          </p:cNvSpPr>
          <p:nvPr>
            <p:ph idx="1"/>
          </p:nvPr>
        </p:nvSpPr>
        <p:spPr>
          <a:xfrm>
            <a:off x="646358" y="1610592"/>
            <a:ext cx="10709031" cy="3879273"/>
          </a:xfrm>
        </p:spPr>
        <p:txBody>
          <a:bodyPr/>
          <a:lstStyle/>
          <a:p>
            <a:pPr eaLnBrk="0">
              <a:lnSpc>
                <a:spcPct val="102000"/>
              </a:lnSpc>
            </a:pPr>
            <a:endParaRPr lang="en-US" altLang="en-US" sz="2400" dirty="0"/>
          </a:p>
          <a:p>
            <a:pPr eaLnBrk="0">
              <a:lnSpc>
                <a:spcPct val="77000"/>
              </a:lnSpc>
              <a:spcBef>
                <a:spcPts val="5"/>
              </a:spcBef>
            </a:pPr>
            <a:r>
              <a:rPr sz="2400" spc="-130" dirty="0">
                <a:solidFill>
                  <a:srgbClr val="000000">
                    <a:alpha val="100000"/>
                  </a:srgbClr>
                </a:solidFill>
                <a:latin typeface="Arial" panose="020B0604020202090204"/>
                <a:ea typeface="Arial" panose="020B0604020202090204"/>
                <a:cs typeface="Arial" panose="020B0604020202090204"/>
                <a:sym typeface="+mn-ea"/>
              </a:rPr>
              <a:t>MoSCo</a:t>
            </a:r>
            <a:r>
              <a:rPr sz="2400" spc="-80" dirty="0">
                <a:solidFill>
                  <a:srgbClr val="000000">
                    <a:alpha val="100000"/>
                  </a:srgbClr>
                </a:solidFill>
                <a:latin typeface="Arial" panose="020B0604020202090204"/>
                <a:ea typeface="Arial" panose="020B0604020202090204"/>
                <a:cs typeface="Arial" panose="020B0604020202090204"/>
                <a:sym typeface="+mn-ea"/>
              </a:rPr>
              <a:t>W</a:t>
            </a:r>
            <a:endParaRPr lang="en-US" altLang="en-US" sz="2400" dirty="0"/>
          </a:p>
          <a:p>
            <a:pPr eaLnBrk="0">
              <a:lnSpc>
                <a:spcPts val="3440"/>
              </a:lnSpc>
              <a:spcBef>
                <a:spcPts val="1270"/>
              </a:spcBef>
            </a:pPr>
            <a:r>
              <a:rPr sz="2400" spc="-90" dirty="0">
                <a:solidFill>
                  <a:srgbClr val="000000">
                    <a:alpha val="100000"/>
                  </a:srgbClr>
                </a:solidFill>
                <a:latin typeface="Arial" panose="020B0604020202090204"/>
                <a:ea typeface="Arial" panose="020B0604020202090204"/>
                <a:cs typeface="Arial" panose="020B0604020202090204"/>
                <a:sym typeface="+mn-ea"/>
              </a:rPr>
              <a:t>Time boxin</a:t>
            </a:r>
            <a:r>
              <a:rPr sz="2400" spc="-50" dirty="0">
                <a:solidFill>
                  <a:srgbClr val="000000">
                    <a:alpha val="100000"/>
                  </a:srgbClr>
                </a:solidFill>
                <a:latin typeface="Arial" panose="020B0604020202090204"/>
                <a:ea typeface="Arial" panose="020B0604020202090204"/>
                <a:cs typeface="Arial" panose="020B0604020202090204"/>
                <a:sym typeface="+mn-ea"/>
              </a:rPr>
              <a:t>g</a:t>
            </a:r>
          </a:p>
          <a:p>
            <a:pPr eaLnBrk="0">
              <a:lnSpc>
                <a:spcPts val="3440"/>
              </a:lnSpc>
              <a:spcBef>
                <a:spcPts val="1270"/>
              </a:spcBef>
            </a:pPr>
            <a:r>
              <a:rPr sz="2400" spc="-90" dirty="0">
                <a:solidFill>
                  <a:srgbClr val="000000">
                    <a:alpha val="100000"/>
                  </a:srgbClr>
                </a:solidFill>
                <a:latin typeface="Arial" panose="020B0604020202090204"/>
                <a:ea typeface="Arial" panose="020B0604020202090204"/>
                <a:cs typeface="Arial" panose="020B0604020202090204"/>
                <a:sym typeface="+mn-ea"/>
              </a:rPr>
              <a:t>Evolutionary prototypi</a:t>
            </a:r>
            <a:r>
              <a:rPr sz="2400" spc="-3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g             </a:t>
            </a:r>
          </a:p>
          <a:p>
            <a:pPr eaLnBrk="0">
              <a:lnSpc>
                <a:spcPts val="3440"/>
              </a:lnSpc>
              <a:spcBef>
                <a:spcPts val="1270"/>
              </a:spcBef>
            </a:pPr>
            <a:r>
              <a:rPr sz="2400" spc="-90" dirty="0">
                <a:solidFill>
                  <a:srgbClr val="000000">
                    <a:alpha val="100000"/>
                  </a:srgbClr>
                </a:solidFill>
                <a:latin typeface="Arial" panose="020B0604020202090204"/>
                <a:ea typeface="Arial" panose="020B0604020202090204"/>
                <a:cs typeface="Arial" panose="020B0604020202090204"/>
                <a:sym typeface="+mn-ea"/>
              </a:rPr>
              <a:t>Facilitated Joint Workshops (</a:t>
            </a:r>
            <a:r>
              <a:rPr sz="2400" spc="-20" dirty="0">
                <a:solidFill>
                  <a:srgbClr val="000000">
                    <a:alpha val="100000"/>
                  </a:srgbClr>
                </a:solidFill>
                <a:latin typeface="Arial" panose="020B0604020202090204"/>
                <a:ea typeface="Arial" panose="020B0604020202090204"/>
                <a:cs typeface="Arial" panose="020B0604020202090204"/>
                <a:sym typeface="+mn-ea"/>
              </a:rPr>
              <a:t>J</a:t>
            </a:r>
            <a:r>
              <a:rPr sz="2400" dirty="0">
                <a:solidFill>
                  <a:srgbClr val="000000">
                    <a:alpha val="100000"/>
                  </a:srgbClr>
                </a:solidFill>
                <a:latin typeface="Arial" panose="020B0604020202090204"/>
                <a:ea typeface="Arial" panose="020B0604020202090204"/>
                <a:cs typeface="Arial" panose="020B0604020202090204"/>
                <a:sym typeface="+mn-ea"/>
              </a:rPr>
              <a:t>AD</a:t>
            </a:r>
            <a:r>
              <a:rPr sz="2400" spc="-90" dirty="0">
                <a:solidFill>
                  <a:srgbClr val="000000">
                    <a:alpha val="100000"/>
                  </a:srgbClr>
                </a:solidFill>
                <a:latin typeface="Arial" panose="020B0604020202090204"/>
                <a:ea typeface="Arial" panose="020B0604020202090204"/>
                <a:cs typeface="Arial" panose="020B0604020202090204"/>
                <a:sym typeface="+mn-ea"/>
              </a:rPr>
              <a:t>)</a:t>
            </a:r>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90" dirty="0">
                <a:solidFill>
                  <a:srgbClr val="C00000"/>
                </a:solidFill>
                <a:latin typeface="Arial" panose="020B0604020202090204"/>
                <a:ea typeface="Arial" panose="020B0604020202090204"/>
                <a:cs typeface="Arial" panose="020B0604020202090204"/>
                <a:sym typeface="+mn-ea"/>
              </a:rPr>
              <a:t>M</a:t>
            </a:r>
            <a:r>
              <a:rPr spc="90" dirty="0">
                <a:solidFill>
                  <a:srgbClr val="000000">
                    <a:alpha val="100000"/>
                  </a:srgbClr>
                </a:solidFill>
                <a:latin typeface="Arial" panose="020B0604020202090204"/>
                <a:ea typeface="Arial" panose="020B0604020202090204"/>
                <a:cs typeface="Arial" panose="020B0604020202090204"/>
                <a:sym typeface="+mn-ea"/>
              </a:rPr>
              <a:t>o</a:t>
            </a:r>
            <a:r>
              <a:rPr spc="90" dirty="0">
                <a:solidFill>
                  <a:srgbClr val="C00000"/>
                </a:solidFill>
                <a:latin typeface="Arial" panose="020B0604020202090204"/>
                <a:ea typeface="Arial" panose="020B0604020202090204"/>
                <a:cs typeface="Arial" panose="020B0604020202090204"/>
                <a:sym typeface="+mn-ea"/>
              </a:rPr>
              <a:t>SC</a:t>
            </a:r>
            <a:r>
              <a:rPr spc="90" dirty="0">
                <a:solidFill>
                  <a:srgbClr val="000000">
                    <a:alpha val="100000"/>
                  </a:srgbClr>
                </a:solidFill>
                <a:latin typeface="Arial" panose="020B0604020202090204"/>
                <a:ea typeface="Arial" panose="020B0604020202090204"/>
                <a:cs typeface="Arial" panose="020B0604020202090204"/>
                <a:sym typeface="+mn-ea"/>
              </a:rPr>
              <a:t>o</a:t>
            </a:r>
            <a:r>
              <a:rPr spc="60" dirty="0">
                <a:solidFill>
                  <a:srgbClr val="C00000"/>
                </a:solidFill>
                <a:latin typeface="Arial" panose="020B0604020202090204"/>
                <a:ea typeface="Arial" panose="020B0604020202090204"/>
                <a:cs typeface="Arial" panose="020B0604020202090204"/>
                <a:sym typeface="+mn-ea"/>
              </a:rPr>
              <a:t>W</a:t>
            </a:r>
            <a:endParaRPr lang="en-US" dirty="0">
              <a:solidFill>
                <a:srgbClr val="C00000"/>
              </a:solidFill>
            </a:endParaRPr>
          </a:p>
        </p:txBody>
      </p:sp>
      <p:sp>
        <p:nvSpPr>
          <p:cNvPr id="2" name="Content Placeholder 1"/>
          <p:cNvSpPr>
            <a:spLocks noGrp="1"/>
          </p:cNvSpPr>
          <p:nvPr>
            <p:ph idx="1"/>
          </p:nvPr>
        </p:nvSpPr>
        <p:spPr>
          <a:xfrm>
            <a:off x="646115" y="1099748"/>
            <a:ext cx="10709275" cy="4505959"/>
          </a:xfrm>
        </p:spPr>
        <p:txBody>
          <a:bodyPr>
            <a:noAutofit/>
          </a:bodyPr>
          <a:lstStyle/>
          <a:p>
            <a:pPr algn="l" rtl="0" eaLnBrk="0">
              <a:lnSpc>
                <a:spcPct val="83000"/>
              </a:lnSpc>
            </a:pPr>
            <a:endParaRPr lang="en-US" altLang="en-US" sz="2400" dirty="0"/>
          </a:p>
          <a:p>
            <a:pPr marL="37465" algn="l" rtl="0" eaLnBrk="0">
              <a:lnSpc>
                <a:spcPts val="3475"/>
              </a:lnSpc>
            </a:pPr>
            <a:r>
              <a:rPr sz="2400" spc="-70" dirty="0">
                <a:solidFill>
                  <a:srgbClr val="000000">
                    <a:alpha val="100000"/>
                  </a:srgbClr>
                </a:solidFill>
                <a:latin typeface="Arial" panose="020B0604020202090204"/>
                <a:ea typeface="Arial" panose="020B0604020202090204"/>
                <a:cs typeface="Arial" panose="020B0604020202090204"/>
                <a:sym typeface="+mn-ea"/>
              </a:rPr>
              <a:t>Prioritization of requiremen</a:t>
            </a:r>
            <a:r>
              <a:rPr sz="2400" dirty="0">
                <a:solidFill>
                  <a:srgbClr val="000000">
                    <a:alpha val="100000"/>
                  </a:srgbClr>
                </a:solidFill>
                <a:latin typeface="Arial" panose="020B0604020202090204"/>
                <a:ea typeface="Arial" panose="020B0604020202090204"/>
                <a:cs typeface="Arial" panose="020B0604020202090204"/>
                <a:sym typeface="+mn-ea"/>
              </a:rPr>
              <a:t>ts</a:t>
            </a:r>
            <a:endParaRPr lang="en-US" altLang="en-US" sz="2400" dirty="0"/>
          </a:p>
          <a:p>
            <a:pPr marL="767080" lvl="1" eaLnBrk="0">
              <a:lnSpc>
                <a:spcPts val="2880"/>
              </a:lnSpc>
              <a:spcBef>
                <a:spcPts val="990"/>
              </a:spcBef>
            </a:pPr>
            <a:r>
              <a:rPr sz="2000" b="1" spc="-70" dirty="0">
                <a:solidFill>
                  <a:srgbClr val="C00000"/>
                </a:solidFill>
                <a:latin typeface="Arial" panose="020B0604020202090204"/>
                <a:ea typeface="Arial" panose="020B0604020202090204"/>
                <a:cs typeface="Arial" panose="020B0604020202090204"/>
                <a:sym typeface="+mn-ea"/>
              </a:rPr>
              <a:t>M</a:t>
            </a:r>
            <a:r>
              <a:rPr sz="2000" b="1" spc="-70" dirty="0">
                <a:solidFill>
                  <a:srgbClr val="000000">
                    <a:alpha val="100000"/>
                  </a:srgbClr>
                </a:solidFill>
                <a:latin typeface="Arial" panose="020B0604020202090204"/>
                <a:ea typeface="Arial" panose="020B0604020202090204"/>
                <a:cs typeface="Arial" panose="020B0604020202090204"/>
                <a:sym typeface="+mn-ea"/>
              </a:rPr>
              <a:t>ust have</a:t>
            </a:r>
            <a:r>
              <a:rPr sz="2000" spc="-70" dirty="0">
                <a:solidFill>
                  <a:srgbClr val="000000">
                    <a:alpha val="100000"/>
                  </a:srgbClr>
                </a:solidFill>
                <a:latin typeface="Arial" panose="020B0604020202090204"/>
                <a:ea typeface="Arial" panose="020B0604020202090204"/>
                <a:cs typeface="Arial" panose="020B0604020202090204"/>
                <a:sym typeface="+mn-ea"/>
              </a:rPr>
              <a:t>: system is useless without these fea</a:t>
            </a:r>
            <a:r>
              <a:rPr sz="2000" spc="-20" dirty="0">
                <a:solidFill>
                  <a:srgbClr val="000000">
                    <a:alpha val="100000"/>
                  </a:srgbClr>
                </a:solidFill>
                <a:latin typeface="Arial" panose="020B0604020202090204"/>
                <a:ea typeface="Arial" panose="020B0604020202090204"/>
                <a:cs typeface="Arial" panose="020B0604020202090204"/>
                <a:sym typeface="+mn-ea"/>
              </a:rPr>
              <a:t>t</a:t>
            </a:r>
            <a:r>
              <a:rPr sz="2000" dirty="0">
                <a:solidFill>
                  <a:srgbClr val="000000">
                    <a:alpha val="100000"/>
                  </a:srgbClr>
                </a:solidFill>
                <a:latin typeface="Arial" panose="020B0604020202090204"/>
                <a:ea typeface="Arial" panose="020B0604020202090204"/>
                <a:cs typeface="Arial" panose="020B0604020202090204"/>
                <a:sym typeface="+mn-ea"/>
              </a:rPr>
              <a:t>ures</a:t>
            </a:r>
          </a:p>
          <a:p>
            <a:pPr marL="767080" lvl="1" eaLnBrk="0">
              <a:lnSpc>
                <a:spcPts val="2880"/>
              </a:lnSpc>
              <a:spcBef>
                <a:spcPts val="990"/>
              </a:spcBef>
            </a:pPr>
            <a:r>
              <a:rPr sz="2000" b="1" spc="-90" dirty="0">
                <a:solidFill>
                  <a:srgbClr val="C00000"/>
                </a:solidFill>
                <a:latin typeface="Arial" panose="020B0604020202090204"/>
                <a:ea typeface="Arial" panose="020B0604020202090204"/>
                <a:cs typeface="Arial" panose="020B0604020202090204"/>
                <a:sym typeface="+mn-ea"/>
              </a:rPr>
              <a:t>S</a:t>
            </a:r>
            <a:r>
              <a:rPr sz="2000" b="1" spc="-90" dirty="0">
                <a:solidFill>
                  <a:srgbClr val="000000">
                    <a:alpha val="100000"/>
                  </a:srgbClr>
                </a:solidFill>
                <a:latin typeface="Arial" panose="020B0604020202090204"/>
                <a:ea typeface="Arial" panose="020B0604020202090204"/>
                <a:cs typeface="Arial" panose="020B0604020202090204"/>
                <a:sym typeface="+mn-ea"/>
              </a:rPr>
              <a:t>hould </a:t>
            </a:r>
            <a:r>
              <a:rPr lang="en-US" sz="2000" b="1" spc="-90" dirty="0">
                <a:solidFill>
                  <a:srgbClr val="000000">
                    <a:alpha val="100000"/>
                  </a:srgbClr>
                </a:solidFill>
                <a:latin typeface="Arial" panose="020B0604020202090204"/>
                <a:ea typeface="Arial" panose="020B0604020202090204"/>
                <a:cs typeface="Arial" panose="020B0604020202090204"/>
                <a:sym typeface="+mn-ea"/>
              </a:rPr>
              <a:t>have</a:t>
            </a:r>
            <a:r>
              <a:rPr lang="en-US" sz="2000" spc="-90" dirty="0">
                <a:solidFill>
                  <a:srgbClr val="000000">
                    <a:alpha val="100000"/>
                  </a:srgbClr>
                </a:solidFill>
                <a:latin typeface="Arial" panose="020B0604020202090204"/>
                <a:ea typeface="Arial" panose="020B0604020202090204"/>
                <a:cs typeface="Arial" panose="020B0604020202090204"/>
                <a:sym typeface="+mn-ea"/>
              </a:rPr>
              <a:t>:</a:t>
            </a:r>
            <a:r>
              <a:rPr sz="2000" spc="-90" dirty="0">
                <a:solidFill>
                  <a:srgbClr val="000000">
                    <a:alpha val="100000"/>
                  </a:srgbClr>
                </a:solidFill>
                <a:latin typeface="Arial" panose="020B0604020202090204"/>
                <a:ea typeface="Arial" panose="020B0604020202090204"/>
                <a:cs typeface="Arial" panose="020B0604020202090204"/>
                <a:sym typeface="+mn-ea"/>
              </a:rPr>
              <a:t> important requirements, but there is a work-a</a:t>
            </a:r>
            <a:r>
              <a:rPr sz="2000" spc="-60" dirty="0">
                <a:solidFill>
                  <a:srgbClr val="000000">
                    <a:alpha val="100000"/>
                  </a:srgbClr>
                </a:solidFill>
                <a:latin typeface="Arial" panose="020B0604020202090204"/>
                <a:ea typeface="Arial" panose="020B0604020202090204"/>
                <a:cs typeface="Arial" panose="020B0604020202090204"/>
                <a:sym typeface="+mn-ea"/>
              </a:rPr>
              <a:t>r</a:t>
            </a:r>
            <a:r>
              <a:rPr sz="2000" dirty="0">
                <a:solidFill>
                  <a:srgbClr val="000000">
                    <a:alpha val="100000"/>
                  </a:srgbClr>
                </a:solidFill>
                <a:latin typeface="Arial" panose="020B0604020202090204"/>
                <a:ea typeface="Arial" panose="020B0604020202090204"/>
                <a:cs typeface="Arial" panose="020B0604020202090204"/>
                <a:sym typeface="+mn-ea"/>
              </a:rPr>
              <a:t>ound </a:t>
            </a:r>
            <a:r>
              <a:rPr sz="2000" spc="-30" dirty="0">
                <a:solidFill>
                  <a:srgbClr val="000000">
                    <a:alpha val="100000"/>
                  </a:srgbClr>
                </a:solidFill>
                <a:latin typeface="Arial" panose="020B0604020202090204"/>
                <a:ea typeface="Arial" panose="020B0604020202090204"/>
                <a:cs typeface="Arial" panose="020B0604020202090204"/>
                <a:sym typeface="+mn-ea"/>
              </a:rPr>
              <a:t>so that these can be le</a:t>
            </a:r>
            <a:r>
              <a:rPr sz="2000" dirty="0">
                <a:solidFill>
                  <a:srgbClr val="000000">
                    <a:alpha val="100000"/>
                  </a:srgbClr>
                </a:solidFill>
                <a:latin typeface="Arial" panose="020B0604020202090204"/>
                <a:ea typeface="Arial" panose="020B0604020202090204"/>
                <a:cs typeface="Arial" panose="020B0604020202090204"/>
                <a:sym typeface="+mn-ea"/>
              </a:rPr>
              <a:t>ft</a:t>
            </a:r>
            <a:r>
              <a:rPr sz="2000" spc="-3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out</a:t>
            </a:r>
            <a:r>
              <a:rPr sz="2000" spc="-3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for</a:t>
            </a:r>
            <a:r>
              <a:rPr sz="2000" spc="-3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now</a:t>
            </a:r>
            <a:endParaRPr lang="en-US" altLang="en-US" sz="2000" dirty="0"/>
          </a:p>
          <a:p>
            <a:pPr marL="758825" lvl="1" eaLnBrk="0">
              <a:lnSpc>
                <a:spcPts val="3425"/>
              </a:lnSpc>
              <a:spcBef>
                <a:spcPts val="695"/>
              </a:spcBef>
            </a:pPr>
            <a:r>
              <a:rPr sz="2000" b="1" spc="-70" dirty="0">
                <a:solidFill>
                  <a:srgbClr val="C00000"/>
                </a:solidFill>
                <a:latin typeface="Arial" panose="020B0604020202090204"/>
                <a:ea typeface="Arial" panose="020B0604020202090204"/>
                <a:cs typeface="Arial" panose="020B0604020202090204"/>
                <a:sym typeface="+mn-ea"/>
              </a:rPr>
              <a:t>C</a:t>
            </a:r>
            <a:r>
              <a:rPr sz="2000" b="1" spc="-70" dirty="0">
                <a:solidFill>
                  <a:srgbClr val="000000">
                    <a:alpha val="100000"/>
                  </a:srgbClr>
                </a:solidFill>
                <a:latin typeface="Arial" panose="020B0604020202090204"/>
                <a:ea typeface="Arial" panose="020B0604020202090204"/>
                <a:cs typeface="Arial" panose="020B0604020202090204"/>
                <a:sym typeface="+mn-ea"/>
              </a:rPr>
              <a:t>ould have</a:t>
            </a:r>
            <a:r>
              <a:rPr sz="2000" spc="-70" dirty="0">
                <a:solidFill>
                  <a:srgbClr val="000000">
                    <a:alpha val="100000"/>
                  </a:srgbClr>
                </a:solidFill>
                <a:latin typeface="Arial" panose="020B0604020202090204"/>
                <a:ea typeface="Arial" panose="020B0604020202090204"/>
                <a:cs typeface="Arial" panose="020B0604020202090204"/>
                <a:sym typeface="+mn-ea"/>
              </a:rPr>
              <a:t>: consider for future iteratio</a:t>
            </a:r>
            <a:r>
              <a:rPr sz="2000" spc="-4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000" dirty="0"/>
          </a:p>
          <a:p>
            <a:pPr marL="744220" lvl="1" eaLnBrk="0">
              <a:lnSpc>
                <a:spcPts val="2865"/>
              </a:lnSpc>
              <a:spcBef>
                <a:spcPts val="575"/>
              </a:spcBef>
            </a:pPr>
            <a:r>
              <a:rPr sz="2000" b="1" spc="-20" dirty="0">
                <a:solidFill>
                  <a:srgbClr val="C00000"/>
                </a:solidFill>
                <a:latin typeface="Arial" panose="020B0604020202090204"/>
                <a:ea typeface="Arial" panose="020B0604020202090204"/>
                <a:cs typeface="Arial" panose="020B0604020202090204"/>
                <a:sym typeface="+mn-ea"/>
              </a:rPr>
              <a:t>W</a:t>
            </a:r>
            <a:r>
              <a:rPr sz="2000" b="1" spc="-20" dirty="0">
                <a:solidFill>
                  <a:srgbClr val="000000">
                    <a:alpha val="100000"/>
                  </a:srgbClr>
                </a:solidFill>
                <a:latin typeface="Arial" panose="020B0604020202090204"/>
                <a:ea typeface="Arial" panose="020B0604020202090204"/>
                <a:cs typeface="Arial" panose="020B0604020202090204"/>
                <a:sym typeface="+mn-ea"/>
              </a:rPr>
              <a:t>ant to have </a:t>
            </a:r>
            <a:r>
              <a:rPr sz="2000" spc="-20" dirty="0">
                <a:solidFill>
                  <a:srgbClr val="000000">
                    <a:alpha val="100000"/>
                  </a:srgbClr>
                </a:solidFill>
                <a:latin typeface="Arial" panose="020B0604020202090204"/>
                <a:ea typeface="Arial" panose="020B0604020202090204"/>
                <a:cs typeface="Arial" panose="020B0604020202090204"/>
                <a:sym typeface="+mn-ea"/>
              </a:rPr>
              <a:t>(</a:t>
            </a:r>
            <a:r>
              <a:rPr sz="2000" b="1" spc="-20" dirty="0">
                <a:solidFill>
                  <a:srgbClr val="C00000"/>
                </a:solidFill>
                <a:latin typeface="Arial" panose="020B0604020202090204"/>
                <a:ea typeface="Arial" panose="020B0604020202090204"/>
                <a:cs typeface="Arial" panose="020B0604020202090204"/>
                <a:sym typeface="+mn-ea"/>
              </a:rPr>
              <a:t>W</a:t>
            </a:r>
            <a:r>
              <a:rPr sz="2000" spc="-20" dirty="0">
                <a:solidFill>
                  <a:srgbClr val="000000">
                    <a:alpha val="100000"/>
                  </a:srgbClr>
                </a:solidFill>
                <a:latin typeface="Arial" panose="020B0604020202090204"/>
                <a:ea typeface="Arial" panose="020B0604020202090204"/>
                <a:cs typeface="Arial" panose="020B0604020202090204"/>
                <a:sym typeface="+mn-ea"/>
              </a:rPr>
              <a:t>aiting list/</a:t>
            </a:r>
            <a:r>
              <a:rPr sz="2000" b="1" spc="-20" dirty="0">
                <a:solidFill>
                  <a:srgbClr val="C00000"/>
                </a:solidFill>
                <a:latin typeface="Arial" panose="020B0604020202090204"/>
                <a:ea typeface="Arial" panose="020B0604020202090204"/>
                <a:cs typeface="Arial" panose="020B0604020202090204"/>
                <a:sym typeface="+mn-ea"/>
              </a:rPr>
              <a:t>W</a:t>
            </a:r>
            <a:r>
              <a:rPr sz="2000" spc="-20" dirty="0">
                <a:solidFill>
                  <a:srgbClr val="000000">
                    <a:alpha val="100000"/>
                  </a:srgbClr>
                </a:solidFill>
                <a:latin typeface="Arial" panose="020B0604020202090204"/>
                <a:ea typeface="Arial" panose="020B0604020202090204"/>
                <a:cs typeface="Arial" panose="020B0604020202090204"/>
                <a:sym typeface="+mn-ea"/>
              </a:rPr>
              <a:t>on’t ha</a:t>
            </a:r>
            <a:r>
              <a:rPr sz="2000" dirty="0">
                <a:solidFill>
                  <a:srgbClr val="000000">
                    <a:alpha val="100000"/>
                  </a:srgbClr>
                </a:solidFill>
                <a:latin typeface="Arial" panose="020B0604020202090204"/>
                <a:ea typeface="Arial" panose="020B0604020202090204"/>
                <a:cs typeface="Arial" panose="020B0604020202090204"/>
                <a:sym typeface="+mn-ea"/>
              </a:rPr>
              <a:t>ve</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least</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important</a:t>
            </a:r>
            <a:endParaRPr lang="en-US" sz="2000" dirty="0">
              <a:solidFill>
                <a:srgbClr val="000000">
                  <a:alpha val="100000"/>
                </a:srgbClr>
              </a:solidFill>
              <a:latin typeface="Arial" panose="020B0604020202090204"/>
              <a:ea typeface="Arial" panose="020B0604020202090204"/>
              <a:cs typeface="Arial" panose="020B0604020202090204"/>
              <a:sym typeface="+mn-ea"/>
            </a:endParaRPr>
          </a:p>
          <a:p>
            <a:pPr marL="515620" lvl="1" indent="0" eaLnBrk="0">
              <a:lnSpc>
                <a:spcPts val="2865"/>
              </a:lnSpc>
              <a:spcBef>
                <a:spcPts val="575"/>
              </a:spcBef>
              <a:buNone/>
            </a:pPr>
            <a:endParaRPr lang="en-US" altLang="en-US" sz="2400" dirty="0"/>
          </a:p>
          <a:p>
            <a:pPr marL="33020" indent="-20320" algn="l" rtl="0" eaLnBrk="0">
              <a:lnSpc>
                <a:spcPct val="123000"/>
              </a:lnSpc>
              <a:spcBef>
                <a:spcPts val="10"/>
              </a:spcBef>
            </a:pPr>
            <a:r>
              <a:rPr sz="2400" spc="-40" dirty="0">
                <a:solidFill>
                  <a:srgbClr val="000000">
                    <a:alpha val="100000"/>
                  </a:srgbClr>
                </a:solidFill>
                <a:latin typeface="Arial" panose="020B0604020202090204"/>
                <a:ea typeface="Arial" panose="020B0604020202090204"/>
                <a:cs typeface="Arial" panose="020B0604020202090204"/>
                <a:sym typeface="+mn-ea"/>
              </a:rPr>
              <a:t>  At each </a:t>
            </a:r>
            <a:r>
              <a:rPr lang="en-US" sz="2400" spc="-40" dirty="0">
                <a:solidFill>
                  <a:srgbClr val="000000">
                    <a:alpha val="100000"/>
                  </a:srgbClr>
                </a:solidFill>
                <a:latin typeface="Arial" panose="020B0604020202090204"/>
                <a:ea typeface="Arial" panose="020B0604020202090204"/>
                <a:cs typeface="Arial" panose="020B0604020202090204"/>
                <a:sym typeface="+mn-ea"/>
              </a:rPr>
              <a:t>iteration,</a:t>
            </a:r>
            <a:r>
              <a:rPr sz="2400" spc="-40" dirty="0">
                <a:solidFill>
                  <a:srgbClr val="000000">
                    <a:alpha val="100000"/>
                  </a:srgbClr>
                </a:solidFill>
                <a:latin typeface="Arial" panose="020B0604020202090204"/>
                <a:ea typeface="Arial" panose="020B0604020202090204"/>
                <a:cs typeface="Arial" panose="020B0604020202090204"/>
                <a:sym typeface="+mn-ea"/>
              </a:rPr>
              <a:t> the team decides which requirement</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 </a:t>
            </a:r>
            <a:r>
              <a:rPr sz="2400" spc="-80" dirty="0">
                <a:solidFill>
                  <a:srgbClr val="000000">
                    <a:alpha val="100000"/>
                  </a:srgbClr>
                </a:solidFill>
                <a:latin typeface="Arial" panose="020B0604020202090204"/>
                <a:ea typeface="Arial" panose="020B0604020202090204"/>
                <a:cs typeface="Arial" panose="020B0604020202090204"/>
                <a:sym typeface="+mn-ea"/>
              </a:rPr>
              <a:t>includ</a:t>
            </a:r>
            <a:r>
              <a:rPr sz="2400" spc="-6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2400" dirty="0"/>
          </a:p>
          <a:p>
            <a:pPr marL="746760" lvl="1" eaLnBrk="0">
              <a:lnSpc>
                <a:spcPts val="2835"/>
              </a:lnSpc>
            </a:pPr>
            <a:r>
              <a:rPr sz="2000" spc="-40" dirty="0">
                <a:solidFill>
                  <a:srgbClr val="000000">
                    <a:alpha val="100000"/>
                  </a:srgbClr>
                </a:solidFill>
                <a:latin typeface="Arial" panose="020B0604020202090204"/>
                <a:ea typeface="Arial" panose="020B0604020202090204"/>
                <a:cs typeface="Arial" panose="020B0604020202090204"/>
                <a:sym typeface="+mn-ea"/>
              </a:rPr>
              <a:t>focus on </a:t>
            </a:r>
            <a:r>
              <a:rPr sz="2000" b="1" spc="-40" dirty="0">
                <a:solidFill>
                  <a:srgbClr val="000000">
                    <a:alpha val="100000"/>
                  </a:srgbClr>
                </a:solidFill>
                <a:latin typeface="Arial" panose="020B0604020202090204"/>
                <a:ea typeface="Arial" panose="020B0604020202090204"/>
                <a:cs typeface="Arial" panose="020B0604020202090204"/>
                <a:sym typeface="+mn-ea"/>
              </a:rPr>
              <a:t>must-ha</a:t>
            </a:r>
            <a:r>
              <a:rPr sz="2000" b="1" spc="-10" dirty="0">
                <a:solidFill>
                  <a:srgbClr val="000000">
                    <a:alpha val="100000"/>
                  </a:srgbClr>
                </a:solidFill>
                <a:latin typeface="Arial" panose="020B0604020202090204"/>
                <a:ea typeface="Arial" panose="020B0604020202090204"/>
                <a:cs typeface="Arial" panose="020B0604020202090204"/>
                <a:sym typeface="+mn-ea"/>
              </a:rPr>
              <a:t>v</a:t>
            </a:r>
            <a:r>
              <a:rPr sz="2000" b="1" dirty="0">
                <a:solidFill>
                  <a:srgbClr val="000000">
                    <a:alpha val="100000"/>
                  </a:srgbClr>
                </a:solidFill>
                <a:latin typeface="Arial" panose="020B0604020202090204"/>
                <a:ea typeface="Arial" panose="020B0604020202090204"/>
                <a:cs typeface="Arial" panose="020B0604020202090204"/>
                <a:sym typeface="+mn-ea"/>
              </a:rPr>
              <a:t>es</a:t>
            </a:r>
            <a:r>
              <a:rPr sz="2000" b="1" spc="-40" dirty="0">
                <a:solidFill>
                  <a:srgbClr val="000000">
                    <a:alpha val="100000"/>
                  </a:srgbClr>
                </a:solidFill>
                <a:latin typeface="Arial" panose="020B0604020202090204"/>
                <a:ea typeface="Arial" panose="020B0604020202090204"/>
                <a:cs typeface="Arial" panose="020B0604020202090204"/>
                <a:sym typeface="+mn-ea"/>
              </a:rPr>
              <a:t> (60%)</a:t>
            </a:r>
            <a:endParaRPr lang="en-US" altLang="en-US" sz="2000" b="1" dirty="0"/>
          </a:p>
          <a:p>
            <a:pPr marL="766445" lvl="1" eaLnBrk="0">
              <a:lnSpc>
                <a:spcPts val="2880"/>
              </a:lnSpc>
              <a:spcBef>
                <a:spcPts val="20"/>
              </a:spcBef>
            </a:pPr>
            <a:r>
              <a:rPr sz="2000" spc="-90" dirty="0">
                <a:solidFill>
                  <a:srgbClr val="000000">
                    <a:alpha val="100000"/>
                  </a:srgbClr>
                </a:solidFill>
                <a:latin typeface="Arial" panose="020B0604020202090204"/>
                <a:ea typeface="Arial" panose="020B0604020202090204"/>
                <a:cs typeface="Arial" panose="020B0604020202090204"/>
                <a:sym typeface="+mn-ea"/>
              </a:rPr>
              <a:t>Must include some others (</a:t>
            </a:r>
            <a:r>
              <a:rPr sz="2000" b="1" spc="-90" dirty="0">
                <a:solidFill>
                  <a:srgbClr val="000000">
                    <a:alpha val="100000"/>
                  </a:srgbClr>
                </a:solidFill>
                <a:latin typeface="Arial" panose="020B0604020202090204"/>
                <a:ea typeface="Arial" panose="020B0604020202090204"/>
                <a:cs typeface="Arial" panose="020B0604020202090204"/>
                <a:sym typeface="+mn-ea"/>
              </a:rPr>
              <a:t>20% should-haves, 20% coul</a:t>
            </a:r>
            <a:r>
              <a:rPr sz="2000" b="1" dirty="0">
                <a:solidFill>
                  <a:srgbClr val="000000">
                    <a:alpha val="100000"/>
                  </a:srgbClr>
                </a:solidFill>
                <a:latin typeface="Arial" panose="020B0604020202090204"/>
                <a:ea typeface="Arial" panose="020B0604020202090204"/>
                <a:cs typeface="Arial" panose="020B0604020202090204"/>
                <a:sym typeface="+mn-ea"/>
              </a:rPr>
              <a:t>d</a:t>
            </a:r>
            <a:r>
              <a:rPr sz="2000" b="1" spc="-90" dirty="0">
                <a:solidFill>
                  <a:srgbClr val="000000">
                    <a:alpha val="100000"/>
                  </a:srgbClr>
                </a:solidFill>
                <a:latin typeface="Arial" panose="020B0604020202090204"/>
                <a:ea typeface="Arial" panose="020B0604020202090204"/>
                <a:cs typeface="Arial" panose="020B0604020202090204"/>
                <a:sym typeface="+mn-ea"/>
              </a:rPr>
              <a:t>-</a:t>
            </a:r>
            <a:r>
              <a:rPr sz="2000" b="1" dirty="0">
                <a:solidFill>
                  <a:srgbClr val="000000">
                    <a:alpha val="100000"/>
                  </a:srgbClr>
                </a:solidFill>
                <a:latin typeface="Arial" panose="020B0604020202090204"/>
                <a:ea typeface="Arial" panose="020B0604020202090204"/>
                <a:cs typeface="Arial" panose="020B0604020202090204"/>
                <a:sym typeface="+mn-ea"/>
              </a:rPr>
              <a:t>haves</a:t>
            </a:r>
            <a:r>
              <a:rPr sz="2000" spc="-9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000" dirty="0"/>
          </a:p>
          <a:p>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Time</a:t>
            </a:r>
            <a:r>
              <a:rPr spc="-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boxing</a:t>
            </a:r>
            <a:br>
              <a:rPr lang="en-US" altLang="en-US" dirty="0"/>
            </a:br>
            <a:endParaRPr lang="en-US" dirty="0"/>
          </a:p>
        </p:txBody>
      </p:sp>
      <p:sp>
        <p:nvSpPr>
          <p:cNvPr id="2" name="Content Placeholder 1"/>
          <p:cNvSpPr>
            <a:spLocks noGrp="1"/>
          </p:cNvSpPr>
          <p:nvPr>
            <p:ph idx="1"/>
          </p:nvPr>
        </p:nvSpPr>
        <p:spPr>
          <a:xfrm>
            <a:off x="646358" y="806246"/>
            <a:ext cx="10709031" cy="5270090"/>
          </a:xfrm>
        </p:spPr>
        <p:txBody>
          <a:bodyPr>
            <a:noAutofit/>
          </a:bodyPr>
          <a:lstStyle/>
          <a:p>
            <a:pPr indent="0" algn="l" rtl="0" eaLnBrk="0" fontAlgn="auto">
              <a:lnSpc>
                <a:spcPct val="150000"/>
              </a:lnSpc>
            </a:pPr>
            <a:endParaRPr lang="en-US" altLang="en-US" sz="2400" dirty="0"/>
          </a:p>
          <a:p>
            <a:pPr marL="355600" indent="-342900" eaLnBrk="0">
              <a:lnSpc>
                <a:spcPct val="150000"/>
              </a:lnSpc>
            </a:pPr>
            <a:r>
              <a:rPr sz="2400" spc="-90" dirty="0">
                <a:solidFill>
                  <a:srgbClr val="000000">
                    <a:alpha val="100000"/>
                  </a:srgbClr>
                </a:solidFill>
                <a:latin typeface="Arial" panose="020B0604020202090204"/>
                <a:ea typeface="Arial" panose="020B0604020202090204"/>
                <a:cs typeface="Arial" panose="020B0604020202090204"/>
                <a:sym typeface="+mn-ea"/>
              </a:rPr>
              <a:t>Set </a:t>
            </a:r>
            <a:r>
              <a:rPr sz="2400" b="1" spc="-90" dirty="0">
                <a:solidFill>
                  <a:srgbClr val="000000">
                    <a:alpha val="100000"/>
                  </a:srgbClr>
                </a:solidFill>
                <a:latin typeface="Arial" panose="020B0604020202090204"/>
                <a:ea typeface="Arial" panose="020B0604020202090204"/>
                <a:cs typeface="Arial" panose="020B0604020202090204"/>
                <a:sym typeface="+mn-ea"/>
              </a:rPr>
              <a:t>deadlines</a:t>
            </a:r>
            <a:r>
              <a:rPr sz="2400" spc="-90" dirty="0">
                <a:solidFill>
                  <a:srgbClr val="000000">
                    <a:alpha val="100000"/>
                  </a:srgbClr>
                </a:solidFill>
                <a:latin typeface="Arial" panose="020B0604020202090204"/>
                <a:ea typeface="Arial" panose="020B0604020202090204"/>
                <a:cs typeface="Arial" panose="020B0604020202090204"/>
                <a:sym typeface="+mn-ea"/>
              </a:rPr>
              <a:t> and </a:t>
            </a:r>
            <a:r>
              <a:rPr sz="2400" b="1" spc="-90" dirty="0">
                <a:solidFill>
                  <a:srgbClr val="000000">
                    <a:alpha val="100000"/>
                  </a:srgbClr>
                </a:solidFill>
                <a:latin typeface="Arial" panose="020B0604020202090204"/>
                <a:ea typeface="Arial" panose="020B0604020202090204"/>
                <a:cs typeface="Arial" panose="020B0604020202090204"/>
                <a:sym typeface="+mn-ea"/>
              </a:rPr>
              <a:t>adjust</a:t>
            </a:r>
            <a:r>
              <a:rPr sz="2400" spc="-90" dirty="0">
                <a:solidFill>
                  <a:srgbClr val="000000">
                    <a:alpha val="100000"/>
                  </a:srgbClr>
                </a:solidFill>
                <a:latin typeface="Arial" panose="020B0604020202090204"/>
                <a:ea typeface="Arial" panose="020B0604020202090204"/>
                <a:cs typeface="Arial" panose="020B0604020202090204"/>
                <a:sym typeface="+mn-ea"/>
              </a:rPr>
              <a:t> requirements and resou</a:t>
            </a:r>
            <a:r>
              <a:rPr sz="2400" spc="-1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ces</a:t>
            </a:r>
            <a:endParaRPr lang="en-US" altLang="en-US" sz="2400" dirty="0"/>
          </a:p>
          <a:p>
            <a:pPr marL="367665" indent="-342900" eaLnBrk="0">
              <a:lnSpc>
                <a:spcPct val="150000"/>
              </a:lnSpc>
            </a:pPr>
            <a:r>
              <a:rPr sz="2400" spc="-50" dirty="0">
                <a:solidFill>
                  <a:srgbClr val="000000">
                    <a:alpha val="100000"/>
                  </a:srgbClr>
                </a:solidFill>
                <a:latin typeface="Arial" panose="020B0604020202090204"/>
                <a:ea typeface="Arial" panose="020B0604020202090204"/>
                <a:cs typeface="Arial" panose="020B0604020202090204"/>
                <a:sym typeface="+mn-ea"/>
              </a:rPr>
              <a:t>Each increment has a </a:t>
            </a:r>
            <a:r>
              <a:rPr sz="2400" b="1" i="1" spc="-50" dirty="0">
                <a:solidFill>
                  <a:srgbClr val="C00000"/>
                </a:solidFill>
                <a:latin typeface="Arial" panose="020B0604020202090204"/>
                <a:ea typeface="Arial" panose="020B0604020202090204"/>
                <a:cs typeface="Arial" panose="020B0604020202090204"/>
                <a:sym typeface="+mn-ea"/>
              </a:rPr>
              <a:t>fixed</a:t>
            </a:r>
            <a:r>
              <a:rPr sz="2400" spc="-50" dirty="0">
                <a:solidFill>
                  <a:srgbClr val="000000">
                    <a:alpha val="100000"/>
                  </a:srgbClr>
                </a:solidFill>
                <a:latin typeface="Arial" panose="020B0604020202090204"/>
                <a:ea typeface="Arial" panose="020B0604020202090204"/>
                <a:cs typeface="Arial" panose="020B0604020202090204"/>
                <a:sym typeface="+mn-ea"/>
              </a:rPr>
              <a:t> deadlin</a:t>
            </a:r>
            <a:r>
              <a:rPr sz="2400" spc="-4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2400" dirty="0"/>
          </a:p>
          <a:p>
            <a:pPr marL="361950" indent="-342900" eaLnBrk="0">
              <a:lnSpc>
                <a:spcPct val="150000"/>
              </a:lnSpc>
              <a:spcBef>
                <a:spcPts val="630"/>
              </a:spcBef>
            </a:pPr>
            <a:r>
              <a:rPr sz="2400" spc="-90" dirty="0">
                <a:solidFill>
                  <a:srgbClr val="000000">
                    <a:alpha val="100000"/>
                  </a:srgbClr>
                </a:solidFill>
                <a:latin typeface="Arial" panose="020B0604020202090204"/>
                <a:ea typeface="Arial" panose="020B0604020202090204"/>
                <a:cs typeface="Arial" panose="020B0604020202090204"/>
                <a:sym typeface="+mn-ea"/>
              </a:rPr>
              <a:t>Each increment should </a:t>
            </a:r>
            <a:r>
              <a:rPr sz="2400" b="1" spc="-90" dirty="0">
                <a:solidFill>
                  <a:srgbClr val="000000">
                    <a:alpha val="100000"/>
                  </a:srgbClr>
                </a:solidFill>
                <a:latin typeface="Arial" panose="020B0604020202090204"/>
                <a:ea typeface="Arial" panose="020B0604020202090204"/>
                <a:cs typeface="Arial" panose="020B0604020202090204"/>
                <a:sym typeface="+mn-ea"/>
              </a:rPr>
              <a:t>deliver something u</a:t>
            </a:r>
            <a:r>
              <a:rPr sz="2400" b="1" dirty="0">
                <a:solidFill>
                  <a:srgbClr val="000000">
                    <a:alpha val="100000"/>
                  </a:srgbClr>
                </a:solidFill>
                <a:latin typeface="Arial" panose="020B0604020202090204"/>
                <a:ea typeface="Arial" panose="020B0604020202090204"/>
                <a:cs typeface="Arial" panose="020B0604020202090204"/>
                <a:sym typeface="+mn-ea"/>
              </a:rPr>
              <a:t>seful</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361950" indent="-342900" eaLnBrk="0">
              <a:lnSpc>
                <a:spcPct val="150000"/>
              </a:lnSpc>
              <a:spcBef>
                <a:spcPts val="630"/>
              </a:spcBef>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60" dirty="0">
                <a:solidFill>
                  <a:srgbClr val="000000">
                    <a:alpha val="100000"/>
                  </a:srgbClr>
                </a:solidFill>
                <a:latin typeface="Arial" panose="020B0604020202090204"/>
                <a:ea typeface="Arial" panose="020B0604020202090204"/>
                <a:cs typeface="Arial" panose="020B0604020202090204"/>
                <a:sym typeface="+mn-ea"/>
              </a:rPr>
              <a:t>Development team may </a:t>
            </a:r>
            <a:r>
              <a:rPr sz="2400" b="1" spc="-60" dirty="0">
                <a:solidFill>
                  <a:srgbClr val="000000">
                    <a:alpha val="100000"/>
                  </a:srgbClr>
                </a:solidFill>
                <a:latin typeface="Arial" panose="020B0604020202090204"/>
                <a:ea typeface="Arial" panose="020B0604020202090204"/>
                <a:cs typeface="Arial" panose="020B0604020202090204"/>
                <a:sym typeface="+mn-ea"/>
              </a:rPr>
              <a:t>drop some deliverables </a:t>
            </a:r>
            <a:r>
              <a:rPr sz="2400" spc="-60" dirty="0">
                <a:solidFill>
                  <a:srgbClr val="000000">
                    <a:alpha val="100000"/>
                  </a:srgbClr>
                </a:solidFill>
                <a:latin typeface="Arial" panose="020B0604020202090204"/>
                <a:ea typeface="Arial" panose="020B0604020202090204"/>
                <a:cs typeface="Arial" panose="020B0604020202090204"/>
                <a:sym typeface="+mn-ea"/>
              </a:rPr>
              <a:t>in </a:t>
            </a:r>
            <a:r>
              <a:rPr sz="2400" dirty="0">
                <a:solidFill>
                  <a:srgbClr val="000000">
                    <a:alpha val="100000"/>
                  </a:srgbClr>
                </a:solidFill>
                <a:latin typeface="Arial" panose="020B0604020202090204"/>
                <a:ea typeface="Arial" panose="020B0604020202090204"/>
                <a:cs typeface="Arial" panose="020B0604020202090204"/>
                <a:sym typeface="+mn-ea"/>
              </a:rPr>
              <a:t>order</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 </a:t>
            </a:r>
            <a:r>
              <a:rPr sz="2400" spc="-80" dirty="0">
                <a:solidFill>
                  <a:srgbClr val="000000">
                    <a:alpha val="100000"/>
                  </a:srgbClr>
                </a:solidFill>
                <a:latin typeface="Arial" panose="020B0604020202090204"/>
                <a:ea typeface="Arial" panose="020B0604020202090204"/>
                <a:cs typeface="Arial" panose="020B0604020202090204"/>
                <a:sym typeface="+mn-ea"/>
              </a:rPr>
              <a:t>meet deadlin</a:t>
            </a:r>
            <a:r>
              <a:rPr sz="2400" spc="-7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2400" dirty="0"/>
          </a:p>
          <a:p>
            <a:pPr marL="1097915" lvl="1" indent="-342900" eaLnBrk="0">
              <a:lnSpc>
                <a:spcPct val="150000"/>
              </a:lnSpc>
              <a:spcBef>
                <a:spcPts val="605"/>
              </a:spcBef>
            </a:pPr>
            <a:r>
              <a:rPr sz="2400" b="1" spc="-70" dirty="0">
                <a:solidFill>
                  <a:srgbClr val="000000">
                    <a:alpha val="100000"/>
                  </a:srgbClr>
                </a:solidFill>
                <a:latin typeface="Arial" panose="020B0604020202090204"/>
                <a:ea typeface="Arial" panose="020B0604020202090204"/>
                <a:cs typeface="Arial" panose="020B0604020202090204"/>
                <a:sym typeface="+mn-ea"/>
              </a:rPr>
              <a:t>Drop</a:t>
            </a:r>
            <a:r>
              <a:rPr sz="2400" spc="-70" dirty="0">
                <a:solidFill>
                  <a:srgbClr val="000000">
                    <a:alpha val="100000"/>
                  </a:srgbClr>
                </a:solidFill>
                <a:latin typeface="Arial" panose="020B0604020202090204"/>
                <a:ea typeface="Arial" panose="020B0604020202090204"/>
                <a:cs typeface="Arial" panose="020B0604020202090204"/>
                <a:sym typeface="+mn-ea"/>
              </a:rPr>
              <a:t> requirements</a:t>
            </a:r>
            <a:endParaRPr lang="en-US" altLang="en-US" sz="2400" dirty="0"/>
          </a:p>
          <a:p>
            <a:pPr marL="1072515" lvl="1" indent="-342900" eaLnBrk="0">
              <a:lnSpc>
                <a:spcPct val="150000"/>
              </a:lnSpc>
              <a:spcBef>
                <a:spcPts val="1075"/>
              </a:spcBef>
            </a:pPr>
            <a:r>
              <a:rPr sz="2400" spc="-60" dirty="0">
                <a:solidFill>
                  <a:srgbClr val="000000">
                    <a:alpha val="100000"/>
                  </a:srgbClr>
                </a:solidFill>
                <a:latin typeface="Arial" panose="020B0604020202090204"/>
                <a:ea typeface="Arial" panose="020B0604020202090204"/>
                <a:cs typeface="Arial" panose="020B0604020202090204"/>
                <a:sym typeface="+mn-ea"/>
              </a:rPr>
              <a:t>Acquire </a:t>
            </a:r>
            <a:r>
              <a:rPr sz="2400" b="1" spc="-60" dirty="0">
                <a:solidFill>
                  <a:srgbClr val="000000">
                    <a:alpha val="100000"/>
                  </a:srgbClr>
                </a:solidFill>
                <a:latin typeface="Arial" panose="020B0604020202090204"/>
                <a:ea typeface="Arial" panose="020B0604020202090204"/>
                <a:cs typeface="Arial" panose="020B0604020202090204"/>
                <a:sym typeface="+mn-ea"/>
              </a:rPr>
              <a:t>third party </a:t>
            </a:r>
            <a:r>
              <a:rPr sz="2400" spc="-60" dirty="0">
                <a:solidFill>
                  <a:srgbClr val="000000">
                    <a:alpha val="100000"/>
                  </a:srgbClr>
                </a:solidFill>
                <a:latin typeface="Arial" panose="020B0604020202090204"/>
                <a:ea typeface="Arial" panose="020B0604020202090204"/>
                <a:cs typeface="Arial" panose="020B0604020202090204"/>
                <a:sym typeface="+mn-ea"/>
              </a:rPr>
              <a:t>solution for requi</a:t>
            </a:r>
            <a:r>
              <a:rPr sz="2400" dirty="0">
                <a:solidFill>
                  <a:srgbClr val="000000">
                    <a:alpha val="100000"/>
                  </a:srgbClr>
                </a:solidFill>
                <a:latin typeface="Arial" panose="020B0604020202090204"/>
                <a:ea typeface="Arial" panose="020B0604020202090204"/>
                <a:cs typeface="Arial" panose="020B0604020202090204"/>
                <a:sym typeface="+mn-ea"/>
              </a:rPr>
              <a:t>rements</a:t>
            </a:r>
            <a:endParaRPr lang="en-US" altLang="en-US" sz="2400" dirty="0"/>
          </a:p>
          <a:p>
            <a:pPr marL="1072515" lvl="1" indent="-342900" eaLnBrk="0">
              <a:lnSpc>
                <a:spcPct val="150000"/>
              </a:lnSpc>
            </a:pPr>
            <a:r>
              <a:rPr sz="2400" b="1" spc="-90" dirty="0">
                <a:solidFill>
                  <a:srgbClr val="000000">
                    <a:alpha val="100000"/>
                  </a:srgbClr>
                </a:solidFill>
                <a:latin typeface="Arial" panose="020B0604020202090204"/>
                <a:ea typeface="Arial" panose="020B0604020202090204"/>
                <a:cs typeface="Arial" panose="020B0604020202090204"/>
                <a:sym typeface="+mn-ea"/>
              </a:rPr>
              <a:t>Add </a:t>
            </a:r>
            <a:r>
              <a:rPr sz="2400" spc="-90" dirty="0">
                <a:solidFill>
                  <a:srgbClr val="000000">
                    <a:alpha val="100000"/>
                  </a:srgbClr>
                </a:solidFill>
                <a:latin typeface="Arial" panose="020B0604020202090204"/>
                <a:ea typeface="Arial" panose="020B0604020202090204"/>
                <a:cs typeface="Arial" panose="020B0604020202090204"/>
                <a:sym typeface="+mn-ea"/>
              </a:rPr>
              <a:t>resource</a:t>
            </a:r>
            <a:r>
              <a:rPr sz="2400" spc="-70" dirty="0">
                <a:solidFill>
                  <a:srgbClr val="000000">
                    <a:alpha val="100000"/>
                  </a:srgbClr>
                </a:solidFill>
                <a:latin typeface="Arial" panose="020B0604020202090204"/>
                <a:ea typeface="Arial" panose="020B0604020202090204"/>
                <a:cs typeface="Arial" panose="020B0604020202090204"/>
                <a:sym typeface="+mn-ea"/>
              </a:rPr>
              <a:t>s</a:t>
            </a:r>
            <a:endParaRPr lang="en-US" sz="2000" spc="-7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30" dirty="0">
                <a:solidFill>
                  <a:srgbClr val="000000">
                    <a:alpha val="100000"/>
                  </a:srgbClr>
                </a:solidFill>
                <a:latin typeface="Arial" panose="020B0604020202090204"/>
                <a:ea typeface="Arial" panose="020B0604020202090204"/>
                <a:cs typeface="Arial" panose="020B0604020202090204"/>
                <a:sym typeface="+mn-ea"/>
              </a:rPr>
              <a:t>Prototypin</a:t>
            </a:r>
            <a:r>
              <a:rPr dirty="0">
                <a:solidFill>
                  <a:srgbClr val="000000">
                    <a:alpha val="100000"/>
                  </a:srgbClr>
                </a:solidFill>
                <a:latin typeface="Arial" panose="020B0604020202090204"/>
                <a:ea typeface="Arial" panose="020B0604020202090204"/>
                <a:cs typeface="Arial" panose="020B0604020202090204"/>
                <a:sym typeface="+mn-ea"/>
              </a:rPr>
              <a:t>g</a:t>
            </a:r>
            <a:br>
              <a:rPr lang="en-US" altLang="en-US" dirty="0"/>
            </a:br>
            <a:endParaRPr lang="en-US"/>
          </a:p>
        </p:txBody>
      </p:sp>
      <p:sp>
        <p:nvSpPr>
          <p:cNvPr id="2" name="Content Placeholder 1"/>
          <p:cNvSpPr>
            <a:spLocks noGrp="1"/>
          </p:cNvSpPr>
          <p:nvPr>
            <p:ph idx="1"/>
          </p:nvPr>
        </p:nvSpPr>
        <p:spPr>
          <a:xfrm>
            <a:off x="646359" y="1099748"/>
            <a:ext cx="10709275" cy="4760278"/>
          </a:xfrm>
        </p:spPr>
        <p:txBody>
          <a:bodyPr>
            <a:normAutofit lnSpcReduction="10000"/>
          </a:bodyPr>
          <a:lstStyle/>
          <a:p>
            <a:pPr algn="l" rtl="0" eaLnBrk="0">
              <a:lnSpc>
                <a:spcPct val="104000"/>
              </a:lnSpc>
            </a:pPr>
            <a:endParaRPr lang="en-US" altLang="en-US" sz="2400" dirty="0"/>
          </a:p>
          <a:p>
            <a:pPr marL="355600" indent="-342900" eaLnBrk="0">
              <a:lnSpc>
                <a:spcPct val="115000"/>
              </a:lnSpc>
            </a:pPr>
            <a:r>
              <a:rPr sz="2400" spc="-60" dirty="0">
                <a:solidFill>
                  <a:srgbClr val="000000">
                    <a:alpha val="100000"/>
                  </a:srgbClr>
                </a:solidFill>
                <a:latin typeface="Arial" panose="020B0604020202090204"/>
                <a:ea typeface="Arial" panose="020B0604020202090204"/>
                <a:cs typeface="Arial" panose="020B0604020202090204"/>
                <a:sym typeface="+mn-ea"/>
              </a:rPr>
              <a:t>Rather than spend all the effort to develop </a:t>
            </a:r>
            <a:r>
              <a:rPr sz="2400" spc="-40" dirty="0">
                <a:solidFill>
                  <a:srgbClr val="000000">
                    <a:alpha val="100000"/>
                  </a:srgbClr>
                </a:solidFill>
                <a:latin typeface="Arial" panose="020B0604020202090204"/>
                <a:ea typeface="Arial" panose="020B0604020202090204"/>
                <a:cs typeface="Arial" panose="020B0604020202090204"/>
                <a:sym typeface="+mn-ea"/>
              </a:rPr>
              <a:t>a</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b="1" dirty="0">
                <a:solidFill>
                  <a:srgbClr val="000000">
                    <a:alpha val="100000"/>
                  </a:srgbClr>
                </a:solidFill>
                <a:latin typeface="Arial" panose="020B0604020202090204"/>
                <a:ea typeface="Arial" panose="020B0604020202090204"/>
                <a:cs typeface="Arial" panose="020B0604020202090204"/>
                <a:sym typeface="+mn-ea"/>
              </a:rPr>
              <a:t>complete </a:t>
            </a:r>
            <a:r>
              <a:rPr sz="2400" b="1" spc="-90" dirty="0">
                <a:solidFill>
                  <a:srgbClr val="000000">
                    <a:alpha val="100000"/>
                  </a:srgbClr>
                </a:solidFill>
                <a:latin typeface="Arial" panose="020B0604020202090204"/>
                <a:ea typeface="Arial" panose="020B0604020202090204"/>
                <a:cs typeface="Arial" panose="020B0604020202090204"/>
                <a:sym typeface="+mn-ea"/>
              </a:rPr>
              <a:t>system</a:t>
            </a:r>
            <a:r>
              <a:rPr sz="2400" spc="-90" dirty="0">
                <a:solidFill>
                  <a:srgbClr val="000000">
                    <a:alpha val="100000"/>
                  </a:srgbClr>
                </a:solidFill>
                <a:latin typeface="Arial" panose="020B0604020202090204"/>
                <a:ea typeface="Arial" panose="020B0604020202090204"/>
                <a:cs typeface="Arial" panose="020B0604020202090204"/>
                <a:sym typeface="+mn-ea"/>
              </a:rPr>
              <a:t>, build a </a:t>
            </a:r>
            <a:r>
              <a:rPr sz="2400" b="1" spc="-90" dirty="0">
                <a:solidFill>
                  <a:srgbClr val="000000">
                    <a:alpha val="100000"/>
                  </a:srgbClr>
                </a:solidFill>
                <a:latin typeface="Arial" panose="020B0604020202090204"/>
                <a:ea typeface="Arial" panose="020B0604020202090204"/>
                <a:cs typeface="Arial" panose="020B0604020202090204"/>
                <a:sym typeface="+mn-ea"/>
              </a:rPr>
              <a:t>quick prototyp</a:t>
            </a:r>
            <a:r>
              <a:rPr sz="2400" spc="-90" dirty="0">
                <a:solidFill>
                  <a:srgbClr val="000000">
                    <a:alpha val="100000"/>
                  </a:srgbClr>
                </a:solidFill>
                <a:latin typeface="Arial" panose="020B0604020202090204"/>
                <a:ea typeface="Arial" panose="020B0604020202090204"/>
                <a:cs typeface="Arial" panose="020B0604020202090204"/>
                <a:sym typeface="+mn-ea"/>
              </a:rPr>
              <a:t>e to test </a:t>
            </a:r>
            <a:r>
              <a:rPr sz="2400" b="1" spc="-90" dirty="0">
                <a:solidFill>
                  <a:srgbClr val="000000">
                    <a:alpha val="100000"/>
                  </a:srgbClr>
                </a:solidFill>
                <a:latin typeface="Arial" panose="020B0604020202090204"/>
                <a:ea typeface="Arial" panose="020B0604020202090204"/>
                <a:cs typeface="Arial" panose="020B0604020202090204"/>
                <a:sym typeface="+mn-ea"/>
              </a:rPr>
              <a:t>its</a:t>
            </a:r>
            <a:r>
              <a:rPr lang="en-US" sz="2400" b="1" spc="-90" dirty="0">
                <a:solidFill>
                  <a:srgbClr val="000000">
                    <a:alpha val="100000"/>
                  </a:srgbClr>
                </a:solidFill>
                <a:latin typeface="Arial" panose="020B0604020202090204"/>
                <a:ea typeface="Arial" panose="020B0604020202090204"/>
                <a:cs typeface="Arial" panose="020B0604020202090204"/>
                <a:sym typeface="+mn-ea"/>
              </a:rPr>
              <a:t> </a:t>
            </a:r>
            <a:r>
              <a:rPr sz="2400" b="1" spc="-90" dirty="0">
                <a:solidFill>
                  <a:srgbClr val="000000">
                    <a:alpha val="100000"/>
                  </a:srgbClr>
                </a:solidFill>
                <a:latin typeface="Arial" panose="020B0604020202090204"/>
                <a:ea typeface="Arial" panose="020B0604020202090204"/>
                <a:cs typeface="Arial" panose="020B0604020202090204"/>
                <a:sym typeface="+mn-ea"/>
              </a:rPr>
              <a:t>feasibili</a:t>
            </a:r>
            <a:r>
              <a:rPr sz="2400" b="1" spc="-20" dirty="0">
                <a:solidFill>
                  <a:srgbClr val="000000">
                    <a:alpha val="100000"/>
                  </a:srgbClr>
                </a:solidFill>
                <a:latin typeface="Arial" panose="020B0604020202090204"/>
                <a:ea typeface="Arial" panose="020B0604020202090204"/>
                <a:cs typeface="Arial" panose="020B0604020202090204"/>
                <a:sym typeface="+mn-ea"/>
              </a:rPr>
              <a:t>t</a:t>
            </a:r>
            <a:r>
              <a:rPr sz="2400" b="1" dirty="0">
                <a:solidFill>
                  <a:srgbClr val="000000">
                    <a:alpha val="100000"/>
                  </a:srgbClr>
                </a:solidFill>
                <a:latin typeface="Arial" panose="020B0604020202090204"/>
                <a:ea typeface="Arial" panose="020B0604020202090204"/>
                <a:cs typeface="Arial" panose="020B0604020202090204"/>
                <a:sym typeface="+mn-ea"/>
              </a:rPr>
              <a:t>y</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298450" indent="-285750" eaLnBrk="0">
              <a:lnSpc>
                <a:spcPct val="115000"/>
              </a:lnSpc>
            </a:pPr>
            <a:r>
              <a:rPr sz="2400" spc="-60" dirty="0">
                <a:solidFill>
                  <a:srgbClr val="000000">
                    <a:alpha val="100000"/>
                  </a:srgbClr>
                </a:solidFill>
                <a:latin typeface="Arial" panose="020B0604020202090204"/>
                <a:ea typeface="Arial" panose="020B0604020202090204"/>
                <a:cs typeface="Arial" panose="020B0604020202090204"/>
                <a:sym typeface="+mn-ea"/>
              </a:rPr>
              <a:t>  Prototypes are widely used in </a:t>
            </a:r>
            <a:r>
              <a:rPr sz="2400" b="1" spc="-60" dirty="0">
                <a:solidFill>
                  <a:srgbClr val="000000">
                    <a:alpha val="100000"/>
                  </a:srgbClr>
                </a:solidFill>
                <a:latin typeface="Arial" panose="020B0604020202090204"/>
                <a:ea typeface="Arial" panose="020B0604020202090204"/>
                <a:cs typeface="Arial" panose="020B0604020202090204"/>
                <a:sym typeface="+mn-ea"/>
              </a:rPr>
              <a:t>most forms of engineer</a:t>
            </a:r>
            <a:r>
              <a:rPr sz="2400" b="1" spc="-10" dirty="0">
                <a:solidFill>
                  <a:srgbClr val="000000">
                    <a:alpha val="100000"/>
                  </a:srgbClr>
                </a:solidFill>
                <a:latin typeface="Arial" panose="020B0604020202090204"/>
                <a:ea typeface="Arial" panose="020B0604020202090204"/>
                <a:cs typeface="Arial" panose="020B0604020202090204"/>
                <a:sym typeface="+mn-ea"/>
              </a:rPr>
              <a:t>i</a:t>
            </a:r>
            <a:r>
              <a:rPr sz="2400" b="1" dirty="0">
                <a:solidFill>
                  <a:srgbClr val="000000">
                    <a:alpha val="100000"/>
                  </a:srgbClr>
                </a:solidFill>
                <a:latin typeface="Arial" panose="020B0604020202090204"/>
                <a:ea typeface="Arial" panose="020B0604020202090204"/>
                <a:cs typeface="Arial" panose="020B0604020202090204"/>
                <a:sym typeface="+mn-ea"/>
              </a:rPr>
              <a:t>ng</a:t>
            </a:r>
            <a:endParaRPr lang="en-US" altLang="en-US" sz="2400" b="1" dirty="0"/>
          </a:p>
          <a:p>
            <a:pPr eaLnBrk="0">
              <a:lnSpc>
                <a:spcPct val="100000"/>
              </a:lnSpc>
              <a:spcBef>
                <a:spcPts val="1070"/>
              </a:spcBef>
            </a:pPr>
            <a:r>
              <a:rPr lang="en-US" sz="2400" spc="-70" dirty="0">
                <a:solidFill>
                  <a:srgbClr val="000000">
                    <a:alpha val="100000"/>
                  </a:srgbClr>
                </a:solidFill>
                <a:latin typeface="Arial" panose="020B0604020202090204"/>
                <a:ea typeface="Arial" panose="020B0604020202090204"/>
                <a:cs typeface="Arial" panose="020B0604020202090204"/>
                <a:sym typeface="+mn-ea"/>
              </a:rPr>
              <a:t>    </a:t>
            </a:r>
            <a:r>
              <a:rPr sz="2400" spc="-70" dirty="0">
                <a:solidFill>
                  <a:srgbClr val="000000">
                    <a:alpha val="100000"/>
                  </a:srgbClr>
                </a:solidFill>
                <a:latin typeface="Arial" panose="020B0604020202090204"/>
                <a:ea typeface="Arial" panose="020B0604020202090204"/>
                <a:cs typeface="Arial" panose="020B0604020202090204"/>
                <a:sym typeface="+mn-ea"/>
              </a:rPr>
              <a:t>Low-fidelity (throwaway) prototypi</a:t>
            </a:r>
            <a:r>
              <a:rPr sz="2400" spc="-4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g</a:t>
            </a:r>
          </a:p>
          <a:p>
            <a:pPr marL="813435" lvl="2" indent="-285750" eaLnBrk="0">
              <a:lnSpc>
                <a:spcPct val="100000"/>
              </a:lnSpc>
              <a:spcBef>
                <a:spcPts val="1070"/>
              </a:spcBef>
            </a:pPr>
            <a:r>
              <a:rPr sz="2000" b="1" spc="-70" dirty="0">
                <a:solidFill>
                  <a:srgbClr val="000000">
                    <a:alpha val="100000"/>
                  </a:srgbClr>
                </a:solidFill>
                <a:latin typeface="Arial" panose="020B0604020202090204"/>
                <a:ea typeface="Arial" panose="020B0604020202090204"/>
                <a:cs typeface="Arial" panose="020B0604020202090204"/>
                <a:sym typeface="+mn-ea"/>
              </a:rPr>
              <a:t>Quick demonstration </a:t>
            </a:r>
            <a:r>
              <a:rPr sz="2000" spc="-70" dirty="0">
                <a:solidFill>
                  <a:srgbClr val="000000">
                    <a:alpha val="100000"/>
                  </a:srgbClr>
                </a:solidFill>
                <a:latin typeface="Arial" panose="020B0604020202090204"/>
                <a:ea typeface="Arial" panose="020B0604020202090204"/>
                <a:cs typeface="Arial" panose="020B0604020202090204"/>
                <a:sym typeface="+mn-ea"/>
              </a:rPr>
              <a:t>of a feat</a:t>
            </a:r>
            <a:r>
              <a:rPr sz="2000" spc="-50" dirty="0">
                <a:solidFill>
                  <a:srgbClr val="000000">
                    <a:alpha val="100000"/>
                  </a:srgbClr>
                </a:solidFill>
                <a:latin typeface="Arial" panose="020B0604020202090204"/>
                <a:ea typeface="Arial" panose="020B0604020202090204"/>
                <a:cs typeface="Arial" panose="020B0604020202090204"/>
                <a:sym typeface="+mn-ea"/>
              </a:rPr>
              <a:t>u</a:t>
            </a:r>
            <a:r>
              <a:rPr sz="2000" dirty="0">
                <a:solidFill>
                  <a:srgbClr val="000000">
                    <a:alpha val="100000"/>
                  </a:srgbClr>
                </a:solidFill>
                <a:latin typeface="Arial" panose="020B0604020202090204"/>
                <a:ea typeface="Arial" panose="020B0604020202090204"/>
                <a:cs typeface="Arial" panose="020B0604020202090204"/>
                <a:sym typeface="+mn-ea"/>
              </a:rPr>
              <a:t>re</a:t>
            </a:r>
          </a:p>
          <a:p>
            <a:pPr marL="813435" lvl="2" indent="-285750" eaLnBrk="0">
              <a:lnSpc>
                <a:spcPct val="100000"/>
              </a:lnSpc>
              <a:spcBef>
                <a:spcPts val="1070"/>
              </a:spcBef>
            </a:pPr>
            <a:r>
              <a:rPr sz="2000" spc="-30" dirty="0">
                <a:solidFill>
                  <a:srgbClr val="000000">
                    <a:alpha val="100000"/>
                  </a:srgbClr>
                </a:solidFill>
                <a:latin typeface="Arial" panose="020B0604020202090204"/>
                <a:ea typeface="Arial" panose="020B0604020202090204"/>
                <a:cs typeface="Arial" panose="020B0604020202090204"/>
                <a:sym typeface="+mn-ea"/>
              </a:rPr>
              <a:t>Result is not useful for development into a </a:t>
            </a:r>
            <a:r>
              <a:rPr sz="2000" b="1" spc="-30" dirty="0">
                <a:solidFill>
                  <a:srgbClr val="000000">
                    <a:alpha val="100000"/>
                  </a:srgbClr>
                </a:solidFill>
                <a:latin typeface="Arial" panose="020B0604020202090204"/>
                <a:ea typeface="Arial" panose="020B0604020202090204"/>
                <a:cs typeface="Arial" panose="020B0604020202090204"/>
                <a:sym typeface="+mn-ea"/>
              </a:rPr>
              <a:t>produc</a:t>
            </a:r>
            <a:r>
              <a:rPr sz="2000" b="1" spc="-20" dirty="0">
                <a:solidFill>
                  <a:srgbClr val="000000">
                    <a:alpha val="100000"/>
                  </a:srgbClr>
                </a:solidFill>
                <a:latin typeface="Arial" panose="020B0604020202090204"/>
                <a:ea typeface="Arial" panose="020B0604020202090204"/>
                <a:cs typeface="Arial" panose="020B0604020202090204"/>
                <a:sym typeface="+mn-ea"/>
              </a:rPr>
              <a:t>t</a:t>
            </a:r>
            <a:r>
              <a:rPr sz="2000" b="1" spc="-30" dirty="0">
                <a:solidFill>
                  <a:srgbClr val="000000">
                    <a:alpha val="100000"/>
                  </a:srgbClr>
                </a:solidFill>
                <a:latin typeface="Arial" panose="020B0604020202090204"/>
                <a:ea typeface="Arial" panose="020B0604020202090204"/>
                <a:cs typeface="Arial" panose="020B0604020202090204"/>
                <a:sym typeface="+mn-ea"/>
              </a:rPr>
              <a:t> </a:t>
            </a:r>
            <a:r>
              <a:rPr sz="2000" b="1" dirty="0">
                <a:solidFill>
                  <a:srgbClr val="000000">
                    <a:alpha val="100000"/>
                  </a:srgbClr>
                </a:solidFill>
                <a:latin typeface="Arial" panose="020B0604020202090204"/>
                <a:ea typeface="Arial" panose="020B0604020202090204"/>
                <a:cs typeface="Arial" panose="020B0604020202090204"/>
                <a:sym typeface="+mn-ea"/>
              </a:rPr>
              <a:t>or</a:t>
            </a:r>
            <a:r>
              <a:rPr sz="2000" b="1" spc="-30" dirty="0">
                <a:solidFill>
                  <a:srgbClr val="000000">
                    <a:alpha val="100000"/>
                  </a:srgbClr>
                </a:solidFill>
                <a:latin typeface="Arial" panose="020B0604020202090204"/>
                <a:ea typeface="Arial" panose="020B0604020202090204"/>
                <a:cs typeface="Arial" panose="020B0604020202090204"/>
                <a:sym typeface="+mn-ea"/>
              </a:rPr>
              <a:t> </a:t>
            </a:r>
            <a:r>
              <a:rPr sz="2000" b="1" dirty="0">
                <a:solidFill>
                  <a:srgbClr val="000000">
                    <a:alpha val="100000"/>
                  </a:srgbClr>
                </a:solidFill>
                <a:latin typeface="Arial" panose="020B0604020202090204"/>
                <a:ea typeface="Arial" panose="020B0604020202090204"/>
                <a:cs typeface="Arial" panose="020B0604020202090204"/>
                <a:sym typeface="+mn-ea"/>
              </a:rPr>
              <a:t>service</a:t>
            </a:r>
            <a:endParaRPr lang="en-US" altLang="en-US" sz="2000" b="1" dirty="0"/>
          </a:p>
          <a:p>
            <a:pPr eaLnBrk="0">
              <a:lnSpc>
                <a:spcPts val="3315"/>
              </a:lnSpc>
              <a:spcBef>
                <a:spcPts val="1255"/>
              </a:spcBef>
            </a:pPr>
            <a:r>
              <a:rPr lang="en-US" sz="2400" spc="-40" dirty="0">
                <a:solidFill>
                  <a:srgbClr val="000000">
                    <a:alpha val="100000"/>
                  </a:srgbClr>
                </a:solidFill>
                <a:latin typeface="Arial" panose="020B0604020202090204"/>
                <a:ea typeface="Arial" panose="020B0604020202090204"/>
                <a:cs typeface="Arial" panose="020B0604020202090204"/>
                <a:sym typeface="+mn-ea"/>
              </a:rPr>
              <a:t>   </a:t>
            </a:r>
            <a:r>
              <a:rPr sz="2400" spc="-40" dirty="0">
                <a:solidFill>
                  <a:srgbClr val="000000">
                    <a:alpha val="100000"/>
                  </a:srgbClr>
                </a:solidFill>
                <a:latin typeface="Arial" panose="020B0604020202090204"/>
                <a:ea typeface="Arial" panose="020B0604020202090204"/>
                <a:cs typeface="Arial" panose="020B0604020202090204"/>
                <a:sym typeface="+mn-ea"/>
              </a:rPr>
              <a:t>Evolutionary (</a:t>
            </a:r>
            <a:r>
              <a:rPr sz="2400" b="1" spc="-40" dirty="0">
                <a:solidFill>
                  <a:srgbClr val="000000">
                    <a:alpha val="100000"/>
                  </a:srgbClr>
                </a:solidFill>
                <a:latin typeface="Arial" panose="020B0604020202090204"/>
                <a:ea typeface="Arial" panose="020B0604020202090204"/>
                <a:cs typeface="Arial" panose="020B0604020202090204"/>
                <a:sym typeface="+mn-ea"/>
              </a:rPr>
              <a:t>rapid) pro</a:t>
            </a:r>
            <a:r>
              <a:rPr sz="2400" b="1" spc="-20" dirty="0">
                <a:solidFill>
                  <a:srgbClr val="000000">
                    <a:alpha val="100000"/>
                  </a:srgbClr>
                </a:solidFill>
                <a:latin typeface="Arial" panose="020B0604020202090204"/>
                <a:ea typeface="Arial" panose="020B0604020202090204"/>
                <a:cs typeface="Arial" panose="020B0604020202090204"/>
                <a:sym typeface="+mn-ea"/>
              </a:rPr>
              <a:t>t</a:t>
            </a:r>
            <a:r>
              <a:rPr sz="2400" b="1" dirty="0">
                <a:solidFill>
                  <a:srgbClr val="000000">
                    <a:alpha val="100000"/>
                  </a:srgbClr>
                </a:solidFill>
                <a:latin typeface="Arial" panose="020B0604020202090204"/>
                <a:ea typeface="Arial" panose="020B0604020202090204"/>
                <a:cs typeface="Arial" panose="020B0604020202090204"/>
                <a:sym typeface="+mn-ea"/>
              </a:rPr>
              <a:t>otyping</a:t>
            </a:r>
          </a:p>
          <a:p>
            <a:pPr marL="813435" lvl="2" indent="-285750" eaLnBrk="0">
              <a:lnSpc>
                <a:spcPct val="100000"/>
              </a:lnSpc>
              <a:spcBef>
                <a:spcPts val="1070"/>
              </a:spcBef>
            </a:pPr>
            <a:r>
              <a:rPr sz="2000" b="1" spc="-70" dirty="0">
                <a:solidFill>
                  <a:srgbClr val="000000">
                    <a:alpha val="100000"/>
                  </a:srgbClr>
                </a:solidFill>
                <a:latin typeface="Arial" panose="020B0604020202090204"/>
                <a:cs typeface="Arial" panose="020B0604020202090204"/>
                <a:sym typeface="+mn-ea"/>
              </a:rPr>
              <a:t>Rapid construction </a:t>
            </a:r>
            <a:r>
              <a:rPr sz="2000" spc="-70" dirty="0">
                <a:solidFill>
                  <a:srgbClr val="000000">
                    <a:alpha val="100000"/>
                  </a:srgbClr>
                </a:solidFill>
                <a:latin typeface="Arial" panose="020B0604020202090204"/>
                <a:cs typeface="Arial" panose="020B0604020202090204"/>
                <a:sym typeface="+mn-ea"/>
              </a:rPr>
              <a:t>of a </a:t>
            </a:r>
            <a:r>
              <a:rPr sz="2000" b="1" spc="-70" dirty="0">
                <a:solidFill>
                  <a:srgbClr val="000000">
                    <a:alpha val="100000"/>
                  </a:srgbClr>
                </a:solidFill>
                <a:latin typeface="Arial" panose="020B0604020202090204"/>
                <a:cs typeface="Arial" panose="020B0604020202090204"/>
                <a:sym typeface="+mn-ea"/>
              </a:rPr>
              <a:t>simple feature</a:t>
            </a:r>
            <a:r>
              <a:rPr sz="2000" spc="-70" dirty="0">
                <a:solidFill>
                  <a:srgbClr val="000000">
                    <a:alpha val="100000"/>
                  </a:srgbClr>
                </a:solidFill>
                <a:latin typeface="Arial" panose="020B0604020202090204"/>
                <a:cs typeface="Arial" panose="020B0604020202090204"/>
                <a:sym typeface="+mn-ea"/>
              </a:rPr>
              <a:t>, often done with special</a:t>
            </a:r>
            <a:r>
              <a:rPr lang="en-US" sz="2000" spc="-70" dirty="0">
                <a:solidFill>
                  <a:srgbClr val="000000">
                    <a:alpha val="100000"/>
                  </a:srgbClr>
                </a:solidFill>
                <a:latin typeface="Arial" panose="020B0604020202090204"/>
                <a:cs typeface="Arial" panose="020B0604020202090204"/>
                <a:sym typeface="+mn-ea"/>
              </a:rPr>
              <a:t> </a:t>
            </a:r>
            <a:r>
              <a:rPr sz="2000" spc="-70" dirty="0">
                <a:solidFill>
                  <a:srgbClr val="000000">
                    <a:alpha val="100000"/>
                  </a:srgbClr>
                </a:solidFill>
                <a:latin typeface="Arial" panose="020B0604020202090204"/>
                <a:cs typeface="Arial" panose="020B0604020202090204"/>
                <a:sym typeface="+mn-ea"/>
              </a:rPr>
              <a:t>tools</a:t>
            </a:r>
            <a:endParaRPr lang="en-US" sz="2000" spc="-70" dirty="0">
              <a:solidFill>
                <a:srgbClr val="000000">
                  <a:alpha val="100000"/>
                </a:srgbClr>
              </a:solidFill>
              <a:latin typeface="Arial" panose="020B0604020202090204"/>
              <a:cs typeface="Arial" panose="020B0604020202090204"/>
              <a:sym typeface="+mn-ea"/>
            </a:endParaRPr>
          </a:p>
          <a:p>
            <a:pPr marL="813435" lvl="2" indent="-285750" eaLnBrk="0">
              <a:lnSpc>
                <a:spcPct val="100000"/>
              </a:lnSpc>
              <a:spcBef>
                <a:spcPts val="1070"/>
              </a:spcBef>
            </a:pPr>
            <a:r>
              <a:rPr sz="2000" spc="-70" dirty="0">
                <a:solidFill>
                  <a:srgbClr val="000000">
                    <a:alpha val="100000"/>
                  </a:srgbClr>
                </a:solidFill>
                <a:latin typeface="Arial" panose="020B0604020202090204"/>
                <a:cs typeface="Arial" panose="020B0604020202090204"/>
                <a:sym typeface="+mn-ea"/>
              </a:rPr>
              <a:t>Result may be </a:t>
            </a:r>
            <a:r>
              <a:rPr sz="2000" b="1" spc="-70" dirty="0">
                <a:solidFill>
                  <a:srgbClr val="000000">
                    <a:alpha val="100000"/>
                  </a:srgbClr>
                </a:solidFill>
                <a:latin typeface="Arial" panose="020B0604020202090204"/>
                <a:cs typeface="Arial" panose="020B0604020202090204"/>
                <a:sym typeface="+mn-ea"/>
              </a:rPr>
              <a:t>modified</a:t>
            </a:r>
            <a:r>
              <a:rPr sz="2000" spc="-70" dirty="0">
                <a:solidFill>
                  <a:srgbClr val="000000">
                    <a:alpha val="100000"/>
                  </a:srgbClr>
                </a:solidFill>
                <a:latin typeface="Arial" panose="020B0604020202090204"/>
                <a:cs typeface="Arial" panose="020B0604020202090204"/>
                <a:sym typeface="+mn-ea"/>
              </a:rPr>
              <a:t> to evolve into </a:t>
            </a:r>
            <a:r>
              <a:rPr sz="2000" b="1" spc="-70" dirty="0">
                <a:solidFill>
                  <a:srgbClr val="000000">
                    <a:alpha val="100000"/>
                  </a:srgbClr>
                </a:solidFill>
                <a:latin typeface="Arial" panose="020B0604020202090204"/>
                <a:cs typeface="Arial" panose="020B0604020202090204"/>
                <a:sym typeface="+mn-ea"/>
              </a:rPr>
              <a:t>the final product or service</a:t>
            </a:r>
            <a:endParaRPr lang="en-US" altLang="en-US" sz="2000" b="1" spc="-70" dirty="0">
              <a:solidFill>
                <a:srgbClr val="000000">
                  <a:alpha val="100000"/>
                </a:srgbClr>
              </a:solidFill>
              <a:latin typeface="Arial" panose="020B0604020202090204"/>
              <a:cs typeface="Arial" panose="020B0604020202090204"/>
            </a:endParaRPr>
          </a:p>
          <a:p>
            <a:pPr marL="0" indent="0">
              <a:buNone/>
            </a:pPr>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60" dirty="0">
                <a:solidFill>
                  <a:srgbClr val="000000">
                    <a:alpha val="100000"/>
                  </a:srgbClr>
                </a:solidFill>
                <a:latin typeface="Arial" panose="020B0604020202090204"/>
                <a:ea typeface="Arial" panose="020B0604020202090204"/>
                <a:cs typeface="Arial" panose="020B0604020202090204"/>
                <a:sym typeface="+mn-ea"/>
              </a:rPr>
              <a:t>Joint Application Design (J</a:t>
            </a:r>
            <a:r>
              <a:rPr spc="-3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D</a:t>
            </a:r>
            <a:r>
              <a:rPr spc="-60" dirty="0">
                <a:solidFill>
                  <a:srgbClr val="000000">
                    <a:alpha val="100000"/>
                  </a:srgbClr>
                </a:solidFill>
                <a:latin typeface="Arial" panose="020B0604020202090204"/>
                <a:ea typeface="Arial" panose="020B0604020202090204"/>
                <a:cs typeface="Arial" panose="020B0604020202090204"/>
                <a:sym typeface="+mn-ea"/>
              </a:rPr>
              <a:t>)</a:t>
            </a:r>
            <a:br>
              <a:rPr lang="en-US" altLang="en-US" dirty="0"/>
            </a:br>
            <a:endParaRPr lang="en-US"/>
          </a:p>
        </p:txBody>
      </p:sp>
      <p:sp>
        <p:nvSpPr>
          <p:cNvPr id="2" name="Content Placeholder 1"/>
          <p:cNvSpPr>
            <a:spLocks noGrp="1"/>
          </p:cNvSpPr>
          <p:nvPr>
            <p:ph idx="1"/>
          </p:nvPr>
        </p:nvSpPr>
        <p:spPr>
          <a:xfrm>
            <a:off x="646359" y="1386347"/>
            <a:ext cx="10709031" cy="4522839"/>
          </a:xfrm>
        </p:spPr>
        <p:txBody>
          <a:bodyPr>
            <a:normAutofit/>
          </a:bodyPr>
          <a:lstStyle/>
          <a:p>
            <a:pPr eaLnBrk="0">
              <a:lnSpc>
                <a:spcPct val="83000"/>
              </a:lnSpc>
            </a:pPr>
            <a:r>
              <a:rPr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Developed by Chuck Morris and Tony Crawford at IBM in lat</a:t>
            </a:r>
            <a:r>
              <a:rPr sz="24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 </a:t>
            </a: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1970</a:t>
            </a: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endParaRPr lang="en-US" altLang="en-US" sz="2400" dirty="0">
              <a:latin typeface="Arial" panose="020B0604020202020204" pitchFamily="34" charset="0"/>
              <a:cs typeface="Arial" panose="020B0604020202020204" pitchFamily="34" charset="0"/>
            </a:endParaRPr>
          </a:p>
          <a:p>
            <a:pPr marL="847090" lvl="2" indent="-285750" eaLnBrk="0">
              <a:lnSpc>
                <a:spcPct val="145000"/>
              </a:lnSpc>
              <a:spcBef>
                <a:spcPts val="265"/>
              </a:spcBef>
            </a:pPr>
            <a:r>
              <a:rPr lang="en-US" sz="20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a:t>
            </a:r>
            <a:r>
              <a:rPr sz="20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BM owned 90% of the computing market in the e</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arly</a:t>
            </a:r>
            <a:r>
              <a:rPr sz="20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1970</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  </a:t>
            </a:r>
          </a:p>
          <a:p>
            <a:pPr marL="298450" indent="-285750" eaLnBrk="0">
              <a:lnSpc>
                <a:spcPct val="145000"/>
              </a:lnSpc>
              <a:spcBef>
                <a:spcPts val="265"/>
              </a:spcBef>
            </a:pP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Bring </a:t>
            </a:r>
            <a:r>
              <a:rPr sz="2400" b="1"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users and developers </a:t>
            </a: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together to </a:t>
            </a:r>
            <a:r>
              <a:rPr sz="2400" b="1"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solve a </a:t>
            </a:r>
            <a:r>
              <a:rPr sz="2400" b="1"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p</a:t>
            </a:r>
            <a:r>
              <a:rPr sz="2400" b="1"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roblem </a:t>
            </a:r>
          </a:p>
          <a:p>
            <a:pPr marL="298450" indent="-285750" eaLnBrk="0">
              <a:lnSpc>
                <a:spcPct val="145000"/>
              </a:lnSpc>
              <a:spcBef>
                <a:spcPts val="265"/>
              </a:spcBef>
            </a:pP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Facilitated joint workshop</a:t>
            </a:r>
            <a:r>
              <a:rPr sz="24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endParaRPr lang="en-US" altLang="en-US" sz="2400" dirty="0">
              <a:latin typeface="Arial" panose="020B0604020202020204" pitchFamily="34" charset="0"/>
              <a:cs typeface="Arial" panose="020B0604020202020204" pitchFamily="34" charset="0"/>
            </a:endParaRPr>
          </a:p>
          <a:p>
            <a:pPr marL="756285" lvl="1" eaLnBrk="0">
              <a:lnSpc>
                <a:spcPts val="2880"/>
              </a:lnSpc>
              <a:spcBef>
                <a:spcPts val="1090"/>
              </a:spcBef>
            </a:pPr>
            <a:r>
              <a:rPr sz="2000" spc="-70" dirty="0">
                <a:solidFill>
                  <a:srgbClr val="000000">
                    <a:alpha val="100000"/>
                  </a:srgbClr>
                </a:solidFill>
                <a:latin typeface="Arial" panose="020B0604020202020204" pitchFamily="34" charset="0"/>
                <a:cs typeface="Arial" panose="020B0604020202020204" pitchFamily="34" charset="0"/>
                <a:sym typeface="+mn-ea"/>
              </a:rPr>
              <a:t>Small team of users and developers work </a:t>
            </a:r>
            <a:r>
              <a:rPr sz="2000" b="1" spc="-70" dirty="0">
                <a:solidFill>
                  <a:srgbClr val="000000">
                    <a:alpha val="100000"/>
                  </a:srgbClr>
                </a:solidFill>
                <a:latin typeface="Arial" panose="020B0604020202020204" pitchFamily="34" charset="0"/>
                <a:cs typeface="Arial" panose="020B0604020202020204" pitchFamily="34" charset="0"/>
                <a:sym typeface="+mn-ea"/>
              </a:rPr>
              <a:t>offsite for 1-5 days</a:t>
            </a:r>
            <a:endParaRPr lang="en-US" altLang="en-US" sz="2000" b="1" spc="-70" dirty="0">
              <a:solidFill>
                <a:srgbClr val="000000">
                  <a:alpha val="100000"/>
                </a:srgbClr>
              </a:solidFill>
              <a:latin typeface="Arial" panose="020B0604020202020204" pitchFamily="34" charset="0"/>
              <a:cs typeface="Arial" panose="020B0604020202020204" pitchFamily="34" charset="0"/>
            </a:endParaRPr>
          </a:p>
          <a:p>
            <a:pPr marL="756285" lvl="1" eaLnBrk="0">
              <a:lnSpc>
                <a:spcPts val="2980"/>
              </a:lnSpc>
              <a:spcBef>
                <a:spcPts val="1220"/>
              </a:spcBef>
            </a:pPr>
            <a:r>
              <a:rPr sz="2000" spc="-70" dirty="0">
                <a:solidFill>
                  <a:srgbClr val="000000">
                    <a:alpha val="100000"/>
                  </a:srgbClr>
                </a:solidFill>
                <a:latin typeface="Arial" panose="020B0604020202020204" pitchFamily="34" charset="0"/>
                <a:cs typeface="Arial" panose="020B0604020202020204" pitchFamily="34" charset="0"/>
                <a:sym typeface="+mn-ea"/>
              </a:rPr>
              <a:t>Focus on </a:t>
            </a:r>
            <a:r>
              <a:rPr sz="2000" b="1" spc="-70" dirty="0">
                <a:solidFill>
                  <a:srgbClr val="000000">
                    <a:alpha val="100000"/>
                  </a:srgbClr>
                </a:solidFill>
                <a:latin typeface="Arial" panose="020B0604020202020204" pitchFamily="34" charset="0"/>
                <a:cs typeface="Arial" panose="020B0604020202020204" pitchFamily="34" charset="0"/>
                <a:sym typeface="+mn-ea"/>
              </a:rPr>
              <a:t>most important features</a:t>
            </a:r>
            <a:endParaRPr lang="en-US" sz="2000" b="1" spc="-70" dirty="0">
              <a:solidFill>
                <a:srgbClr val="000000">
                  <a:alpha val="100000"/>
                </a:srgbClr>
              </a:solidFill>
              <a:latin typeface="Arial" panose="020B0604020202020204" pitchFamily="34" charset="0"/>
              <a:cs typeface="Arial" panose="020B0604020202020204" pitchFamily="34" charset="0"/>
              <a:sym typeface="+mn-ea"/>
            </a:endParaRPr>
          </a:p>
          <a:p>
            <a:pPr marL="756285" lvl="1" eaLnBrk="0">
              <a:lnSpc>
                <a:spcPts val="2980"/>
              </a:lnSpc>
              <a:spcBef>
                <a:spcPts val="1220"/>
              </a:spcBef>
            </a:pPr>
            <a:r>
              <a:rPr sz="2000" spc="-70" dirty="0">
                <a:solidFill>
                  <a:srgbClr val="000000">
                    <a:alpha val="100000"/>
                  </a:srgbClr>
                </a:solidFill>
                <a:latin typeface="Arial" panose="020B0604020202020204" pitchFamily="34" charset="0"/>
                <a:cs typeface="Arial" panose="020B0604020202020204" pitchFamily="34" charset="0"/>
                <a:sym typeface="+mn-ea"/>
              </a:rPr>
              <a:t>May create </a:t>
            </a:r>
            <a:r>
              <a:rPr sz="2000" b="1" spc="-70" dirty="0">
                <a:solidFill>
                  <a:srgbClr val="000000">
                    <a:alpha val="100000"/>
                  </a:srgbClr>
                </a:solidFill>
                <a:latin typeface="Arial" panose="020B0604020202020204" pitchFamily="34" charset="0"/>
                <a:cs typeface="Arial" panose="020B0604020202020204" pitchFamily="34" charset="0"/>
                <a:sym typeface="+mn-ea"/>
              </a:rPr>
              <a:t>low-fidelity prototypes</a:t>
            </a:r>
            <a:endParaRPr lang="en-US" sz="2000" b="1" spc="-70" dirty="0">
              <a:solidFill>
                <a:srgbClr val="000000">
                  <a:alpha val="100000"/>
                </a:srgbClr>
              </a:solidFill>
              <a:latin typeface="Arial" panose="020B0604020202020204" pitchFamily="34" charset="0"/>
              <a:cs typeface="Arial" panose="020B0604020202020204" pitchFamily="34" charset="0"/>
              <a:sym typeface="+mn-ea"/>
            </a:endParaRPr>
          </a:p>
          <a:p>
            <a:pPr marL="756285" lvl="1" eaLnBrk="0">
              <a:lnSpc>
                <a:spcPts val="2980"/>
              </a:lnSpc>
              <a:spcBef>
                <a:spcPts val="1220"/>
              </a:spcBef>
            </a:pPr>
            <a:r>
              <a:rPr sz="2000" spc="-70" dirty="0">
                <a:solidFill>
                  <a:srgbClr val="000000">
                    <a:alpha val="100000"/>
                  </a:srgbClr>
                </a:solidFill>
                <a:latin typeface="Arial" panose="020B0604020202020204" pitchFamily="34" charset="0"/>
                <a:cs typeface="Arial" panose="020B0604020202020204" pitchFamily="34" charset="0"/>
                <a:sym typeface="+mn-ea"/>
              </a:rPr>
              <a:t>May produce </a:t>
            </a:r>
            <a:r>
              <a:rPr sz="2000" b="1" spc="-70" dirty="0">
                <a:solidFill>
                  <a:srgbClr val="000000">
                    <a:alpha val="100000"/>
                  </a:srgbClr>
                </a:solidFill>
                <a:latin typeface="Arial" panose="020B0604020202020204" pitchFamily="34" charset="0"/>
                <a:cs typeface="Arial" panose="020B0604020202020204" pitchFamily="34" charset="0"/>
                <a:sym typeface="+mn-ea"/>
              </a:rPr>
              <a:t>detailed specifications </a:t>
            </a:r>
            <a:r>
              <a:rPr sz="20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of </a:t>
            </a:r>
            <a:r>
              <a:rPr sz="2000" b="1"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features and fun</a:t>
            </a:r>
            <a:r>
              <a:rPr sz="2000" b="1"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a:t>
            </a:r>
            <a:r>
              <a:rPr sz="2000" b="1"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tions</a:t>
            </a:r>
            <a:endParaRPr lang="en-US" sz="2000" b="1"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4614</TotalTime>
  <Words>2616</Words>
  <Application>Microsoft Office PowerPoint</Application>
  <PresentationFormat>Widescreen</PresentationFormat>
  <Paragraphs>338</Paragraphs>
  <Slides>42</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42</vt:i4>
      </vt:variant>
    </vt:vector>
  </HeadingPairs>
  <TitlesOfParts>
    <vt:vector size="54" baseType="lpstr">
      <vt:lpstr>Arial</vt:lpstr>
      <vt:lpstr>Arial Bold</vt:lpstr>
      <vt:lpstr>Arial,Bold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Today's topic</vt:lpstr>
      <vt:lpstr>Rapid: the precursor to Agile (1970s) </vt:lpstr>
      <vt:lpstr>Rapid: the precursor to Agile (1970s) </vt:lpstr>
      <vt:lpstr>Rapid: the precursor to Agile (1970s) </vt:lpstr>
      <vt:lpstr>Rapid: the precursor to Agile (1980s) </vt:lpstr>
      <vt:lpstr>Rapid: the precursor to Agile (1980s) </vt:lpstr>
      <vt:lpstr>Rapid Application Development (RAD) </vt:lpstr>
      <vt:lpstr>RAD Process </vt:lpstr>
      <vt:lpstr>RAD Techniques</vt:lpstr>
      <vt:lpstr>RAD Techniques</vt:lpstr>
      <vt:lpstr>Dynamic Systems Development Method       (DSDM)</vt:lpstr>
      <vt:lpstr>DSDM Principles</vt:lpstr>
      <vt:lpstr>DSDM Principles</vt:lpstr>
      <vt:lpstr> DSDM Process   </vt:lpstr>
      <vt:lpstr>Pre-project phase</vt:lpstr>
      <vt:lpstr>Pre-project phase</vt:lpstr>
      <vt:lpstr>Pre-project phase</vt:lpstr>
      <vt:lpstr>Feasibility Study </vt:lpstr>
      <vt:lpstr>Feasibility Study</vt:lpstr>
      <vt:lpstr>Feasibility Study</vt:lpstr>
      <vt:lpstr>Business Study </vt:lpstr>
      <vt:lpstr>Business Study</vt:lpstr>
      <vt:lpstr>Business Study</vt:lpstr>
      <vt:lpstr>Functional model iteration </vt:lpstr>
      <vt:lpstr>Functional Model Iteration</vt:lpstr>
      <vt:lpstr>Functional Model Iteration</vt:lpstr>
      <vt:lpstr>Design and build iteration</vt:lpstr>
      <vt:lpstr>Design and Build Iteration</vt:lpstr>
      <vt:lpstr>Design and Build Iteration</vt:lpstr>
      <vt:lpstr>Implementation </vt:lpstr>
      <vt:lpstr>Implementation</vt:lpstr>
      <vt:lpstr>Implementation</vt:lpstr>
      <vt:lpstr>Post-project phase </vt:lpstr>
      <vt:lpstr>Post-project phase</vt:lpstr>
      <vt:lpstr>Traditional development VS DSDM</vt:lpstr>
      <vt:lpstr>Core techniques of DSDM and RAD </vt:lpstr>
      <vt:lpstr>MoSCoW</vt:lpstr>
      <vt:lpstr>Time boxing </vt:lpstr>
      <vt:lpstr>Prototyping </vt:lpstr>
      <vt:lpstr>Joint Application Design (JAD)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148</cp:revision>
  <dcterms:created xsi:type="dcterms:W3CDTF">2022-09-29T21:34:22Z</dcterms:created>
  <dcterms:modified xsi:type="dcterms:W3CDTF">2026-03-26T20:40:06Z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2022-12-29T00:01:22Z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2fe43b8b-7a2b-4e2a-82ee-e5b9ee1c004d</vt:lpwstr>
  </property>
  <property fmtid="{D5CDD505-2E9C-101B-9397-08002B2CF9AE}" pid="9" name="MSIP_Label_a73fd474-4f3c-44ed-88fb-5cc4bd2471bf_ContentBits">
    <vt:lpwstr>0</vt:lpwstr>
  </property>
</Properties>
</file>