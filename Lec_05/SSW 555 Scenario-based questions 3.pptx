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80" r:id="rId2"/>
    <p:sldId id="940" r:id="rId3"/>
    <p:sldId id="941" r:id="rId4"/>
    <p:sldId id="956" r:id="rId5"/>
    <p:sldId id="957" r:id="rId6"/>
    <p:sldId id="958" r:id="rId7"/>
    <p:sldId id="959" r:id="rId8"/>
    <p:sldId id="960" r:id="rId9"/>
    <p:sldId id="961" r:id="rId10"/>
    <p:sldId id="962" r:id="rId11"/>
    <p:sldId id="963" r:id="rId12"/>
    <p:sldId id="964" r:id="rId13"/>
    <p:sldId id="965" r:id="rId14"/>
    <p:sldId id="966" r:id="rId15"/>
    <p:sldId id="967" r:id="rId16"/>
    <p:sldId id="968" r:id="rId17"/>
    <p:sldId id="969" r:id="rId18"/>
    <p:sldId id="970" r:id="rId19"/>
    <p:sldId id="971" r:id="rId20"/>
    <p:sldId id="972" r:id="rId21"/>
    <p:sldId id="973" r:id="rId22"/>
    <p:sldId id="974" r:id="rId23"/>
    <p:sldId id="975" r:id="rId24"/>
    <p:sldId id="976" r:id="rId25"/>
    <p:sldId id="977" r:id="rId26"/>
    <p:sldId id="978" r:id="rId27"/>
    <p:sldId id="846" r:id="rId28"/>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74" autoAdjust="0"/>
    <p:restoredTop sz="72607" autoAdjust="0"/>
  </p:normalViewPr>
  <p:slideViewPr>
    <p:cSldViewPr snapToGrid="0" snapToObjects="1">
      <p:cViewPr varScale="1">
        <p:scale>
          <a:sx n="80" d="100"/>
          <a:sy n="80" d="100"/>
        </p:scale>
        <p:origin x="147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4" y="2504926"/>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7" y="4591375"/>
            <a:ext cx="7041743"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1" y="5690091"/>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16213" y="6342039"/>
            <a:ext cx="1114407"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3"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06273" y="6342039"/>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53" y="0"/>
            <a:ext cx="11893551" cy="6858000"/>
          </a:xfrm>
          <a:prstGeom prst="rect">
            <a:avLst/>
          </a:prstGeom>
        </p:spPr>
      </p:pic>
      <p:sp>
        <p:nvSpPr>
          <p:cNvPr id="10"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9" y="6362191"/>
            <a:ext cx="1084591"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15" name="TextBox 14"/>
          <p:cNvSpPr txBox="1"/>
          <p:nvPr userDrawn="1"/>
        </p:nvSpPr>
        <p:spPr>
          <a:xfrm>
            <a:off x="912816" y="1325695"/>
            <a:ext cx="4215776" cy="5135445"/>
          </a:xfrm>
          <a:prstGeom prst="rect">
            <a:avLst/>
          </a:prstGeom>
          <a:noFill/>
        </p:spPr>
        <p:txBody>
          <a:bodyPr wrap="square" rtlCol="0">
            <a:spAutoFit/>
          </a:bodyPr>
          <a:lstStyle/>
          <a:p>
            <a:r>
              <a:rPr lang="en-US" sz="1800" b="1" dirty="0">
                <a:latin typeface="IBM Plex Sans" panose="020B0503050203000203" pitchFamily="34" charset="0"/>
              </a:rPr>
              <a:t>INSTRUCTIONS TO REPLACE IMAGE:</a:t>
            </a:r>
          </a:p>
          <a:p>
            <a:endParaRPr lang="en-US" sz="1800" b="1" dirty="0">
              <a:latin typeface="IBM Plex Sans" panose="020B0503050203000203" pitchFamily="34" charset="0"/>
            </a:endParaRPr>
          </a:p>
          <a:p>
            <a:pPr marL="342891" indent="-342891">
              <a:lnSpc>
                <a:spcPct val="150000"/>
              </a:lnSpc>
              <a:buFont typeface="+mj-lt"/>
              <a:buAutoNum type="arabicPeriod"/>
            </a:pPr>
            <a:r>
              <a:rPr lang="en-US" sz="1400" b="0" dirty="0">
                <a:latin typeface="IBM Plex Sans" panose="020B0503050203000203" pitchFamily="34" charset="0"/>
              </a:rPr>
              <a:t>Go to View&gt;Slide Master</a:t>
            </a:r>
          </a:p>
          <a:p>
            <a:pPr marL="342891" indent="-342891">
              <a:lnSpc>
                <a:spcPct val="150000"/>
              </a:lnSpc>
              <a:buFont typeface="+mj-lt"/>
              <a:buAutoNum type="arabicPeriod"/>
            </a:pPr>
            <a:r>
              <a:rPr lang="en-US" sz="1400" b="0" dirty="0">
                <a:latin typeface="IBM Plex Sans" panose="020B0503050203000203" pitchFamily="34" charset="0"/>
              </a:rPr>
              <a:t>Locate this layout and duplicate it</a:t>
            </a:r>
          </a:p>
          <a:p>
            <a:pPr marL="342891" indent="-342891">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891" indent="-342891">
              <a:lnSpc>
                <a:spcPct val="150000"/>
              </a:lnSpc>
              <a:buFont typeface="+mj-lt"/>
              <a:buAutoNum type="arabicPeriod"/>
            </a:pPr>
            <a:r>
              <a:rPr lang="en-US" sz="1400" b="0" dirty="0">
                <a:latin typeface="IBM Plex Sans" panose="020B0503050203000203" pitchFamily="34" charset="0"/>
              </a:rPr>
              <a:t>Scroll to “Change Picture”</a:t>
            </a:r>
          </a:p>
          <a:p>
            <a:pPr marL="342891" indent="-342891">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891" indent="-342891">
              <a:lnSpc>
                <a:spcPct val="150000"/>
              </a:lnSpc>
              <a:buFont typeface="+mj-lt"/>
              <a:buAutoNum type="arabicPeriod"/>
            </a:pPr>
            <a:r>
              <a:rPr lang="en-US" sz="1400" b="0" dirty="0">
                <a:latin typeface="IBM Plex Sans" panose="020B0503050203000203" pitchFamily="34" charset="0"/>
              </a:rPr>
              <a:t>Select desired image</a:t>
            </a:r>
          </a:p>
          <a:p>
            <a:pPr marL="342891" indent="-342891">
              <a:lnSpc>
                <a:spcPct val="150000"/>
              </a:lnSpc>
              <a:buFont typeface="+mj-lt"/>
              <a:buAutoNum type="arabicPeriod"/>
            </a:pPr>
            <a:r>
              <a:rPr lang="en-US" sz="1400" b="0" dirty="0">
                <a:latin typeface="IBM Plex Sans" panose="020B0503050203000203" pitchFamily="34" charset="0"/>
              </a:rPr>
              <a:t>Resize and crop image as necessary</a:t>
            </a:r>
          </a:p>
          <a:p>
            <a:pPr marL="342891" indent="-342891">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891" indent="-342891">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title" hasCustomPrompt="1"/>
          </p:nvPr>
        </p:nvSpPr>
        <p:spPr>
          <a:xfrm>
            <a:off x="6617373" y="974043"/>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6" y="5394971"/>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594" indent="-228594">
              <a:defRPr/>
            </a:lvl1pPr>
            <a:lvl2pPr marL="502907" indent="-228594">
              <a:buSzPct val="100000"/>
              <a:buFont typeface="System Font Regular"/>
              <a:buChar char="-"/>
              <a:defRPr/>
            </a:lvl2pPr>
            <a:lvl3pPr marL="777221" indent="-228594">
              <a:buSzPct val="100000"/>
              <a:buFont typeface="System Font Regular"/>
              <a:buChar char="-"/>
              <a:defRPr/>
            </a:lvl3pPr>
            <a:lvl4pPr marL="1005815" indent="-228594">
              <a:buSzPct val="100000"/>
              <a:buFont typeface="System Font Regular"/>
              <a:buChar char="-"/>
              <a:defRPr/>
            </a:lvl4pPr>
            <a:lvl5pPr marL="1280128" indent="-228594">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5" y="2202880"/>
            <a:ext cx="10709031" cy="387927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7"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7"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7"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7"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91"/>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45"/>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3"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3"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3"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3"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34"/>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34"/>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33"/>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33"/>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3"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6" y="3144278"/>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6" y="5170424"/>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with no Subhead">
    <p:spTree>
      <p:nvGrpSpPr>
        <p:cNvPr id="1" name=""/>
        <p:cNvGrpSpPr/>
        <p:nvPr/>
      </p:nvGrpSpPr>
      <p:grpSpPr>
        <a:xfrm>
          <a:off x="0" y="0"/>
          <a:ext cx="0" cy="0"/>
          <a:chOff x="0" y="0"/>
          <a:chExt cx="0" cy="0"/>
        </a:xfrm>
      </p:grpSpPr>
      <p:sp>
        <p:nvSpPr>
          <p:cNvPr id="3" name="Slide Number Placeholder 2"/>
          <p:cNvSpPr>
            <a:spLocks noGrp="1"/>
          </p:cNvSpPr>
          <p:nvPr>
            <p:ph type="sldNum" sz="quarter" idx="13"/>
          </p:nvPr>
        </p:nvSpPr>
        <p:spPr/>
        <p:txBody>
          <a:bodyPr/>
          <a:lstStyle/>
          <a:p>
            <a:fld id="{12342C3A-DD85-7843-B416-BD52AB030D59}" type="slidenum">
              <a:rPr lang="en-US" smtClean="0"/>
              <a:pPr/>
              <a:t>‹#›</a:t>
            </a:fld>
            <a:endParaRPr lang="en-US" dirty="0"/>
          </a:p>
        </p:txBody>
      </p:sp>
      <p:sp>
        <p:nvSpPr>
          <p:cNvPr id="6" name="Text Placeholder 2"/>
          <p:cNvSpPr>
            <a:spLocks noGrp="1"/>
          </p:cNvSpPr>
          <p:nvPr>
            <p:ph type="body" sz="quarter" idx="12" hasCustomPrompt="1"/>
          </p:nvPr>
        </p:nvSpPr>
        <p:spPr>
          <a:xfrm>
            <a:off x="302684" y="1112109"/>
            <a:ext cx="11588749" cy="4981786"/>
          </a:xfrm>
          <a:prstGeom prst="rect">
            <a:avLst/>
          </a:prstGeom>
        </p:spPr>
        <p:txBody>
          <a:bodyPr vert="horz"/>
          <a:lstStyle>
            <a:lvl1pPr marL="0" indent="0">
              <a:spcBef>
                <a:spcPts val="0"/>
              </a:spcBef>
              <a:spcAft>
                <a:spcPts val="1200"/>
              </a:spcAft>
              <a:buFontTx/>
              <a:buNone/>
              <a:defRPr sz="1600" b="0" i="0">
                <a:latin typeface="Arial"/>
                <a:cs typeface="Arial"/>
              </a:defRPr>
            </a:lvl1pPr>
            <a:lvl2pPr marL="457200" indent="0">
              <a:spcBef>
                <a:spcPts val="0"/>
              </a:spcBef>
              <a:spcAft>
                <a:spcPts val="1200"/>
              </a:spcAft>
              <a:buFontTx/>
              <a:buNone/>
              <a:defRPr sz="1600" b="0" i="0">
                <a:latin typeface="Arial"/>
                <a:cs typeface="Arial"/>
              </a:defRPr>
            </a:lvl2pPr>
            <a:lvl3pPr marL="914400" indent="0">
              <a:spcBef>
                <a:spcPts val="0"/>
              </a:spcBef>
              <a:spcAft>
                <a:spcPts val="1200"/>
              </a:spcAft>
              <a:buFontTx/>
              <a:buNone/>
              <a:defRPr sz="1400" b="0" i="0" baseline="0">
                <a:latin typeface="Arial"/>
                <a:cs typeface="Arial"/>
              </a:defRPr>
            </a:lvl3pPr>
            <a:lvl4pPr marL="1371600" indent="0">
              <a:spcBef>
                <a:spcPts val="0"/>
              </a:spcBef>
              <a:spcAft>
                <a:spcPts val="1200"/>
              </a:spcAft>
              <a:buFontTx/>
              <a:buNone/>
              <a:defRPr sz="1200" b="0" i="0" baseline="0">
                <a:latin typeface="Arial"/>
                <a:cs typeface="Arial"/>
              </a:defRPr>
            </a:lvl4pPr>
            <a:lvl5pPr marL="1828800" indent="0">
              <a:spcBef>
                <a:spcPts val="0"/>
              </a:spcBef>
              <a:spcAft>
                <a:spcPts val="1200"/>
              </a:spcAft>
              <a:buFontTx/>
              <a:buNone/>
              <a:defRPr sz="1000" b="0" i="0">
                <a:latin typeface="Arial"/>
                <a:cs typeface="Arial"/>
              </a:defRPr>
            </a:lvl5pPr>
          </a:lstStyle>
          <a:p>
            <a:pPr lvl="0"/>
            <a:r>
              <a:rPr lang="en-US" dirty="0"/>
              <a:t>Insert Text Here</a:t>
            </a:r>
          </a:p>
        </p:txBody>
      </p:sp>
      <p:sp>
        <p:nvSpPr>
          <p:cNvPr id="8" name="Title 1"/>
          <p:cNvSpPr>
            <a:spLocks noGrp="1"/>
          </p:cNvSpPr>
          <p:nvPr>
            <p:ph type="title" hasCustomPrompt="1"/>
          </p:nvPr>
        </p:nvSpPr>
        <p:spPr>
          <a:xfrm>
            <a:off x="302684" y="418354"/>
            <a:ext cx="9737787" cy="535863"/>
          </a:xfrm>
          <a:prstGeom prst="rect">
            <a:avLst/>
          </a:prstGeom>
        </p:spPr>
        <p:txBody>
          <a:bodyPr/>
          <a:lstStyle>
            <a:lvl1pPr>
              <a:defRPr sz="3000" b="1" i="0">
                <a:latin typeface="Arial"/>
                <a:cs typeface="Arial"/>
              </a:defRPr>
            </a:lvl1pPr>
          </a:lstStyle>
          <a:p>
            <a:r>
              <a:rPr lang="en-US" dirty="0"/>
              <a:t>Insert Slide Title</a:t>
            </a:r>
          </a:p>
        </p:txBody>
      </p:sp>
    </p:spTree>
    <p:extLst>
      <p:ext uri="{BB962C8B-B14F-4D97-AF65-F5344CB8AC3E}">
        <p14:creationId xmlns:p14="http://schemas.microsoft.com/office/powerpoint/2010/main" val="2515202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6"/>
          <a:stretch>
            <a:fillRect/>
          </a:stretch>
        </p:blipFill>
        <p:spPr>
          <a:xfrm>
            <a:off x="0" y="0"/>
            <a:ext cx="12192000" cy="6858000"/>
          </a:xfrm>
          <a:prstGeom prst="rect">
            <a:avLst/>
          </a:prstGeom>
        </p:spPr>
      </p:pic>
      <p:sp>
        <p:nvSpPr>
          <p:cNvPr id="2" name="Title Placeholder 1"/>
          <p:cNvSpPr>
            <a:spLocks noGrp="1"/>
          </p:cNvSpPr>
          <p:nvPr>
            <p:ph type="title"/>
          </p:nvPr>
        </p:nvSpPr>
        <p:spPr>
          <a:xfrm>
            <a:off x="644775" y="365129"/>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5"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6"/>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4" r:id="rId24"/>
  </p:sldLayoutIdLst>
  <p:hf hdr="0" ftr="0"/>
  <p:txStyles>
    <p:titleStyle>
      <a:lvl1pPr algn="l" defTabSz="913742"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594" indent="-228594" algn="l" defTabSz="913742"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07" indent="-228594" algn="l" defTabSz="913742"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21"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15"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28" indent="-228594" algn="l" defTabSz="913742"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537"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726"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914"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103"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42" rtl="0" eaLnBrk="1" latinLnBrk="0" hangingPunct="1">
        <a:defRPr sz="1800" kern="1200">
          <a:solidFill>
            <a:schemeClr val="tx1"/>
          </a:solidFill>
          <a:latin typeface="+mn-lt"/>
          <a:ea typeface="+mn-ea"/>
          <a:cs typeface="+mn-cs"/>
        </a:defRPr>
      </a:lvl1pPr>
      <a:lvl2pPr marL="457189" algn="l" defTabSz="913742" rtl="0" eaLnBrk="1" latinLnBrk="0" hangingPunct="1">
        <a:defRPr sz="1800" kern="1200">
          <a:solidFill>
            <a:schemeClr val="tx1"/>
          </a:solidFill>
          <a:latin typeface="+mn-lt"/>
          <a:ea typeface="+mn-ea"/>
          <a:cs typeface="+mn-cs"/>
        </a:defRPr>
      </a:lvl2pPr>
      <a:lvl3pPr marL="914377" algn="l" defTabSz="913742" rtl="0" eaLnBrk="1" latinLnBrk="0" hangingPunct="1">
        <a:defRPr sz="1800" kern="1200">
          <a:solidFill>
            <a:schemeClr val="tx1"/>
          </a:solidFill>
          <a:latin typeface="+mn-lt"/>
          <a:ea typeface="+mn-ea"/>
          <a:cs typeface="+mn-cs"/>
        </a:defRPr>
      </a:lvl3pPr>
      <a:lvl4pPr marL="1371566" algn="l" defTabSz="913742" rtl="0" eaLnBrk="1" latinLnBrk="0" hangingPunct="1">
        <a:defRPr sz="1800" kern="1200">
          <a:solidFill>
            <a:schemeClr val="tx1"/>
          </a:solidFill>
          <a:latin typeface="+mn-lt"/>
          <a:ea typeface="+mn-ea"/>
          <a:cs typeface="+mn-cs"/>
        </a:defRPr>
      </a:lvl4pPr>
      <a:lvl5pPr marL="1828754" algn="l" defTabSz="913742" rtl="0" eaLnBrk="1" latinLnBrk="0" hangingPunct="1">
        <a:defRPr sz="1800" kern="1200">
          <a:solidFill>
            <a:schemeClr val="tx1"/>
          </a:solidFill>
          <a:latin typeface="+mn-lt"/>
          <a:ea typeface="+mn-ea"/>
          <a:cs typeface="+mn-cs"/>
        </a:defRPr>
      </a:lvl5pPr>
      <a:lvl6pPr marL="2285943" algn="l" defTabSz="913742" rtl="0" eaLnBrk="1" latinLnBrk="0" hangingPunct="1">
        <a:defRPr sz="1800" kern="1200">
          <a:solidFill>
            <a:schemeClr val="tx1"/>
          </a:solidFill>
          <a:latin typeface="+mn-lt"/>
          <a:ea typeface="+mn-ea"/>
          <a:cs typeface="+mn-cs"/>
        </a:defRPr>
      </a:lvl6pPr>
      <a:lvl7pPr marL="2743131" algn="l" defTabSz="913742" rtl="0" eaLnBrk="1" latinLnBrk="0" hangingPunct="1">
        <a:defRPr sz="1800" kern="1200">
          <a:solidFill>
            <a:schemeClr val="tx1"/>
          </a:solidFill>
          <a:latin typeface="+mn-lt"/>
          <a:ea typeface="+mn-ea"/>
          <a:cs typeface="+mn-cs"/>
        </a:defRPr>
      </a:lvl7pPr>
      <a:lvl8pPr marL="3200320" algn="l" defTabSz="913742" rtl="0" eaLnBrk="1" latinLnBrk="0" hangingPunct="1">
        <a:defRPr sz="1800" kern="1200">
          <a:solidFill>
            <a:schemeClr val="tx1"/>
          </a:solidFill>
          <a:latin typeface="+mn-lt"/>
          <a:ea typeface="+mn-ea"/>
          <a:cs typeface="+mn-cs"/>
        </a:defRPr>
      </a:lvl8pPr>
      <a:lvl9pPr marL="3657509" algn="l" defTabSz="9137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3"/>
            <a:ext cx="8726171" cy="2061211"/>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50" y="3564437"/>
            <a:ext cx="7041743" cy="934635"/>
          </a:xfrm>
        </p:spPr>
        <p:txBody>
          <a:bodyPr>
            <a:normAutofit/>
          </a:bodyPr>
          <a:lstStyle/>
          <a:p>
            <a:pPr algn="l"/>
            <a:r>
              <a:rPr lang="en-US" sz="3200" b="1" dirty="0">
                <a:latin typeface="Arial Bold" panose="020B0604020202090204" charset="0"/>
              </a:rPr>
              <a:t>Scenario-based </a:t>
            </a:r>
            <a:r>
              <a:rPr lang="en-US" sz="3200" b="1">
                <a:latin typeface="Arial Bold" panose="020B0604020202090204" charset="0"/>
              </a:rPr>
              <a:t>questions 3</a:t>
            </a:r>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6" y="4726864"/>
            <a:ext cx="6854191"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and Enterprises </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914869" y="6474380"/>
            <a:ext cx="4131195" cy="230832"/>
          </a:xfrm>
        </p:spPr>
        <p:txBody>
          <a:bodyPr/>
          <a:lstStyle/>
          <a:p>
            <a:r>
              <a:rPr lang="en-US" sz="900" b="0" dirty="0"/>
              <a:t>This Lecture is based on material from Prof. Jim Rowland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88A9A4-25EA-78A9-2A9C-E746AFFF2904}"/>
              </a:ext>
            </a:extLst>
          </p:cNvPr>
          <p:cNvSpPr>
            <a:spLocks noGrp="1"/>
          </p:cNvSpPr>
          <p:nvPr>
            <p:ph type="sldNum" sz="quarter" idx="13"/>
          </p:nvPr>
        </p:nvSpPr>
        <p:spPr/>
        <p:txBody>
          <a:bodyPr/>
          <a:lstStyle/>
          <a:p>
            <a:fld id="{12342C3A-DD85-7843-B416-BD52AB030D59}" type="slidenum">
              <a:rPr lang="en-US" smtClean="0"/>
              <a:pPr/>
              <a:t>2</a:t>
            </a:fld>
            <a:endParaRPr lang="en-US" dirty="0"/>
          </a:p>
        </p:txBody>
      </p:sp>
      <p:sp>
        <p:nvSpPr>
          <p:cNvPr id="3" name="Text Placeholder 2">
            <a:extLst>
              <a:ext uri="{FF2B5EF4-FFF2-40B4-BE49-F238E27FC236}">
                <a16:creationId xmlns:a16="http://schemas.microsoft.com/office/drawing/2014/main" id="{8973CC4F-820B-7586-B9BA-208F083DE618}"/>
              </a:ext>
            </a:extLst>
          </p:cNvPr>
          <p:cNvSpPr>
            <a:spLocks noGrp="1"/>
          </p:cNvSpPr>
          <p:nvPr>
            <p:ph type="body" sz="quarter" idx="12"/>
          </p:nvPr>
        </p:nvSpPr>
        <p:spPr/>
        <p:txBody>
          <a:bodyPr>
            <a:normAutofit/>
          </a:bodyPr>
          <a:lstStyle/>
          <a:p>
            <a:r>
              <a:rPr lang="en-US" sz="2400" dirty="0"/>
              <a:t>Your development team works on a large project with multiple developers contributing to different parts of the application. How can implementing Continuous Integration (CI) help avoid integration issues in this scenario?</a:t>
            </a:r>
            <a:endParaRPr lang="en-US" sz="1800" dirty="0"/>
          </a:p>
        </p:txBody>
      </p:sp>
      <p:sp>
        <p:nvSpPr>
          <p:cNvPr id="4" name="Title 3">
            <a:extLst>
              <a:ext uri="{FF2B5EF4-FFF2-40B4-BE49-F238E27FC236}">
                <a16:creationId xmlns:a16="http://schemas.microsoft.com/office/drawing/2014/main" id="{CD80AB5C-E24C-7B7F-F5B4-8B8C3C1D42D9}"/>
              </a:ext>
            </a:extLst>
          </p:cNvPr>
          <p:cNvSpPr>
            <a:spLocks noGrp="1"/>
          </p:cNvSpPr>
          <p:nvPr>
            <p:ph type="title"/>
          </p:nvPr>
        </p:nvSpPr>
        <p:spPr/>
        <p:txBody>
          <a:bodyPr/>
          <a:lstStyle/>
          <a:p>
            <a:r>
              <a:rPr lang="en-US" dirty="0"/>
              <a:t>Scenario 1: Continuous Integration (CI)</a:t>
            </a:r>
          </a:p>
        </p:txBody>
      </p:sp>
    </p:spTree>
    <p:extLst>
      <p:ext uri="{BB962C8B-B14F-4D97-AF65-F5344CB8AC3E}">
        <p14:creationId xmlns:p14="http://schemas.microsoft.com/office/powerpoint/2010/main" val="3321895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26F0DA-4359-A774-77BE-34F8FF31E9F3}"/>
              </a:ext>
            </a:extLst>
          </p:cNvPr>
          <p:cNvSpPr>
            <a:spLocks noGrp="1"/>
          </p:cNvSpPr>
          <p:nvPr>
            <p:ph type="sldNum" sz="quarter" idx="13"/>
          </p:nvPr>
        </p:nvSpPr>
        <p:spPr/>
        <p:txBody>
          <a:bodyPr/>
          <a:lstStyle/>
          <a:p>
            <a:fld id="{12342C3A-DD85-7843-B416-BD52AB030D59}" type="slidenum">
              <a:rPr lang="en-US" smtClean="0"/>
              <a:pPr/>
              <a:t>3</a:t>
            </a:fld>
            <a:endParaRPr lang="en-US" dirty="0"/>
          </a:p>
        </p:txBody>
      </p:sp>
      <p:sp>
        <p:nvSpPr>
          <p:cNvPr id="3" name="Text Placeholder 2">
            <a:extLst>
              <a:ext uri="{FF2B5EF4-FFF2-40B4-BE49-F238E27FC236}">
                <a16:creationId xmlns:a16="http://schemas.microsoft.com/office/drawing/2014/main" id="{83438767-38AA-F4C2-F80D-E399A6F9E777}"/>
              </a:ext>
            </a:extLst>
          </p:cNvPr>
          <p:cNvSpPr>
            <a:spLocks noGrp="1"/>
          </p:cNvSpPr>
          <p:nvPr>
            <p:ph type="body" sz="quarter" idx="12"/>
          </p:nvPr>
        </p:nvSpPr>
        <p:spPr/>
        <p:txBody>
          <a:bodyPr>
            <a:normAutofit/>
          </a:bodyPr>
          <a:lstStyle/>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Frequent Merges:</a:t>
            </a:r>
            <a:r>
              <a:rPr lang="en-US" sz="2000" dirty="0"/>
              <a:t> CI ensures that developers integrate their changes into the main codebase frequently, at least several times a day, to detect integration problems early.</a:t>
            </a:r>
          </a:p>
          <a:p>
            <a:pPr marL="342900" indent="-342900">
              <a:buFont typeface="Arial" panose="020B0604020202020204" pitchFamily="34" charset="0"/>
              <a:buChar char="•"/>
            </a:pPr>
            <a:r>
              <a:rPr lang="en-US" sz="2000" b="1" dirty="0"/>
              <a:t>Automated Builds:</a:t>
            </a:r>
            <a:r>
              <a:rPr lang="en-US" sz="2000" dirty="0"/>
              <a:t> Automated build tools run every time a change is committed, verifying that new code integrates seamlessly with the existing codebase.</a:t>
            </a:r>
          </a:p>
          <a:p>
            <a:pPr marL="342900" indent="-342900">
              <a:buFont typeface="Arial" panose="020B0604020202020204" pitchFamily="34" charset="0"/>
              <a:buChar char="•"/>
            </a:pPr>
            <a:r>
              <a:rPr lang="en-US" sz="2000" b="1" dirty="0"/>
              <a:t>Quick Feedback:</a:t>
            </a:r>
            <a:r>
              <a:rPr lang="en-US" sz="2000" dirty="0"/>
              <a:t> Developers get quick feedback on their code, helping them to resolve conflicts or errors as soon as they appear rather than later in the development cycle.</a:t>
            </a:r>
          </a:p>
          <a:p>
            <a:pPr marL="342900" indent="-342900">
              <a:buFont typeface="Arial" panose="020B0604020202020204" pitchFamily="34" charset="0"/>
              <a:buChar char="•"/>
            </a:pPr>
            <a:r>
              <a:rPr lang="en-US" sz="2000" b="1" dirty="0"/>
              <a:t>Quality Assurance:</a:t>
            </a:r>
            <a:r>
              <a:rPr lang="en-US" sz="2000" dirty="0"/>
              <a:t> The process of integrating code often triggers automated unit tests, ensuring the quality and stability of the application after each change.</a:t>
            </a:r>
          </a:p>
          <a:p>
            <a:pPr marL="342900" indent="-342900">
              <a:buFont typeface="Arial" panose="020B0604020202020204" pitchFamily="34" charset="0"/>
              <a:buChar char="•"/>
            </a:pPr>
            <a:r>
              <a:rPr lang="en-US" sz="2000" b="1" dirty="0"/>
              <a:t>Reduced Risk:</a:t>
            </a:r>
            <a:r>
              <a:rPr lang="en-US" sz="2000" dirty="0"/>
              <a:t> Early identification of issues helps reduce the risk of large integration problems that might occur when waiting to merge all changes at once.</a:t>
            </a:r>
          </a:p>
          <a:p>
            <a:endParaRPr lang="en-US" sz="1800" dirty="0"/>
          </a:p>
        </p:txBody>
      </p:sp>
      <p:sp>
        <p:nvSpPr>
          <p:cNvPr id="4" name="Title 3">
            <a:extLst>
              <a:ext uri="{FF2B5EF4-FFF2-40B4-BE49-F238E27FC236}">
                <a16:creationId xmlns:a16="http://schemas.microsoft.com/office/drawing/2014/main" id="{CFFCC1D6-DFA6-EB8D-2E98-D6C755A747B9}"/>
              </a:ext>
            </a:extLst>
          </p:cNvPr>
          <p:cNvSpPr>
            <a:spLocks noGrp="1"/>
          </p:cNvSpPr>
          <p:nvPr>
            <p:ph type="title"/>
          </p:nvPr>
        </p:nvSpPr>
        <p:spPr/>
        <p:txBody>
          <a:bodyPr/>
          <a:lstStyle/>
          <a:p>
            <a:r>
              <a:rPr lang="en-US" dirty="0"/>
              <a:t>Scenario 1: Continuous Integration (CI)</a:t>
            </a:r>
          </a:p>
        </p:txBody>
      </p:sp>
    </p:spTree>
    <p:extLst>
      <p:ext uri="{BB962C8B-B14F-4D97-AF65-F5344CB8AC3E}">
        <p14:creationId xmlns:p14="http://schemas.microsoft.com/office/powerpoint/2010/main" val="1859730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059CB0-F1F5-1A8E-2DA1-36FD53223223}"/>
              </a:ext>
            </a:extLst>
          </p:cNvPr>
          <p:cNvSpPr>
            <a:spLocks noGrp="1"/>
          </p:cNvSpPr>
          <p:nvPr>
            <p:ph type="sldNum" sz="quarter" idx="13"/>
          </p:nvPr>
        </p:nvSpPr>
        <p:spPr/>
        <p:txBody>
          <a:bodyPr/>
          <a:lstStyle/>
          <a:p>
            <a:fld id="{12342C3A-DD85-7843-B416-BD52AB030D59}" type="slidenum">
              <a:rPr lang="en-US" smtClean="0"/>
              <a:pPr/>
              <a:t>4</a:t>
            </a:fld>
            <a:endParaRPr lang="en-US" dirty="0"/>
          </a:p>
        </p:txBody>
      </p:sp>
      <p:sp>
        <p:nvSpPr>
          <p:cNvPr id="3" name="Text Placeholder 2">
            <a:extLst>
              <a:ext uri="{FF2B5EF4-FFF2-40B4-BE49-F238E27FC236}">
                <a16:creationId xmlns:a16="http://schemas.microsoft.com/office/drawing/2014/main" id="{AE6C6434-A0A2-5ED4-2083-77EEDC88E727}"/>
              </a:ext>
            </a:extLst>
          </p:cNvPr>
          <p:cNvSpPr>
            <a:spLocks noGrp="1"/>
          </p:cNvSpPr>
          <p:nvPr>
            <p:ph type="body" sz="quarter" idx="12"/>
          </p:nvPr>
        </p:nvSpPr>
        <p:spPr/>
        <p:txBody>
          <a:bodyPr>
            <a:normAutofit/>
          </a:bodyPr>
          <a:lstStyle/>
          <a:p>
            <a:r>
              <a:rPr lang="en-US" sz="2400" dirty="0"/>
              <a:t>Imagine your company is working on an e-commerce platform. You’ve implemented Continuous Delivery (CD) but still have concerns about the reliability of frequent releases. How does CD help in ensuring the stability of your product?</a:t>
            </a:r>
          </a:p>
        </p:txBody>
      </p:sp>
      <p:sp>
        <p:nvSpPr>
          <p:cNvPr id="4" name="Title 3">
            <a:extLst>
              <a:ext uri="{FF2B5EF4-FFF2-40B4-BE49-F238E27FC236}">
                <a16:creationId xmlns:a16="http://schemas.microsoft.com/office/drawing/2014/main" id="{68643DB9-732F-79DF-381D-EAE6EC0F1A65}"/>
              </a:ext>
            </a:extLst>
          </p:cNvPr>
          <p:cNvSpPr>
            <a:spLocks noGrp="1"/>
          </p:cNvSpPr>
          <p:nvPr>
            <p:ph type="title"/>
          </p:nvPr>
        </p:nvSpPr>
        <p:spPr/>
        <p:txBody>
          <a:bodyPr/>
          <a:lstStyle/>
          <a:p>
            <a:r>
              <a:rPr lang="en-US" dirty="0"/>
              <a:t>Scenario 2: Continuous Delivery (CD)</a:t>
            </a:r>
          </a:p>
        </p:txBody>
      </p:sp>
    </p:spTree>
    <p:extLst>
      <p:ext uri="{BB962C8B-B14F-4D97-AF65-F5344CB8AC3E}">
        <p14:creationId xmlns:p14="http://schemas.microsoft.com/office/powerpoint/2010/main" val="2707409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38FEBE-09A0-B273-2F6E-2B1A06127654}"/>
              </a:ext>
            </a:extLst>
          </p:cNvPr>
          <p:cNvSpPr>
            <a:spLocks noGrp="1"/>
          </p:cNvSpPr>
          <p:nvPr>
            <p:ph type="sldNum" sz="quarter" idx="13"/>
          </p:nvPr>
        </p:nvSpPr>
        <p:spPr/>
        <p:txBody>
          <a:bodyPr/>
          <a:lstStyle/>
          <a:p>
            <a:fld id="{12342C3A-DD85-7843-B416-BD52AB030D59}" type="slidenum">
              <a:rPr lang="en-US" smtClean="0"/>
              <a:pPr/>
              <a:t>5</a:t>
            </a:fld>
            <a:endParaRPr lang="en-US" dirty="0"/>
          </a:p>
        </p:txBody>
      </p:sp>
      <p:sp>
        <p:nvSpPr>
          <p:cNvPr id="3" name="Text Placeholder 2">
            <a:extLst>
              <a:ext uri="{FF2B5EF4-FFF2-40B4-BE49-F238E27FC236}">
                <a16:creationId xmlns:a16="http://schemas.microsoft.com/office/drawing/2014/main" id="{DD756531-EDBF-89A1-9613-D4EF2524B476}"/>
              </a:ext>
            </a:extLst>
          </p:cNvPr>
          <p:cNvSpPr>
            <a:spLocks noGrp="1"/>
          </p:cNvSpPr>
          <p:nvPr>
            <p:ph type="body" sz="quarter" idx="12"/>
          </p:nvPr>
        </p:nvSpPr>
        <p:spPr/>
        <p:txBody>
          <a:bodyPr>
            <a:normAutofit/>
          </a:bodyPr>
          <a:lstStyle/>
          <a:p>
            <a:endParaRPr lang="en-US" sz="2000" dirty="0"/>
          </a:p>
          <a:p>
            <a:pPr marL="285750" indent="-285750">
              <a:buFont typeface="Arial" panose="020B0604020202020204" pitchFamily="34" charset="0"/>
              <a:buChar char="•"/>
            </a:pPr>
            <a:r>
              <a:rPr lang="en-US" sz="2000" b="1" dirty="0"/>
              <a:t>Automated Testing:</a:t>
            </a:r>
            <a:r>
              <a:rPr lang="en-US" sz="2000" dirty="0"/>
              <a:t> CD pipelines typically include automated testing stages that help detect issues before code reaches production, ensuring that only stable code is delivered.</a:t>
            </a:r>
          </a:p>
          <a:p>
            <a:pPr marL="285750" indent="-285750">
              <a:buFont typeface="Arial" panose="020B0604020202020204" pitchFamily="34" charset="0"/>
              <a:buChar char="•"/>
            </a:pPr>
            <a:r>
              <a:rPr lang="en-US" sz="2000" b="1" dirty="0"/>
              <a:t>Staging Environment:</a:t>
            </a:r>
            <a:r>
              <a:rPr lang="en-US" sz="2000" dirty="0"/>
              <a:t> Every change is deployed to a staging environment first, where it can be tested in an environment similar to production, mitigating potential risks.</a:t>
            </a:r>
          </a:p>
          <a:p>
            <a:pPr marL="285750" indent="-285750">
              <a:buFont typeface="Arial" panose="020B0604020202020204" pitchFamily="34" charset="0"/>
              <a:buChar char="•"/>
            </a:pPr>
            <a:r>
              <a:rPr lang="en-US" sz="2000" b="1" dirty="0"/>
              <a:t>Quick Rollbacks:</a:t>
            </a:r>
            <a:r>
              <a:rPr lang="en-US" sz="2000" dirty="0"/>
              <a:t> If any issue occurs in the production environment, CD enables a quick rollback to the previous stable version without major downtime.</a:t>
            </a:r>
          </a:p>
          <a:p>
            <a:pPr marL="285750" indent="-285750">
              <a:buFont typeface="Arial" panose="020B0604020202020204" pitchFamily="34" charset="0"/>
              <a:buChar char="•"/>
            </a:pPr>
            <a:r>
              <a:rPr lang="en-US" sz="2000" b="1" dirty="0"/>
              <a:t>Smaller Releases:</a:t>
            </a:r>
            <a:r>
              <a:rPr lang="en-US" sz="2000" dirty="0"/>
              <a:t> Frequent, smaller releases mean that each update is smaller and more manageable, allowing for easier identification and fixing of issues.</a:t>
            </a:r>
          </a:p>
          <a:p>
            <a:pPr marL="285750" indent="-285750">
              <a:buFont typeface="Arial" panose="020B0604020202020204" pitchFamily="34" charset="0"/>
              <a:buChar char="•"/>
            </a:pPr>
            <a:r>
              <a:rPr lang="en-US" sz="2000" b="1" dirty="0"/>
              <a:t>Reduced Deployment Stress:</a:t>
            </a:r>
            <a:r>
              <a:rPr lang="en-US" sz="2000" dirty="0"/>
              <a:t> Automated deployments reduce the manual effort, and since releases are predictable, the risk of failure due to human error is minimized.</a:t>
            </a:r>
          </a:p>
          <a:p>
            <a:endParaRPr lang="en-US" sz="2000" dirty="0"/>
          </a:p>
        </p:txBody>
      </p:sp>
      <p:sp>
        <p:nvSpPr>
          <p:cNvPr id="4" name="Title 3">
            <a:extLst>
              <a:ext uri="{FF2B5EF4-FFF2-40B4-BE49-F238E27FC236}">
                <a16:creationId xmlns:a16="http://schemas.microsoft.com/office/drawing/2014/main" id="{B570C408-EBC6-AC03-E978-AFE8D3627741}"/>
              </a:ext>
            </a:extLst>
          </p:cNvPr>
          <p:cNvSpPr>
            <a:spLocks noGrp="1"/>
          </p:cNvSpPr>
          <p:nvPr>
            <p:ph type="title"/>
          </p:nvPr>
        </p:nvSpPr>
        <p:spPr/>
        <p:txBody>
          <a:bodyPr/>
          <a:lstStyle/>
          <a:p>
            <a:r>
              <a:rPr lang="en-US" dirty="0"/>
              <a:t>Scenario 2: Continuous Delivery (CD)</a:t>
            </a:r>
          </a:p>
        </p:txBody>
      </p:sp>
    </p:spTree>
    <p:extLst>
      <p:ext uri="{BB962C8B-B14F-4D97-AF65-F5344CB8AC3E}">
        <p14:creationId xmlns:p14="http://schemas.microsoft.com/office/powerpoint/2010/main" val="2328778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6D6F2E-7384-C326-1B5D-5C66BC2C3BF1}"/>
              </a:ext>
            </a:extLst>
          </p:cNvPr>
          <p:cNvSpPr>
            <a:spLocks noGrp="1"/>
          </p:cNvSpPr>
          <p:nvPr>
            <p:ph type="sldNum" sz="quarter" idx="13"/>
          </p:nvPr>
        </p:nvSpPr>
        <p:spPr/>
        <p:txBody>
          <a:bodyPr/>
          <a:lstStyle/>
          <a:p>
            <a:fld id="{12342C3A-DD85-7843-B416-BD52AB030D59}" type="slidenum">
              <a:rPr lang="en-US" smtClean="0"/>
              <a:pPr/>
              <a:t>6</a:t>
            </a:fld>
            <a:endParaRPr lang="en-US" dirty="0"/>
          </a:p>
        </p:txBody>
      </p:sp>
      <p:sp>
        <p:nvSpPr>
          <p:cNvPr id="3" name="Text Placeholder 2">
            <a:extLst>
              <a:ext uri="{FF2B5EF4-FFF2-40B4-BE49-F238E27FC236}">
                <a16:creationId xmlns:a16="http://schemas.microsoft.com/office/drawing/2014/main" id="{18CAD8DD-6A30-20B5-59F6-065037B1F618}"/>
              </a:ext>
            </a:extLst>
          </p:cNvPr>
          <p:cNvSpPr>
            <a:spLocks noGrp="1"/>
          </p:cNvSpPr>
          <p:nvPr>
            <p:ph type="body" sz="quarter" idx="12"/>
          </p:nvPr>
        </p:nvSpPr>
        <p:spPr/>
        <p:txBody>
          <a:bodyPr>
            <a:normAutofit/>
          </a:bodyPr>
          <a:lstStyle/>
          <a:p>
            <a:r>
              <a:rPr lang="en-US" sz="2400" dirty="0"/>
              <a:t>Your team has started using Pair Programming as part of your agile practice. However, some team members are skeptical about the effectiveness of having two people work on the same piece of code. How can you demonstrate the value of Pair Programming in this scenario?</a:t>
            </a:r>
          </a:p>
        </p:txBody>
      </p:sp>
      <p:sp>
        <p:nvSpPr>
          <p:cNvPr id="4" name="Title 3">
            <a:extLst>
              <a:ext uri="{FF2B5EF4-FFF2-40B4-BE49-F238E27FC236}">
                <a16:creationId xmlns:a16="http://schemas.microsoft.com/office/drawing/2014/main" id="{0D45C6A4-CFB8-9965-7CAE-D8E2F4CD45BA}"/>
              </a:ext>
            </a:extLst>
          </p:cNvPr>
          <p:cNvSpPr>
            <a:spLocks noGrp="1"/>
          </p:cNvSpPr>
          <p:nvPr>
            <p:ph type="title"/>
          </p:nvPr>
        </p:nvSpPr>
        <p:spPr/>
        <p:txBody>
          <a:bodyPr/>
          <a:lstStyle/>
          <a:p>
            <a:r>
              <a:rPr lang="en-US" dirty="0"/>
              <a:t>Scenario 3: Pair Programming</a:t>
            </a:r>
          </a:p>
        </p:txBody>
      </p:sp>
    </p:spTree>
    <p:extLst>
      <p:ext uri="{BB962C8B-B14F-4D97-AF65-F5344CB8AC3E}">
        <p14:creationId xmlns:p14="http://schemas.microsoft.com/office/powerpoint/2010/main" val="3792448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277339-DED8-6C6D-AC71-AB9375E353B1}"/>
              </a:ext>
            </a:extLst>
          </p:cNvPr>
          <p:cNvSpPr>
            <a:spLocks noGrp="1"/>
          </p:cNvSpPr>
          <p:nvPr>
            <p:ph type="sldNum" sz="quarter" idx="13"/>
          </p:nvPr>
        </p:nvSpPr>
        <p:spPr/>
        <p:txBody>
          <a:bodyPr/>
          <a:lstStyle/>
          <a:p>
            <a:fld id="{12342C3A-DD85-7843-B416-BD52AB030D59}" type="slidenum">
              <a:rPr lang="en-US" smtClean="0"/>
              <a:pPr/>
              <a:t>7</a:t>
            </a:fld>
            <a:endParaRPr lang="en-US" dirty="0"/>
          </a:p>
        </p:txBody>
      </p:sp>
      <p:sp>
        <p:nvSpPr>
          <p:cNvPr id="3" name="Text Placeholder 2">
            <a:extLst>
              <a:ext uri="{FF2B5EF4-FFF2-40B4-BE49-F238E27FC236}">
                <a16:creationId xmlns:a16="http://schemas.microsoft.com/office/drawing/2014/main" id="{742DF3E3-9ED6-FD8B-F807-5986476DC604}"/>
              </a:ext>
            </a:extLst>
          </p:cNvPr>
          <p:cNvSpPr>
            <a:spLocks noGrp="1"/>
          </p:cNvSpPr>
          <p:nvPr>
            <p:ph type="body" sz="quarter" idx="12"/>
          </p:nvPr>
        </p:nvSpPr>
        <p:spPr/>
        <p:txBody>
          <a:bodyPr>
            <a:normAutofit/>
          </a:bodyPr>
          <a:lstStyle/>
          <a:p>
            <a:endParaRPr lang="en-US" sz="2000" dirty="0"/>
          </a:p>
          <a:p>
            <a:pPr marL="285750" indent="-285750">
              <a:buFont typeface="Arial" panose="020B0604020202020204" pitchFamily="34" charset="0"/>
              <a:buChar char="•"/>
            </a:pPr>
            <a:r>
              <a:rPr lang="en-US" sz="2000" b="1" dirty="0"/>
              <a:t>Improved Code Quality:</a:t>
            </a:r>
            <a:r>
              <a:rPr lang="en-US" sz="2000" dirty="0"/>
              <a:t> With two people reviewing the code in real-time, the chances of catching bugs, design flaws, or edge cases early increase significantly, leading to higher quality code.</a:t>
            </a:r>
          </a:p>
          <a:p>
            <a:pPr marL="285750" indent="-285750">
              <a:buFont typeface="Arial" panose="020B0604020202020204" pitchFamily="34" charset="0"/>
              <a:buChar char="•"/>
            </a:pPr>
            <a:r>
              <a:rPr lang="en-US" sz="2000" b="1" dirty="0"/>
              <a:t>Knowledge Sharing:</a:t>
            </a:r>
            <a:r>
              <a:rPr lang="en-US" sz="2000" dirty="0"/>
              <a:t> Pair Programming facilitates knowledge transfer between team members, especially for less experienced developers who can learn best practices from their more experienced peers.</a:t>
            </a:r>
          </a:p>
          <a:p>
            <a:pPr marL="285750" indent="-285750">
              <a:buFont typeface="Arial" panose="020B0604020202020204" pitchFamily="34" charset="0"/>
              <a:buChar char="•"/>
            </a:pPr>
            <a:r>
              <a:rPr lang="en-US" sz="2000" b="1" dirty="0"/>
              <a:t>Faster Problem Solving:</a:t>
            </a:r>
            <a:r>
              <a:rPr lang="en-US" sz="2000" dirty="0"/>
              <a:t> The combination of two minds working together often leads to faster problem-solving and brainstorming, speeding up development time.</a:t>
            </a:r>
          </a:p>
          <a:p>
            <a:pPr marL="285750" indent="-285750">
              <a:buFont typeface="Arial" panose="020B0604020202020204" pitchFamily="34" charset="0"/>
              <a:buChar char="•"/>
            </a:pPr>
            <a:r>
              <a:rPr lang="en-US" sz="2000" b="1" dirty="0"/>
              <a:t>Reduced Knowledge Silos:</a:t>
            </a:r>
            <a:r>
              <a:rPr lang="en-US" sz="2000" dirty="0"/>
              <a:t> By having multiple developers working on the same code, the team avoids knowledge silos and makes sure more people are familiar with the codebase.</a:t>
            </a:r>
          </a:p>
          <a:p>
            <a:pPr marL="285750" indent="-285750">
              <a:buFont typeface="Arial" panose="020B0604020202020204" pitchFamily="34" charset="0"/>
              <a:buChar char="•"/>
            </a:pPr>
            <a:r>
              <a:rPr lang="en-US" sz="2000" b="1" dirty="0"/>
              <a:t>Continuous Feedback:</a:t>
            </a:r>
            <a:r>
              <a:rPr lang="en-US" sz="2000" dirty="0"/>
              <a:t> Instant feedback from your pair programmer allows for quick course correction, avoiding the need for lengthy code reviews later in the process.</a:t>
            </a:r>
          </a:p>
          <a:p>
            <a:endParaRPr lang="en-US" sz="2000" dirty="0"/>
          </a:p>
        </p:txBody>
      </p:sp>
      <p:sp>
        <p:nvSpPr>
          <p:cNvPr id="4" name="Title 3">
            <a:extLst>
              <a:ext uri="{FF2B5EF4-FFF2-40B4-BE49-F238E27FC236}">
                <a16:creationId xmlns:a16="http://schemas.microsoft.com/office/drawing/2014/main" id="{1B85FE13-4212-8814-5386-685708A3781B}"/>
              </a:ext>
            </a:extLst>
          </p:cNvPr>
          <p:cNvSpPr>
            <a:spLocks noGrp="1"/>
          </p:cNvSpPr>
          <p:nvPr>
            <p:ph type="title"/>
          </p:nvPr>
        </p:nvSpPr>
        <p:spPr/>
        <p:txBody>
          <a:bodyPr/>
          <a:lstStyle/>
          <a:p>
            <a:r>
              <a:rPr lang="en-US" dirty="0"/>
              <a:t>Scenario 3: Pair Programming</a:t>
            </a:r>
          </a:p>
        </p:txBody>
      </p:sp>
    </p:spTree>
    <p:extLst>
      <p:ext uri="{BB962C8B-B14F-4D97-AF65-F5344CB8AC3E}">
        <p14:creationId xmlns:p14="http://schemas.microsoft.com/office/powerpoint/2010/main" val="1031590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64D447-53AC-8D2B-AF3E-6C81A7ABD888}"/>
              </a:ext>
            </a:extLst>
          </p:cNvPr>
          <p:cNvSpPr>
            <a:spLocks noGrp="1"/>
          </p:cNvSpPr>
          <p:nvPr>
            <p:ph type="sldNum" sz="quarter" idx="13"/>
          </p:nvPr>
        </p:nvSpPr>
        <p:spPr/>
        <p:txBody>
          <a:bodyPr/>
          <a:lstStyle/>
          <a:p>
            <a:fld id="{12342C3A-DD85-7843-B416-BD52AB030D59}" type="slidenum">
              <a:rPr lang="en-US" smtClean="0"/>
              <a:pPr/>
              <a:t>8</a:t>
            </a:fld>
            <a:endParaRPr lang="en-US" dirty="0"/>
          </a:p>
        </p:txBody>
      </p:sp>
      <p:sp>
        <p:nvSpPr>
          <p:cNvPr id="3" name="Text Placeholder 2">
            <a:extLst>
              <a:ext uri="{FF2B5EF4-FFF2-40B4-BE49-F238E27FC236}">
                <a16:creationId xmlns:a16="http://schemas.microsoft.com/office/drawing/2014/main" id="{2F9015E4-E65B-2705-F37B-2AB063F34D98}"/>
              </a:ext>
            </a:extLst>
          </p:cNvPr>
          <p:cNvSpPr>
            <a:spLocks noGrp="1"/>
          </p:cNvSpPr>
          <p:nvPr>
            <p:ph type="body" sz="quarter" idx="12"/>
          </p:nvPr>
        </p:nvSpPr>
        <p:spPr/>
        <p:txBody>
          <a:bodyPr>
            <a:normAutofit/>
          </a:bodyPr>
          <a:lstStyle/>
          <a:p>
            <a:r>
              <a:rPr lang="en-US" sz="2400" dirty="0"/>
              <a:t>Your company is transitioning from traditional development methods to a DevOps approach with CI/CD pipelines. What are some challenges you might face during the implementation, and how can you address them?</a:t>
            </a:r>
          </a:p>
        </p:txBody>
      </p:sp>
      <p:sp>
        <p:nvSpPr>
          <p:cNvPr id="4" name="Title 3">
            <a:extLst>
              <a:ext uri="{FF2B5EF4-FFF2-40B4-BE49-F238E27FC236}">
                <a16:creationId xmlns:a16="http://schemas.microsoft.com/office/drawing/2014/main" id="{6C9D4B6A-3A7F-7E94-B335-9B6A85218BD8}"/>
              </a:ext>
            </a:extLst>
          </p:cNvPr>
          <p:cNvSpPr>
            <a:spLocks noGrp="1"/>
          </p:cNvSpPr>
          <p:nvPr>
            <p:ph type="title"/>
          </p:nvPr>
        </p:nvSpPr>
        <p:spPr/>
        <p:txBody>
          <a:bodyPr/>
          <a:lstStyle/>
          <a:p>
            <a:r>
              <a:rPr lang="en-US" dirty="0"/>
              <a:t>Scenario 4: CI/CD Pipeline Implementation</a:t>
            </a:r>
          </a:p>
        </p:txBody>
      </p:sp>
    </p:spTree>
    <p:extLst>
      <p:ext uri="{BB962C8B-B14F-4D97-AF65-F5344CB8AC3E}">
        <p14:creationId xmlns:p14="http://schemas.microsoft.com/office/powerpoint/2010/main" val="1249636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564F20-FA5A-2C9E-35F8-85BBF8D08799}"/>
              </a:ext>
            </a:extLst>
          </p:cNvPr>
          <p:cNvSpPr>
            <a:spLocks noGrp="1"/>
          </p:cNvSpPr>
          <p:nvPr>
            <p:ph type="sldNum" sz="quarter" idx="13"/>
          </p:nvPr>
        </p:nvSpPr>
        <p:spPr/>
        <p:txBody>
          <a:bodyPr/>
          <a:lstStyle/>
          <a:p>
            <a:fld id="{12342C3A-DD85-7843-B416-BD52AB030D59}" type="slidenum">
              <a:rPr lang="en-US" smtClean="0"/>
              <a:pPr/>
              <a:t>9</a:t>
            </a:fld>
            <a:endParaRPr lang="en-US" dirty="0"/>
          </a:p>
        </p:txBody>
      </p:sp>
      <p:sp>
        <p:nvSpPr>
          <p:cNvPr id="3" name="Text Placeholder 2">
            <a:extLst>
              <a:ext uri="{FF2B5EF4-FFF2-40B4-BE49-F238E27FC236}">
                <a16:creationId xmlns:a16="http://schemas.microsoft.com/office/drawing/2014/main" id="{E7B25F66-D333-7A05-1E2C-654CFF5619BD}"/>
              </a:ext>
            </a:extLst>
          </p:cNvPr>
          <p:cNvSpPr>
            <a:spLocks noGrp="1"/>
          </p:cNvSpPr>
          <p:nvPr>
            <p:ph type="body" sz="quarter" idx="12"/>
          </p:nvPr>
        </p:nvSpPr>
        <p:spPr/>
        <p:txBody>
          <a:bodyPr>
            <a:normAutofit/>
          </a:bodyPr>
          <a:lstStyle/>
          <a:p>
            <a:pPr marL="285750" indent="-285750">
              <a:buFont typeface="Arial" panose="020B0604020202020204" pitchFamily="34" charset="0"/>
              <a:buChar char="•"/>
            </a:pPr>
            <a:r>
              <a:rPr lang="en-US" sz="2000" b="1" dirty="0"/>
              <a:t>Challenge: Resistance to Change</a:t>
            </a:r>
          </a:p>
          <a:p>
            <a:pPr marL="742950" lvl="1" indent="-285750">
              <a:buFont typeface="Arial" panose="020B0604020202020204" pitchFamily="34" charset="0"/>
              <a:buChar char="•"/>
            </a:pPr>
            <a:r>
              <a:rPr lang="en-US" sz="2000" b="1" dirty="0"/>
              <a:t>Solution:</a:t>
            </a:r>
            <a:r>
              <a:rPr lang="en-US" sz="2000" dirty="0"/>
              <a:t> Provide training to the team to help them understand the benefits of CI/CD, and gradually introduce the practice with small projects before scaling.</a:t>
            </a:r>
          </a:p>
          <a:p>
            <a:pPr marL="285750" indent="-285750">
              <a:buFont typeface="Arial" panose="020B0604020202020204" pitchFamily="34" charset="0"/>
              <a:buChar char="•"/>
            </a:pPr>
            <a:r>
              <a:rPr lang="en-US" sz="2000" b="1" dirty="0"/>
              <a:t>Challenge: Tool Integration</a:t>
            </a:r>
          </a:p>
          <a:p>
            <a:pPr marL="742950" lvl="1" indent="-285750">
              <a:buFont typeface="Arial" panose="020B0604020202020204" pitchFamily="34" charset="0"/>
              <a:buChar char="•"/>
            </a:pPr>
            <a:r>
              <a:rPr lang="en-US" sz="2000" b="1" dirty="0"/>
              <a:t>Solution:</a:t>
            </a:r>
            <a:r>
              <a:rPr lang="en-US" sz="2000" dirty="0"/>
              <a:t> Choose tools that align with your existing development stack and ensure they can integrate seamlessly with each other to avoid friction in the process.</a:t>
            </a:r>
          </a:p>
          <a:p>
            <a:pPr marL="285750" indent="-285750">
              <a:buFont typeface="Arial" panose="020B0604020202020204" pitchFamily="34" charset="0"/>
              <a:buChar char="•"/>
            </a:pPr>
            <a:r>
              <a:rPr lang="en-US" sz="2000" b="1" dirty="0"/>
              <a:t>Challenge: Lack of Automated Tests</a:t>
            </a:r>
          </a:p>
          <a:p>
            <a:pPr marL="742950" lvl="1" indent="-285750">
              <a:buFont typeface="Arial" panose="020B0604020202020204" pitchFamily="34" charset="0"/>
              <a:buChar char="•"/>
            </a:pPr>
            <a:r>
              <a:rPr lang="en-US" sz="2000" b="1" dirty="0"/>
              <a:t>Solution:</a:t>
            </a:r>
            <a:r>
              <a:rPr lang="en-US" sz="2000" dirty="0"/>
              <a:t> Invest time in writing comprehensive unit and integration tests before implementing CI/CD pipelines to ensure reliable automated builds and deployments.</a:t>
            </a:r>
          </a:p>
          <a:p>
            <a:endParaRPr lang="en-US" sz="2000" dirty="0"/>
          </a:p>
        </p:txBody>
      </p:sp>
      <p:sp>
        <p:nvSpPr>
          <p:cNvPr id="4" name="Title 3">
            <a:extLst>
              <a:ext uri="{FF2B5EF4-FFF2-40B4-BE49-F238E27FC236}">
                <a16:creationId xmlns:a16="http://schemas.microsoft.com/office/drawing/2014/main" id="{9B750B17-3A6C-A3D0-277A-319E85FC5988}"/>
              </a:ext>
            </a:extLst>
          </p:cNvPr>
          <p:cNvSpPr>
            <a:spLocks noGrp="1"/>
          </p:cNvSpPr>
          <p:nvPr>
            <p:ph type="title"/>
          </p:nvPr>
        </p:nvSpPr>
        <p:spPr/>
        <p:txBody>
          <a:bodyPr/>
          <a:lstStyle/>
          <a:p>
            <a:r>
              <a:rPr lang="en-US" dirty="0"/>
              <a:t>Scenario 4: CI/CD Pipeline Implementation</a:t>
            </a:r>
          </a:p>
        </p:txBody>
      </p:sp>
    </p:spTree>
    <p:extLst>
      <p:ext uri="{BB962C8B-B14F-4D97-AF65-F5344CB8AC3E}">
        <p14:creationId xmlns:p14="http://schemas.microsoft.com/office/powerpoint/2010/main" val="1464034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1902F8-72CE-B132-9B13-F3FC3F7FD023}"/>
              </a:ext>
            </a:extLst>
          </p:cNvPr>
          <p:cNvSpPr>
            <a:spLocks noGrp="1"/>
          </p:cNvSpPr>
          <p:nvPr>
            <p:ph type="sldNum" sz="quarter" idx="13"/>
          </p:nvPr>
        </p:nvSpPr>
        <p:spPr/>
        <p:txBody>
          <a:bodyPr/>
          <a:lstStyle/>
          <a:p>
            <a:fld id="{12342C3A-DD85-7843-B416-BD52AB030D59}" type="slidenum">
              <a:rPr lang="en-US" smtClean="0"/>
              <a:pPr/>
              <a:t>10</a:t>
            </a:fld>
            <a:endParaRPr lang="en-US" dirty="0"/>
          </a:p>
        </p:txBody>
      </p:sp>
      <p:sp>
        <p:nvSpPr>
          <p:cNvPr id="3" name="Text Placeholder 2">
            <a:extLst>
              <a:ext uri="{FF2B5EF4-FFF2-40B4-BE49-F238E27FC236}">
                <a16:creationId xmlns:a16="http://schemas.microsoft.com/office/drawing/2014/main" id="{1DDEFF13-500C-8981-1D48-5472A89499A7}"/>
              </a:ext>
            </a:extLst>
          </p:cNvPr>
          <p:cNvSpPr>
            <a:spLocks noGrp="1"/>
          </p:cNvSpPr>
          <p:nvPr>
            <p:ph type="body" sz="quarter" idx="12"/>
          </p:nvPr>
        </p:nvSpPr>
        <p:spPr/>
        <p:txBody>
          <a:bodyPr>
            <a:normAutofit/>
          </a:bodyPr>
          <a:lstStyle/>
          <a:p>
            <a:pPr marL="285750" indent="-285750">
              <a:buFont typeface="Arial" panose="020B0604020202020204" pitchFamily="34" charset="0"/>
              <a:buChar char="•"/>
            </a:pPr>
            <a:r>
              <a:rPr lang="en-US" sz="2000" b="1" dirty="0"/>
              <a:t>Challenge: Pipeline Failures</a:t>
            </a:r>
          </a:p>
          <a:p>
            <a:pPr marL="742950" lvl="1" indent="-285750">
              <a:buFont typeface="Arial" panose="020B0604020202020204" pitchFamily="34" charset="0"/>
              <a:buChar char="•"/>
            </a:pPr>
            <a:r>
              <a:rPr lang="en-US" sz="2000" b="1" dirty="0"/>
              <a:t>Solution:</a:t>
            </a:r>
            <a:r>
              <a:rPr lang="en-US" sz="2000" dirty="0"/>
              <a:t> Monitor the CI/CD pipeline regularly and use tools to detect and alert for failed builds or deployments, ensuring quick action is taken to address the issues.</a:t>
            </a:r>
          </a:p>
          <a:p>
            <a:pPr marL="285750" indent="-285750">
              <a:buFont typeface="Arial" panose="020B0604020202020204" pitchFamily="34" charset="0"/>
              <a:buChar char="•"/>
            </a:pPr>
            <a:r>
              <a:rPr lang="en-US" sz="2000" b="1" dirty="0"/>
              <a:t>Challenge: Resource Constraints</a:t>
            </a:r>
          </a:p>
          <a:p>
            <a:pPr marL="742950" lvl="1" indent="-285750">
              <a:buFont typeface="Arial" panose="020B0604020202020204" pitchFamily="34" charset="0"/>
              <a:buChar char="•"/>
            </a:pPr>
            <a:r>
              <a:rPr lang="en-US" sz="2000" b="1" dirty="0"/>
              <a:t>Solution:</a:t>
            </a:r>
            <a:r>
              <a:rPr lang="en-US" sz="2000" dirty="0"/>
              <a:t> Start by implementing CI/CD on less critical projects or small teams and scale gradually as the team becomes more proficient.</a:t>
            </a:r>
          </a:p>
          <a:p>
            <a:endParaRPr lang="en-US" sz="2000" dirty="0"/>
          </a:p>
        </p:txBody>
      </p:sp>
      <p:sp>
        <p:nvSpPr>
          <p:cNvPr id="4" name="Title 3">
            <a:extLst>
              <a:ext uri="{FF2B5EF4-FFF2-40B4-BE49-F238E27FC236}">
                <a16:creationId xmlns:a16="http://schemas.microsoft.com/office/drawing/2014/main" id="{18E132D0-002D-5393-0D2E-F2D01BB765F1}"/>
              </a:ext>
            </a:extLst>
          </p:cNvPr>
          <p:cNvSpPr>
            <a:spLocks noGrp="1"/>
          </p:cNvSpPr>
          <p:nvPr>
            <p:ph type="title"/>
          </p:nvPr>
        </p:nvSpPr>
        <p:spPr/>
        <p:txBody>
          <a:bodyPr/>
          <a:lstStyle/>
          <a:p>
            <a:r>
              <a:rPr lang="en-US" dirty="0"/>
              <a:t>Scenario 4: CI/CD Pipeline Implementation</a:t>
            </a:r>
          </a:p>
        </p:txBody>
      </p:sp>
    </p:spTree>
    <p:extLst>
      <p:ext uri="{BB962C8B-B14F-4D97-AF65-F5344CB8AC3E}">
        <p14:creationId xmlns:p14="http://schemas.microsoft.com/office/powerpoint/2010/main" val="2425494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C8719F-8A56-27BE-8355-C7C6FD619828}"/>
              </a:ext>
            </a:extLst>
          </p:cNvPr>
          <p:cNvSpPr>
            <a:spLocks noGrp="1"/>
          </p:cNvSpPr>
          <p:nvPr>
            <p:ph type="sldNum" sz="quarter" idx="13"/>
          </p:nvPr>
        </p:nvSpPr>
        <p:spPr/>
        <p:txBody>
          <a:bodyPr/>
          <a:lstStyle/>
          <a:p>
            <a:fld id="{12342C3A-DD85-7843-B416-BD52AB030D59}" type="slidenum">
              <a:rPr lang="en-US" smtClean="0"/>
              <a:pPr/>
              <a:t>11</a:t>
            </a:fld>
            <a:endParaRPr lang="en-US" dirty="0"/>
          </a:p>
        </p:txBody>
      </p:sp>
      <p:sp>
        <p:nvSpPr>
          <p:cNvPr id="3" name="Text Placeholder 2">
            <a:extLst>
              <a:ext uri="{FF2B5EF4-FFF2-40B4-BE49-F238E27FC236}">
                <a16:creationId xmlns:a16="http://schemas.microsoft.com/office/drawing/2014/main" id="{8D78C38F-1076-7D38-8929-12A8E222FCA1}"/>
              </a:ext>
            </a:extLst>
          </p:cNvPr>
          <p:cNvSpPr>
            <a:spLocks noGrp="1"/>
          </p:cNvSpPr>
          <p:nvPr>
            <p:ph type="body" sz="quarter" idx="12"/>
          </p:nvPr>
        </p:nvSpPr>
        <p:spPr/>
        <p:txBody>
          <a:bodyPr>
            <a:normAutofit/>
          </a:bodyPr>
          <a:lstStyle/>
          <a:p>
            <a:r>
              <a:rPr lang="en-US" sz="2400" dirty="0"/>
              <a:t>Your team has transitioned to remote work, and you're considering how to implement Pair Programming effectively across different time zones. What strategies can you adopt to maintain collaboration and productivity in a remote setup?</a:t>
            </a:r>
          </a:p>
        </p:txBody>
      </p:sp>
      <p:sp>
        <p:nvSpPr>
          <p:cNvPr id="4" name="Title 3">
            <a:extLst>
              <a:ext uri="{FF2B5EF4-FFF2-40B4-BE49-F238E27FC236}">
                <a16:creationId xmlns:a16="http://schemas.microsoft.com/office/drawing/2014/main" id="{C419DD39-4517-5DDE-EBD1-2249B955575E}"/>
              </a:ext>
            </a:extLst>
          </p:cNvPr>
          <p:cNvSpPr>
            <a:spLocks noGrp="1"/>
          </p:cNvSpPr>
          <p:nvPr>
            <p:ph type="title"/>
          </p:nvPr>
        </p:nvSpPr>
        <p:spPr/>
        <p:txBody>
          <a:bodyPr/>
          <a:lstStyle/>
          <a:p>
            <a:r>
              <a:rPr lang="en-US" dirty="0"/>
              <a:t>Scenario 5: Pair Programming with Remote Teams</a:t>
            </a:r>
          </a:p>
        </p:txBody>
      </p:sp>
    </p:spTree>
    <p:extLst>
      <p:ext uri="{BB962C8B-B14F-4D97-AF65-F5344CB8AC3E}">
        <p14:creationId xmlns:p14="http://schemas.microsoft.com/office/powerpoint/2010/main" val="2027003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09E51B-24C8-3C04-B6C1-17A3A2AA124B}"/>
              </a:ext>
            </a:extLst>
          </p:cNvPr>
          <p:cNvSpPr>
            <a:spLocks noGrp="1"/>
          </p:cNvSpPr>
          <p:nvPr>
            <p:ph type="sldNum" sz="quarter" idx="13"/>
          </p:nvPr>
        </p:nvSpPr>
        <p:spPr/>
        <p:txBody>
          <a:bodyPr/>
          <a:lstStyle/>
          <a:p>
            <a:fld id="{12342C3A-DD85-7843-B416-BD52AB030D59}" type="slidenum">
              <a:rPr lang="en-US" smtClean="0"/>
              <a:pPr/>
              <a:t>12</a:t>
            </a:fld>
            <a:endParaRPr lang="en-US" dirty="0"/>
          </a:p>
        </p:txBody>
      </p:sp>
      <p:sp>
        <p:nvSpPr>
          <p:cNvPr id="3" name="Text Placeholder 2">
            <a:extLst>
              <a:ext uri="{FF2B5EF4-FFF2-40B4-BE49-F238E27FC236}">
                <a16:creationId xmlns:a16="http://schemas.microsoft.com/office/drawing/2014/main" id="{CACB3B3D-A4DF-3935-93A1-A94592071DB0}"/>
              </a:ext>
            </a:extLst>
          </p:cNvPr>
          <p:cNvSpPr>
            <a:spLocks noGrp="1"/>
          </p:cNvSpPr>
          <p:nvPr>
            <p:ph type="body" sz="quarter" idx="12"/>
          </p:nvPr>
        </p:nvSpPr>
        <p:spPr/>
        <p:txBody>
          <a:bodyPr>
            <a:normAutofit/>
          </a:bodyPr>
          <a:lstStyle/>
          <a:p>
            <a:pPr marL="342900" indent="-342900">
              <a:buFont typeface="Arial" panose="020B0604020202020204" pitchFamily="34" charset="0"/>
              <a:buChar char="•"/>
            </a:pPr>
            <a:r>
              <a:rPr lang="en-US" sz="2000" b="1" dirty="0"/>
              <a:t>Use Pair Programming Tools:</a:t>
            </a:r>
            <a:r>
              <a:rPr lang="en-US" sz="2000" dirty="0"/>
              <a:t> Leverage online collaborative IDEs (Integrated Development Environments) such as Visual Studio Live Share or Tuple, which allow developers to share their screens and code in real-time.</a:t>
            </a:r>
          </a:p>
          <a:p>
            <a:pPr marL="285750" indent="-285750">
              <a:buFont typeface="Arial" panose="020B0604020202020204" pitchFamily="34" charset="0"/>
              <a:buChar char="•"/>
            </a:pPr>
            <a:r>
              <a:rPr lang="en-US" sz="2000" b="1" dirty="0"/>
              <a:t>Asynchronous Pairing:</a:t>
            </a:r>
            <a:r>
              <a:rPr lang="en-US" sz="2000" dirty="0"/>
              <a:t> For teams in different time zones, consider implementing "asynchronous pairing" where one developer writes code and the other reviews it during their working hours. Use tools like GitHub and pull requests to facilitate this.</a:t>
            </a:r>
          </a:p>
          <a:p>
            <a:pPr marL="285750" indent="-285750">
              <a:buFont typeface="Arial" panose="020B0604020202020204" pitchFamily="34" charset="0"/>
              <a:buChar char="•"/>
            </a:pPr>
            <a:r>
              <a:rPr lang="en-US" sz="2000" b="1" dirty="0"/>
              <a:t>Time Slot Coordination:</a:t>
            </a:r>
            <a:r>
              <a:rPr lang="en-US" sz="2000" dirty="0"/>
              <a:t> Schedule dedicated overlap hours where both developers can work together in real-time, ensuring they have regular face-to-face (or video) interaction.</a:t>
            </a:r>
          </a:p>
          <a:p>
            <a:pPr marL="285750" indent="-285750">
              <a:buFont typeface="Arial" panose="020B0604020202020204" pitchFamily="34" charset="0"/>
              <a:buChar char="•"/>
            </a:pPr>
            <a:r>
              <a:rPr lang="en-US" sz="2000" b="1" dirty="0"/>
              <a:t>Documenting the Process:</a:t>
            </a:r>
            <a:r>
              <a:rPr lang="en-US" sz="2000" dirty="0"/>
              <a:t> Ensure that the pair programming sessions are documented with clear notes, to-do lists, and explanations so that team members who might miss a session can catch up quickly.</a:t>
            </a:r>
          </a:p>
          <a:p>
            <a:pPr marL="285750" indent="-285750">
              <a:buFont typeface="Arial" panose="020B0604020202020204" pitchFamily="34" charset="0"/>
              <a:buChar char="•"/>
            </a:pPr>
            <a:r>
              <a:rPr lang="en-US" sz="2000" b="1" dirty="0"/>
              <a:t>Rotate Pairs Regularly:</a:t>
            </a:r>
            <a:r>
              <a:rPr lang="en-US" sz="2000" dirty="0"/>
              <a:t> Encourage pairing with different team members to avoid burnout and enhance collaboration across the team.</a:t>
            </a:r>
          </a:p>
          <a:p>
            <a:endParaRPr lang="en-US" sz="2000" dirty="0"/>
          </a:p>
        </p:txBody>
      </p:sp>
      <p:sp>
        <p:nvSpPr>
          <p:cNvPr id="4" name="Title 3">
            <a:extLst>
              <a:ext uri="{FF2B5EF4-FFF2-40B4-BE49-F238E27FC236}">
                <a16:creationId xmlns:a16="http://schemas.microsoft.com/office/drawing/2014/main" id="{F2F2ED05-BA38-1BD6-19BE-57348CD94D43}"/>
              </a:ext>
            </a:extLst>
          </p:cNvPr>
          <p:cNvSpPr>
            <a:spLocks noGrp="1"/>
          </p:cNvSpPr>
          <p:nvPr>
            <p:ph type="title"/>
          </p:nvPr>
        </p:nvSpPr>
        <p:spPr/>
        <p:txBody>
          <a:bodyPr/>
          <a:lstStyle/>
          <a:p>
            <a:r>
              <a:rPr lang="en-US" dirty="0"/>
              <a:t>Scenario 5: Pair Programming with Remote Teams</a:t>
            </a:r>
          </a:p>
        </p:txBody>
      </p:sp>
    </p:spTree>
    <p:extLst>
      <p:ext uri="{BB962C8B-B14F-4D97-AF65-F5344CB8AC3E}">
        <p14:creationId xmlns:p14="http://schemas.microsoft.com/office/powerpoint/2010/main" val="4155909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8D9701-55EE-439A-CAEF-22919E84AC04}"/>
              </a:ext>
            </a:extLst>
          </p:cNvPr>
          <p:cNvSpPr>
            <a:spLocks noGrp="1"/>
          </p:cNvSpPr>
          <p:nvPr>
            <p:ph type="sldNum" sz="quarter" idx="13"/>
          </p:nvPr>
        </p:nvSpPr>
        <p:spPr/>
        <p:txBody>
          <a:bodyPr/>
          <a:lstStyle/>
          <a:p>
            <a:fld id="{12342C3A-DD85-7843-B416-BD52AB030D59}" type="slidenum">
              <a:rPr lang="en-US" smtClean="0"/>
              <a:pPr/>
              <a:t>13</a:t>
            </a:fld>
            <a:endParaRPr lang="en-US" dirty="0"/>
          </a:p>
        </p:txBody>
      </p:sp>
      <p:sp>
        <p:nvSpPr>
          <p:cNvPr id="3" name="Text Placeholder 2">
            <a:extLst>
              <a:ext uri="{FF2B5EF4-FFF2-40B4-BE49-F238E27FC236}">
                <a16:creationId xmlns:a16="http://schemas.microsoft.com/office/drawing/2014/main" id="{F9C51EFD-30D4-D797-1A83-0FAD735638DB}"/>
              </a:ext>
            </a:extLst>
          </p:cNvPr>
          <p:cNvSpPr>
            <a:spLocks noGrp="1"/>
          </p:cNvSpPr>
          <p:nvPr>
            <p:ph type="body" sz="quarter" idx="12"/>
          </p:nvPr>
        </p:nvSpPr>
        <p:spPr/>
        <p:txBody>
          <a:bodyPr>
            <a:normAutofit/>
          </a:bodyPr>
          <a:lstStyle/>
          <a:p>
            <a:r>
              <a:rPr lang="en-US" sz="2400" dirty="0"/>
              <a:t>During a CI build, a critical bug is discovered after a new feature was merged into the main codebase. How should the development team address the issue, and what role does CI play in resolving this situation?</a:t>
            </a:r>
          </a:p>
        </p:txBody>
      </p:sp>
      <p:sp>
        <p:nvSpPr>
          <p:cNvPr id="4" name="Title 3">
            <a:extLst>
              <a:ext uri="{FF2B5EF4-FFF2-40B4-BE49-F238E27FC236}">
                <a16:creationId xmlns:a16="http://schemas.microsoft.com/office/drawing/2014/main" id="{68C90418-A16E-BC5D-BE04-12737F957185}"/>
              </a:ext>
            </a:extLst>
          </p:cNvPr>
          <p:cNvSpPr>
            <a:spLocks noGrp="1"/>
          </p:cNvSpPr>
          <p:nvPr>
            <p:ph type="title"/>
          </p:nvPr>
        </p:nvSpPr>
        <p:spPr/>
        <p:txBody>
          <a:bodyPr>
            <a:normAutofit fontScale="90000"/>
          </a:bodyPr>
          <a:lstStyle/>
          <a:p>
            <a:r>
              <a:rPr lang="en-US" dirty="0"/>
              <a:t>Scenario 6: Continuous Integration (CI) and Bug Fixing</a:t>
            </a:r>
          </a:p>
        </p:txBody>
      </p:sp>
    </p:spTree>
    <p:extLst>
      <p:ext uri="{BB962C8B-B14F-4D97-AF65-F5344CB8AC3E}">
        <p14:creationId xmlns:p14="http://schemas.microsoft.com/office/powerpoint/2010/main" val="1215325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604DF0-AE08-D608-8076-91F60484BE76}"/>
              </a:ext>
            </a:extLst>
          </p:cNvPr>
          <p:cNvSpPr>
            <a:spLocks noGrp="1"/>
          </p:cNvSpPr>
          <p:nvPr>
            <p:ph type="sldNum" sz="quarter" idx="13"/>
          </p:nvPr>
        </p:nvSpPr>
        <p:spPr/>
        <p:txBody>
          <a:bodyPr/>
          <a:lstStyle/>
          <a:p>
            <a:fld id="{12342C3A-DD85-7843-B416-BD52AB030D59}" type="slidenum">
              <a:rPr lang="en-US" smtClean="0"/>
              <a:pPr/>
              <a:t>14</a:t>
            </a:fld>
            <a:endParaRPr lang="en-US" dirty="0"/>
          </a:p>
        </p:txBody>
      </p:sp>
      <p:sp>
        <p:nvSpPr>
          <p:cNvPr id="3" name="Text Placeholder 2">
            <a:extLst>
              <a:ext uri="{FF2B5EF4-FFF2-40B4-BE49-F238E27FC236}">
                <a16:creationId xmlns:a16="http://schemas.microsoft.com/office/drawing/2014/main" id="{E8527EC4-3783-9D5C-293D-096E1156805B}"/>
              </a:ext>
            </a:extLst>
          </p:cNvPr>
          <p:cNvSpPr>
            <a:spLocks noGrp="1"/>
          </p:cNvSpPr>
          <p:nvPr>
            <p:ph type="body" sz="quarter" idx="12"/>
          </p:nvPr>
        </p:nvSpPr>
        <p:spPr/>
        <p:txBody>
          <a:bodyPr>
            <a:normAutofit/>
          </a:bodyPr>
          <a:lstStyle/>
          <a:p>
            <a:endParaRPr lang="en-US" sz="2000" dirty="0"/>
          </a:p>
          <a:p>
            <a:pPr marL="285750" indent="-285750">
              <a:buFont typeface="Arial" panose="020B0604020202020204" pitchFamily="34" charset="0"/>
              <a:buChar char="•"/>
            </a:pPr>
            <a:r>
              <a:rPr lang="en-US" sz="2000" b="1" dirty="0"/>
              <a:t>Quick Detection:</a:t>
            </a:r>
            <a:r>
              <a:rPr lang="en-US" sz="2000" dirty="0"/>
              <a:t> CI helps detect issues early by running automated tests immediately after a change is integrated, ensuring bugs are discovered as soon as they are introduced.</a:t>
            </a:r>
          </a:p>
          <a:p>
            <a:pPr marL="285750" indent="-285750">
              <a:buFont typeface="Arial" panose="020B0604020202020204" pitchFamily="34" charset="0"/>
              <a:buChar char="•"/>
            </a:pPr>
            <a:r>
              <a:rPr lang="en-US" sz="2000" b="1" dirty="0"/>
              <a:t>Revert or Fix:</a:t>
            </a:r>
            <a:r>
              <a:rPr lang="en-US" sz="2000" dirty="0"/>
              <a:t> The team can either quickly revert the change that caused the bug or fix the bug, depending on the severity and complexity of the issue.</a:t>
            </a:r>
          </a:p>
          <a:p>
            <a:pPr marL="285750" indent="-285750">
              <a:buFont typeface="Arial" panose="020B0604020202020204" pitchFamily="34" charset="0"/>
              <a:buChar char="•"/>
            </a:pPr>
            <a:r>
              <a:rPr lang="en-US" sz="2000" b="1" dirty="0"/>
              <a:t>Collaboration:</a:t>
            </a:r>
            <a:r>
              <a:rPr lang="en-US" sz="2000" dirty="0"/>
              <a:t> Developers should work closely to fix the issue as soon as possible, ensuring that the fix passes the CI pipeline tests and is re-integrated into the main branch without causing further disruption.</a:t>
            </a:r>
          </a:p>
          <a:p>
            <a:pPr marL="285750" indent="-285750">
              <a:buFont typeface="Arial" panose="020B0604020202020204" pitchFamily="34" charset="0"/>
              <a:buChar char="•"/>
            </a:pPr>
            <a:r>
              <a:rPr lang="en-US" sz="2000" b="1" dirty="0"/>
              <a:t>Immediate Feedback Loop:</a:t>
            </a:r>
            <a:r>
              <a:rPr lang="en-US" sz="2000" dirty="0"/>
              <a:t> CI provides a rapid feedback loop, so developers get immediate confirmation once the bug is fixed and the code passes all tests.</a:t>
            </a:r>
          </a:p>
          <a:p>
            <a:pPr marL="285750" indent="-285750">
              <a:buFont typeface="Arial" panose="020B0604020202020204" pitchFamily="34" charset="0"/>
              <a:buChar char="•"/>
            </a:pPr>
            <a:r>
              <a:rPr lang="en-US" sz="2000" b="1" dirty="0"/>
              <a:t>Prevention of Future Bugs:</a:t>
            </a:r>
            <a:r>
              <a:rPr lang="en-US" sz="2000" dirty="0"/>
              <a:t> After resolving the issue, the team should enhance the automated tests to include the bug scenario to prevent similar issues in the future.</a:t>
            </a:r>
          </a:p>
          <a:p>
            <a:endParaRPr lang="en-US" sz="2000" dirty="0"/>
          </a:p>
        </p:txBody>
      </p:sp>
      <p:sp>
        <p:nvSpPr>
          <p:cNvPr id="4" name="Title 3">
            <a:extLst>
              <a:ext uri="{FF2B5EF4-FFF2-40B4-BE49-F238E27FC236}">
                <a16:creationId xmlns:a16="http://schemas.microsoft.com/office/drawing/2014/main" id="{E387A03C-327F-2823-171F-6E0C86142182}"/>
              </a:ext>
            </a:extLst>
          </p:cNvPr>
          <p:cNvSpPr>
            <a:spLocks noGrp="1"/>
          </p:cNvSpPr>
          <p:nvPr>
            <p:ph type="title"/>
          </p:nvPr>
        </p:nvSpPr>
        <p:spPr/>
        <p:txBody>
          <a:bodyPr>
            <a:normAutofit fontScale="90000"/>
          </a:bodyPr>
          <a:lstStyle/>
          <a:p>
            <a:r>
              <a:rPr lang="en-US" dirty="0"/>
              <a:t>Scenario 6: Continuous Integration (CI) and Bug Fixing</a:t>
            </a:r>
          </a:p>
        </p:txBody>
      </p:sp>
    </p:spTree>
    <p:extLst>
      <p:ext uri="{BB962C8B-B14F-4D97-AF65-F5344CB8AC3E}">
        <p14:creationId xmlns:p14="http://schemas.microsoft.com/office/powerpoint/2010/main" val="3806411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772667-A339-5958-1B8B-02FD11A350FE}"/>
              </a:ext>
            </a:extLst>
          </p:cNvPr>
          <p:cNvSpPr>
            <a:spLocks noGrp="1"/>
          </p:cNvSpPr>
          <p:nvPr>
            <p:ph type="sldNum" sz="quarter" idx="13"/>
          </p:nvPr>
        </p:nvSpPr>
        <p:spPr/>
        <p:txBody>
          <a:bodyPr/>
          <a:lstStyle/>
          <a:p>
            <a:fld id="{12342C3A-DD85-7843-B416-BD52AB030D59}" type="slidenum">
              <a:rPr lang="en-US" smtClean="0"/>
              <a:pPr/>
              <a:t>15</a:t>
            </a:fld>
            <a:endParaRPr lang="en-US" dirty="0"/>
          </a:p>
        </p:txBody>
      </p:sp>
      <p:sp>
        <p:nvSpPr>
          <p:cNvPr id="3" name="Text Placeholder 2">
            <a:extLst>
              <a:ext uri="{FF2B5EF4-FFF2-40B4-BE49-F238E27FC236}">
                <a16:creationId xmlns:a16="http://schemas.microsoft.com/office/drawing/2014/main" id="{3C2EFE84-D6C5-06CE-375D-B51A444440C0}"/>
              </a:ext>
            </a:extLst>
          </p:cNvPr>
          <p:cNvSpPr>
            <a:spLocks noGrp="1"/>
          </p:cNvSpPr>
          <p:nvPr>
            <p:ph type="body" sz="quarter" idx="12"/>
          </p:nvPr>
        </p:nvSpPr>
        <p:spPr/>
        <p:txBody>
          <a:bodyPr>
            <a:normAutofit/>
          </a:bodyPr>
          <a:lstStyle/>
          <a:p>
            <a:endParaRPr lang="en-US" sz="2400" dirty="0"/>
          </a:p>
          <a:p>
            <a:r>
              <a:rPr lang="en-US" sz="2400" dirty="0"/>
              <a:t>Your company is deploying its product using Continuous Delivery (CD) to a live production environment multiple times a week. Last week, a small bug slipped through, affecting a subset of users. What actions can you take to minimize the chances of this happening again in future releases?</a:t>
            </a:r>
          </a:p>
        </p:txBody>
      </p:sp>
      <p:sp>
        <p:nvSpPr>
          <p:cNvPr id="4" name="Title 3">
            <a:extLst>
              <a:ext uri="{FF2B5EF4-FFF2-40B4-BE49-F238E27FC236}">
                <a16:creationId xmlns:a16="http://schemas.microsoft.com/office/drawing/2014/main" id="{BA9095EE-B642-F2CB-0B6E-6D6335071273}"/>
              </a:ext>
            </a:extLst>
          </p:cNvPr>
          <p:cNvSpPr>
            <a:spLocks noGrp="1"/>
          </p:cNvSpPr>
          <p:nvPr>
            <p:ph type="title"/>
          </p:nvPr>
        </p:nvSpPr>
        <p:spPr/>
        <p:txBody>
          <a:bodyPr>
            <a:noAutofit/>
          </a:bodyPr>
          <a:lstStyle/>
          <a:p>
            <a:r>
              <a:rPr lang="en-US" sz="2800" dirty="0"/>
              <a:t>Scenario 7: Continuous Delivery (CD) in a Production Environment</a:t>
            </a:r>
          </a:p>
        </p:txBody>
      </p:sp>
    </p:spTree>
    <p:extLst>
      <p:ext uri="{BB962C8B-B14F-4D97-AF65-F5344CB8AC3E}">
        <p14:creationId xmlns:p14="http://schemas.microsoft.com/office/powerpoint/2010/main" val="764491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EFF1DA-0685-89F6-AB63-27E463747C3F}"/>
              </a:ext>
            </a:extLst>
          </p:cNvPr>
          <p:cNvSpPr>
            <a:spLocks noGrp="1"/>
          </p:cNvSpPr>
          <p:nvPr>
            <p:ph type="sldNum" sz="quarter" idx="13"/>
          </p:nvPr>
        </p:nvSpPr>
        <p:spPr/>
        <p:txBody>
          <a:bodyPr/>
          <a:lstStyle/>
          <a:p>
            <a:fld id="{12342C3A-DD85-7843-B416-BD52AB030D59}" type="slidenum">
              <a:rPr lang="en-US" smtClean="0"/>
              <a:pPr/>
              <a:t>16</a:t>
            </a:fld>
            <a:endParaRPr lang="en-US" dirty="0"/>
          </a:p>
        </p:txBody>
      </p:sp>
      <p:sp>
        <p:nvSpPr>
          <p:cNvPr id="3" name="Text Placeholder 2">
            <a:extLst>
              <a:ext uri="{FF2B5EF4-FFF2-40B4-BE49-F238E27FC236}">
                <a16:creationId xmlns:a16="http://schemas.microsoft.com/office/drawing/2014/main" id="{CD3B56FC-8CAB-DFCE-1381-44DC9E7FBACF}"/>
              </a:ext>
            </a:extLst>
          </p:cNvPr>
          <p:cNvSpPr>
            <a:spLocks noGrp="1"/>
          </p:cNvSpPr>
          <p:nvPr>
            <p:ph type="body" sz="quarter" idx="12"/>
          </p:nvPr>
        </p:nvSpPr>
        <p:spPr/>
        <p:txBody>
          <a:bodyPr>
            <a:normAutofit/>
          </a:bodyPr>
          <a:lstStyle/>
          <a:p>
            <a:endParaRPr lang="en-US" sz="2000" dirty="0"/>
          </a:p>
          <a:p>
            <a:pPr marL="285750" indent="-285750">
              <a:buFont typeface="Arial" panose="020B0604020202020204" pitchFamily="34" charset="0"/>
              <a:buChar char="•"/>
            </a:pPr>
            <a:r>
              <a:rPr lang="en-US" sz="2000" b="1" dirty="0"/>
              <a:t>Enhanced Automated Testing:</a:t>
            </a:r>
            <a:r>
              <a:rPr lang="en-US" sz="2000" dirty="0"/>
              <a:t> Ensure that comprehensive automated tests, including unit tests, integration tests, and user acceptance tests (UAT), are part of the CD pipeline to catch any regressions before the release.</a:t>
            </a:r>
          </a:p>
          <a:p>
            <a:pPr marL="285750" indent="-285750">
              <a:buFont typeface="Arial" panose="020B0604020202020204" pitchFamily="34" charset="0"/>
              <a:buChar char="•"/>
            </a:pPr>
            <a:r>
              <a:rPr lang="en-US" sz="2000" b="1" dirty="0"/>
              <a:t>Canary Releases:</a:t>
            </a:r>
            <a:r>
              <a:rPr lang="en-US" sz="2000" dirty="0"/>
              <a:t> Implement canary releases, where only a small portion of users receive the update initially, allowing the team to monitor and catch potential issues before a full rollout.</a:t>
            </a:r>
          </a:p>
          <a:p>
            <a:pPr marL="285750" indent="-285750">
              <a:buFont typeface="Arial" panose="020B0604020202020204" pitchFamily="34" charset="0"/>
              <a:buChar char="•"/>
            </a:pPr>
            <a:r>
              <a:rPr lang="en-US" sz="2000" b="1" dirty="0"/>
              <a:t>Feature Toggles:</a:t>
            </a:r>
            <a:r>
              <a:rPr lang="en-US" sz="2000" dirty="0"/>
              <a:t> Use feature toggles to release new features in a controlled manner, allowing teams to enable or disable features quickly in case a problem is detected.</a:t>
            </a:r>
          </a:p>
          <a:p>
            <a:pPr marL="285750" indent="-285750">
              <a:buFont typeface="Arial" panose="020B0604020202020204" pitchFamily="34" charset="0"/>
              <a:buChar char="•"/>
            </a:pPr>
            <a:r>
              <a:rPr lang="en-US" sz="2000" b="1" dirty="0"/>
              <a:t>Post-Release Monitoring:</a:t>
            </a:r>
            <a:r>
              <a:rPr lang="en-US" sz="2000" dirty="0"/>
              <a:t> Set up robust post-deployment monitoring and logging to detect and resolve issues as quickly as possible after release, ensuring a quick response to any bugs or performance issues.</a:t>
            </a:r>
          </a:p>
          <a:p>
            <a:pPr marL="285750" indent="-285750">
              <a:buFont typeface="Arial" panose="020B0604020202020204" pitchFamily="34" charset="0"/>
              <a:buChar char="•"/>
            </a:pPr>
            <a:r>
              <a:rPr lang="en-US" sz="2000" b="1" dirty="0"/>
              <a:t>Rollback Mechanism:</a:t>
            </a:r>
            <a:r>
              <a:rPr lang="en-US" sz="2000" dirty="0"/>
              <a:t> Ensure the ability to quickly rollback to a previous stable version in case a critical bug is detected in production.</a:t>
            </a:r>
          </a:p>
          <a:p>
            <a:endParaRPr lang="en-US" sz="2000" dirty="0"/>
          </a:p>
        </p:txBody>
      </p:sp>
      <p:sp>
        <p:nvSpPr>
          <p:cNvPr id="4" name="Title 3">
            <a:extLst>
              <a:ext uri="{FF2B5EF4-FFF2-40B4-BE49-F238E27FC236}">
                <a16:creationId xmlns:a16="http://schemas.microsoft.com/office/drawing/2014/main" id="{86903D0F-36D3-72E2-E0AA-8CB301AEAC68}"/>
              </a:ext>
            </a:extLst>
          </p:cNvPr>
          <p:cNvSpPr>
            <a:spLocks noGrp="1"/>
          </p:cNvSpPr>
          <p:nvPr>
            <p:ph type="title"/>
          </p:nvPr>
        </p:nvSpPr>
        <p:spPr/>
        <p:txBody>
          <a:bodyPr>
            <a:noAutofit/>
          </a:bodyPr>
          <a:lstStyle/>
          <a:p>
            <a:r>
              <a:rPr lang="en-US" sz="2800" dirty="0"/>
              <a:t>Scenario 7: Continuous Delivery (CD) in a Production Environment</a:t>
            </a:r>
            <a:endParaRPr lang="en-US" sz="2400" dirty="0"/>
          </a:p>
        </p:txBody>
      </p:sp>
    </p:spTree>
    <p:extLst>
      <p:ext uri="{BB962C8B-B14F-4D97-AF65-F5344CB8AC3E}">
        <p14:creationId xmlns:p14="http://schemas.microsoft.com/office/powerpoint/2010/main" val="156993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C3D229-06D2-B415-EEF1-25E0F64F130F}"/>
              </a:ext>
            </a:extLst>
          </p:cNvPr>
          <p:cNvSpPr>
            <a:spLocks noGrp="1"/>
          </p:cNvSpPr>
          <p:nvPr>
            <p:ph type="sldNum" sz="quarter" idx="13"/>
          </p:nvPr>
        </p:nvSpPr>
        <p:spPr/>
        <p:txBody>
          <a:bodyPr/>
          <a:lstStyle/>
          <a:p>
            <a:fld id="{12342C3A-DD85-7843-B416-BD52AB030D59}" type="slidenum">
              <a:rPr lang="en-US" smtClean="0"/>
              <a:pPr/>
              <a:t>17</a:t>
            </a:fld>
            <a:endParaRPr lang="en-US" dirty="0"/>
          </a:p>
        </p:txBody>
      </p:sp>
      <p:sp>
        <p:nvSpPr>
          <p:cNvPr id="3" name="Text Placeholder 2">
            <a:extLst>
              <a:ext uri="{FF2B5EF4-FFF2-40B4-BE49-F238E27FC236}">
                <a16:creationId xmlns:a16="http://schemas.microsoft.com/office/drawing/2014/main" id="{72B5F022-0AF9-1E09-D8C0-0FB2CE69910A}"/>
              </a:ext>
            </a:extLst>
          </p:cNvPr>
          <p:cNvSpPr>
            <a:spLocks noGrp="1"/>
          </p:cNvSpPr>
          <p:nvPr>
            <p:ph type="body" sz="quarter" idx="12"/>
          </p:nvPr>
        </p:nvSpPr>
        <p:spPr/>
        <p:txBody>
          <a:bodyPr>
            <a:normAutofit/>
          </a:bodyPr>
          <a:lstStyle/>
          <a:p>
            <a:endParaRPr lang="en-US" sz="2400" dirty="0"/>
          </a:p>
          <a:p>
            <a:r>
              <a:rPr lang="en-US" sz="2400" dirty="0"/>
              <a:t>You notice that one of your developers is struggling with Pair Programming, as they prefer to work independently. How can you encourage this developer to be more open to Pair Programming and ensure it benefits both team members?</a:t>
            </a:r>
          </a:p>
        </p:txBody>
      </p:sp>
      <p:sp>
        <p:nvSpPr>
          <p:cNvPr id="4" name="Title 3">
            <a:extLst>
              <a:ext uri="{FF2B5EF4-FFF2-40B4-BE49-F238E27FC236}">
                <a16:creationId xmlns:a16="http://schemas.microsoft.com/office/drawing/2014/main" id="{282F7A20-171B-1EA6-C5A6-804207E89824}"/>
              </a:ext>
            </a:extLst>
          </p:cNvPr>
          <p:cNvSpPr>
            <a:spLocks noGrp="1"/>
          </p:cNvSpPr>
          <p:nvPr>
            <p:ph type="title"/>
          </p:nvPr>
        </p:nvSpPr>
        <p:spPr/>
        <p:txBody>
          <a:bodyPr/>
          <a:lstStyle/>
          <a:p>
            <a:r>
              <a:rPr lang="en-US" dirty="0"/>
              <a:t>Scenario 8: Pair Programming and Team Dynamics</a:t>
            </a:r>
          </a:p>
        </p:txBody>
      </p:sp>
    </p:spTree>
    <p:extLst>
      <p:ext uri="{BB962C8B-B14F-4D97-AF65-F5344CB8AC3E}">
        <p14:creationId xmlns:p14="http://schemas.microsoft.com/office/powerpoint/2010/main" val="338767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CB6E5D-03FA-81B7-ADB9-EE6513545951}"/>
              </a:ext>
            </a:extLst>
          </p:cNvPr>
          <p:cNvSpPr>
            <a:spLocks noGrp="1"/>
          </p:cNvSpPr>
          <p:nvPr>
            <p:ph type="sldNum" sz="quarter" idx="13"/>
          </p:nvPr>
        </p:nvSpPr>
        <p:spPr/>
        <p:txBody>
          <a:bodyPr/>
          <a:lstStyle/>
          <a:p>
            <a:fld id="{12342C3A-DD85-7843-B416-BD52AB030D59}" type="slidenum">
              <a:rPr lang="en-US" smtClean="0"/>
              <a:pPr/>
              <a:t>18</a:t>
            </a:fld>
            <a:endParaRPr lang="en-US" dirty="0"/>
          </a:p>
        </p:txBody>
      </p:sp>
      <p:sp>
        <p:nvSpPr>
          <p:cNvPr id="3" name="Text Placeholder 2">
            <a:extLst>
              <a:ext uri="{FF2B5EF4-FFF2-40B4-BE49-F238E27FC236}">
                <a16:creationId xmlns:a16="http://schemas.microsoft.com/office/drawing/2014/main" id="{BC5FC1F4-CC00-D9E7-8B5B-345512835752}"/>
              </a:ext>
            </a:extLst>
          </p:cNvPr>
          <p:cNvSpPr>
            <a:spLocks noGrp="1"/>
          </p:cNvSpPr>
          <p:nvPr>
            <p:ph type="body" sz="quarter" idx="12"/>
          </p:nvPr>
        </p:nvSpPr>
        <p:spPr/>
        <p:txBody>
          <a:bodyPr>
            <a:normAutofit/>
          </a:bodyPr>
          <a:lstStyle/>
          <a:p>
            <a:endParaRPr lang="en-US" sz="2000" dirty="0"/>
          </a:p>
          <a:p>
            <a:pPr marL="285750" indent="-285750">
              <a:buFont typeface="Arial" panose="020B0604020202020204" pitchFamily="34" charset="0"/>
              <a:buChar char="•"/>
            </a:pPr>
            <a:r>
              <a:rPr lang="en-US" sz="2000" b="1" dirty="0"/>
              <a:t>Highlight Benefits:</a:t>
            </a:r>
            <a:r>
              <a:rPr lang="en-US" sz="2000" dirty="0"/>
              <a:t> Explain the advantages of Pair Programming, such as faster problem-solving, higher code quality, and the opportunity to learn new techniques from a partner.</a:t>
            </a:r>
          </a:p>
          <a:p>
            <a:pPr marL="285750" indent="-285750">
              <a:buFont typeface="Arial" panose="020B0604020202020204" pitchFamily="34" charset="0"/>
              <a:buChar char="•"/>
            </a:pPr>
            <a:r>
              <a:rPr lang="en-US" sz="2000" b="1" dirty="0"/>
              <a:t>Pair with Different Team Members:</a:t>
            </a:r>
            <a:r>
              <a:rPr lang="en-US" sz="2000" dirty="0"/>
              <a:t> Try pairing the developer with different team members to help them find a partner they are more comfortable with, fostering better collaboration and communication.</a:t>
            </a:r>
          </a:p>
          <a:p>
            <a:pPr marL="285750" indent="-285750">
              <a:buFont typeface="Arial" panose="020B0604020202020204" pitchFamily="34" charset="0"/>
              <a:buChar char="•"/>
            </a:pPr>
            <a:r>
              <a:rPr lang="en-US" sz="2000" b="1" dirty="0"/>
              <a:t>Set Clear Expectations:</a:t>
            </a:r>
            <a:r>
              <a:rPr lang="en-US" sz="2000" dirty="0"/>
              <a:t> Ensure both developers understand the goals of the session, such as writing clean, maintainable code or learning a new tool or technique.</a:t>
            </a:r>
          </a:p>
          <a:p>
            <a:pPr marL="285750" indent="-285750">
              <a:buFont typeface="Arial" panose="020B0604020202020204" pitchFamily="34" charset="0"/>
              <a:buChar char="•"/>
            </a:pPr>
            <a:r>
              <a:rPr lang="en-US" sz="2000" b="1" dirty="0"/>
              <a:t>Use Rotating Roles:</a:t>
            </a:r>
            <a:r>
              <a:rPr lang="en-US" sz="2000" dirty="0"/>
              <a:t> In Pair Programming, use the "driver" and "navigator" roles, where one person writes the code (driver) and the other provides feedback and guidance (navigator). This keeps both developers engaged and makes the process more interactive.</a:t>
            </a:r>
          </a:p>
          <a:p>
            <a:pPr marL="285750" indent="-285750">
              <a:buFont typeface="Arial" panose="020B0604020202020204" pitchFamily="34" charset="0"/>
              <a:buChar char="•"/>
            </a:pPr>
            <a:r>
              <a:rPr lang="en-US" sz="2000" b="1" dirty="0"/>
              <a:t>Start Small:</a:t>
            </a:r>
            <a:r>
              <a:rPr lang="en-US" sz="2000" dirty="0"/>
              <a:t> Allow the developer to ease into Pair Programming by starting with smaller, low-pressure tasks or less complex code to build confidence.</a:t>
            </a:r>
          </a:p>
          <a:p>
            <a:endParaRPr lang="en-US" sz="2000" dirty="0"/>
          </a:p>
        </p:txBody>
      </p:sp>
      <p:sp>
        <p:nvSpPr>
          <p:cNvPr id="4" name="Title 3">
            <a:extLst>
              <a:ext uri="{FF2B5EF4-FFF2-40B4-BE49-F238E27FC236}">
                <a16:creationId xmlns:a16="http://schemas.microsoft.com/office/drawing/2014/main" id="{E7FA9B7B-B0C8-F69B-08A7-0F7250A0F2DF}"/>
              </a:ext>
            </a:extLst>
          </p:cNvPr>
          <p:cNvSpPr>
            <a:spLocks noGrp="1"/>
          </p:cNvSpPr>
          <p:nvPr>
            <p:ph type="title"/>
          </p:nvPr>
        </p:nvSpPr>
        <p:spPr/>
        <p:txBody>
          <a:bodyPr/>
          <a:lstStyle/>
          <a:p>
            <a:r>
              <a:rPr lang="en-US" dirty="0"/>
              <a:t>Scenario 8: Pair Programming and Team Dynamics</a:t>
            </a:r>
          </a:p>
        </p:txBody>
      </p:sp>
    </p:spTree>
    <p:extLst>
      <p:ext uri="{BB962C8B-B14F-4D97-AF65-F5344CB8AC3E}">
        <p14:creationId xmlns:p14="http://schemas.microsoft.com/office/powerpoint/2010/main" val="2155278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FB32E6-C63A-1452-BD42-82631D4C8666}"/>
              </a:ext>
            </a:extLst>
          </p:cNvPr>
          <p:cNvSpPr>
            <a:spLocks noGrp="1"/>
          </p:cNvSpPr>
          <p:nvPr>
            <p:ph type="sldNum" sz="quarter" idx="13"/>
          </p:nvPr>
        </p:nvSpPr>
        <p:spPr/>
        <p:txBody>
          <a:bodyPr/>
          <a:lstStyle/>
          <a:p>
            <a:fld id="{12342C3A-DD85-7843-B416-BD52AB030D59}" type="slidenum">
              <a:rPr lang="en-US" smtClean="0"/>
              <a:pPr/>
              <a:t>19</a:t>
            </a:fld>
            <a:endParaRPr lang="en-US" dirty="0"/>
          </a:p>
        </p:txBody>
      </p:sp>
      <p:sp>
        <p:nvSpPr>
          <p:cNvPr id="3" name="Text Placeholder 2">
            <a:extLst>
              <a:ext uri="{FF2B5EF4-FFF2-40B4-BE49-F238E27FC236}">
                <a16:creationId xmlns:a16="http://schemas.microsoft.com/office/drawing/2014/main" id="{0B39DFC1-7FE8-5200-F2F8-ED6783C3B95A}"/>
              </a:ext>
            </a:extLst>
          </p:cNvPr>
          <p:cNvSpPr>
            <a:spLocks noGrp="1"/>
          </p:cNvSpPr>
          <p:nvPr>
            <p:ph type="body" sz="quarter" idx="12"/>
          </p:nvPr>
        </p:nvSpPr>
        <p:spPr/>
        <p:txBody>
          <a:bodyPr>
            <a:normAutofit/>
          </a:bodyPr>
          <a:lstStyle/>
          <a:p>
            <a:r>
              <a:rPr lang="en-US" sz="2400" dirty="0"/>
              <a:t>During the deployment process in your Continuous Delivery pipeline, a failure occurs in the staging environment. How should your team handle this situation to ensure the issue is resolved quickly and does not impact production?</a:t>
            </a:r>
          </a:p>
        </p:txBody>
      </p:sp>
      <p:sp>
        <p:nvSpPr>
          <p:cNvPr id="4" name="Title 3">
            <a:extLst>
              <a:ext uri="{FF2B5EF4-FFF2-40B4-BE49-F238E27FC236}">
                <a16:creationId xmlns:a16="http://schemas.microsoft.com/office/drawing/2014/main" id="{B9111F98-08EE-A5D3-0EC9-E6B171433D81}"/>
              </a:ext>
            </a:extLst>
          </p:cNvPr>
          <p:cNvSpPr>
            <a:spLocks noGrp="1"/>
          </p:cNvSpPr>
          <p:nvPr>
            <p:ph type="title"/>
          </p:nvPr>
        </p:nvSpPr>
        <p:spPr/>
        <p:txBody>
          <a:bodyPr/>
          <a:lstStyle/>
          <a:p>
            <a:r>
              <a:rPr lang="en-US" dirty="0"/>
              <a:t>Scenario 9: CI/CD Pipeline Failures</a:t>
            </a:r>
          </a:p>
        </p:txBody>
      </p:sp>
    </p:spTree>
    <p:extLst>
      <p:ext uri="{BB962C8B-B14F-4D97-AF65-F5344CB8AC3E}">
        <p14:creationId xmlns:p14="http://schemas.microsoft.com/office/powerpoint/2010/main" val="584654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876E15-BB53-75B6-D132-750439DA9D7F}"/>
              </a:ext>
            </a:extLst>
          </p:cNvPr>
          <p:cNvSpPr>
            <a:spLocks noGrp="1"/>
          </p:cNvSpPr>
          <p:nvPr>
            <p:ph type="sldNum" sz="quarter" idx="13"/>
          </p:nvPr>
        </p:nvSpPr>
        <p:spPr/>
        <p:txBody>
          <a:bodyPr/>
          <a:lstStyle/>
          <a:p>
            <a:fld id="{12342C3A-DD85-7843-B416-BD52AB030D59}" type="slidenum">
              <a:rPr lang="en-US" smtClean="0"/>
              <a:pPr/>
              <a:t>20</a:t>
            </a:fld>
            <a:endParaRPr lang="en-US" dirty="0"/>
          </a:p>
        </p:txBody>
      </p:sp>
      <p:sp>
        <p:nvSpPr>
          <p:cNvPr id="3" name="Text Placeholder 2">
            <a:extLst>
              <a:ext uri="{FF2B5EF4-FFF2-40B4-BE49-F238E27FC236}">
                <a16:creationId xmlns:a16="http://schemas.microsoft.com/office/drawing/2014/main" id="{CAA9EA04-70F5-531C-FD53-A4ABB1B51CD8}"/>
              </a:ext>
            </a:extLst>
          </p:cNvPr>
          <p:cNvSpPr>
            <a:spLocks noGrp="1"/>
          </p:cNvSpPr>
          <p:nvPr>
            <p:ph type="body" sz="quarter" idx="12"/>
          </p:nvPr>
        </p:nvSpPr>
        <p:spPr/>
        <p:txBody>
          <a:bodyPr>
            <a:normAutofit/>
          </a:bodyPr>
          <a:lstStyle/>
          <a:p>
            <a:endParaRPr lang="en-US" sz="2000" dirty="0"/>
          </a:p>
          <a:p>
            <a:pPr marL="285750" indent="-285750">
              <a:buFont typeface="Arial" panose="020B0604020202020204" pitchFamily="34" charset="0"/>
              <a:buChar char="•"/>
            </a:pPr>
            <a:r>
              <a:rPr lang="en-US" sz="2000" b="1" dirty="0"/>
              <a:t>Analyze Logs and Errors:</a:t>
            </a:r>
            <a:r>
              <a:rPr lang="en-US" sz="2000" dirty="0"/>
              <a:t> Immediately check the error logs from the staging environment to identify what caused the failure, whether it’s related to configuration, tests, or code integration.</a:t>
            </a:r>
          </a:p>
          <a:p>
            <a:pPr marL="285750" indent="-285750">
              <a:buFont typeface="Arial" panose="020B0604020202020204" pitchFamily="34" charset="0"/>
              <a:buChar char="•"/>
            </a:pPr>
            <a:r>
              <a:rPr lang="en-US" sz="2000" b="1" dirty="0"/>
              <a:t>Rollback to Last Stable State:</a:t>
            </a:r>
            <a:r>
              <a:rPr lang="en-US" sz="2000" dirty="0"/>
              <a:t> If the issue cannot be fixed immediately, roll back to the last known good configuration or build version to prevent deployment delays and minimize risk.</a:t>
            </a:r>
          </a:p>
          <a:p>
            <a:pPr marL="285750" indent="-285750">
              <a:buFont typeface="Arial" panose="020B0604020202020204" pitchFamily="34" charset="0"/>
              <a:buChar char="•"/>
            </a:pPr>
            <a:r>
              <a:rPr lang="en-US" sz="2000" b="1" dirty="0"/>
              <a:t>Collaborate Quickly:</a:t>
            </a:r>
            <a:r>
              <a:rPr lang="en-US" sz="2000" dirty="0"/>
              <a:t> Have a dedicated team (DevOps, QA, and developers) work together to fix the issue as quickly as possible while ensuring it does not affect production.</a:t>
            </a:r>
          </a:p>
          <a:p>
            <a:pPr marL="285750" indent="-285750">
              <a:buFont typeface="Arial" panose="020B0604020202020204" pitchFamily="34" charset="0"/>
              <a:buChar char="•"/>
            </a:pPr>
            <a:r>
              <a:rPr lang="en-US" sz="2000" b="1" dirty="0"/>
              <a:t>Run Tests Locally:</a:t>
            </a:r>
            <a:r>
              <a:rPr lang="en-US" sz="2000" dirty="0"/>
              <a:t> Developers should run the failing tests locally or in a separate environment to replicate the issue and determine the root cause.</a:t>
            </a:r>
          </a:p>
          <a:p>
            <a:pPr marL="285750" indent="-285750">
              <a:buFont typeface="Arial" panose="020B0604020202020204" pitchFamily="34" charset="0"/>
              <a:buChar char="•"/>
            </a:pPr>
            <a:r>
              <a:rPr lang="en-US" sz="2000" b="1" dirty="0"/>
              <a:t>Improve Pipeline Checks:</a:t>
            </a:r>
            <a:r>
              <a:rPr lang="en-US" sz="2000" dirty="0"/>
              <a:t> After resolving the issue, consider enhancing the CI/CD pipeline with additional checks, such as better test coverage or configuration validation, to prevent similar issues in future releases.</a:t>
            </a:r>
          </a:p>
          <a:p>
            <a:endParaRPr lang="en-US" sz="2000" dirty="0"/>
          </a:p>
        </p:txBody>
      </p:sp>
      <p:sp>
        <p:nvSpPr>
          <p:cNvPr id="4" name="Title 3">
            <a:extLst>
              <a:ext uri="{FF2B5EF4-FFF2-40B4-BE49-F238E27FC236}">
                <a16:creationId xmlns:a16="http://schemas.microsoft.com/office/drawing/2014/main" id="{1452021E-5DD7-EE04-47E3-46920DC93D18}"/>
              </a:ext>
            </a:extLst>
          </p:cNvPr>
          <p:cNvSpPr>
            <a:spLocks noGrp="1"/>
          </p:cNvSpPr>
          <p:nvPr>
            <p:ph type="title"/>
          </p:nvPr>
        </p:nvSpPr>
        <p:spPr/>
        <p:txBody>
          <a:bodyPr/>
          <a:lstStyle/>
          <a:p>
            <a:r>
              <a:rPr lang="en-US" dirty="0"/>
              <a:t>Scenario 9: CI/CD Pipeline Failures</a:t>
            </a:r>
          </a:p>
        </p:txBody>
      </p:sp>
    </p:spTree>
    <p:extLst>
      <p:ext uri="{BB962C8B-B14F-4D97-AF65-F5344CB8AC3E}">
        <p14:creationId xmlns:p14="http://schemas.microsoft.com/office/powerpoint/2010/main" val="3860114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47443F-1E3C-0CC2-BC1A-67C9C85F6F7E}"/>
              </a:ext>
            </a:extLst>
          </p:cNvPr>
          <p:cNvSpPr>
            <a:spLocks noGrp="1"/>
          </p:cNvSpPr>
          <p:nvPr>
            <p:ph type="sldNum" sz="quarter" idx="13"/>
          </p:nvPr>
        </p:nvSpPr>
        <p:spPr/>
        <p:txBody>
          <a:bodyPr/>
          <a:lstStyle/>
          <a:p>
            <a:fld id="{12342C3A-DD85-7843-B416-BD52AB030D59}" type="slidenum">
              <a:rPr lang="en-US" smtClean="0"/>
              <a:pPr/>
              <a:t>21</a:t>
            </a:fld>
            <a:endParaRPr lang="en-US" dirty="0"/>
          </a:p>
        </p:txBody>
      </p:sp>
      <p:sp>
        <p:nvSpPr>
          <p:cNvPr id="3" name="Text Placeholder 2">
            <a:extLst>
              <a:ext uri="{FF2B5EF4-FFF2-40B4-BE49-F238E27FC236}">
                <a16:creationId xmlns:a16="http://schemas.microsoft.com/office/drawing/2014/main" id="{E653E291-80BD-42F1-3646-6A4EBBFABE94}"/>
              </a:ext>
            </a:extLst>
          </p:cNvPr>
          <p:cNvSpPr>
            <a:spLocks noGrp="1"/>
          </p:cNvSpPr>
          <p:nvPr>
            <p:ph type="body" sz="quarter" idx="12"/>
          </p:nvPr>
        </p:nvSpPr>
        <p:spPr/>
        <p:txBody>
          <a:bodyPr>
            <a:normAutofit/>
          </a:bodyPr>
          <a:lstStyle/>
          <a:p>
            <a:endParaRPr lang="en-US" sz="2400" dirty="0"/>
          </a:p>
          <a:p>
            <a:r>
              <a:rPr lang="en-US" sz="2400" dirty="0"/>
              <a:t>Your team has grown significantly, and you’re struggling to keep up with the increasing number of commits and deployment requests in your CI/CD pipeline. What steps can you take to scale your pipeline efficiently without sacrificing the quality or speed of deployments?</a:t>
            </a:r>
          </a:p>
        </p:txBody>
      </p:sp>
      <p:sp>
        <p:nvSpPr>
          <p:cNvPr id="4" name="Title 3">
            <a:extLst>
              <a:ext uri="{FF2B5EF4-FFF2-40B4-BE49-F238E27FC236}">
                <a16:creationId xmlns:a16="http://schemas.microsoft.com/office/drawing/2014/main" id="{D2D5D267-EC0B-B2F8-7EB7-372BF6B73975}"/>
              </a:ext>
            </a:extLst>
          </p:cNvPr>
          <p:cNvSpPr>
            <a:spLocks noGrp="1"/>
          </p:cNvSpPr>
          <p:nvPr>
            <p:ph type="title"/>
          </p:nvPr>
        </p:nvSpPr>
        <p:spPr/>
        <p:txBody>
          <a:bodyPr/>
          <a:lstStyle/>
          <a:p>
            <a:r>
              <a:rPr lang="en-US" dirty="0"/>
              <a:t>Scenario 10: Scaling CI/CD in a Growing Team</a:t>
            </a:r>
          </a:p>
        </p:txBody>
      </p:sp>
    </p:spTree>
    <p:extLst>
      <p:ext uri="{BB962C8B-B14F-4D97-AF65-F5344CB8AC3E}">
        <p14:creationId xmlns:p14="http://schemas.microsoft.com/office/powerpoint/2010/main" val="2793448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9B6040-3500-07F2-5AC4-1528FC5D3057}"/>
              </a:ext>
            </a:extLst>
          </p:cNvPr>
          <p:cNvSpPr>
            <a:spLocks noGrp="1"/>
          </p:cNvSpPr>
          <p:nvPr>
            <p:ph type="sldNum" sz="quarter" idx="13"/>
          </p:nvPr>
        </p:nvSpPr>
        <p:spPr/>
        <p:txBody>
          <a:bodyPr/>
          <a:lstStyle/>
          <a:p>
            <a:fld id="{12342C3A-DD85-7843-B416-BD52AB030D59}" type="slidenum">
              <a:rPr lang="en-US" smtClean="0"/>
              <a:pPr/>
              <a:t>22</a:t>
            </a:fld>
            <a:endParaRPr lang="en-US" dirty="0"/>
          </a:p>
        </p:txBody>
      </p:sp>
      <p:sp>
        <p:nvSpPr>
          <p:cNvPr id="3" name="Text Placeholder 2">
            <a:extLst>
              <a:ext uri="{FF2B5EF4-FFF2-40B4-BE49-F238E27FC236}">
                <a16:creationId xmlns:a16="http://schemas.microsoft.com/office/drawing/2014/main" id="{F1F4E6F9-C873-CA92-E974-BC20ACF5833E}"/>
              </a:ext>
            </a:extLst>
          </p:cNvPr>
          <p:cNvSpPr>
            <a:spLocks noGrp="1"/>
          </p:cNvSpPr>
          <p:nvPr>
            <p:ph type="body" sz="quarter" idx="12"/>
          </p:nvPr>
        </p:nvSpPr>
        <p:spPr/>
        <p:txBody>
          <a:bodyPr>
            <a:normAutofit/>
          </a:bodyPr>
          <a:lstStyle/>
          <a:p>
            <a:endParaRPr lang="en-US" sz="2000" dirty="0"/>
          </a:p>
          <a:p>
            <a:pPr marL="285750" indent="-285750">
              <a:buFont typeface="Arial" panose="020B0604020202020204" pitchFamily="34" charset="0"/>
              <a:buChar char="•"/>
            </a:pPr>
            <a:r>
              <a:rPr lang="en-US" sz="2000" b="1" dirty="0"/>
              <a:t>Parallel Testing:</a:t>
            </a:r>
            <a:r>
              <a:rPr lang="en-US" sz="2000" dirty="0"/>
              <a:t> Implement parallel testing to run multiple test suites concurrently, reducing the time it takes for the pipeline to complete.</a:t>
            </a:r>
          </a:p>
          <a:p>
            <a:pPr marL="285750" indent="-285750">
              <a:buFont typeface="Arial" panose="020B0604020202020204" pitchFamily="34" charset="0"/>
              <a:buChar char="•"/>
            </a:pPr>
            <a:r>
              <a:rPr lang="en-US" sz="2000" b="1" dirty="0"/>
              <a:t>Optimize Build Process:</a:t>
            </a:r>
            <a:r>
              <a:rPr lang="en-US" sz="2000" dirty="0"/>
              <a:t> Optimize the build process by caching dependencies or reusing artifacts that haven’t changed, minimizing unnecessary rebuilding and speeding up the pipeline.</a:t>
            </a:r>
          </a:p>
          <a:p>
            <a:pPr marL="285750" indent="-285750">
              <a:buFont typeface="Arial" panose="020B0604020202020204" pitchFamily="34" charset="0"/>
              <a:buChar char="•"/>
            </a:pPr>
            <a:r>
              <a:rPr lang="en-US" sz="2000" b="1" dirty="0"/>
              <a:t>Containerization:</a:t>
            </a:r>
            <a:r>
              <a:rPr lang="en-US" sz="2000" dirty="0"/>
              <a:t> Use containerization (e.g., Docker) to ensure that your development and test environments are consistent and can be spun up quickly, helping scale deployments and testing.</a:t>
            </a:r>
          </a:p>
          <a:p>
            <a:pPr marL="285750" indent="-285750">
              <a:buFont typeface="Arial" panose="020B0604020202020204" pitchFamily="34" charset="0"/>
              <a:buChar char="•"/>
            </a:pPr>
            <a:r>
              <a:rPr lang="en-US" sz="2000" b="1" dirty="0"/>
              <a:t>Branch Strategy:</a:t>
            </a:r>
            <a:r>
              <a:rPr lang="en-US" sz="2000" dirty="0"/>
              <a:t> Implement a branching strategy (e.g., feature branching or </a:t>
            </a:r>
            <a:r>
              <a:rPr lang="en-US" sz="2000" dirty="0" err="1"/>
              <a:t>GitFlow</a:t>
            </a:r>
            <a:r>
              <a:rPr lang="en-US" sz="2000" dirty="0"/>
              <a:t>) to manage how code changes are introduced into the main pipeline, allowing for better organization and smoother integrations.</a:t>
            </a:r>
          </a:p>
          <a:p>
            <a:pPr marL="285750" indent="-285750">
              <a:buFont typeface="Arial" panose="020B0604020202020204" pitchFamily="34" charset="0"/>
              <a:buChar char="•"/>
            </a:pPr>
            <a:r>
              <a:rPr lang="en-US" sz="2000" b="1" dirty="0"/>
              <a:t>Automate Monitoring and Reporting:</a:t>
            </a:r>
            <a:r>
              <a:rPr lang="en-US" sz="2000" dirty="0"/>
              <a:t> Automate monitoring and reporting of the pipeline’s performance, so you can track bottlenecks, errors, and inefficiencies, addressing them proactively.</a:t>
            </a:r>
          </a:p>
          <a:p>
            <a:endParaRPr lang="en-US" sz="2000" dirty="0"/>
          </a:p>
        </p:txBody>
      </p:sp>
      <p:sp>
        <p:nvSpPr>
          <p:cNvPr id="4" name="Title 3">
            <a:extLst>
              <a:ext uri="{FF2B5EF4-FFF2-40B4-BE49-F238E27FC236}">
                <a16:creationId xmlns:a16="http://schemas.microsoft.com/office/drawing/2014/main" id="{91A12F89-3345-5940-872B-E385CDD9B511}"/>
              </a:ext>
            </a:extLst>
          </p:cNvPr>
          <p:cNvSpPr>
            <a:spLocks noGrp="1"/>
          </p:cNvSpPr>
          <p:nvPr>
            <p:ph type="title"/>
          </p:nvPr>
        </p:nvSpPr>
        <p:spPr/>
        <p:txBody>
          <a:bodyPr/>
          <a:lstStyle/>
          <a:p>
            <a:r>
              <a:rPr lang="en-US" dirty="0"/>
              <a:t>Scenario 10: Scaling CI/CD in a Growing Team</a:t>
            </a:r>
          </a:p>
        </p:txBody>
      </p:sp>
    </p:spTree>
    <p:extLst>
      <p:ext uri="{BB962C8B-B14F-4D97-AF65-F5344CB8AC3E}">
        <p14:creationId xmlns:p14="http://schemas.microsoft.com/office/powerpoint/2010/main" val="3180432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AD4DD1-6B0A-F30E-C72A-0FDB9696DA3A}"/>
              </a:ext>
            </a:extLst>
          </p:cNvPr>
          <p:cNvSpPr>
            <a:spLocks noGrp="1"/>
          </p:cNvSpPr>
          <p:nvPr>
            <p:ph type="sldNum" sz="quarter" idx="13"/>
          </p:nvPr>
        </p:nvSpPr>
        <p:spPr/>
        <p:txBody>
          <a:bodyPr/>
          <a:lstStyle/>
          <a:p>
            <a:fld id="{12342C3A-DD85-7843-B416-BD52AB030D59}" type="slidenum">
              <a:rPr lang="en-US" smtClean="0"/>
              <a:pPr/>
              <a:t>23</a:t>
            </a:fld>
            <a:endParaRPr lang="en-US" dirty="0"/>
          </a:p>
        </p:txBody>
      </p:sp>
      <p:sp>
        <p:nvSpPr>
          <p:cNvPr id="3" name="Text Placeholder 2">
            <a:extLst>
              <a:ext uri="{FF2B5EF4-FFF2-40B4-BE49-F238E27FC236}">
                <a16:creationId xmlns:a16="http://schemas.microsoft.com/office/drawing/2014/main" id="{5D3AC0A9-5685-45F4-D16D-2C067A30B469}"/>
              </a:ext>
            </a:extLst>
          </p:cNvPr>
          <p:cNvSpPr>
            <a:spLocks noGrp="1"/>
          </p:cNvSpPr>
          <p:nvPr>
            <p:ph type="body" sz="quarter" idx="12"/>
          </p:nvPr>
        </p:nvSpPr>
        <p:spPr/>
        <p:txBody>
          <a:bodyPr>
            <a:normAutofit/>
          </a:bodyPr>
          <a:lstStyle/>
          <a:p>
            <a:endParaRPr lang="en-US" sz="2400" dirty="0"/>
          </a:p>
          <a:p>
            <a:r>
              <a:rPr lang="en-US" sz="2400" dirty="0"/>
              <a:t>Your project involves working with legacy code, and your team is planning to implement CI/CD to modernize the development process. What challenges could arise in applying CI/CD to legacy systems, and how can you overcome them?</a:t>
            </a:r>
          </a:p>
        </p:txBody>
      </p:sp>
      <p:sp>
        <p:nvSpPr>
          <p:cNvPr id="4" name="Title 3">
            <a:extLst>
              <a:ext uri="{FF2B5EF4-FFF2-40B4-BE49-F238E27FC236}">
                <a16:creationId xmlns:a16="http://schemas.microsoft.com/office/drawing/2014/main" id="{3ABAA451-1FAC-E31F-947A-821B7E6BA14D}"/>
              </a:ext>
            </a:extLst>
          </p:cNvPr>
          <p:cNvSpPr>
            <a:spLocks noGrp="1"/>
          </p:cNvSpPr>
          <p:nvPr>
            <p:ph type="title"/>
          </p:nvPr>
        </p:nvSpPr>
        <p:spPr/>
        <p:txBody>
          <a:bodyPr/>
          <a:lstStyle/>
          <a:p>
            <a:r>
              <a:rPr lang="en-US" dirty="0"/>
              <a:t>Scenario 11: CI/CD and Legacy Code</a:t>
            </a:r>
          </a:p>
        </p:txBody>
      </p:sp>
    </p:spTree>
    <p:extLst>
      <p:ext uri="{BB962C8B-B14F-4D97-AF65-F5344CB8AC3E}">
        <p14:creationId xmlns:p14="http://schemas.microsoft.com/office/powerpoint/2010/main" val="845272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92447B-AC37-2496-66DC-C5F52DA47FBB}"/>
              </a:ext>
            </a:extLst>
          </p:cNvPr>
          <p:cNvSpPr>
            <a:spLocks noGrp="1"/>
          </p:cNvSpPr>
          <p:nvPr>
            <p:ph type="sldNum" sz="quarter" idx="13"/>
          </p:nvPr>
        </p:nvSpPr>
        <p:spPr/>
        <p:txBody>
          <a:bodyPr/>
          <a:lstStyle/>
          <a:p>
            <a:fld id="{12342C3A-DD85-7843-B416-BD52AB030D59}" type="slidenum">
              <a:rPr lang="en-US" smtClean="0"/>
              <a:pPr/>
              <a:t>24</a:t>
            </a:fld>
            <a:endParaRPr lang="en-US" dirty="0"/>
          </a:p>
        </p:txBody>
      </p:sp>
      <p:sp>
        <p:nvSpPr>
          <p:cNvPr id="3" name="Text Placeholder 2">
            <a:extLst>
              <a:ext uri="{FF2B5EF4-FFF2-40B4-BE49-F238E27FC236}">
                <a16:creationId xmlns:a16="http://schemas.microsoft.com/office/drawing/2014/main" id="{FEA9296C-E22F-CDD7-452E-981F403AFAE3}"/>
              </a:ext>
            </a:extLst>
          </p:cNvPr>
          <p:cNvSpPr>
            <a:spLocks noGrp="1"/>
          </p:cNvSpPr>
          <p:nvPr>
            <p:ph type="body" sz="quarter" idx="12"/>
          </p:nvPr>
        </p:nvSpPr>
        <p:spPr/>
        <p:txBody>
          <a:bodyPr>
            <a:normAutofit fontScale="92500" lnSpcReduction="10000"/>
          </a:bodyPr>
          <a:lstStyle/>
          <a:p>
            <a:pPr marL="285750" indent="-285750">
              <a:buFont typeface="Arial" panose="020B0604020202020204" pitchFamily="34" charset="0"/>
              <a:buChar char="•"/>
            </a:pPr>
            <a:r>
              <a:rPr lang="en-US" sz="1800" b="1" dirty="0"/>
              <a:t>Challenge: Lack of Automated Tests</a:t>
            </a:r>
            <a:endParaRPr lang="en-US" sz="1800" dirty="0"/>
          </a:p>
          <a:p>
            <a:pPr marL="742950" lvl="1" indent="-285750">
              <a:buFont typeface="Arial" panose="020B0604020202020204" pitchFamily="34" charset="0"/>
              <a:buChar char="•"/>
            </a:pPr>
            <a:r>
              <a:rPr lang="en-US" sz="1800" b="1" dirty="0"/>
              <a:t>Solution:</a:t>
            </a:r>
            <a:r>
              <a:rPr lang="en-US" sz="1800" dirty="0"/>
              <a:t> Start by adding automated tests for critical parts of the legacy system. Focus on creating unit tests for individual modules and work your way to larger integration tests.</a:t>
            </a:r>
          </a:p>
          <a:p>
            <a:pPr marL="285750" indent="-285750">
              <a:buFont typeface="Arial" panose="020B0604020202020204" pitchFamily="34" charset="0"/>
              <a:buChar char="•"/>
            </a:pPr>
            <a:r>
              <a:rPr lang="en-US" sz="1800" b="1" dirty="0"/>
              <a:t>Challenge: Unstable Codebase</a:t>
            </a:r>
            <a:endParaRPr lang="en-US" sz="1800" dirty="0"/>
          </a:p>
          <a:p>
            <a:pPr marL="742950" lvl="1" indent="-285750">
              <a:buFont typeface="Arial" panose="020B0604020202020204" pitchFamily="34" charset="0"/>
              <a:buChar char="•"/>
            </a:pPr>
            <a:r>
              <a:rPr lang="en-US" sz="1800" b="1" dirty="0"/>
              <a:t>Solution:</a:t>
            </a:r>
            <a:r>
              <a:rPr lang="en-US" sz="1800" dirty="0"/>
              <a:t> Implement a feature flagging system to gradually introduce changes to the legacy codebase without breaking the existing functionality. Ensure backward compatibility as you move forward with CI/CD integration.</a:t>
            </a:r>
          </a:p>
          <a:p>
            <a:pPr marL="285750" indent="-285750">
              <a:buFont typeface="Arial" panose="020B0604020202020204" pitchFamily="34" charset="0"/>
              <a:buChar char="•"/>
            </a:pPr>
            <a:r>
              <a:rPr lang="en-US" sz="1800" b="1" dirty="0"/>
              <a:t>Challenge: Slow Builds</a:t>
            </a:r>
            <a:endParaRPr lang="en-US" sz="1800" dirty="0"/>
          </a:p>
          <a:p>
            <a:pPr marL="742950" lvl="1" indent="-285750">
              <a:buFont typeface="Arial" panose="020B0604020202020204" pitchFamily="34" charset="0"/>
              <a:buChar char="•"/>
            </a:pPr>
            <a:r>
              <a:rPr lang="en-US" sz="1800" b="1" dirty="0"/>
              <a:t>Solution:</a:t>
            </a:r>
            <a:r>
              <a:rPr lang="en-US" sz="1800" dirty="0"/>
              <a:t> Break down the build process into smaller, more manageable parts. Utilize incremental builds and deploy only changed parts of the system to speed up the process.</a:t>
            </a:r>
          </a:p>
          <a:p>
            <a:pPr marL="285750" indent="-285750">
              <a:buFont typeface="Arial" panose="020B0604020202020204" pitchFamily="34" charset="0"/>
              <a:buChar char="•"/>
            </a:pPr>
            <a:r>
              <a:rPr lang="en-US" sz="1800" b="1" dirty="0"/>
              <a:t>Challenge: Lack of Infrastructure Automation</a:t>
            </a:r>
            <a:endParaRPr lang="en-US" sz="1800" dirty="0"/>
          </a:p>
          <a:p>
            <a:pPr marL="742950" lvl="1" indent="-285750">
              <a:buFont typeface="Arial" panose="020B0604020202020204" pitchFamily="34" charset="0"/>
              <a:buChar char="•"/>
            </a:pPr>
            <a:r>
              <a:rPr lang="en-US" sz="1800" b="1" dirty="0"/>
              <a:t>Solution:</a:t>
            </a:r>
            <a:r>
              <a:rPr lang="en-US" sz="1800" dirty="0"/>
              <a:t> Invest time in automating your infrastructure with appropriate tools to ensure consistency in environment setup for development, staging, and production.</a:t>
            </a:r>
          </a:p>
          <a:p>
            <a:pPr marL="285750" indent="-285750">
              <a:buFont typeface="Arial" panose="020B0604020202020204" pitchFamily="34" charset="0"/>
              <a:buChar char="•"/>
            </a:pPr>
            <a:r>
              <a:rPr lang="en-US" sz="1800" b="1" dirty="0"/>
              <a:t>Challenge: Resistance to Change</a:t>
            </a:r>
            <a:endParaRPr lang="en-US" sz="1800" dirty="0"/>
          </a:p>
          <a:p>
            <a:pPr marL="742950" lvl="1" indent="-285750">
              <a:buFont typeface="Arial" panose="020B0604020202020204" pitchFamily="34" charset="0"/>
              <a:buChar char="•"/>
            </a:pPr>
            <a:r>
              <a:rPr lang="en-US" sz="1800" b="1" dirty="0"/>
              <a:t>Solution:</a:t>
            </a:r>
            <a:r>
              <a:rPr lang="en-US" sz="1800" dirty="0"/>
              <a:t> Educate the team about the long-term benefits of CI/CD, such as reduced bugs and faster releases. Start with small wins and build confidence within the team.</a:t>
            </a:r>
          </a:p>
          <a:p>
            <a:endParaRPr lang="en-US" sz="1800" dirty="0"/>
          </a:p>
        </p:txBody>
      </p:sp>
      <p:sp>
        <p:nvSpPr>
          <p:cNvPr id="4" name="Title 3">
            <a:extLst>
              <a:ext uri="{FF2B5EF4-FFF2-40B4-BE49-F238E27FC236}">
                <a16:creationId xmlns:a16="http://schemas.microsoft.com/office/drawing/2014/main" id="{A4EEB832-49EC-023F-9292-024254566E3B}"/>
              </a:ext>
            </a:extLst>
          </p:cNvPr>
          <p:cNvSpPr>
            <a:spLocks noGrp="1"/>
          </p:cNvSpPr>
          <p:nvPr>
            <p:ph type="title"/>
          </p:nvPr>
        </p:nvSpPr>
        <p:spPr/>
        <p:txBody>
          <a:bodyPr/>
          <a:lstStyle/>
          <a:p>
            <a:r>
              <a:rPr lang="en-US" dirty="0"/>
              <a:t>Scenario 11: CI/CD and Legacy Code</a:t>
            </a:r>
          </a:p>
        </p:txBody>
      </p:sp>
    </p:spTree>
    <p:extLst>
      <p:ext uri="{BB962C8B-B14F-4D97-AF65-F5344CB8AC3E}">
        <p14:creationId xmlns:p14="http://schemas.microsoft.com/office/powerpoint/2010/main" val="2558113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F68B21-E430-0114-C0FA-42AFCFE7BA8D}"/>
              </a:ext>
            </a:extLst>
          </p:cNvPr>
          <p:cNvSpPr>
            <a:spLocks noGrp="1"/>
          </p:cNvSpPr>
          <p:nvPr>
            <p:ph type="sldNum" sz="quarter" idx="13"/>
          </p:nvPr>
        </p:nvSpPr>
        <p:spPr/>
        <p:txBody>
          <a:bodyPr/>
          <a:lstStyle/>
          <a:p>
            <a:fld id="{12342C3A-DD85-7843-B416-BD52AB030D59}" type="slidenum">
              <a:rPr lang="en-US" smtClean="0"/>
              <a:pPr/>
              <a:t>25</a:t>
            </a:fld>
            <a:endParaRPr lang="en-US" dirty="0"/>
          </a:p>
        </p:txBody>
      </p:sp>
      <p:sp>
        <p:nvSpPr>
          <p:cNvPr id="3" name="Text Placeholder 2">
            <a:extLst>
              <a:ext uri="{FF2B5EF4-FFF2-40B4-BE49-F238E27FC236}">
                <a16:creationId xmlns:a16="http://schemas.microsoft.com/office/drawing/2014/main" id="{A8C6A563-8614-4F14-49F5-FB7F61269551}"/>
              </a:ext>
            </a:extLst>
          </p:cNvPr>
          <p:cNvSpPr>
            <a:spLocks noGrp="1"/>
          </p:cNvSpPr>
          <p:nvPr>
            <p:ph type="body" sz="quarter" idx="12"/>
          </p:nvPr>
        </p:nvSpPr>
        <p:spPr/>
        <p:txBody>
          <a:bodyPr>
            <a:normAutofit/>
          </a:bodyPr>
          <a:lstStyle/>
          <a:p>
            <a:endParaRPr lang="en-US" sz="2400" dirty="0"/>
          </a:p>
          <a:p>
            <a:r>
              <a:rPr lang="en-US" sz="2400" dirty="0"/>
              <a:t>During a Pair Programming session, one developer consistently takes over the "driver" role and does most of the coding, while the other developer only provides minimal input. How should you address this situation to ensure both developers are equally contributing?</a:t>
            </a:r>
          </a:p>
        </p:txBody>
      </p:sp>
      <p:sp>
        <p:nvSpPr>
          <p:cNvPr id="4" name="Title 3">
            <a:extLst>
              <a:ext uri="{FF2B5EF4-FFF2-40B4-BE49-F238E27FC236}">
                <a16:creationId xmlns:a16="http://schemas.microsoft.com/office/drawing/2014/main" id="{8EB3AE49-6C0A-B08E-A5C5-65F0204C00EA}"/>
              </a:ext>
            </a:extLst>
          </p:cNvPr>
          <p:cNvSpPr>
            <a:spLocks noGrp="1"/>
          </p:cNvSpPr>
          <p:nvPr>
            <p:ph type="title"/>
          </p:nvPr>
        </p:nvSpPr>
        <p:spPr/>
        <p:txBody>
          <a:bodyPr>
            <a:normAutofit fontScale="90000"/>
          </a:bodyPr>
          <a:lstStyle/>
          <a:p>
            <a:r>
              <a:rPr lang="en-US" dirty="0"/>
              <a:t>Scenario 12: Pair Programming and Code Ownership</a:t>
            </a:r>
          </a:p>
        </p:txBody>
      </p:sp>
    </p:spTree>
    <p:extLst>
      <p:ext uri="{BB962C8B-B14F-4D97-AF65-F5344CB8AC3E}">
        <p14:creationId xmlns:p14="http://schemas.microsoft.com/office/powerpoint/2010/main" val="35195351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3FE5D6-27CC-8159-AAB0-D194C3714DDB}"/>
              </a:ext>
            </a:extLst>
          </p:cNvPr>
          <p:cNvSpPr>
            <a:spLocks noGrp="1"/>
          </p:cNvSpPr>
          <p:nvPr>
            <p:ph type="sldNum" sz="quarter" idx="13"/>
          </p:nvPr>
        </p:nvSpPr>
        <p:spPr/>
        <p:txBody>
          <a:bodyPr/>
          <a:lstStyle/>
          <a:p>
            <a:fld id="{12342C3A-DD85-7843-B416-BD52AB030D59}" type="slidenum">
              <a:rPr lang="en-US" smtClean="0"/>
              <a:pPr/>
              <a:t>26</a:t>
            </a:fld>
            <a:endParaRPr lang="en-US" dirty="0"/>
          </a:p>
        </p:txBody>
      </p:sp>
      <p:sp>
        <p:nvSpPr>
          <p:cNvPr id="3" name="Text Placeholder 2">
            <a:extLst>
              <a:ext uri="{FF2B5EF4-FFF2-40B4-BE49-F238E27FC236}">
                <a16:creationId xmlns:a16="http://schemas.microsoft.com/office/drawing/2014/main" id="{8962CC30-5292-161A-3566-1483E90C39D0}"/>
              </a:ext>
            </a:extLst>
          </p:cNvPr>
          <p:cNvSpPr>
            <a:spLocks noGrp="1"/>
          </p:cNvSpPr>
          <p:nvPr>
            <p:ph type="body" sz="quarter" idx="12"/>
          </p:nvPr>
        </p:nvSpPr>
        <p:spPr/>
        <p:txBody>
          <a:bodyPr>
            <a:normAutofit/>
          </a:bodyPr>
          <a:lstStyle/>
          <a:p>
            <a:endParaRPr lang="en-US" sz="2000" dirty="0"/>
          </a:p>
          <a:p>
            <a:pPr marL="285750" indent="-285750">
              <a:buFont typeface="Arial" panose="020B0604020202020204" pitchFamily="34" charset="0"/>
              <a:buChar char="•"/>
            </a:pPr>
            <a:r>
              <a:rPr lang="en-US" sz="2000" b="1" dirty="0"/>
              <a:t>Clarify Roles:</a:t>
            </a:r>
            <a:r>
              <a:rPr lang="en-US" sz="2000" dirty="0"/>
              <a:t> Remind both developers about the importance of alternating between the "driver" and "navigator" roles. This ensures both individuals are actively contributing and learning.</a:t>
            </a:r>
          </a:p>
          <a:p>
            <a:pPr marL="285750" indent="-285750">
              <a:buFont typeface="Arial" panose="020B0604020202020204" pitchFamily="34" charset="0"/>
              <a:buChar char="•"/>
            </a:pPr>
            <a:r>
              <a:rPr lang="en-US" sz="2000" b="1" dirty="0"/>
              <a:t>Encourage Active Participation:</a:t>
            </a:r>
            <a:r>
              <a:rPr lang="en-US" sz="2000" dirty="0"/>
              <a:t> Make sure the developer in the navigator role is consistently providing feedback, suggesting improvements, and challenging ideas, rather than just passively observing.</a:t>
            </a:r>
          </a:p>
          <a:p>
            <a:pPr marL="285750" indent="-285750">
              <a:buFont typeface="Arial" panose="020B0604020202020204" pitchFamily="34" charset="0"/>
              <a:buChar char="•"/>
            </a:pPr>
            <a:r>
              <a:rPr lang="en-US" sz="2000" b="1" dirty="0"/>
              <a:t>Set Expectations:</a:t>
            </a:r>
            <a:r>
              <a:rPr lang="en-US" sz="2000" dirty="0"/>
              <a:t> Set expectations before the session begins that both developers will contribute equally to the task. Consider using timers to switch roles every 15-30 minutes.</a:t>
            </a:r>
          </a:p>
          <a:p>
            <a:pPr marL="285750" indent="-285750">
              <a:buFont typeface="Arial" panose="020B0604020202020204" pitchFamily="34" charset="0"/>
              <a:buChar char="•"/>
            </a:pPr>
            <a:r>
              <a:rPr lang="en-US" sz="2000" b="1" dirty="0"/>
              <a:t>Provide Feedback:</a:t>
            </a:r>
            <a:r>
              <a:rPr lang="en-US" sz="2000" dirty="0"/>
              <a:t> After the session, provide constructive feedback to encourage both developers to contribute equally and improve their pairing dynamics.</a:t>
            </a:r>
          </a:p>
          <a:p>
            <a:endParaRPr lang="en-US" sz="2000" dirty="0"/>
          </a:p>
        </p:txBody>
      </p:sp>
      <p:sp>
        <p:nvSpPr>
          <p:cNvPr id="4" name="Title 3">
            <a:extLst>
              <a:ext uri="{FF2B5EF4-FFF2-40B4-BE49-F238E27FC236}">
                <a16:creationId xmlns:a16="http://schemas.microsoft.com/office/drawing/2014/main" id="{DDA50643-0354-6430-92F2-F5FB3960B369}"/>
              </a:ext>
            </a:extLst>
          </p:cNvPr>
          <p:cNvSpPr>
            <a:spLocks noGrp="1"/>
          </p:cNvSpPr>
          <p:nvPr>
            <p:ph type="title"/>
          </p:nvPr>
        </p:nvSpPr>
        <p:spPr/>
        <p:txBody>
          <a:bodyPr>
            <a:normAutofit fontScale="90000"/>
          </a:bodyPr>
          <a:lstStyle/>
          <a:p>
            <a:r>
              <a:rPr lang="en-US" dirty="0"/>
              <a:t>Scenario 12: Pair Programming and Code Ownership</a:t>
            </a:r>
          </a:p>
        </p:txBody>
      </p:sp>
    </p:spTree>
    <p:extLst>
      <p:ext uri="{BB962C8B-B14F-4D97-AF65-F5344CB8AC3E}">
        <p14:creationId xmlns:p14="http://schemas.microsoft.com/office/powerpoint/2010/main" val="1680278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8688526"/>
      </p:ext>
    </p:extLst>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51794</TotalTime>
  <Words>2611</Words>
  <Application>Microsoft Office PowerPoint</Application>
  <PresentationFormat>Widescreen</PresentationFormat>
  <Paragraphs>151</Paragraphs>
  <Slides>27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Arial</vt:lpstr>
      <vt:lpstr>Arial Bold</vt:lpstr>
      <vt:lpstr>Calibri</vt:lpstr>
      <vt:lpstr>IBM Plex Sans</vt:lpstr>
      <vt:lpstr>IBM Plex Sans Light</vt:lpstr>
      <vt:lpstr>IBM Plex Sans SemiBold</vt:lpstr>
      <vt:lpstr>Saira Condensed Condensed Light</vt:lpstr>
      <vt:lpstr>Saira Condensed Condensed SemiBold</vt:lpstr>
      <vt:lpstr>System Font Regular</vt:lpstr>
      <vt:lpstr>Wingdings</vt:lpstr>
      <vt:lpstr>Office Theme</vt:lpstr>
      <vt:lpstr>SSW-555: Agile Methods for Software Development</vt:lpstr>
      <vt:lpstr>Scenario 1: Continuous Integration (CI)</vt:lpstr>
      <vt:lpstr>Scenario 1: Continuous Integration (CI)</vt:lpstr>
      <vt:lpstr>Scenario 2: Continuous Delivery (CD)</vt:lpstr>
      <vt:lpstr>Scenario 2: Continuous Delivery (CD)</vt:lpstr>
      <vt:lpstr>Scenario 3: Pair Programming</vt:lpstr>
      <vt:lpstr>Scenario 3: Pair Programming</vt:lpstr>
      <vt:lpstr>Scenario 4: CI/CD Pipeline Implementation</vt:lpstr>
      <vt:lpstr>Scenario 4: CI/CD Pipeline Implementation</vt:lpstr>
      <vt:lpstr>Scenario 4: CI/CD Pipeline Implementation</vt:lpstr>
      <vt:lpstr>Scenario 5: Pair Programming with Remote Teams</vt:lpstr>
      <vt:lpstr>Scenario 5: Pair Programming with Remote Teams</vt:lpstr>
      <vt:lpstr>Scenario 6: Continuous Integration (CI) and Bug Fixing</vt:lpstr>
      <vt:lpstr>Scenario 6: Continuous Integration (CI) and Bug Fixing</vt:lpstr>
      <vt:lpstr>Scenario 7: Continuous Delivery (CD) in a Production Environment</vt:lpstr>
      <vt:lpstr>Scenario 7: Continuous Delivery (CD) in a Production Environment</vt:lpstr>
      <vt:lpstr>Scenario 8: Pair Programming and Team Dynamics</vt:lpstr>
      <vt:lpstr>Scenario 8: Pair Programming and Team Dynamics</vt:lpstr>
      <vt:lpstr>Scenario 9: CI/CD Pipeline Failures</vt:lpstr>
      <vt:lpstr>Scenario 9: CI/CD Pipeline Failures</vt:lpstr>
      <vt:lpstr>Scenario 10: Scaling CI/CD in a Growing Team</vt:lpstr>
      <vt:lpstr>Scenario 10: Scaling CI/CD in a Growing Team</vt:lpstr>
      <vt:lpstr>Scenario 11: CI/CD and Legacy Code</vt:lpstr>
      <vt:lpstr>Scenario 11: CI/CD and Legacy Code</vt:lpstr>
      <vt:lpstr>Scenario 12: Pair Programming and Code Ownership</vt:lpstr>
      <vt:lpstr>Scenario 12: Pair Programming and Code Ownership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274</cp:revision>
  <dcterms:created xsi:type="dcterms:W3CDTF">2022-11-18T01:51:09Z</dcterms:created>
  <dcterms:modified xsi:type="dcterms:W3CDTF">2025-02-20T22:25:44Z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2022-11-18T04:31:57Z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d8483dea-d78e-4bdd-b403-4d95796a875e</vt:lpwstr>
  </property>
  <property fmtid="{D5CDD505-2E9C-101B-9397-08002B2CF9AE}" pid="9" name="MSIP_Label_a73fd474-4f3c-44ed-88fb-5cc4bd2471bf_ContentBits">
    <vt:lpwstr>0</vt:lpwstr>
  </property>
</Properties>
</file>