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6"/>
  </p:notesMasterIdLst>
  <p:sldIdLst>
    <p:sldId id="334" r:id="rId2"/>
    <p:sldId id="283" r:id="rId3"/>
    <p:sldId id="284" r:id="rId4"/>
    <p:sldId id="291" r:id="rId5"/>
    <p:sldId id="335" r:id="rId6"/>
    <p:sldId id="341" r:id="rId7"/>
    <p:sldId id="342" r:id="rId8"/>
    <p:sldId id="372" r:id="rId9"/>
    <p:sldId id="292" r:id="rId10"/>
    <p:sldId id="293" r:id="rId11"/>
    <p:sldId id="343" r:id="rId12"/>
    <p:sldId id="344" r:id="rId13"/>
    <p:sldId id="373" r:id="rId14"/>
    <p:sldId id="345" r:id="rId15"/>
    <p:sldId id="374" r:id="rId16"/>
    <p:sldId id="346" r:id="rId17"/>
    <p:sldId id="347" r:id="rId18"/>
    <p:sldId id="348" r:id="rId19"/>
    <p:sldId id="349" r:id="rId20"/>
    <p:sldId id="350" r:id="rId21"/>
    <p:sldId id="294" r:id="rId22"/>
    <p:sldId id="369" r:id="rId23"/>
    <p:sldId id="295" r:id="rId24"/>
    <p:sldId id="296" r:id="rId25"/>
    <p:sldId id="297" r:id="rId26"/>
    <p:sldId id="352" r:id="rId27"/>
    <p:sldId id="298" r:id="rId28"/>
    <p:sldId id="370" r:id="rId29"/>
    <p:sldId id="300" r:id="rId30"/>
    <p:sldId id="301" r:id="rId31"/>
    <p:sldId id="302" r:id="rId32"/>
    <p:sldId id="371" r:id="rId33"/>
    <p:sldId id="303" r:id="rId34"/>
    <p:sldId id="304" r:id="rId35"/>
    <p:sldId id="353" r:id="rId36"/>
    <p:sldId id="354" r:id="rId37"/>
    <p:sldId id="355" r:id="rId38"/>
    <p:sldId id="356" r:id="rId39"/>
    <p:sldId id="357" r:id="rId40"/>
    <p:sldId id="305" r:id="rId41"/>
    <p:sldId id="306" r:id="rId42"/>
    <p:sldId id="368" r:id="rId43"/>
    <p:sldId id="307" r:id="rId44"/>
    <p:sldId id="309" r:id="rId45"/>
    <p:sldId id="310" r:id="rId46"/>
    <p:sldId id="315" r:id="rId47"/>
    <p:sldId id="308" r:id="rId48"/>
    <p:sldId id="311" r:id="rId49"/>
    <p:sldId id="312" r:id="rId50"/>
    <p:sldId id="326" r:id="rId51"/>
    <p:sldId id="327" r:id="rId52"/>
    <p:sldId id="328" r:id="rId53"/>
    <p:sldId id="351" r:id="rId54"/>
    <p:sldId id="285" r:id="rId55"/>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8023C5-C878-444D-AEF0-5A58FA7EC49C}" v="11" dt="2026-04-09T20:24:18.994"/>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68"/>
    <p:restoredTop sz="96327"/>
  </p:normalViewPr>
  <p:slideViewPr>
    <p:cSldViewPr snapToGrid="0" snapToObjects="1">
      <p:cViewPr varScale="1">
        <p:scale>
          <a:sx n="78" d="100"/>
          <a:sy n="78" d="100"/>
        </p:scale>
        <p:origin x="110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fiseh Ghorbani Renani" userId="4e4c81e4-18c3-41de-84c9-a9c36e2573f4" providerId="ADAL" clId="{37B661E7-58BB-4F9E-8846-38EE4D89C220}"/>
    <pc:docChg chg="undo custSel addSld modSld">
      <pc:chgData name="Nafiseh Ghorbani Renani" userId="4e4c81e4-18c3-41de-84c9-a9c36e2573f4" providerId="ADAL" clId="{37B661E7-58BB-4F9E-8846-38EE4D89C220}" dt="2026-04-09T20:36:49.518" v="165" actId="20577"/>
      <pc:docMkLst>
        <pc:docMk/>
      </pc:docMkLst>
      <pc:sldChg chg="modSp mod">
        <pc:chgData name="Nafiseh Ghorbani Renani" userId="4e4c81e4-18c3-41de-84c9-a9c36e2573f4" providerId="ADAL" clId="{37B661E7-58BB-4F9E-8846-38EE4D89C220}" dt="2026-04-09T19:58:05.375" v="17" actId="113"/>
        <pc:sldMkLst>
          <pc:docMk/>
          <pc:sldMk cId="3607558941" sldId="342"/>
        </pc:sldMkLst>
        <pc:spChg chg="mod">
          <ac:chgData name="Nafiseh Ghorbani Renani" userId="4e4c81e4-18c3-41de-84c9-a9c36e2573f4" providerId="ADAL" clId="{37B661E7-58BB-4F9E-8846-38EE4D89C220}" dt="2026-04-09T19:58:05.375" v="17" actId="113"/>
          <ac:spMkLst>
            <pc:docMk/>
            <pc:sldMk cId="3607558941" sldId="342"/>
            <ac:spMk id="4" creationId="{94622227-DF76-E202-A3A4-26B9ABDCA0D6}"/>
          </ac:spMkLst>
        </pc:spChg>
      </pc:sldChg>
      <pc:sldChg chg="modSp mod">
        <pc:chgData name="Nafiseh Ghorbani Renani" userId="4e4c81e4-18c3-41de-84c9-a9c36e2573f4" providerId="ADAL" clId="{37B661E7-58BB-4F9E-8846-38EE4D89C220}" dt="2026-04-09T20:24:47.609" v="102" actId="20577"/>
        <pc:sldMkLst>
          <pc:docMk/>
          <pc:sldMk cId="3565373035" sldId="343"/>
        </pc:sldMkLst>
        <pc:spChg chg="mod">
          <ac:chgData name="Nafiseh Ghorbani Renani" userId="4e4c81e4-18c3-41de-84c9-a9c36e2573f4" providerId="ADAL" clId="{37B661E7-58BB-4F9E-8846-38EE4D89C220}" dt="2026-04-09T20:23:00.920" v="81" actId="20577"/>
          <ac:spMkLst>
            <pc:docMk/>
            <pc:sldMk cId="3565373035" sldId="343"/>
            <ac:spMk id="2" creationId="{D03EB098-B4E8-74D3-2F1A-E3B48BFC9936}"/>
          </ac:spMkLst>
        </pc:spChg>
        <pc:spChg chg="mod">
          <ac:chgData name="Nafiseh Ghorbani Renani" userId="4e4c81e4-18c3-41de-84c9-a9c36e2573f4" providerId="ADAL" clId="{37B661E7-58BB-4F9E-8846-38EE4D89C220}" dt="2026-04-09T20:24:47.609" v="102" actId="20577"/>
          <ac:spMkLst>
            <pc:docMk/>
            <pc:sldMk cId="3565373035" sldId="343"/>
            <ac:spMk id="4" creationId="{4006F714-DC62-04F2-E532-229614BF96AD}"/>
          </ac:spMkLst>
        </pc:spChg>
      </pc:sldChg>
      <pc:sldChg chg="modSp mod">
        <pc:chgData name="Nafiseh Ghorbani Renani" userId="4e4c81e4-18c3-41de-84c9-a9c36e2573f4" providerId="ADAL" clId="{37B661E7-58BB-4F9E-8846-38EE4D89C220}" dt="2026-04-09T20:24:58.102" v="103" actId="14100"/>
        <pc:sldMkLst>
          <pc:docMk/>
          <pc:sldMk cId="2170828534" sldId="344"/>
        </pc:sldMkLst>
        <pc:spChg chg="mod">
          <ac:chgData name="Nafiseh Ghorbani Renani" userId="4e4c81e4-18c3-41de-84c9-a9c36e2573f4" providerId="ADAL" clId="{37B661E7-58BB-4F9E-8846-38EE4D89C220}" dt="2026-04-09T20:23:14.966" v="84"/>
          <ac:spMkLst>
            <pc:docMk/>
            <pc:sldMk cId="2170828534" sldId="344"/>
            <ac:spMk id="2" creationId="{A1751FB4-9ABF-3387-FECD-17E22AAFF6FE}"/>
          </ac:spMkLst>
        </pc:spChg>
        <pc:spChg chg="mod">
          <ac:chgData name="Nafiseh Ghorbani Renani" userId="4e4c81e4-18c3-41de-84c9-a9c36e2573f4" providerId="ADAL" clId="{37B661E7-58BB-4F9E-8846-38EE4D89C220}" dt="2026-04-09T20:24:58.102" v="103" actId="14100"/>
          <ac:spMkLst>
            <pc:docMk/>
            <pc:sldMk cId="2170828534" sldId="344"/>
            <ac:spMk id="4" creationId="{3F106E6A-C2C8-7553-9144-14516FC6796A}"/>
          </ac:spMkLst>
        </pc:spChg>
      </pc:sldChg>
      <pc:sldChg chg="modSp mod">
        <pc:chgData name="Nafiseh Ghorbani Renani" userId="4e4c81e4-18c3-41de-84c9-a9c36e2573f4" providerId="ADAL" clId="{37B661E7-58BB-4F9E-8846-38EE4D89C220}" dt="2026-04-09T20:24:26.716" v="100" actId="14100"/>
        <pc:sldMkLst>
          <pc:docMk/>
          <pc:sldMk cId="1530053543" sldId="345"/>
        </pc:sldMkLst>
        <pc:spChg chg="mod">
          <ac:chgData name="Nafiseh Ghorbani Renani" userId="4e4c81e4-18c3-41de-84c9-a9c36e2573f4" providerId="ADAL" clId="{37B661E7-58BB-4F9E-8846-38EE4D89C220}" dt="2026-04-09T20:24:02.381" v="94"/>
          <ac:spMkLst>
            <pc:docMk/>
            <pc:sldMk cId="1530053543" sldId="345"/>
            <ac:spMk id="2" creationId="{525CEDBA-3AFC-BCB9-22D9-555C6DDE66A1}"/>
          </ac:spMkLst>
        </pc:spChg>
        <pc:spChg chg="mod">
          <ac:chgData name="Nafiseh Ghorbani Renani" userId="4e4c81e4-18c3-41de-84c9-a9c36e2573f4" providerId="ADAL" clId="{37B661E7-58BB-4F9E-8846-38EE4D89C220}" dt="2026-04-09T20:24:26.716" v="100" actId="14100"/>
          <ac:spMkLst>
            <pc:docMk/>
            <pc:sldMk cId="1530053543" sldId="345"/>
            <ac:spMk id="4" creationId="{C8E01B35-9553-3AE1-2752-6128DBA9B88E}"/>
          </ac:spMkLst>
        </pc:spChg>
      </pc:sldChg>
      <pc:sldChg chg="modSp mod">
        <pc:chgData name="Nafiseh Ghorbani Renani" userId="4e4c81e4-18c3-41de-84c9-a9c36e2573f4" providerId="ADAL" clId="{37B661E7-58BB-4F9E-8846-38EE4D89C220}" dt="2026-04-09T20:27:57.266" v="118" actId="113"/>
        <pc:sldMkLst>
          <pc:docMk/>
          <pc:sldMk cId="537420703" sldId="346"/>
        </pc:sldMkLst>
        <pc:spChg chg="mod">
          <ac:chgData name="Nafiseh Ghorbani Renani" userId="4e4c81e4-18c3-41de-84c9-a9c36e2573f4" providerId="ADAL" clId="{37B661E7-58BB-4F9E-8846-38EE4D89C220}" dt="2026-04-09T20:27:57.266" v="118" actId="113"/>
          <ac:spMkLst>
            <pc:docMk/>
            <pc:sldMk cId="537420703" sldId="346"/>
            <ac:spMk id="4" creationId="{5167E548-B9B8-3945-5E9E-498239DF7527}"/>
          </ac:spMkLst>
        </pc:spChg>
      </pc:sldChg>
      <pc:sldChg chg="modSp mod">
        <pc:chgData name="Nafiseh Ghorbani Renani" userId="4e4c81e4-18c3-41de-84c9-a9c36e2573f4" providerId="ADAL" clId="{37B661E7-58BB-4F9E-8846-38EE4D89C220}" dt="2026-04-09T20:29:27.120" v="134" actId="113"/>
        <pc:sldMkLst>
          <pc:docMk/>
          <pc:sldMk cId="594379625" sldId="347"/>
        </pc:sldMkLst>
        <pc:spChg chg="mod">
          <ac:chgData name="Nafiseh Ghorbani Renani" userId="4e4c81e4-18c3-41de-84c9-a9c36e2573f4" providerId="ADAL" clId="{37B661E7-58BB-4F9E-8846-38EE4D89C220}" dt="2026-04-09T20:29:27.120" v="134" actId="113"/>
          <ac:spMkLst>
            <pc:docMk/>
            <pc:sldMk cId="594379625" sldId="347"/>
            <ac:spMk id="4" creationId="{36AD56C2-6B60-BAFE-8FE2-3BDABB59452B}"/>
          </ac:spMkLst>
        </pc:spChg>
      </pc:sldChg>
      <pc:sldChg chg="modSp mod">
        <pc:chgData name="Nafiseh Ghorbani Renani" userId="4e4c81e4-18c3-41de-84c9-a9c36e2573f4" providerId="ADAL" clId="{37B661E7-58BB-4F9E-8846-38EE4D89C220}" dt="2026-04-09T20:30:27.311" v="146" actId="113"/>
        <pc:sldMkLst>
          <pc:docMk/>
          <pc:sldMk cId="825402074" sldId="348"/>
        </pc:sldMkLst>
        <pc:spChg chg="mod">
          <ac:chgData name="Nafiseh Ghorbani Renani" userId="4e4c81e4-18c3-41de-84c9-a9c36e2573f4" providerId="ADAL" clId="{37B661E7-58BB-4F9E-8846-38EE4D89C220}" dt="2026-04-09T20:30:27.311" v="146" actId="113"/>
          <ac:spMkLst>
            <pc:docMk/>
            <pc:sldMk cId="825402074" sldId="348"/>
            <ac:spMk id="4" creationId="{0CDC13D9-12BB-5636-1DA8-14DE21888DA4}"/>
          </ac:spMkLst>
        </pc:spChg>
      </pc:sldChg>
      <pc:sldChg chg="modSp mod">
        <pc:chgData name="Nafiseh Ghorbani Renani" userId="4e4c81e4-18c3-41de-84c9-a9c36e2573f4" providerId="ADAL" clId="{37B661E7-58BB-4F9E-8846-38EE4D89C220}" dt="2026-04-09T20:36:27.208" v="158" actId="113"/>
        <pc:sldMkLst>
          <pc:docMk/>
          <pc:sldMk cId="1586510158" sldId="349"/>
        </pc:sldMkLst>
        <pc:spChg chg="mod">
          <ac:chgData name="Nafiseh Ghorbani Renani" userId="4e4c81e4-18c3-41de-84c9-a9c36e2573f4" providerId="ADAL" clId="{37B661E7-58BB-4F9E-8846-38EE4D89C220}" dt="2026-04-09T20:36:27.208" v="158" actId="113"/>
          <ac:spMkLst>
            <pc:docMk/>
            <pc:sldMk cId="1586510158" sldId="349"/>
            <ac:spMk id="4" creationId="{77A11828-35A9-FFC1-63DC-D89F40C8CDA6}"/>
          </ac:spMkLst>
        </pc:spChg>
      </pc:sldChg>
      <pc:sldChg chg="modSp mod">
        <pc:chgData name="Nafiseh Ghorbani Renani" userId="4e4c81e4-18c3-41de-84c9-a9c36e2573f4" providerId="ADAL" clId="{37B661E7-58BB-4F9E-8846-38EE4D89C220}" dt="2026-04-09T20:36:49.518" v="165" actId="20577"/>
        <pc:sldMkLst>
          <pc:docMk/>
          <pc:sldMk cId="1003446527" sldId="350"/>
        </pc:sldMkLst>
        <pc:spChg chg="mod">
          <ac:chgData name="Nafiseh Ghorbani Renani" userId="4e4c81e4-18c3-41de-84c9-a9c36e2573f4" providerId="ADAL" clId="{37B661E7-58BB-4F9E-8846-38EE4D89C220}" dt="2026-04-09T20:36:49.518" v="165" actId="20577"/>
          <ac:spMkLst>
            <pc:docMk/>
            <pc:sldMk cId="1003446527" sldId="350"/>
            <ac:spMk id="4" creationId="{DBB87782-16EE-1373-6041-793D536B01C7}"/>
          </ac:spMkLst>
        </pc:spChg>
      </pc:sldChg>
      <pc:sldChg chg="delSp modSp new mod">
        <pc:chgData name="Nafiseh Ghorbani Renani" userId="4e4c81e4-18c3-41de-84c9-a9c36e2573f4" providerId="ADAL" clId="{37B661E7-58BB-4F9E-8846-38EE4D89C220}" dt="2026-04-09T19:58:27.298" v="21" actId="113"/>
        <pc:sldMkLst>
          <pc:docMk/>
          <pc:sldMk cId="1535520577" sldId="372"/>
        </pc:sldMkLst>
        <pc:spChg chg="mod">
          <ac:chgData name="Nafiseh Ghorbani Renani" userId="4e4c81e4-18c3-41de-84c9-a9c36e2573f4" providerId="ADAL" clId="{37B661E7-58BB-4F9E-8846-38EE4D89C220}" dt="2026-04-09T19:56:27.142" v="1"/>
          <ac:spMkLst>
            <pc:docMk/>
            <pc:sldMk cId="1535520577" sldId="372"/>
            <ac:spMk id="2" creationId="{23147EEC-BB94-05EB-F9FB-B8FD3A672D3D}"/>
          </ac:spMkLst>
        </pc:spChg>
        <pc:spChg chg="del">
          <ac:chgData name="Nafiseh Ghorbani Renani" userId="4e4c81e4-18c3-41de-84c9-a9c36e2573f4" providerId="ADAL" clId="{37B661E7-58BB-4F9E-8846-38EE4D89C220}" dt="2026-04-09T19:56:30.385" v="2" actId="478"/>
          <ac:spMkLst>
            <pc:docMk/>
            <pc:sldMk cId="1535520577" sldId="372"/>
            <ac:spMk id="3" creationId="{34407F39-9309-E5FC-68DB-6C25BE4FF769}"/>
          </ac:spMkLst>
        </pc:spChg>
        <pc:spChg chg="mod">
          <ac:chgData name="Nafiseh Ghorbani Renani" userId="4e4c81e4-18c3-41de-84c9-a9c36e2573f4" providerId="ADAL" clId="{37B661E7-58BB-4F9E-8846-38EE4D89C220}" dt="2026-04-09T19:58:27.298" v="21" actId="113"/>
          <ac:spMkLst>
            <pc:docMk/>
            <pc:sldMk cId="1535520577" sldId="372"/>
            <ac:spMk id="4" creationId="{0F9B8DF1-F1C1-B692-5510-58374932F03E}"/>
          </ac:spMkLst>
        </pc:spChg>
      </pc:sldChg>
      <pc:sldChg chg="delSp modSp new mod">
        <pc:chgData name="Nafiseh Ghorbani Renani" userId="4e4c81e4-18c3-41de-84c9-a9c36e2573f4" providerId="ADAL" clId="{37B661E7-58BB-4F9E-8846-38EE4D89C220}" dt="2026-04-09T20:23:35.125" v="90" actId="14100"/>
        <pc:sldMkLst>
          <pc:docMk/>
          <pc:sldMk cId="1996864221" sldId="373"/>
        </pc:sldMkLst>
        <pc:spChg chg="mod">
          <ac:chgData name="Nafiseh Ghorbani Renani" userId="4e4c81e4-18c3-41de-84c9-a9c36e2573f4" providerId="ADAL" clId="{37B661E7-58BB-4F9E-8846-38EE4D89C220}" dt="2026-04-09T20:22:43.694" v="53" actId="20577"/>
          <ac:spMkLst>
            <pc:docMk/>
            <pc:sldMk cId="1996864221" sldId="373"/>
            <ac:spMk id="2" creationId="{F7BACDEC-8D4C-D6EB-4A13-7A176247CD3A}"/>
          </ac:spMkLst>
        </pc:spChg>
        <pc:spChg chg="del">
          <ac:chgData name="Nafiseh Ghorbani Renani" userId="4e4c81e4-18c3-41de-84c9-a9c36e2573f4" providerId="ADAL" clId="{37B661E7-58BB-4F9E-8846-38EE4D89C220}" dt="2026-04-09T20:23:32.281" v="89" actId="478"/>
          <ac:spMkLst>
            <pc:docMk/>
            <pc:sldMk cId="1996864221" sldId="373"/>
            <ac:spMk id="3" creationId="{939EA95B-626C-CD59-5EAE-7A0FCA23B0ED}"/>
          </ac:spMkLst>
        </pc:spChg>
        <pc:spChg chg="mod">
          <ac:chgData name="Nafiseh Ghorbani Renani" userId="4e4c81e4-18c3-41de-84c9-a9c36e2573f4" providerId="ADAL" clId="{37B661E7-58BB-4F9E-8846-38EE4D89C220}" dt="2026-04-09T20:23:35.125" v="90" actId="14100"/>
          <ac:spMkLst>
            <pc:docMk/>
            <pc:sldMk cId="1996864221" sldId="373"/>
            <ac:spMk id="4" creationId="{571E94A8-E041-4039-DFCD-850A351E5F08}"/>
          </ac:spMkLst>
        </pc:spChg>
      </pc:sldChg>
      <pc:sldChg chg="delSp modSp new mod">
        <pc:chgData name="Nafiseh Ghorbani Renani" userId="4e4c81e4-18c3-41de-84c9-a9c36e2573f4" providerId="ADAL" clId="{37B661E7-58BB-4F9E-8846-38EE4D89C220}" dt="2026-04-09T20:25:12.590" v="104" actId="14100"/>
        <pc:sldMkLst>
          <pc:docMk/>
          <pc:sldMk cId="846749242" sldId="374"/>
        </pc:sldMkLst>
        <pc:spChg chg="mod">
          <ac:chgData name="Nafiseh Ghorbani Renani" userId="4e4c81e4-18c3-41de-84c9-a9c36e2573f4" providerId="ADAL" clId="{37B661E7-58BB-4F9E-8846-38EE4D89C220}" dt="2026-04-09T20:24:12.443" v="96"/>
          <ac:spMkLst>
            <pc:docMk/>
            <pc:sldMk cId="846749242" sldId="374"/>
            <ac:spMk id="2" creationId="{ADE21F9A-5B62-8A92-5F52-266F81B2D469}"/>
          </ac:spMkLst>
        </pc:spChg>
        <pc:spChg chg="del">
          <ac:chgData name="Nafiseh Ghorbani Renani" userId="4e4c81e4-18c3-41de-84c9-a9c36e2573f4" providerId="ADAL" clId="{37B661E7-58BB-4F9E-8846-38EE4D89C220}" dt="2026-04-09T20:24:20.736" v="99" actId="478"/>
          <ac:spMkLst>
            <pc:docMk/>
            <pc:sldMk cId="846749242" sldId="374"/>
            <ac:spMk id="3" creationId="{FB1F7A51-3A7D-AEAE-F872-44AA59902E20}"/>
          </ac:spMkLst>
        </pc:spChg>
        <pc:spChg chg="mod">
          <ac:chgData name="Nafiseh Ghorbani Renani" userId="4e4c81e4-18c3-41de-84c9-a9c36e2573f4" providerId="ADAL" clId="{37B661E7-58BB-4F9E-8846-38EE4D89C220}" dt="2026-04-09T20:25:12.590" v="104" actId="14100"/>
          <ac:spMkLst>
            <pc:docMk/>
            <pc:sldMk cId="846749242" sldId="374"/>
            <ac:spMk id="4" creationId="{C4C19ABE-C23B-224A-3E89-25B388EC8F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974108415"/>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2</a:t>
            </a:fld>
            <a:endParaRPr lang="en-US"/>
          </a:p>
        </p:txBody>
      </p:sp>
    </p:spTree>
    <p:extLst>
      <p:ext uri="{BB962C8B-B14F-4D97-AF65-F5344CB8AC3E}">
        <p14:creationId xmlns:p14="http://schemas.microsoft.com/office/powerpoint/2010/main" val="1355851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51</a:t>
            </a:fld>
            <a:endParaRPr lang="en-US"/>
          </a:p>
        </p:txBody>
      </p:sp>
    </p:spTree>
    <p:extLst>
      <p:ext uri="{BB962C8B-B14F-4D97-AF65-F5344CB8AC3E}">
        <p14:creationId xmlns:p14="http://schemas.microsoft.com/office/powerpoint/2010/main" val="2512737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2"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15" name="TextBox 14"/>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600" indent="-228600">
              <a:defRPr/>
            </a:lvl1pPr>
            <a:lvl2pPr marL="502920" indent="-228600">
              <a:buSzPct val="100000"/>
              <a:buFont typeface="System Font Regular"/>
              <a:buChar char="-"/>
              <a:defRPr/>
            </a:lvl2pPr>
            <a:lvl3pPr marL="777240" indent="-228600">
              <a:buSzPct val="100000"/>
              <a:buFont typeface="System Font Regular"/>
              <a:buChar char="-"/>
              <a:defRPr/>
            </a:lvl3pPr>
            <a:lvl4pPr marL="1005840" indent="-228600">
              <a:buSzPct val="100000"/>
              <a:buFont typeface="System Font Regular"/>
              <a:buChar char="-"/>
              <a:defRPr/>
            </a:lvl4pPr>
            <a:lvl5pPr marL="1280160" indent="-228600">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1" y="2202874"/>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3"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3"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2"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2"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2"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032075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hdr="0" ftr="0"/>
  <p:txStyles>
    <p:titleStyle>
      <a:lvl1pPr algn="l" defTabSz="913765"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sym typeface="+mn-ea"/>
              </a:rPr>
              <a:t>Crystal</a:t>
            </a:r>
            <a:endParaRPr lang="en-US" sz="3200" b="1" dirty="0">
              <a:latin typeface="Arial Bold" panose="020B0604020202090204" charset="0"/>
            </a:endParaRPr>
          </a:p>
          <a:p>
            <a:pPr algn="l"/>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Engineering</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9DE7B6-DC7C-4BA1-B406-EDDA0C0A3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
            <a:ext cx="753770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186455" y="526752"/>
            <a:ext cx="5478379" cy="2663407"/>
          </a:xfrm>
        </p:spPr>
        <p:txBody>
          <a:bodyPr vert="horz" lIns="91440" tIns="45720" rIns="91440" bIns="45720" rtlCol="0" anchor="b">
            <a:normAutofit/>
          </a:bodyPr>
          <a:lstStyle/>
          <a:p>
            <a:pPr algn="l" defTabSz="914400"/>
            <a:r>
              <a:rPr lang="en-US" kern="1200" dirty="0">
                <a:solidFill>
                  <a:srgbClr val="FFFFFF"/>
                </a:solidFill>
                <a:latin typeface="+mj-lt"/>
                <a:ea typeface="+mj-ea"/>
                <a:cs typeface="+mj-cs"/>
              </a:rPr>
              <a:t>Today's topic</a:t>
            </a:r>
          </a:p>
        </p:txBody>
      </p:sp>
      <p:sp>
        <p:nvSpPr>
          <p:cNvPr id="3" name="Text Placeholder 2"/>
          <p:cNvSpPr>
            <a:spLocks noGrp="1"/>
          </p:cNvSpPr>
          <p:nvPr>
            <p:ph type="body" idx="1"/>
          </p:nvPr>
        </p:nvSpPr>
        <p:spPr>
          <a:xfrm>
            <a:off x="5346196" y="3428999"/>
            <a:ext cx="5478380" cy="1860883"/>
          </a:xfrm>
        </p:spPr>
        <p:txBody>
          <a:bodyPr vert="horz" lIns="91440" tIns="45720" rIns="91440" bIns="45720" rtlCol="0">
            <a:normAutofit fontScale="25000" lnSpcReduction="20000"/>
          </a:bodyPr>
          <a:lstStyle/>
          <a:p>
            <a:pPr marL="12700" algn="l" rtl="0" eaLnBrk="0">
              <a:lnSpc>
                <a:spcPts val="3695"/>
              </a:lnSpc>
            </a:pPr>
            <a:r>
              <a:rPr lang="en-US" sz="7200" spc="-60" dirty="0">
                <a:solidFill>
                  <a:schemeClr val="bg1"/>
                </a:solidFill>
                <a:latin typeface="Arial" panose="020B0604020202090204"/>
                <a:ea typeface="Arial" panose="020B0604020202090204"/>
                <a:cs typeface="Arial" panose="020B0604020202090204"/>
                <a:sym typeface="+mn-ea"/>
              </a:rPr>
              <a:t>Crystal Cle</a:t>
            </a:r>
            <a:r>
              <a:rPr lang="en-US" sz="7200" dirty="0">
                <a:solidFill>
                  <a:schemeClr val="bg1"/>
                </a:solidFill>
                <a:latin typeface="Arial" panose="020B0604020202090204"/>
                <a:ea typeface="Arial" panose="020B0604020202090204"/>
                <a:cs typeface="Arial" panose="020B0604020202090204"/>
                <a:sym typeface="+mn-ea"/>
              </a:rPr>
              <a:t>ar</a:t>
            </a:r>
            <a:endParaRPr lang="en-US" altLang="en-US" sz="7200" dirty="0">
              <a:solidFill>
                <a:schemeClr val="bg1"/>
              </a:solidFill>
            </a:endParaRPr>
          </a:p>
          <a:p>
            <a:pPr marL="292100" algn="l" rtl="0" eaLnBrk="0">
              <a:lnSpc>
                <a:spcPct val="81000"/>
              </a:lnSpc>
              <a:spcBef>
                <a:spcPts val="1940"/>
              </a:spcBef>
              <a:buClr>
                <a:schemeClr val="bg1"/>
              </a:buClr>
            </a:pPr>
            <a:r>
              <a:rPr lang="en-US" sz="7200" spc="-60" dirty="0">
                <a:solidFill>
                  <a:schemeClr val="bg1"/>
                </a:solidFill>
                <a:latin typeface="Arial" panose="020B0604020202090204"/>
                <a:ea typeface="Arial" panose="020B0604020202090204"/>
                <a:cs typeface="Arial" panose="020B0604020202090204"/>
                <a:sym typeface="+mn-ea"/>
              </a:rPr>
              <a:t>- Propertie</a:t>
            </a:r>
            <a:r>
              <a:rPr lang="en-US" sz="7200" dirty="0">
                <a:solidFill>
                  <a:schemeClr val="bg1"/>
                </a:solidFill>
                <a:latin typeface="Arial" panose="020B0604020202090204"/>
                <a:ea typeface="Arial" panose="020B0604020202090204"/>
                <a:cs typeface="Arial" panose="020B0604020202090204"/>
                <a:sym typeface="+mn-ea"/>
              </a:rPr>
              <a:t>s</a:t>
            </a:r>
            <a:endParaRPr lang="en-US" altLang="en-US" sz="7200" dirty="0">
              <a:solidFill>
                <a:schemeClr val="bg1"/>
              </a:solidFill>
            </a:endParaRPr>
          </a:p>
          <a:p>
            <a:pPr marL="281940" algn="l" rtl="0" eaLnBrk="0">
              <a:lnSpc>
                <a:spcPct val="83000"/>
              </a:lnSpc>
              <a:spcBef>
                <a:spcPts val="785"/>
              </a:spcBef>
              <a:buClr>
                <a:schemeClr val="bg1"/>
              </a:buClr>
            </a:pPr>
            <a:r>
              <a:rPr lang="en-US" sz="7200" spc="-70" dirty="0">
                <a:solidFill>
                  <a:schemeClr val="bg1"/>
                </a:solidFill>
                <a:latin typeface="Arial" panose="020B0604020202090204"/>
                <a:ea typeface="Arial" panose="020B0604020202090204"/>
                <a:cs typeface="Arial" panose="020B0604020202090204"/>
                <a:sym typeface="+mn-ea"/>
              </a:rPr>
              <a:t>- Strategies</a:t>
            </a:r>
            <a:endParaRPr lang="en-US" sz="7200" dirty="0">
              <a:solidFill>
                <a:schemeClr val="bg1"/>
              </a:solidFill>
              <a:sym typeface="+mn-ea"/>
            </a:endParaRPr>
          </a:p>
          <a:p>
            <a:pPr marL="281940" algn="l" rtl="0" eaLnBrk="0">
              <a:lnSpc>
                <a:spcPct val="83000"/>
              </a:lnSpc>
              <a:spcBef>
                <a:spcPts val="785"/>
              </a:spcBef>
              <a:buClr>
                <a:schemeClr val="bg1"/>
              </a:buClr>
            </a:pPr>
            <a:r>
              <a:rPr lang="en-US" sz="7200" spc="-100" dirty="0">
                <a:solidFill>
                  <a:schemeClr val="bg1"/>
                </a:solidFill>
                <a:latin typeface="Arial" panose="020B0604020202090204"/>
                <a:ea typeface="Arial" panose="020B0604020202090204"/>
                <a:cs typeface="Arial" panose="020B0604020202090204"/>
                <a:sym typeface="+mn-ea"/>
              </a:rPr>
              <a:t>- Technique</a:t>
            </a:r>
            <a:r>
              <a:rPr lang="en-US" sz="7200" spc="-40" dirty="0">
                <a:solidFill>
                  <a:schemeClr val="bg1"/>
                </a:solidFill>
                <a:latin typeface="Arial" panose="020B0604020202090204"/>
                <a:ea typeface="Arial" panose="020B0604020202090204"/>
                <a:cs typeface="Arial" panose="020B0604020202090204"/>
                <a:sym typeface="+mn-ea"/>
              </a:rPr>
              <a:t>s</a:t>
            </a:r>
          </a:p>
          <a:p>
            <a:pPr marL="281940" algn="l" rtl="0" eaLnBrk="0">
              <a:lnSpc>
                <a:spcPct val="83000"/>
              </a:lnSpc>
              <a:spcBef>
                <a:spcPts val="785"/>
              </a:spcBef>
              <a:buClr>
                <a:schemeClr val="bg1"/>
              </a:buClr>
            </a:pPr>
            <a:r>
              <a:rPr lang="en-US" sz="7200" spc="-80" dirty="0">
                <a:solidFill>
                  <a:schemeClr val="bg1"/>
                </a:solidFill>
                <a:latin typeface="Arial" panose="020B0604020202090204"/>
                <a:ea typeface="Arial" panose="020B0604020202090204"/>
                <a:cs typeface="Arial" panose="020B0604020202090204"/>
                <a:sym typeface="+mn-ea"/>
              </a:rPr>
              <a:t>- Roles and work product</a:t>
            </a:r>
            <a:r>
              <a:rPr lang="en-US" sz="7200" spc="-40" dirty="0">
                <a:solidFill>
                  <a:schemeClr val="bg1"/>
                </a:solidFill>
                <a:latin typeface="Arial" panose="020B0604020202090204"/>
                <a:ea typeface="Arial" panose="020B0604020202090204"/>
                <a:cs typeface="Arial" panose="020B0604020202090204"/>
                <a:sym typeface="+mn-ea"/>
              </a:rPr>
              <a:t>s</a:t>
            </a:r>
            <a:r>
              <a:rPr lang="en-US" sz="7200" dirty="0">
                <a:solidFill>
                  <a:schemeClr val="bg1"/>
                </a:solidFill>
                <a:latin typeface="Arial" panose="020B0604020202090204"/>
                <a:ea typeface="Arial" panose="020B0604020202090204"/>
                <a:cs typeface="Arial" panose="020B0604020202090204"/>
                <a:sym typeface="+mn-ea"/>
              </a:rPr>
              <a:t> </a:t>
            </a:r>
          </a:p>
          <a:p>
            <a:pPr marL="298450" indent="-285750" algn="l" eaLnBrk="0">
              <a:lnSpc>
                <a:spcPct val="140000"/>
              </a:lnSpc>
              <a:spcBef>
                <a:spcPts val="165"/>
              </a:spcBef>
            </a:pPr>
            <a:endParaRPr lang="en-US" sz="800" spc="-100" dirty="0">
              <a:solidFill>
                <a:schemeClr val="bg1"/>
              </a:solidFill>
              <a:latin typeface="Arial" panose="020B0604020202090204"/>
              <a:ea typeface="Arial" panose="020B0604020202090204"/>
              <a:cs typeface="Arial" panose="020B0604020202090204"/>
              <a:sym typeface="+mn-ea"/>
            </a:endParaRPr>
          </a:p>
          <a:p>
            <a:pPr marL="298450" indent="-285750" algn="l" eaLnBrk="0">
              <a:lnSpc>
                <a:spcPct val="140000"/>
              </a:lnSpc>
              <a:spcBef>
                <a:spcPts val="165"/>
              </a:spcBef>
            </a:pPr>
            <a:r>
              <a:rPr lang="en-US" sz="7200" spc="-100" dirty="0">
                <a:solidFill>
                  <a:schemeClr val="bg1"/>
                </a:solidFill>
                <a:latin typeface="Arial" panose="020B0604020202090204"/>
                <a:ea typeface="Arial" panose="020B0604020202090204"/>
                <a:cs typeface="Arial" panose="020B0604020202090204"/>
                <a:sym typeface="+mn-ea"/>
              </a:rPr>
              <a:t>Crystal Clear vs </a:t>
            </a:r>
            <a:r>
              <a:rPr lang="en-US" sz="7200" spc="-60" dirty="0">
                <a:solidFill>
                  <a:schemeClr val="bg1"/>
                </a:solidFill>
                <a:latin typeface="Arial" panose="020B0604020202090204"/>
                <a:ea typeface="Arial" panose="020B0604020202090204"/>
                <a:cs typeface="Arial" panose="020B0604020202090204"/>
                <a:sym typeface="+mn-ea"/>
              </a:rPr>
              <a:t>X</a:t>
            </a:r>
            <a:r>
              <a:rPr lang="en-US" sz="7200" dirty="0">
                <a:solidFill>
                  <a:schemeClr val="bg1"/>
                </a:solidFill>
                <a:latin typeface="Arial" panose="020B0604020202090204"/>
                <a:ea typeface="Arial" panose="020B0604020202090204"/>
                <a:cs typeface="Arial" panose="020B0604020202090204"/>
                <a:sym typeface="+mn-ea"/>
              </a:rPr>
              <a:t>P         </a:t>
            </a:r>
            <a:endParaRPr lang="en-US" sz="7200" spc="-90" dirty="0">
              <a:solidFill>
                <a:schemeClr val="bg1"/>
              </a:solidFill>
              <a:latin typeface="Arial" panose="020B0604020202090204"/>
              <a:ea typeface="Arial" panose="020B0604020202090204"/>
              <a:cs typeface="Arial" panose="020B0604020202090204"/>
              <a:sym typeface="+mn-ea"/>
            </a:endParaRPr>
          </a:p>
          <a:p>
            <a:pPr marL="298450" indent="-285750" algn="l" rtl="0" eaLnBrk="0">
              <a:lnSpc>
                <a:spcPct val="140000"/>
              </a:lnSpc>
              <a:spcBef>
                <a:spcPts val="165"/>
              </a:spcBef>
            </a:pPr>
            <a:r>
              <a:rPr lang="en-US" sz="7200" spc="-90" dirty="0">
                <a:solidFill>
                  <a:schemeClr val="bg1"/>
                </a:solidFill>
                <a:latin typeface="Arial" panose="020B0604020202090204"/>
                <a:ea typeface="Arial" panose="020B0604020202090204"/>
                <a:cs typeface="Arial" panose="020B0604020202090204"/>
                <a:sym typeface="+mn-ea"/>
              </a:rPr>
              <a:t>Crystal Family of Meth</a:t>
            </a:r>
            <a:r>
              <a:rPr lang="en-US" sz="7200" spc="-50" dirty="0">
                <a:solidFill>
                  <a:schemeClr val="bg1"/>
                </a:solidFill>
                <a:latin typeface="Arial" panose="020B0604020202090204"/>
                <a:ea typeface="Arial" panose="020B0604020202090204"/>
                <a:cs typeface="Arial" panose="020B0604020202090204"/>
                <a:sym typeface="+mn-ea"/>
              </a:rPr>
              <a:t>o</a:t>
            </a:r>
            <a:r>
              <a:rPr lang="en-US" sz="7200" dirty="0">
                <a:solidFill>
                  <a:schemeClr val="bg1"/>
                </a:solidFill>
                <a:latin typeface="Arial" panose="020B0604020202090204"/>
                <a:ea typeface="Arial" panose="020B0604020202090204"/>
                <a:cs typeface="Arial" panose="020B0604020202090204"/>
                <a:sym typeface="+mn-ea"/>
              </a:rPr>
              <a:t>ds</a:t>
            </a:r>
            <a:br>
              <a:rPr lang="en-US" altLang="en-US" sz="7200" kern="1200" dirty="0">
                <a:solidFill>
                  <a:schemeClr val="bg1"/>
                </a:solidFill>
                <a:latin typeface="+mn-lt"/>
                <a:ea typeface="+mn-ea"/>
                <a:cs typeface="+mn-cs"/>
                <a:sym typeface="+mn-ea"/>
              </a:rPr>
            </a:br>
            <a:endParaRPr lang="en-US" sz="7200" kern="1200" dirty="0">
              <a:solidFill>
                <a:schemeClr val="bg1"/>
              </a:solidFill>
              <a:latin typeface="+mn-lt"/>
              <a:ea typeface="+mn-ea"/>
              <a:cs typeface="+mn-cs"/>
            </a:endParaRPr>
          </a:p>
          <a:p>
            <a:pPr algn="l" defTabSz="914400" fontAlgn="auto"/>
            <a:endParaRPr lang="en-US" sz="2400" kern="1200" dirty="0">
              <a:solidFill>
                <a:schemeClr val="bg1"/>
              </a:solidFill>
              <a:latin typeface="+mn-lt"/>
              <a:ea typeface="+mn-ea"/>
              <a:cs typeface="+mn-cs"/>
            </a:endParaRPr>
          </a:p>
        </p:txBody>
      </p:sp>
      <p:pic>
        <p:nvPicPr>
          <p:cNvPr id="7" name="Graphic 6" descr="Bullseye">
            <a:extLst>
              <a:ext uri="{FF2B5EF4-FFF2-40B4-BE49-F238E27FC236}">
                <a16:creationId xmlns:a16="http://schemas.microsoft.com/office/drawing/2014/main" id="{23DFF1A2-ECD2-D7EF-1F62-2B0144ACA7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81723" y="2593485"/>
            <a:ext cx="1648572" cy="16485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836679" y="723898"/>
            <a:ext cx="6002110" cy="1495425"/>
          </a:xfrm>
        </p:spPr>
        <p:txBody>
          <a:bodyPr vert="horz" lIns="91440" tIns="45720" rIns="91440" bIns="45720" rtlCol="0" anchor="ctr">
            <a:normAutofit/>
          </a:bodyPr>
          <a:lstStyle/>
          <a:p>
            <a:pPr defTabSz="914400"/>
            <a:r>
              <a:rPr lang="en-US">
                <a:latin typeface="+mj-lt"/>
              </a:rPr>
              <a:t>Acknowledgements</a:t>
            </a:r>
          </a:p>
        </p:txBody>
      </p:sp>
      <p:sp>
        <p:nvSpPr>
          <p:cNvPr id="2" name="Content Placeholder 1"/>
          <p:cNvSpPr>
            <a:spLocks noGrp="1"/>
          </p:cNvSpPr>
          <p:nvPr>
            <p:ph idx="1"/>
          </p:nvPr>
        </p:nvSpPr>
        <p:spPr>
          <a:xfrm>
            <a:off x="836680" y="2405067"/>
            <a:ext cx="6002110" cy="3729034"/>
          </a:xfrm>
        </p:spPr>
        <p:txBody>
          <a:bodyPr vert="horz" lIns="91440" tIns="45720" rIns="91440" bIns="45720" rtlCol="0">
            <a:normAutofit/>
          </a:bodyPr>
          <a:lstStyle/>
          <a:p>
            <a:pPr defTabSz="914400">
              <a:buFont typeface="Arial" panose="020B0604020202020204" pitchFamily="34" charset="0"/>
              <a:buChar char="•"/>
            </a:pPr>
            <a:endParaRPr lang="en-US" altLang="en-US" sz="2000">
              <a:latin typeface="+mn-lt"/>
            </a:endParaRPr>
          </a:p>
          <a:p>
            <a:pPr marL="41275" defTabSz="914400">
              <a:buFont typeface="Arial" panose="020B0604020202020204" pitchFamily="34" charset="0"/>
              <a:buChar char="•"/>
            </a:pPr>
            <a:r>
              <a:rPr lang="en-US" sz="2000" i="1" spc="-70">
                <a:latin typeface="+mn-lt"/>
                <a:sym typeface="+mn-ea"/>
              </a:rPr>
              <a:t> Agile</a:t>
            </a:r>
            <a:r>
              <a:rPr lang="en-US" sz="2000" spc="-70">
                <a:latin typeface="+mn-lt"/>
                <a:sym typeface="+mn-ea"/>
              </a:rPr>
              <a:t> </a:t>
            </a:r>
            <a:r>
              <a:rPr lang="en-US" sz="2000" i="1" spc="-70">
                <a:latin typeface="+mn-lt"/>
                <a:sym typeface="+mn-ea"/>
              </a:rPr>
              <a:t>Softw</a:t>
            </a:r>
            <a:r>
              <a:rPr lang="en-US" sz="2000" i="1" spc="-50">
                <a:latin typeface="+mn-lt"/>
                <a:sym typeface="+mn-ea"/>
              </a:rPr>
              <a:t>a</a:t>
            </a:r>
            <a:r>
              <a:rPr lang="en-US" sz="2000" i="1">
                <a:latin typeface="+mn-lt"/>
                <a:sym typeface="+mn-ea"/>
              </a:rPr>
              <a:t>re</a:t>
            </a:r>
            <a:r>
              <a:rPr lang="en-US" sz="2000">
                <a:latin typeface="+mn-lt"/>
                <a:sym typeface="+mn-ea"/>
              </a:rPr>
              <a:t> </a:t>
            </a:r>
            <a:r>
              <a:rPr lang="en-US" sz="2000" i="1" spc="-110">
                <a:latin typeface="+mn-lt"/>
                <a:sym typeface="+mn-ea"/>
              </a:rPr>
              <a:t>Development</a:t>
            </a:r>
            <a:r>
              <a:rPr lang="en-US" sz="2000" spc="-110">
                <a:latin typeface="+mn-lt"/>
                <a:sym typeface="+mn-ea"/>
              </a:rPr>
              <a:t> by Alistair Cockbur</a:t>
            </a:r>
            <a:r>
              <a:rPr lang="en-US" sz="2000" spc="-50">
                <a:latin typeface="+mn-lt"/>
                <a:sym typeface="+mn-ea"/>
              </a:rPr>
              <a:t>n</a:t>
            </a:r>
            <a:endParaRPr lang="en-US" altLang="en-US" sz="2000">
              <a:latin typeface="+mn-lt"/>
            </a:endParaRPr>
          </a:p>
          <a:p>
            <a:pPr marL="12700" defTabSz="914400">
              <a:spcBef>
                <a:spcPts val="1220"/>
              </a:spcBef>
              <a:buFont typeface="Arial" panose="020B0604020202020204" pitchFamily="34" charset="0"/>
              <a:buChar char="•"/>
            </a:pPr>
            <a:r>
              <a:rPr lang="en-US" sz="2000" i="1" spc="-70">
                <a:latin typeface="+mn-lt"/>
                <a:sym typeface="+mn-ea"/>
              </a:rPr>
              <a:t> Crys</a:t>
            </a:r>
            <a:r>
              <a:rPr lang="en-US" sz="2000" i="1" spc="-60">
                <a:latin typeface="+mn-lt"/>
                <a:sym typeface="+mn-ea"/>
              </a:rPr>
              <a:t>t</a:t>
            </a:r>
            <a:r>
              <a:rPr lang="en-US" sz="2000" i="1">
                <a:latin typeface="+mn-lt"/>
                <a:sym typeface="+mn-ea"/>
              </a:rPr>
              <a:t>al</a:t>
            </a:r>
            <a:r>
              <a:rPr lang="en-US" sz="2000" spc="-70">
                <a:latin typeface="+mn-lt"/>
                <a:sym typeface="+mn-ea"/>
              </a:rPr>
              <a:t> </a:t>
            </a:r>
            <a:r>
              <a:rPr lang="en-US" sz="2000" i="1">
                <a:latin typeface="+mn-lt"/>
                <a:sym typeface="+mn-ea"/>
              </a:rPr>
              <a:t>Clear</a:t>
            </a:r>
            <a:r>
              <a:rPr lang="en-US" sz="2000" i="1" spc="-70">
                <a:latin typeface="+mn-lt"/>
                <a:sym typeface="+mn-ea"/>
              </a:rPr>
              <a:t>:</a:t>
            </a:r>
            <a:r>
              <a:rPr lang="en-US" sz="2000">
                <a:latin typeface="+mn-lt"/>
                <a:sym typeface="+mn-ea"/>
              </a:rPr>
              <a:t> </a:t>
            </a:r>
            <a:r>
              <a:rPr lang="en-US" sz="2000" i="1" spc="-100">
                <a:latin typeface="+mn-lt"/>
                <a:sym typeface="+mn-ea"/>
              </a:rPr>
              <a:t>A</a:t>
            </a:r>
            <a:r>
              <a:rPr lang="en-US" sz="2000" spc="-100">
                <a:latin typeface="+mn-lt"/>
                <a:sym typeface="+mn-ea"/>
              </a:rPr>
              <a:t> </a:t>
            </a:r>
            <a:r>
              <a:rPr lang="en-US" sz="2000" i="1" spc="-100">
                <a:latin typeface="+mn-lt"/>
                <a:sym typeface="+mn-ea"/>
              </a:rPr>
              <a:t>Human-Powered</a:t>
            </a:r>
            <a:r>
              <a:rPr lang="en-US" sz="2000" spc="-100">
                <a:latin typeface="+mn-lt"/>
                <a:sym typeface="+mn-ea"/>
              </a:rPr>
              <a:t> </a:t>
            </a:r>
            <a:r>
              <a:rPr lang="en-US" sz="2000" i="1" spc="-100">
                <a:latin typeface="+mn-lt"/>
                <a:sym typeface="+mn-ea"/>
              </a:rPr>
              <a:t>Methodology</a:t>
            </a:r>
            <a:r>
              <a:rPr lang="en-US" sz="2000" spc="-100">
                <a:latin typeface="+mn-lt"/>
                <a:sym typeface="+mn-ea"/>
              </a:rPr>
              <a:t> </a:t>
            </a:r>
            <a:r>
              <a:rPr lang="en-US" sz="2000" i="1" spc="-100">
                <a:latin typeface="+mn-lt"/>
                <a:sym typeface="+mn-ea"/>
              </a:rPr>
              <a:t>for</a:t>
            </a:r>
            <a:r>
              <a:rPr lang="en-US" sz="2000" spc="-100">
                <a:latin typeface="+mn-lt"/>
                <a:sym typeface="+mn-ea"/>
              </a:rPr>
              <a:t> </a:t>
            </a:r>
            <a:r>
              <a:rPr lang="en-US" sz="2000" i="1" spc="-100">
                <a:latin typeface="+mn-lt"/>
                <a:sym typeface="+mn-ea"/>
              </a:rPr>
              <a:t>Small</a:t>
            </a:r>
            <a:r>
              <a:rPr lang="en-US" sz="2000" spc="-100">
                <a:latin typeface="+mn-lt"/>
                <a:sym typeface="+mn-ea"/>
              </a:rPr>
              <a:t> </a:t>
            </a:r>
            <a:r>
              <a:rPr lang="en-US" sz="2000" i="1" spc="-100">
                <a:latin typeface="+mn-lt"/>
                <a:sym typeface="+mn-ea"/>
              </a:rPr>
              <a:t>Teams</a:t>
            </a:r>
            <a:r>
              <a:rPr lang="en-US" sz="2000" spc="-100">
                <a:latin typeface="+mn-lt"/>
                <a:sym typeface="+mn-ea"/>
              </a:rPr>
              <a:t> by Alist</a:t>
            </a:r>
            <a:r>
              <a:rPr lang="en-US" sz="2000" spc="-10">
                <a:latin typeface="+mn-lt"/>
                <a:sym typeface="+mn-ea"/>
              </a:rPr>
              <a:t>a</a:t>
            </a:r>
            <a:r>
              <a:rPr lang="en-US" sz="2000">
                <a:latin typeface="+mn-lt"/>
                <a:sym typeface="+mn-ea"/>
              </a:rPr>
              <a:t>ir </a:t>
            </a:r>
            <a:r>
              <a:rPr lang="en-US" sz="2000" spc="-40">
                <a:latin typeface="+mn-lt"/>
                <a:sym typeface="+mn-ea"/>
              </a:rPr>
              <a:t>Cockbur</a:t>
            </a:r>
            <a:r>
              <a:rPr lang="en-US" sz="2000" spc="-30">
                <a:latin typeface="+mn-lt"/>
                <a:sym typeface="+mn-ea"/>
              </a:rPr>
              <a:t>n</a:t>
            </a:r>
            <a:endParaRPr lang="en-US" sz="2000">
              <a:latin typeface="+mn-lt"/>
            </a:endParaRPr>
          </a:p>
        </p:txBody>
      </p:sp>
      <p:pic>
        <p:nvPicPr>
          <p:cNvPr id="5" name="picture 14">
            <a:extLst>
              <a:ext uri="{FF2B5EF4-FFF2-40B4-BE49-F238E27FC236}">
                <a16:creationId xmlns:a16="http://schemas.microsoft.com/office/drawing/2014/main" id="{9E3D6576-9644-A362-C845-626A9522F51F}"/>
              </a:ext>
            </a:extLst>
          </p:cNvPr>
          <p:cNvPicPr>
            <a:picLocks noChangeAspect="1"/>
          </p:cNvPicPr>
          <p:nvPr/>
        </p:nvPicPr>
        <p:blipFill rotWithShape="1">
          <a:blip r:embed="rId2"/>
          <a:srcRect l="2161" r="1772"/>
          <a:stretch/>
        </p:blipFill>
        <p:spPr>
          <a:xfrm rot="21600000">
            <a:off x="7199440" y="10"/>
            <a:ext cx="4992560" cy="6857990"/>
          </a:xfrm>
          <a:prstGeom prst="rect">
            <a:avLst/>
          </a:prstGeom>
          <a:effectLst/>
        </p:spPr>
      </p:pic>
      <p:sp>
        <p:nvSpPr>
          <p:cNvPr id="3" name="Slide Number Placeholder 2"/>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defRPr/>
            </a:pPr>
            <a:fld id="{4267CD5E-26CF-4249-8540-BB1D07FD4227}" type="slidenum">
              <a:rPr lang="en-US" b="0">
                <a:solidFill>
                  <a:srgbClr val="FFFFFF"/>
                </a:solidFill>
                <a:latin typeface="Calibri" panose="020F0502020204030204"/>
              </a:rPr>
              <a:pPr defTabSz="914400">
                <a:spcAft>
                  <a:spcPts val="600"/>
                </a:spcAft>
                <a:defRPr/>
              </a:pPr>
              <a:t>3</a:t>
            </a:fld>
            <a:endParaRPr lang="en-US" b="0">
              <a:solidFill>
                <a:srgbClr val="FFFFFF"/>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40" dirty="0">
                <a:solidFill>
                  <a:schemeClr val="tx1">
                    <a:alpha val="100000"/>
                  </a:schemeClr>
                </a:solidFill>
                <a:latin typeface="Arial" panose="020B0604020202090204"/>
                <a:ea typeface="Arial" panose="020B0604020202090204"/>
                <a:cs typeface="Arial" panose="020B0604020202090204"/>
                <a:sym typeface="+mn-ea"/>
              </a:rPr>
              <a:t>Alistair Cockburn on process and p</a:t>
            </a:r>
            <a:r>
              <a:rPr dirty="0">
                <a:solidFill>
                  <a:schemeClr val="tx1">
                    <a:alpha val="100000"/>
                  </a:schemeClr>
                </a:solidFill>
                <a:latin typeface="Arial" panose="020B0604020202090204"/>
                <a:ea typeface="Arial" panose="020B0604020202090204"/>
                <a:cs typeface="Arial" panose="020B0604020202090204"/>
                <a:sym typeface="+mn-ea"/>
              </a:rPr>
              <a:t>lans</a:t>
            </a:r>
            <a:br>
              <a:rPr lang="en-US" altLang="en-US" dirty="0">
                <a:solidFill>
                  <a:schemeClr val="tx1"/>
                </a:solidFill>
              </a:rPr>
            </a:br>
            <a:endParaRPr lang="en-US" altLang="en-US" dirty="0">
              <a:solidFill>
                <a:schemeClr val="tx1"/>
              </a:solidFill>
            </a:endParaRPr>
          </a:p>
        </p:txBody>
      </p:sp>
      <p:sp>
        <p:nvSpPr>
          <p:cNvPr id="2" name="Content Placeholder 1"/>
          <p:cNvSpPr>
            <a:spLocks noGrp="1"/>
          </p:cNvSpPr>
          <p:nvPr>
            <p:ph idx="1"/>
          </p:nvPr>
        </p:nvSpPr>
        <p:spPr>
          <a:xfrm>
            <a:off x="456179" y="872803"/>
            <a:ext cx="10899211" cy="5412740"/>
          </a:xfrm>
        </p:spPr>
        <p:txBody>
          <a:bodyPr>
            <a:normAutofit/>
          </a:bodyPr>
          <a:lstStyle/>
          <a:p>
            <a:pPr algn="l" rtl="0" eaLnBrk="0">
              <a:lnSpc>
                <a:spcPct val="59000"/>
              </a:lnSpc>
            </a:pPr>
            <a:endParaRPr lang="en-US" altLang="en-US" dirty="0"/>
          </a:p>
          <a:p>
            <a:pPr marL="415925" indent="-342900" eaLnBrk="0">
              <a:lnSpc>
                <a:spcPct val="114000"/>
              </a:lnSpc>
            </a:pPr>
            <a:r>
              <a:rPr sz="2400" spc="-80" dirty="0">
                <a:solidFill>
                  <a:srgbClr val="000000">
                    <a:alpha val="100000"/>
                  </a:srgbClr>
                </a:solidFill>
                <a:latin typeface="Arial" panose="020B0604020202090204"/>
                <a:ea typeface="Arial" panose="020B0604020202090204"/>
                <a:cs typeface="Arial" panose="020B0604020202090204"/>
                <a:sym typeface="+mn-ea"/>
              </a:rPr>
              <a:t>“</a:t>
            </a:r>
            <a:r>
              <a:rPr sz="2400" i="1" spc="-80" dirty="0">
                <a:solidFill>
                  <a:srgbClr val="000000">
                    <a:alpha val="100000"/>
                  </a:srgbClr>
                </a:solidFill>
                <a:latin typeface="Arial" panose="020B0604020202090204"/>
                <a:ea typeface="Arial" panose="020B0604020202090204"/>
                <a:cs typeface="Arial" panose="020B0604020202090204"/>
                <a:sym typeface="+mn-ea"/>
              </a:rPr>
              <a:t>Focusing</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i="1" spc="-80" dirty="0">
                <a:solidFill>
                  <a:srgbClr val="000000">
                    <a:alpha val="100000"/>
                  </a:srgbClr>
                </a:solidFill>
                <a:latin typeface="Arial" panose="020B0604020202090204"/>
                <a:ea typeface="Arial" panose="020B0604020202090204"/>
                <a:cs typeface="Arial" panose="020B0604020202090204"/>
                <a:sym typeface="+mn-ea"/>
              </a:rPr>
              <a:t>on</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i="1" spc="-80" dirty="0">
                <a:solidFill>
                  <a:srgbClr val="000000">
                    <a:alpha val="100000"/>
                  </a:srgbClr>
                </a:solidFill>
                <a:latin typeface="Arial" panose="020B0604020202090204"/>
                <a:ea typeface="Arial" panose="020B0604020202090204"/>
                <a:cs typeface="Arial" panose="020B0604020202090204"/>
                <a:sym typeface="+mn-ea"/>
              </a:rPr>
              <a:t>skills,</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i="1" spc="-80" dirty="0">
                <a:solidFill>
                  <a:srgbClr val="000000">
                    <a:alpha val="100000"/>
                  </a:srgbClr>
                </a:solidFill>
                <a:latin typeface="Arial" panose="020B0604020202090204"/>
                <a:ea typeface="Arial" panose="020B0604020202090204"/>
                <a:cs typeface="Arial" panose="020B0604020202090204"/>
                <a:sym typeface="+mn-ea"/>
              </a:rPr>
              <a:t>communications,</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i="1" spc="-80" dirty="0">
                <a:solidFill>
                  <a:srgbClr val="000000">
                    <a:alpha val="100000"/>
                  </a:srgbClr>
                </a:solidFill>
                <a:latin typeface="Arial" panose="020B0604020202090204"/>
                <a:ea typeface="Arial" panose="020B0604020202090204"/>
                <a:cs typeface="Arial" panose="020B0604020202090204"/>
                <a:sym typeface="+mn-ea"/>
              </a:rPr>
              <a:t>and</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i="1" spc="-80" dirty="0">
                <a:solidFill>
                  <a:srgbClr val="000000">
                    <a:alpha val="100000"/>
                  </a:srgbClr>
                </a:solidFill>
                <a:latin typeface="Arial" panose="020B0604020202090204"/>
                <a:ea typeface="Arial" panose="020B0604020202090204"/>
                <a:cs typeface="Arial" panose="020B0604020202090204"/>
                <a:sym typeface="+mn-ea"/>
              </a:rPr>
              <a:t>communit</a:t>
            </a:r>
            <a:r>
              <a:rPr sz="2400" i="1" spc="-30" dirty="0">
                <a:solidFill>
                  <a:srgbClr val="000000">
                    <a:alpha val="100000"/>
                  </a:srgbClr>
                </a:solidFill>
                <a:latin typeface="Arial" panose="020B0604020202090204"/>
                <a:ea typeface="Arial" panose="020B0604020202090204"/>
                <a:cs typeface="Arial" panose="020B0604020202090204"/>
                <a:sym typeface="+mn-ea"/>
              </a:rPr>
              <a:t>y</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i="1" dirty="0">
                <a:solidFill>
                  <a:srgbClr val="000000">
                    <a:alpha val="100000"/>
                  </a:srgbClr>
                </a:solidFill>
                <a:latin typeface="Arial" panose="020B0604020202090204"/>
                <a:ea typeface="Arial" panose="020B0604020202090204"/>
                <a:cs typeface="Arial" panose="020B0604020202090204"/>
                <a:sym typeface="+mn-ea"/>
              </a:rPr>
              <a:t>allows</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the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project</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to</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be</a:t>
            </a:r>
            <a:r>
              <a:rPr lang="en-US" sz="2400" i="1"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more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effective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and</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more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agile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than</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f</a:t>
            </a:r>
            <a:r>
              <a:rPr sz="2400" i="1" spc="-30" dirty="0">
                <a:solidFill>
                  <a:srgbClr val="000000">
                    <a:alpha val="100000"/>
                  </a:srgbClr>
                </a:solidFill>
                <a:latin typeface="Arial" panose="020B0604020202090204"/>
                <a:ea typeface="Arial" panose="020B0604020202090204"/>
                <a:cs typeface="Arial" panose="020B0604020202090204"/>
                <a:sym typeface="+mn-ea"/>
              </a:rPr>
              <a:t>o</a:t>
            </a:r>
            <a:r>
              <a:rPr sz="2400" i="1" dirty="0">
                <a:solidFill>
                  <a:srgbClr val="000000">
                    <a:alpha val="100000"/>
                  </a:srgbClr>
                </a:solidFill>
                <a:latin typeface="Arial" panose="020B0604020202090204"/>
                <a:ea typeface="Arial" panose="020B0604020202090204"/>
                <a:cs typeface="Arial" panose="020B0604020202090204"/>
                <a:sym typeface="+mn-ea"/>
              </a:rPr>
              <a:t>cusing</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i="1" spc="-90" dirty="0">
                <a:solidFill>
                  <a:srgbClr val="000000">
                    <a:alpha val="100000"/>
                  </a:srgbClr>
                </a:solidFill>
                <a:latin typeface="Arial" panose="020B0604020202090204"/>
                <a:ea typeface="Arial" panose="020B0604020202090204"/>
                <a:cs typeface="Arial" panose="020B0604020202090204"/>
                <a:sym typeface="+mn-ea"/>
              </a:rPr>
              <a:t>on</a:t>
            </a:r>
            <a:r>
              <a:rPr sz="2400" spc="-90" dirty="0">
                <a:solidFill>
                  <a:srgbClr val="000000">
                    <a:alpha val="100000"/>
                  </a:srgbClr>
                </a:solidFill>
                <a:latin typeface="Arial" panose="020B0604020202090204"/>
                <a:ea typeface="Arial" panose="020B0604020202090204"/>
                <a:cs typeface="Arial" panose="020B0604020202090204"/>
                <a:sym typeface="+mn-ea"/>
              </a:rPr>
              <a:t> </a:t>
            </a:r>
            <a:r>
              <a:rPr sz="2400" i="1" spc="-90" dirty="0">
                <a:solidFill>
                  <a:srgbClr val="000000">
                    <a:alpha val="100000"/>
                  </a:srgbClr>
                </a:solidFill>
                <a:latin typeface="Arial" panose="020B0604020202090204"/>
                <a:ea typeface="Arial" panose="020B0604020202090204"/>
                <a:cs typeface="Arial" panose="020B0604020202090204"/>
                <a:sym typeface="+mn-ea"/>
              </a:rPr>
              <a:t>processes</a:t>
            </a:r>
            <a:r>
              <a:rPr sz="2400" spc="-90" dirty="0">
                <a:solidFill>
                  <a:srgbClr val="000000">
                    <a:alpha val="100000"/>
                  </a:srgbClr>
                </a:solidFill>
                <a:latin typeface="Arial" panose="020B0604020202090204"/>
                <a:ea typeface="Arial" panose="020B0604020202090204"/>
                <a:cs typeface="Arial" panose="020B0604020202090204"/>
                <a:sym typeface="+mn-ea"/>
              </a:rPr>
              <a:t> </a:t>
            </a:r>
            <a:r>
              <a:rPr sz="2400" i="1" spc="-90" dirty="0">
                <a:solidFill>
                  <a:srgbClr val="000000">
                    <a:alpha val="100000"/>
                  </a:srgbClr>
                </a:solidFill>
                <a:latin typeface="Arial" panose="020B0604020202090204"/>
                <a:ea typeface="Arial" panose="020B0604020202090204"/>
                <a:cs typeface="Arial" panose="020B0604020202090204"/>
                <a:sym typeface="+mn-ea"/>
              </a:rPr>
              <a:t>and</a:t>
            </a:r>
            <a:r>
              <a:rPr sz="2400" spc="-90" dirty="0">
                <a:solidFill>
                  <a:srgbClr val="000000">
                    <a:alpha val="100000"/>
                  </a:srgbClr>
                </a:solidFill>
                <a:latin typeface="Arial" panose="020B0604020202090204"/>
                <a:ea typeface="Arial" panose="020B0604020202090204"/>
                <a:cs typeface="Arial" panose="020B0604020202090204"/>
                <a:sym typeface="+mn-ea"/>
              </a:rPr>
              <a:t> </a:t>
            </a:r>
            <a:r>
              <a:rPr sz="2400" i="1" spc="-90" dirty="0">
                <a:solidFill>
                  <a:srgbClr val="000000">
                    <a:alpha val="100000"/>
                  </a:srgbClr>
                </a:solidFill>
                <a:latin typeface="Arial" panose="020B0604020202090204"/>
                <a:ea typeface="Arial" panose="020B0604020202090204"/>
                <a:cs typeface="Arial" panose="020B0604020202090204"/>
                <a:sym typeface="+mn-ea"/>
              </a:rPr>
              <a:t>plan</a:t>
            </a:r>
            <a:r>
              <a:rPr sz="2400" i="1" spc="-80" dirty="0">
                <a:solidFill>
                  <a:srgbClr val="000000">
                    <a:alpha val="100000"/>
                  </a:srgbClr>
                </a:solidFill>
                <a:latin typeface="Arial" panose="020B0604020202090204"/>
                <a:ea typeface="Arial" panose="020B0604020202090204"/>
                <a:cs typeface="Arial" panose="020B0604020202090204"/>
                <a:sym typeface="+mn-ea"/>
              </a:rPr>
              <a:t>s</a:t>
            </a:r>
            <a:r>
              <a:rPr sz="2400" spc="-90" dirty="0">
                <a:solidFill>
                  <a:srgbClr val="000000">
                    <a:alpha val="100000"/>
                  </a:srgbClr>
                </a:solidFill>
                <a:latin typeface="Arial" panose="020B0604020202090204"/>
                <a:ea typeface="Arial" panose="020B0604020202090204"/>
                <a:cs typeface="Arial" panose="020B0604020202090204"/>
                <a:sym typeface="+mn-ea"/>
              </a:rPr>
              <a:t>”  </a:t>
            </a:r>
          </a:p>
          <a:p>
            <a:pPr marL="73025" indent="0" algn="l" rtl="0" eaLnBrk="0">
              <a:lnSpc>
                <a:spcPct val="114000"/>
              </a:lnSpc>
              <a:buNone/>
            </a:pPr>
            <a:r>
              <a:rPr lang="en-US" sz="2400" spc="-4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Bold" panose="020B0604020202090204" charset="0"/>
                <a:ea typeface="Arial" panose="020B0604020202090204"/>
                <a:cs typeface="Arial Bold" panose="020B0604020202090204" charset="0"/>
                <a:sym typeface="+mn-ea"/>
              </a:rPr>
              <a:t>– Alistair Cockbu</a:t>
            </a:r>
            <a:r>
              <a:rPr sz="2400" b="1" spc="-30" dirty="0">
                <a:solidFill>
                  <a:srgbClr val="000000">
                    <a:alpha val="100000"/>
                  </a:srgbClr>
                </a:solidFill>
                <a:latin typeface="Arial Bold" panose="020B0604020202090204" charset="0"/>
                <a:ea typeface="Arial" panose="020B0604020202090204"/>
                <a:cs typeface="Arial Bold" panose="020B0604020202090204" charset="0"/>
                <a:sym typeface="+mn-ea"/>
              </a:rPr>
              <a:t>r</a:t>
            </a:r>
            <a:r>
              <a:rPr sz="2400" b="1" dirty="0">
                <a:solidFill>
                  <a:srgbClr val="000000">
                    <a:alpha val="100000"/>
                  </a:srgbClr>
                </a:solidFill>
                <a:latin typeface="Arial Bold" panose="020B0604020202090204" charset="0"/>
                <a:ea typeface="Arial" panose="020B0604020202090204"/>
                <a:cs typeface="Arial Bold" panose="020B0604020202090204" charset="0"/>
                <a:sym typeface="+mn-ea"/>
              </a:rPr>
              <a:t>n</a:t>
            </a:r>
            <a:endParaRPr lang="en-US" altLang="en-US" sz="2400" dirty="0"/>
          </a:p>
          <a:p>
            <a:pPr algn="l" rtl="0" eaLnBrk="0">
              <a:lnSpc>
                <a:spcPct val="114000"/>
              </a:lnSpc>
            </a:pPr>
            <a:endParaRPr lang="en-US" altLang="en-US" sz="2400" dirty="0"/>
          </a:p>
          <a:p>
            <a:pPr algn="l" rtl="0" eaLnBrk="0">
              <a:lnSpc>
                <a:spcPct val="114000"/>
              </a:lnSpc>
            </a:pPr>
            <a:endParaRPr lang="en-US" altLang="en-US" sz="2400" dirty="0"/>
          </a:p>
          <a:p>
            <a:pPr algn="l" rtl="0" eaLnBrk="0">
              <a:lnSpc>
                <a:spcPct val="114000"/>
              </a:lnSpc>
            </a:pPr>
            <a:endParaRPr lang="en-US" altLang="en-US" sz="2400" dirty="0"/>
          </a:p>
          <a:p>
            <a:pPr marL="429260" indent="-342900" eaLnBrk="0">
              <a:lnSpc>
                <a:spcPct val="105000"/>
              </a:lnSpc>
              <a:spcBef>
                <a:spcPts val="880"/>
              </a:spcBef>
            </a:pPr>
            <a:r>
              <a:rPr sz="2400" spc="-60" dirty="0">
                <a:solidFill>
                  <a:srgbClr val="000000">
                    <a:alpha val="100000"/>
                  </a:srgbClr>
                </a:solidFill>
                <a:latin typeface="Arial" panose="020B0604020202090204"/>
                <a:ea typeface="Arial" panose="020B0604020202090204"/>
                <a:cs typeface="Arial" panose="020B0604020202090204"/>
                <a:sym typeface="+mn-ea"/>
              </a:rPr>
              <a:t>Process and planning are important, but pe</a:t>
            </a:r>
            <a:r>
              <a:rPr sz="2400" spc="-20" dirty="0">
                <a:solidFill>
                  <a:srgbClr val="000000">
                    <a:alpha val="100000"/>
                  </a:srgbClr>
                </a:solidFill>
                <a:latin typeface="Arial" panose="020B0604020202090204"/>
                <a:ea typeface="Arial" panose="020B0604020202090204"/>
                <a:cs typeface="Arial" panose="020B0604020202090204"/>
                <a:sym typeface="+mn-ea"/>
              </a:rPr>
              <a:t>o</a:t>
            </a:r>
            <a:r>
              <a:rPr sz="2400" dirty="0">
                <a:solidFill>
                  <a:srgbClr val="000000">
                    <a:alpha val="100000"/>
                  </a:srgbClr>
                </a:solidFill>
                <a:latin typeface="Arial" panose="020B0604020202090204"/>
                <a:ea typeface="Arial" panose="020B0604020202090204"/>
                <a:cs typeface="Arial" panose="020B0604020202090204"/>
                <a:sym typeface="+mn-ea"/>
              </a:rPr>
              <a:t>ple</a:t>
            </a:r>
            <a:r>
              <a:rPr sz="2400" spc="-6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100" dirty="0">
                <a:solidFill>
                  <a:srgbClr val="000000">
                    <a:alpha val="100000"/>
                  </a:srgbClr>
                </a:solidFill>
                <a:latin typeface="Arial" panose="020B0604020202090204"/>
                <a:ea typeface="Arial" panose="020B0604020202090204"/>
                <a:cs typeface="Arial" panose="020B0604020202090204"/>
                <a:sym typeface="+mn-ea"/>
              </a:rPr>
              <a:t>interactions, community, skills, and talent are </a:t>
            </a:r>
            <a:r>
              <a:rPr sz="2400" spc="-90" dirty="0">
                <a:solidFill>
                  <a:srgbClr val="000000">
                    <a:alpha val="100000"/>
                  </a:srgbClr>
                </a:solidFill>
                <a:latin typeface="Arial" panose="020B0604020202090204"/>
                <a:ea typeface="Arial" panose="020B0604020202090204"/>
                <a:cs typeface="Arial" panose="020B0604020202090204"/>
                <a:sym typeface="+mn-ea"/>
              </a:rPr>
              <a:t>m</a:t>
            </a:r>
            <a:r>
              <a:rPr sz="2400" dirty="0">
                <a:solidFill>
                  <a:srgbClr val="000000">
                    <a:alpha val="100000"/>
                  </a:srgbClr>
                </a:solidFill>
                <a:latin typeface="Arial" panose="020B0604020202090204"/>
                <a:ea typeface="Arial" panose="020B0604020202090204"/>
                <a:cs typeface="Arial" panose="020B0604020202090204"/>
                <a:sym typeface="+mn-ea"/>
              </a:rPr>
              <a:t>ore </a:t>
            </a:r>
            <a:r>
              <a:rPr sz="2400" spc="-30" dirty="0">
                <a:solidFill>
                  <a:srgbClr val="000000">
                    <a:alpha val="100000"/>
                  </a:srgbClr>
                </a:solidFill>
                <a:latin typeface="Arial" panose="020B0604020202090204"/>
                <a:ea typeface="Arial" panose="020B0604020202090204"/>
                <a:cs typeface="Arial" panose="020B0604020202090204"/>
                <a:sym typeface="+mn-ea"/>
              </a:rPr>
              <a:t>import</a:t>
            </a:r>
            <a:r>
              <a:rPr sz="2400" spc="-10" dirty="0">
                <a:solidFill>
                  <a:srgbClr val="000000">
                    <a:alpha val="100000"/>
                  </a:srgbClr>
                </a:solidFill>
                <a:latin typeface="Arial" panose="020B0604020202090204"/>
                <a:ea typeface="Arial" panose="020B0604020202090204"/>
                <a:cs typeface="Arial" panose="020B0604020202090204"/>
                <a:sym typeface="+mn-ea"/>
              </a:rPr>
              <a:t>a</a:t>
            </a:r>
            <a:r>
              <a:rPr sz="2400" dirty="0">
                <a:solidFill>
                  <a:srgbClr val="000000">
                    <a:alpha val="100000"/>
                  </a:srgbClr>
                </a:solidFill>
                <a:latin typeface="Arial" panose="020B0604020202090204"/>
                <a:ea typeface="Arial" panose="020B0604020202090204"/>
                <a:cs typeface="Arial" panose="020B0604020202090204"/>
                <a:sym typeface="+mn-ea"/>
              </a:rPr>
              <a:t>nt</a:t>
            </a:r>
            <a:endParaRPr lang="en-US" altLang="en-US" sz="2400" dirty="0"/>
          </a:p>
          <a:p>
            <a:pPr algn="l" rtl="0" eaLnBrk="0">
              <a:lnSpc>
                <a:spcPct val="108000"/>
              </a:lnSpc>
            </a:pPr>
            <a:endParaRPr lang="en-US" altLang="en-US" sz="2400" dirty="0"/>
          </a:p>
          <a:p>
            <a:pPr marL="64135" indent="0" algn="l" rtl="0" eaLnBrk="0">
              <a:lnSpc>
                <a:spcPct val="105000"/>
              </a:lnSpc>
              <a:spcBef>
                <a:spcPts val="0"/>
              </a:spcBef>
              <a:buNone/>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4</a:t>
            </a:fld>
            <a:endParaRPr lang="en-US"/>
          </a:p>
        </p:txBody>
      </p:sp>
      <p:pic>
        <p:nvPicPr>
          <p:cNvPr id="24" name="picture 24"/>
          <p:cNvPicPr>
            <a:picLocks noChangeAspect="1"/>
          </p:cNvPicPr>
          <p:nvPr/>
        </p:nvPicPr>
        <p:blipFill>
          <a:blip r:embed="rId2"/>
          <a:stretch>
            <a:fillRect/>
          </a:stretch>
        </p:blipFill>
        <p:spPr>
          <a:xfrm rot="21600000">
            <a:off x="7869918" y="2229547"/>
            <a:ext cx="1297589" cy="18107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91440" tIns="45720" rIns="91440" bIns="45720" rtlCol="0" anchor="t">
            <a:normAutofit/>
          </a:bodyPr>
          <a:lstStyle/>
          <a:p>
            <a:r>
              <a:rPr sz="3600" spc="-40" dirty="0">
                <a:solidFill>
                  <a:schemeClr val="tx1">
                    <a:alpha val="100000"/>
                  </a:schemeClr>
                </a:solidFill>
                <a:latin typeface="Arial" panose="020B0604020202090204"/>
                <a:cs typeface="Arial" panose="020B0604020202090204"/>
                <a:sym typeface="+mn-ea"/>
              </a:rPr>
              <a:t>Agile Manifesto (2001)</a:t>
            </a:r>
            <a:endParaRPr lang="en-US" sz="3600" spc="-40" dirty="0">
              <a:solidFill>
                <a:schemeClr val="tx1">
                  <a:alpha val="100000"/>
                </a:schemeClr>
              </a:solidFill>
              <a:latin typeface="Arial" panose="020B0604020202090204"/>
              <a:cs typeface="Arial" panose="020B0604020202090204"/>
            </a:endParaRPr>
          </a:p>
        </p:txBody>
      </p:sp>
      <p:sp>
        <p:nvSpPr>
          <p:cNvPr id="2" name="Content Placeholder 1"/>
          <p:cNvSpPr>
            <a:spLocks noGrp="1"/>
          </p:cNvSpPr>
          <p:nvPr>
            <p:ph idx="1"/>
          </p:nvPr>
        </p:nvSpPr>
        <p:spPr>
          <a:xfrm>
            <a:off x="401320" y="1319530"/>
            <a:ext cx="9505950" cy="4655820"/>
          </a:xfrm>
        </p:spPr>
        <p:txBody>
          <a:bodyPr>
            <a:noAutofit/>
          </a:bodyPr>
          <a:lstStyle/>
          <a:p>
            <a:pPr marL="603885" indent="-285750" algn="l" rtl="0" eaLnBrk="0">
              <a:lnSpc>
                <a:spcPct val="96000"/>
              </a:lnSpc>
              <a:spcBef>
                <a:spcPts val="700"/>
              </a:spcBef>
            </a:pPr>
            <a:r>
              <a:rPr sz="2400" spc="-50" dirty="0">
                <a:solidFill>
                  <a:srgbClr val="000000">
                    <a:alpha val="100000"/>
                  </a:srgbClr>
                </a:solidFill>
                <a:latin typeface="Arial" panose="020B0604020202090204"/>
                <a:ea typeface="Arial" panose="020B0604020202090204"/>
                <a:cs typeface="Arial" panose="020B0604020202090204"/>
                <a:sym typeface="+mn-ea"/>
              </a:rPr>
              <a:t>We are uncovering better ways of develop</a:t>
            </a:r>
            <a:r>
              <a:rPr sz="2400" spc="-40" dirty="0">
                <a:solidFill>
                  <a:srgbClr val="000000">
                    <a:alpha val="100000"/>
                  </a:srgbClr>
                </a:solidFill>
                <a:latin typeface="Arial" panose="020B0604020202090204"/>
                <a:ea typeface="Arial" panose="020B0604020202090204"/>
                <a:cs typeface="Arial" panose="020B0604020202090204"/>
                <a:sym typeface="+mn-ea"/>
              </a:rPr>
              <a:t>i</a:t>
            </a:r>
            <a:r>
              <a:rPr sz="2400" dirty="0">
                <a:solidFill>
                  <a:srgbClr val="000000">
                    <a:alpha val="100000"/>
                  </a:srgbClr>
                </a:solidFill>
                <a:latin typeface="Arial" panose="020B0604020202090204"/>
                <a:ea typeface="Arial" panose="020B0604020202090204"/>
                <a:cs typeface="Arial" panose="020B0604020202090204"/>
                <a:sym typeface="+mn-ea"/>
              </a:rPr>
              <a:t>ng </a:t>
            </a:r>
            <a:r>
              <a:rPr sz="2400" spc="-30" dirty="0">
                <a:solidFill>
                  <a:srgbClr val="000000">
                    <a:alpha val="100000"/>
                  </a:srgbClr>
                </a:solidFill>
                <a:latin typeface="Arial" panose="020B0604020202090204"/>
                <a:ea typeface="Arial" panose="020B0604020202090204"/>
                <a:cs typeface="Arial" panose="020B0604020202090204"/>
                <a:sym typeface="+mn-ea"/>
              </a:rPr>
              <a:t>software by doing it and helping other</a:t>
            </a:r>
            <a:r>
              <a:rPr sz="2400" spc="-20" dirty="0">
                <a:solidFill>
                  <a:srgbClr val="000000">
                    <a:alpha val="100000"/>
                  </a:srgbClr>
                </a:solidFill>
                <a:latin typeface="Arial" panose="020B0604020202090204"/>
                <a:ea typeface="Arial" panose="020B0604020202090204"/>
                <a:cs typeface="Arial" panose="020B0604020202090204"/>
                <a:sym typeface="+mn-ea"/>
              </a:rPr>
              <a:t>s</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do</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it</a:t>
            </a:r>
            <a:endParaRPr sz="2400" spc="-3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r>
              <a:rPr sz="2400" spc="-40" dirty="0">
                <a:solidFill>
                  <a:srgbClr val="000000">
                    <a:alpha val="100000"/>
                  </a:srgbClr>
                </a:solidFill>
                <a:latin typeface="Arial" panose="020B0604020202090204"/>
                <a:ea typeface="Arial" panose="020B0604020202090204"/>
                <a:cs typeface="Arial" panose="020B0604020202090204"/>
                <a:sym typeface="+mn-ea"/>
              </a:rPr>
              <a:t>Through this work we have come to v</a:t>
            </a:r>
            <a:r>
              <a:rPr sz="2400" dirty="0">
                <a:solidFill>
                  <a:srgbClr val="000000">
                    <a:alpha val="100000"/>
                  </a:srgbClr>
                </a:solidFill>
                <a:latin typeface="Arial" panose="020B0604020202090204"/>
                <a:ea typeface="Arial" panose="020B0604020202090204"/>
                <a:cs typeface="Arial" panose="020B0604020202090204"/>
                <a:sym typeface="+mn-ea"/>
              </a:rPr>
              <a:t>alue</a:t>
            </a:r>
            <a:r>
              <a:rPr sz="2400" spc="-40" dirty="0">
                <a:solidFill>
                  <a:srgbClr val="000000">
                    <a:alpha val="100000"/>
                  </a:srgbClr>
                </a:solidFill>
                <a:latin typeface="Arial" panose="020B0604020202090204"/>
                <a:ea typeface="Arial" panose="020B0604020202090204"/>
                <a:cs typeface="Arial" panose="020B0604020202090204"/>
                <a:sym typeface="+mn-ea"/>
              </a:rPr>
              <a:t>:</a:t>
            </a:r>
          </a:p>
          <a:p>
            <a:pPr marL="1061085" lvl="1" indent="-285750" algn="l" rtl="0" eaLnBrk="0">
              <a:lnSpc>
                <a:spcPct val="96000"/>
              </a:lnSpc>
              <a:spcBef>
                <a:spcPts val="700"/>
              </a:spcBef>
            </a:pPr>
            <a:r>
              <a:rPr sz="2400" b="1" u="sng" spc="-20" dirty="0">
                <a:solidFill>
                  <a:srgbClr val="000000">
                    <a:alpha val="100000"/>
                  </a:srgbClr>
                </a:solidFill>
                <a:latin typeface="Arial" panose="020B0604020202090204"/>
                <a:ea typeface="Arial" panose="020B0604020202090204"/>
                <a:cs typeface="Arial" panose="020B0604020202090204"/>
                <a:sym typeface="+mn-ea"/>
              </a:rPr>
              <a:t>Individuals</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and</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interactions</a:t>
            </a:r>
            <a:r>
              <a:rPr sz="2400" spc="-20" dirty="0">
                <a:solidFill>
                  <a:srgbClr val="000000">
                    <a:alpha val="100000"/>
                  </a:srgbClr>
                </a:solidFill>
                <a:latin typeface="Arial" panose="020B0604020202090204"/>
                <a:ea typeface="Arial" panose="020B0604020202090204"/>
                <a:cs typeface="Arial" panose="020B0604020202090204"/>
                <a:sym typeface="+mn-ea"/>
              </a:rPr>
              <a:t> ov</a:t>
            </a:r>
            <a:r>
              <a:rPr sz="2400" spc="-1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processes</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and</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tools</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061085" lvl="1" indent="-285750" algn="l" rtl="0" eaLnBrk="0">
              <a:lnSpc>
                <a:spcPct val="96000"/>
              </a:lnSpc>
              <a:spcBef>
                <a:spcPts val="700"/>
              </a:spcBef>
            </a:pPr>
            <a:r>
              <a:rPr sz="2400" b="1" u="sng" spc="-10" dirty="0">
                <a:solidFill>
                  <a:srgbClr val="000000">
                    <a:alpha val="100000"/>
                  </a:srgbClr>
                </a:solidFill>
                <a:latin typeface="Arial" panose="020B0604020202090204"/>
                <a:ea typeface="Arial" panose="020B0604020202090204"/>
                <a:cs typeface="Arial" panose="020B0604020202090204"/>
                <a:sym typeface="+mn-ea"/>
              </a:rPr>
              <a:t>Working</a:t>
            </a:r>
            <a:r>
              <a:rPr sz="2400" u="sng" spc="-10" dirty="0">
                <a:solidFill>
                  <a:srgbClr val="000000">
                    <a:alpha val="100000"/>
                  </a:srgbClr>
                </a:solidFill>
                <a:latin typeface="Arial" panose="020B0604020202090204"/>
                <a:ea typeface="Arial" panose="020B0604020202090204"/>
                <a:cs typeface="Arial" panose="020B0604020202090204"/>
                <a:sym typeface="+mn-ea"/>
              </a:rPr>
              <a:t> </a:t>
            </a:r>
            <a:r>
              <a:rPr sz="2400" b="1" u="sng" spc="-10" dirty="0">
                <a:solidFill>
                  <a:srgbClr val="000000">
                    <a:alpha val="100000"/>
                  </a:srgbClr>
                </a:solidFill>
                <a:latin typeface="Arial" panose="020B0604020202090204"/>
                <a:ea typeface="Arial" panose="020B0604020202090204"/>
                <a:cs typeface="Arial" panose="020B0604020202090204"/>
                <a:sym typeface="+mn-ea"/>
              </a:rPr>
              <a:t>so</a:t>
            </a:r>
            <a:r>
              <a:rPr sz="2400" b="1" u="sng" dirty="0">
                <a:solidFill>
                  <a:srgbClr val="000000">
                    <a:alpha val="100000"/>
                  </a:srgbClr>
                </a:solidFill>
                <a:latin typeface="Arial" panose="020B0604020202090204"/>
                <a:ea typeface="Arial" panose="020B0604020202090204"/>
                <a:cs typeface="Arial" panose="020B0604020202090204"/>
                <a:sym typeface="+mn-ea"/>
              </a:rPr>
              <a:t>ftware</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over</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comprehensive</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documentation</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061085" lvl="1" indent="-285750" algn="l" rtl="0" eaLnBrk="0">
              <a:lnSpc>
                <a:spcPct val="96000"/>
              </a:lnSpc>
              <a:spcBef>
                <a:spcPts val="700"/>
              </a:spcBef>
            </a:pPr>
            <a:r>
              <a:rPr sz="2400" b="1" u="sng" dirty="0">
                <a:solidFill>
                  <a:srgbClr val="000000">
                    <a:alpha val="100000"/>
                  </a:srgbClr>
                </a:solidFill>
                <a:latin typeface="Arial" panose="020B0604020202090204"/>
                <a:ea typeface="Arial" panose="020B0604020202090204"/>
                <a:cs typeface="Arial" panose="020B0604020202090204"/>
                <a:sym typeface="+mn-ea"/>
              </a:rPr>
              <a:t>Customer</a:t>
            </a:r>
            <a:r>
              <a:rPr sz="2400" u="sng" spc="220" dirty="0">
                <a:solidFill>
                  <a:srgbClr val="000000">
                    <a:alpha val="100000"/>
                  </a:srgbClr>
                </a:solidFill>
                <a:latin typeface="Arial" panose="020B0604020202090204"/>
                <a:ea typeface="Arial" panose="020B0604020202090204"/>
                <a:cs typeface="Arial" panose="020B0604020202090204"/>
                <a:sym typeface="+mn-ea"/>
              </a:rPr>
              <a:t> </a:t>
            </a:r>
            <a:r>
              <a:rPr sz="2400" b="1" u="sng" dirty="0">
                <a:solidFill>
                  <a:srgbClr val="000000">
                    <a:alpha val="100000"/>
                  </a:srgbClr>
                </a:solidFill>
                <a:latin typeface="Arial" panose="020B0604020202090204"/>
                <a:ea typeface="Arial" panose="020B0604020202090204"/>
                <a:cs typeface="Arial" panose="020B0604020202090204"/>
                <a:sym typeface="+mn-ea"/>
              </a:rPr>
              <a:t>collaboration</a:t>
            </a:r>
            <a:r>
              <a:rPr sz="2400" spc="2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over</a:t>
            </a:r>
            <a:r>
              <a:rPr sz="2400" spc="2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contract</a:t>
            </a:r>
            <a:r>
              <a:rPr sz="2400" spc="2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negotiation</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061085" lvl="1" indent="-285750" algn="l" rtl="0" eaLnBrk="0">
              <a:lnSpc>
                <a:spcPct val="96000"/>
              </a:lnSpc>
              <a:spcBef>
                <a:spcPts val="700"/>
              </a:spcBef>
            </a:pPr>
            <a:r>
              <a:rPr sz="2400" b="1" u="sng" spc="-20" dirty="0">
                <a:solidFill>
                  <a:srgbClr val="000000">
                    <a:alpha val="100000"/>
                  </a:srgbClr>
                </a:solidFill>
                <a:latin typeface="Arial" panose="020B0604020202090204"/>
                <a:ea typeface="Arial" panose="020B0604020202090204"/>
                <a:cs typeface="Arial" panose="020B0604020202090204"/>
                <a:sym typeface="+mn-ea"/>
              </a:rPr>
              <a:t>Responding</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to</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change</a:t>
            </a:r>
            <a:r>
              <a:rPr sz="2400" spc="-20" dirty="0">
                <a:solidFill>
                  <a:srgbClr val="000000">
                    <a:alpha val="100000"/>
                  </a:srgbClr>
                </a:solidFill>
                <a:latin typeface="Arial" panose="020B0604020202090204"/>
                <a:ea typeface="Arial" panose="020B0604020202090204"/>
                <a:cs typeface="Arial" panose="020B0604020202090204"/>
                <a:sym typeface="+mn-ea"/>
              </a:rPr>
              <a:t> over fo</a:t>
            </a:r>
            <a:r>
              <a:rPr sz="2400" dirty="0">
                <a:solidFill>
                  <a:srgbClr val="000000">
                    <a:alpha val="100000"/>
                  </a:srgbClr>
                </a:solidFill>
                <a:latin typeface="Arial" panose="020B0604020202090204"/>
                <a:ea typeface="Arial" panose="020B0604020202090204"/>
                <a:cs typeface="Arial" panose="020B0604020202090204"/>
                <a:sym typeface="+mn-ea"/>
              </a:rPr>
              <a:t>llowing</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plan</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r>
              <a:rPr sz="2400" spc="-40" dirty="0">
                <a:solidFill>
                  <a:srgbClr val="000000">
                    <a:alpha val="100000"/>
                  </a:srgbClr>
                </a:solidFill>
                <a:latin typeface="Arial" panose="020B0604020202090204"/>
                <a:ea typeface="Arial" panose="020B0604020202090204"/>
                <a:cs typeface="Arial" panose="020B0604020202090204"/>
                <a:sym typeface="+mn-ea"/>
              </a:rPr>
              <a:t>That is, while there is value in the items on </a:t>
            </a:r>
            <a:r>
              <a:rPr sz="2400" dirty="0">
                <a:solidFill>
                  <a:srgbClr val="000000">
                    <a:alpha val="100000"/>
                  </a:srgbClr>
                </a:solidFill>
                <a:latin typeface="Arial" panose="020B0604020202090204"/>
                <a:ea typeface="Arial" panose="020B0604020202090204"/>
                <a:cs typeface="Arial" panose="020B0604020202090204"/>
                <a:sym typeface="+mn-ea"/>
              </a:rPr>
              <a:t>the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right</a:t>
            </a:r>
            <a:r>
              <a:rPr sz="2400" spc="-4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20" dirty="0">
                <a:solidFill>
                  <a:srgbClr val="000000">
                    <a:alpha val="100000"/>
                  </a:srgbClr>
                </a:solidFill>
                <a:latin typeface="Arial" panose="020B0604020202090204"/>
                <a:ea typeface="Arial" panose="020B0604020202090204"/>
                <a:cs typeface="Arial" panose="020B0604020202090204"/>
                <a:sym typeface="+mn-ea"/>
              </a:rPr>
              <a:t>we value the items on the left mor</a:t>
            </a:r>
            <a:r>
              <a:rPr sz="2400" spc="-10" dirty="0">
                <a:solidFill>
                  <a:srgbClr val="000000">
                    <a:alpha val="100000"/>
                  </a:srgbClr>
                </a:solidFill>
                <a:latin typeface="Arial" panose="020B0604020202090204"/>
                <a:ea typeface="Arial" panose="020B0604020202090204"/>
                <a:cs typeface="Arial" panose="020B0604020202090204"/>
                <a:sym typeface="+mn-ea"/>
              </a:rPr>
              <a:t>e</a:t>
            </a:r>
            <a:r>
              <a:rPr sz="2400" spc="-2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5</a:t>
            </a:fld>
            <a:endParaRPr lang="en-US"/>
          </a:p>
        </p:txBody>
      </p:sp>
      <p:pic>
        <p:nvPicPr>
          <p:cNvPr id="35" name="picture 35"/>
          <p:cNvPicPr>
            <a:picLocks noChangeAspect="1"/>
          </p:cNvPicPr>
          <p:nvPr/>
        </p:nvPicPr>
        <p:blipFill>
          <a:blip r:embed="rId2"/>
          <a:stretch>
            <a:fillRect/>
          </a:stretch>
        </p:blipFill>
        <p:spPr>
          <a:xfrm rot="21600000">
            <a:off x="9200408" y="2000734"/>
            <a:ext cx="2029328" cy="28565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9886A-404E-3C4C-E76D-9A946441C5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FCCB2E-EFFD-5875-87A3-97616B4B69A1}"/>
              </a:ext>
            </a:extLst>
          </p:cNvPr>
          <p:cNvSpPr>
            <a:spLocks noGrp="1"/>
          </p:cNvSpPr>
          <p:nvPr>
            <p:ph type="title"/>
          </p:nvPr>
        </p:nvSpPr>
        <p:spPr/>
        <p:txBody>
          <a:bodyPr>
            <a:normAutofit fontScale="90000"/>
          </a:bodyPr>
          <a:lstStyle/>
          <a:p>
            <a:r>
              <a:rPr spc="-40" dirty="0">
                <a:solidFill>
                  <a:schemeClr val="tx1">
                    <a:alpha val="100000"/>
                  </a:schemeClr>
                </a:solidFill>
                <a:latin typeface="Arial" panose="020B0604020202090204"/>
                <a:cs typeface="Arial" panose="020B0604020202090204"/>
                <a:sym typeface="+mn-ea"/>
              </a:rPr>
              <a:t>FDD’s view on the Agile Manifesto</a:t>
            </a:r>
            <a:br>
              <a:rPr lang="en-US" altLang="en-US" dirty="0"/>
            </a:br>
            <a:endParaRPr lang="en-US" dirty="0"/>
          </a:p>
        </p:txBody>
      </p:sp>
      <p:sp>
        <p:nvSpPr>
          <p:cNvPr id="2" name="Content Placeholder 1">
            <a:extLst>
              <a:ext uri="{FF2B5EF4-FFF2-40B4-BE49-F238E27FC236}">
                <a16:creationId xmlns:a16="http://schemas.microsoft.com/office/drawing/2014/main" id="{E270BB9A-41BC-5E33-A44A-7E2A1A57F0A3}"/>
              </a:ext>
            </a:extLst>
          </p:cNvPr>
          <p:cNvSpPr>
            <a:spLocks noGrp="1"/>
          </p:cNvSpPr>
          <p:nvPr>
            <p:ph idx="1"/>
          </p:nvPr>
        </p:nvSpPr>
        <p:spPr>
          <a:xfrm>
            <a:off x="646677" y="1489769"/>
            <a:ext cx="9040532" cy="3879273"/>
          </a:xfrm>
        </p:spPr>
        <p:txBody>
          <a:bodyPr>
            <a:noAutofit/>
          </a:bodyPr>
          <a:lstStyle/>
          <a:p>
            <a:pPr algn="l" rtl="0" eaLnBrk="0">
              <a:lnSpc>
                <a:spcPct val="83000"/>
              </a:lnSpc>
            </a:pPr>
            <a:r>
              <a:rPr lang="en-US" sz="2400" b="1" spc="-3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Individuals and interactions </a:t>
            </a:r>
            <a:r>
              <a:rPr lang="en-US" sz="2400" spc="-3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over processes and tools. </a:t>
            </a:r>
            <a:endParaRPr lang="en-US" sz="2400"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Focus on people</a:t>
            </a:r>
            <a:r>
              <a:rPr lang="en-US" sz="2000" dirty="0">
                <a:solidFill>
                  <a:schemeClr val="bg2">
                    <a:lumMod val="10000"/>
                  </a:schemeClr>
                </a:solidFill>
                <a:latin typeface="Arial" panose="020B0604020202020204" pitchFamily="34" charset="0"/>
                <a:cs typeface="Arial" panose="020B0604020202020204" pitchFamily="34" charset="0"/>
              </a:rPr>
              <a:t>: Agile values collaboration, creativity, and communication among team members over rigid processes or tools.</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Collaboration is key</a:t>
            </a:r>
            <a:r>
              <a:rPr lang="en-US" sz="2000" dirty="0">
                <a:solidFill>
                  <a:schemeClr val="bg2">
                    <a:lumMod val="10000"/>
                  </a:schemeClr>
                </a:solidFill>
                <a:latin typeface="Arial" panose="020B0604020202020204" pitchFamily="34" charset="0"/>
                <a:cs typeface="Arial" panose="020B0604020202020204" pitchFamily="34" charset="0"/>
              </a:rPr>
              <a:t>: Open, face-to-face interactions help teams respond to changes and solve problems efficiently.</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Adaptability</a:t>
            </a:r>
            <a:r>
              <a:rPr lang="en-US" sz="2000" dirty="0">
                <a:solidFill>
                  <a:schemeClr val="bg2">
                    <a:lumMod val="10000"/>
                  </a:schemeClr>
                </a:solidFill>
                <a:latin typeface="Arial" panose="020B0604020202020204" pitchFamily="34" charset="0"/>
                <a:cs typeface="Arial" panose="020B0604020202020204" pitchFamily="34" charset="0"/>
              </a:rPr>
              <a:t>: Tools and processes should be flexible and adjusted to support the team’s needs, not dictate the work.</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Empowerment</a:t>
            </a:r>
            <a:r>
              <a:rPr lang="en-US" sz="2000" dirty="0">
                <a:solidFill>
                  <a:schemeClr val="bg2">
                    <a:lumMod val="10000"/>
                  </a:schemeClr>
                </a:solidFill>
                <a:latin typeface="Arial" panose="020B0604020202020204" pitchFamily="34" charset="0"/>
                <a:cs typeface="Arial" panose="020B0604020202020204" pitchFamily="34" charset="0"/>
              </a:rPr>
              <a:t>: Teams are encouraged to make decisions and solve issues together, rather than relying on predefined rules or tools.</a:t>
            </a:r>
          </a:p>
          <a:p>
            <a:r>
              <a:rPr lang="en-US" sz="2400" dirty="0">
                <a:solidFill>
                  <a:schemeClr val="bg2">
                    <a:lumMod val="10000"/>
                  </a:schemeClr>
                </a:solidFill>
                <a:latin typeface="Arial" panose="020B0604020202020204" pitchFamily="34" charset="0"/>
                <a:cs typeface="Arial" panose="020B0604020202020204" pitchFamily="34" charset="0"/>
              </a:rPr>
              <a:t>In short, Agile emphasizes the importance of people working together effectively rather than strictly following processes or tools.</a:t>
            </a:r>
          </a:p>
          <a:p>
            <a:pPr lvl="1" algn="l" rtl="0" eaLnBrk="0">
              <a:lnSpc>
                <a:spcPct val="83000"/>
              </a:lnSpc>
            </a:pPr>
            <a:endParaRPr sz="2400" b="1" dirty="0">
              <a:solidFill>
                <a:schemeClr val="bg2">
                  <a:lumMod val="10000"/>
                </a:schemeClr>
              </a:solidFill>
              <a:latin typeface="Arial" panose="020B0604020202020204" pitchFamily="34" charset="0"/>
              <a:ea typeface="Arial" panose="020B0604020202090204"/>
              <a:cs typeface="Arial" panose="020B0604020202020204" pitchFamily="34" charset="0"/>
              <a:sym typeface="+mn-ea"/>
            </a:endParaRPr>
          </a:p>
          <a:p>
            <a:pPr marL="478790" indent="-466090" algn="l" rtl="0" eaLnBrk="0">
              <a:lnSpc>
                <a:spcPct val="148000"/>
              </a:lnSpc>
              <a:spcBef>
                <a:spcPts val="290"/>
              </a:spcBef>
            </a:pP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9FBA04F8-32A2-058D-CE8E-459096A88061}"/>
              </a:ext>
            </a:extLst>
          </p:cNvPr>
          <p:cNvSpPr>
            <a:spLocks noGrp="1"/>
          </p:cNvSpPr>
          <p:nvPr>
            <p:ph type="sldNum" sz="quarter" idx="12"/>
          </p:nvPr>
        </p:nvSpPr>
        <p:spPr/>
        <p:txBody>
          <a:bodyPr/>
          <a:lstStyle/>
          <a:p>
            <a:fld id="{4267CD5E-26CF-4249-8540-BB1D07FD4227}" type="slidenum">
              <a:rPr lang="en-US" smtClean="0"/>
              <a:t>6</a:t>
            </a:fld>
            <a:endParaRPr lang="en-US"/>
          </a:p>
        </p:txBody>
      </p:sp>
      <p:pic>
        <p:nvPicPr>
          <p:cNvPr id="6" name="picture 39">
            <a:extLst>
              <a:ext uri="{FF2B5EF4-FFF2-40B4-BE49-F238E27FC236}">
                <a16:creationId xmlns:a16="http://schemas.microsoft.com/office/drawing/2014/main" id="{30DF475D-03B5-4EF8-F82D-46031A19DF61}"/>
              </a:ext>
            </a:extLst>
          </p:cNvPr>
          <p:cNvPicPr>
            <a:picLocks noChangeAspect="1"/>
          </p:cNvPicPr>
          <p:nvPr/>
        </p:nvPicPr>
        <p:blipFill>
          <a:blip r:embed="rId2"/>
          <a:stretch>
            <a:fillRect/>
          </a:stretch>
        </p:blipFill>
        <p:spPr>
          <a:xfrm rot="21600000">
            <a:off x="9623835" y="1489769"/>
            <a:ext cx="2029328" cy="2856532"/>
          </a:xfrm>
          <a:prstGeom prst="rect">
            <a:avLst/>
          </a:prstGeom>
        </p:spPr>
      </p:pic>
    </p:spTree>
    <p:extLst>
      <p:ext uri="{BB962C8B-B14F-4D97-AF65-F5344CB8AC3E}">
        <p14:creationId xmlns:p14="http://schemas.microsoft.com/office/powerpoint/2010/main" val="2894234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9660-1609-DBD6-C7E6-C7CE4C40D535}"/>
              </a:ext>
            </a:extLst>
          </p:cNvPr>
          <p:cNvSpPr>
            <a:spLocks noGrp="1"/>
          </p:cNvSpPr>
          <p:nvPr>
            <p:ph type="title"/>
          </p:nvPr>
        </p:nvSpPr>
        <p:spPr/>
        <p:txBody>
          <a:bodyPr/>
          <a:lstStyle/>
          <a:p>
            <a:r>
              <a:rPr lang="en-US" spc="-40" dirty="0">
                <a:solidFill>
                  <a:schemeClr val="tx1">
                    <a:alpha val="100000"/>
                  </a:schemeClr>
                </a:solidFill>
                <a:latin typeface="Arial" panose="020B0604020202090204"/>
                <a:ea typeface="Arial" panose="020B0604020202090204"/>
                <a:cs typeface="Arial" panose="020B0604020202090204"/>
                <a:sym typeface="+mn-ea"/>
              </a:rPr>
              <a:t>Alistair Cockburn on process and p</a:t>
            </a:r>
            <a:r>
              <a:rPr lang="en-US" dirty="0">
                <a:solidFill>
                  <a:schemeClr val="tx1">
                    <a:alpha val="100000"/>
                  </a:schemeClr>
                </a:solidFill>
                <a:latin typeface="Arial" panose="020B0604020202090204"/>
                <a:ea typeface="Arial" panose="020B0604020202090204"/>
                <a:cs typeface="Arial" panose="020B0604020202090204"/>
                <a:sym typeface="+mn-ea"/>
              </a:rPr>
              <a:t>lans</a:t>
            </a:r>
            <a:endParaRPr lang="en-US" dirty="0"/>
          </a:p>
        </p:txBody>
      </p:sp>
      <p:sp>
        <p:nvSpPr>
          <p:cNvPr id="4" name="Content Placeholder 3">
            <a:extLst>
              <a:ext uri="{FF2B5EF4-FFF2-40B4-BE49-F238E27FC236}">
                <a16:creationId xmlns:a16="http://schemas.microsoft.com/office/drawing/2014/main" id="{94622227-DF76-E202-A3A4-26B9ABDCA0D6}"/>
              </a:ext>
            </a:extLst>
          </p:cNvPr>
          <p:cNvSpPr>
            <a:spLocks noGrp="1"/>
          </p:cNvSpPr>
          <p:nvPr>
            <p:ph idx="1"/>
          </p:nvPr>
        </p:nvSpPr>
        <p:spPr>
          <a:xfrm>
            <a:off x="644771" y="1430448"/>
            <a:ext cx="10709031" cy="4651699"/>
          </a:xfrm>
        </p:spPr>
        <p:txBody>
          <a:bodyPr>
            <a:normAutofit/>
          </a:bodyPr>
          <a:lstStyle/>
          <a:p>
            <a:r>
              <a:rPr lang="en-US" sz="2400" dirty="0">
                <a:solidFill>
                  <a:schemeClr val="bg2">
                    <a:lumMod val="10000"/>
                  </a:schemeClr>
                </a:solidFill>
                <a:latin typeface="Arial" panose="020B0604020202020204" pitchFamily="34" charset="0"/>
                <a:cs typeface="Arial" panose="020B0604020202020204" pitchFamily="34" charset="0"/>
                <a:sym typeface="+mn-ea"/>
              </a:rPr>
              <a:t>Many teams follow the </a:t>
            </a:r>
            <a:r>
              <a:rPr lang="en-US" sz="2400" b="1" dirty="0">
                <a:solidFill>
                  <a:schemeClr val="bg2">
                    <a:lumMod val="10000"/>
                  </a:schemeClr>
                </a:solidFill>
                <a:latin typeface="Arial" panose="020B0604020202020204" pitchFamily="34" charset="0"/>
                <a:cs typeface="Arial" panose="020B0604020202020204" pitchFamily="34" charset="0"/>
                <a:sym typeface="+mn-ea"/>
              </a:rPr>
              <a:t>letter of the process </a:t>
            </a:r>
            <a:r>
              <a:rPr lang="en-US" sz="2400" dirty="0">
                <a:solidFill>
                  <a:schemeClr val="bg2">
                    <a:lumMod val="10000"/>
                  </a:schemeClr>
                </a:solidFill>
                <a:latin typeface="Arial" panose="020B0604020202020204" pitchFamily="34" charset="0"/>
                <a:cs typeface="Arial" panose="020B0604020202020204" pitchFamily="34" charset="0"/>
                <a:sym typeface="+mn-ea"/>
              </a:rPr>
              <a:t>rather than the </a:t>
            </a:r>
            <a:r>
              <a:rPr lang="en-US" sz="2400" b="1" dirty="0">
                <a:solidFill>
                  <a:schemeClr val="bg2">
                    <a:lumMod val="10000"/>
                  </a:schemeClr>
                </a:solidFill>
                <a:latin typeface="Arial" panose="020B0604020202020204" pitchFamily="34" charset="0"/>
                <a:cs typeface="Arial" panose="020B0604020202020204" pitchFamily="34" charset="0"/>
                <a:sym typeface="+mn-ea"/>
              </a:rPr>
              <a:t>spirit of the process</a:t>
            </a:r>
            <a:r>
              <a:rPr lang="en-US" sz="2400" dirty="0">
                <a:solidFill>
                  <a:schemeClr val="bg2">
                    <a:lumMod val="10000"/>
                  </a:schemeClr>
                </a:solidFill>
                <a:latin typeface="Arial" panose="020B0604020202020204" pitchFamily="34" charset="0"/>
                <a:cs typeface="Arial" panose="020B0604020202020204" pitchFamily="34" charset="0"/>
                <a:sym typeface="+mn-ea"/>
              </a:rPr>
              <a:t>:</a:t>
            </a:r>
          </a:p>
          <a:p>
            <a:pPr lvl="1"/>
            <a:endParaRPr lang="en-US" altLang="en-US" sz="2000" dirty="0">
              <a:solidFill>
                <a:schemeClr val="bg2">
                  <a:lumMod val="10000"/>
                </a:schemeClr>
              </a:solidFill>
              <a:latin typeface="Arial" panose="020B0604020202020204" pitchFamily="34" charset="0"/>
              <a:cs typeface="Arial" panose="020B0604020202020204" pitchFamily="34" charset="0"/>
            </a:endParaRPr>
          </a:p>
          <a:p>
            <a:pPr lvl="1"/>
            <a:r>
              <a:rPr lang="en-US" altLang="en-US" sz="2000" dirty="0">
                <a:solidFill>
                  <a:schemeClr val="bg2">
                    <a:lumMod val="10000"/>
                  </a:schemeClr>
                </a:solidFill>
                <a:latin typeface="Arial" panose="020B0604020202020204" pitchFamily="34" charset="0"/>
                <a:cs typeface="Arial" panose="020B0604020202020204" pitchFamily="34" charset="0"/>
              </a:rPr>
              <a:t>Some teams strictly adhere to the </a:t>
            </a:r>
            <a:r>
              <a:rPr lang="en-US" altLang="en-US" sz="2000" b="1" dirty="0">
                <a:solidFill>
                  <a:schemeClr val="bg2">
                    <a:lumMod val="10000"/>
                  </a:schemeClr>
                </a:solidFill>
                <a:latin typeface="Arial" panose="020B0604020202020204" pitchFamily="34" charset="0"/>
                <a:cs typeface="Arial" panose="020B0604020202020204" pitchFamily="34" charset="0"/>
              </a:rPr>
              <a:t>formal rules or procedures </a:t>
            </a:r>
            <a:r>
              <a:rPr lang="en-US" altLang="en-US" sz="2000" dirty="0">
                <a:solidFill>
                  <a:schemeClr val="bg2">
                    <a:lumMod val="10000"/>
                  </a:schemeClr>
                </a:solidFill>
                <a:latin typeface="Arial" panose="020B0604020202020204" pitchFamily="34" charset="0"/>
                <a:cs typeface="Arial" panose="020B0604020202020204" pitchFamily="34" charset="0"/>
              </a:rPr>
              <a:t>of a given process (the "</a:t>
            </a:r>
            <a:r>
              <a:rPr lang="en-US" altLang="en-US" sz="2000" b="1" dirty="0">
                <a:solidFill>
                  <a:schemeClr val="bg2">
                    <a:lumMod val="10000"/>
                  </a:schemeClr>
                </a:solidFill>
                <a:latin typeface="Arial" panose="020B0604020202020204" pitchFamily="34" charset="0"/>
                <a:cs typeface="Arial" panose="020B0604020202020204" pitchFamily="34" charset="0"/>
              </a:rPr>
              <a:t>letter of the process</a:t>
            </a:r>
            <a:r>
              <a:rPr lang="en-US" altLang="en-US" sz="2000" dirty="0">
                <a:solidFill>
                  <a:schemeClr val="bg2">
                    <a:lumMod val="10000"/>
                  </a:schemeClr>
                </a:solidFill>
                <a:latin typeface="Arial" panose="020B0604020202020204" pitchFamily="34" charset="0"/>
                <a:cs typeface="Arial" panose="020B0604020202020204" pitchFamily="34" charset="0"/>
              </a:rPr>
              <a:t>") but miss the underlying principles or </a:t>
            </a:r>
            <a:r>
              <a:rPr lang="en-US" altLang="en-US" sz="2000" b="1" dirty="0">
                <a:solidFill>
                  <a:schemeClr val="bg2">
                    <a:lumMod val="10000"/>
                  </a:schemeClr>
                </a:solidFill>
                <a:latin typeface="Arial" panose="020B0604020202020204" pitchFamily="34" charset="0"/>
                <a:cs typeface="Arial" panose="020B0604020202020204" pitchFamily="34" charset="0"/>
              </a:rPr>
              <a:t>goals</a:t>
            </a:r>
            <a:r>
              <a:rPr lang="en-US" altLang="en-US" sz="2000" dirty="0">
                <a:solidFill>
                  <a:schemeClr val="bg2">
                    <a:lumMod val="10000"/>
                  </a:schemeClr>
                </a:solidFill>
                <a:latin typeface="Arial" panose="020B0604020202020204" pitchFamily="34" charset="0"/>
                <a:cs typeface="Arial" panose="020B0604020202020204" pitchFamily="34" charset="0"/>
              </a:rPr>
              <a:t> (the "</a:t>
            </a:r>
            <a:r>
              <a:rPr lang="en-US" altLang="en-US" sz="2000" b="1" dirty="0">
                <a:solidFill>
                  <a:schemeClr val="bg2">
                    <a:lumMod val="10000"/>
                  </a:schemeClr>
                </a:solidFill>
                <a:latin typeface="Arial" panose="020B0604020202020204" pitchFamily="34" charset="0"/>
                <a:cs typeface="Arial" panose="020B0604020202020204" pitchFamily="34" charset="0"/>
              </a:rPr>
              <a:t>spirit of the process</a:t>
            </a:r>
            <a:r>
              <a:rPr lang="en-US" altLang="en-US" sz="2000" dirty="0">
                <a:solidFill>
                  <a:schemeClr val="bg2">
                    <a:lumMod val="10000"/>
                  </a:schemeClr>
                </a:solidFill>
                <a:latin typeface="Arial" panose="020B0604020202020204" pitchFamily="34" charset="0"/>
                <a:cs typeface="Arial" panose="020B0604020202020204" pitchFamily="34" charset="0"/>
              </a:rPr>
              <a:t>"). </a:t>
            </a:r>
          </a:p>
          <a:p>
            <a:pPr lvl="1"/>
            <a:endParaRPr lang="en-US" altLang="en-US" sz="2000" dirty="0">
              <a:solidFill>
                <a:schemeClr val="bg2">
                  <a:lumMod val="10000"/>
                </a:schemeClr>
              </a:solidFill>
              <a:latin typeface="Arial" panose="020B0604020202020204" pitchFamily="34" charset="0"/>
              <a:cs typeface="Arial" panose="020B0604020202020204" pitchFamily="34" charset="0"/>
            </a:endParaRPr>
          </a:p>
          <a:p>
            <a:pPr lvl="1"/>
            <a:r>
              <a:rPr lang="en-US" altLang="en-US" sz="2000" dirty="0">
                <a:solidFill>
                  <a:schemeClr val="bg2">
                    <a:lumMod val="10000"/>
                  </a:schemeClr>
                </a:solidFill>
                <a:latin typeface="Arial" panose="020B0604020202020204" pitchFamily="34" charset="0"/>
                <a:cs typeface="Arial" panose="020B0604020202020204" pitchFamily="34" charset="0"/>
              </a:rPr>
              <a:t>In the context of Agile, it suggests that a team may follow Agile ceremonies, practices, or frameworks exactly as prescribed, but without truly understanding or embracing the </a:t>
            </a:r>
            <a:r>
              <a:rPr lang="en-US" altLang="en-US" sz="2000" b="1" dirty="0">
                <a:solidFill>
                  <a:schemeClr val="bg2">
                    <a:lumMod val="10000"/>
                  </a:schemeClr>
                </a:solidFill>
                <a:latin typeface="Arial" panose="020B0604020202020204" pitchFamily="34" charset="0"/>
                <a:cs typeface="Arial" panose="020B0604020202020204" pitchFamily="34" charset="0"/>
              </a:rPr>
              <a:t>core values of Agile</a:t>
            </a:r>
            <a:r>
              <a:rPr lang="en-US" altLang="en-US" sz="2000" dirty="0">
                <a:solidFill>
                  <a:schemeClr val="bg2">
                    <a:lumMod val="10000"/>
                  </a:schemeClr>
                </a:solidFill>
                <a:latin typeface="Arial" panose="020B0604020202020204" pitchFamily="34" charset="0"/>
                <a:cs typeface="Arial" panose="020B0604020202020204" pitchFamily="34" charset="0"/>
              </a:rPr>
              <a:t>, such as </a:t>
            </a:r>
            <a:r>
              <a:rPr lang="en-US" altLang="en-US" sz="2000" b="1" dirty="0">
                <a:solidFill>
                  <a:schemeClr val="bg2">
                    <a:lumMod val="10000"/>
                  </a:schemeClr>
                </a:solidFill>
                <a:latin typeface="Arial" panose="020B0604020202020204" pitchFamily="34" charset="0"/>
                <a:cs typeface="Arial" panose="020B0604020202020204" pitchFamily="34" charset="0"/>
              </a:rPr>
              <a:t>flexibility, collaboration, and delivering value</a:t>
            </a:r>
            <a:r>
              <a:rPr lang="en-US" altLang="en-US" sz="2000" dirty="0">
                <a:solidFill>
                  <a:schemeClr val="bg2">
                    <a:lumMod val="10000"/>
                  </a:schemeClr>
                </a:solidFill>
                <a:latin typeface="Arial" panose="020B0604020202020204" pitchFamily="34" charset="0"/>
                <a:cs typeface="Arial" panose="020B0604020202020204" pitchFamily="34" charset="0"/>
              </a:rPr>
              <a:t>.</a:t>
            </a:r>
          </a:p>
          <a:p>
            <a:endParaRPr lang="en-US" sz="2000" dirty="0"/>
          </a:p>
        </p:txBody>
      </p:sp>
      <p:sp>
        <p:nvSpPr>
          <p:cNvPr id="5" name="Slide Number Placeholder 4">
            <a:extLst>
              <a:ext uri="{FF2B5EF4-FFF2-40B4-BE49-F238E27FC236}">
                <a16:creationId xmlns:a16="http://schemas.microsoft.com/office/drawing/2014/main" id="{D4D90149-EDF1-B511-490E-BC7C0094C7CE}"/>
              </a:ext>
            </a:extLst>
          </p:cNvPr>
          <p:cNvSpPr>
            <a:spLocks noGrp="1"/>
          </p:cNvSpPr>
          <p:nvPr>
            <p:ph type="sldNum" sz="quarter" idx="12"/>
          </p:nvPr>
        </p:nvSpPr>
        <p:spPr/>
        <p:txBody>
          <a:bodyPr/>
          <a:lstStyle/>
          <a:p>
            <a:fld id="{4267CD5E-26CF-4249-8540-BB1D07FD4227}" type="slidenum">
              <a:rPr lang="en-US" smtClean="0"/>
              <a:t>7</a:t>
            </a:fld>
            <a:endParaRPr lang="en-US"/>
          </a:p>
        </p:txBody>
      </p:sp>
    </p:spTree>
    <p:extLst>
      <p:ext uri="{BB962C8B-B14F-4D97-AF65-F5344CB8AC3E}">
        <p14:creationId xmlns:p14="http://schemas.microsoft.com/office/powerpoint/2010/main" val="3607558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47EEC-BB94-05EB-F9FB-B8FD3A672D3D}"/>
              </a:ext>
            </a:extLst>
          </p:cNvPr>
          <p:cNvSpPr>
            <a:spLocks noGrp="1"/>
          </p:cNvSpPr>
          <p:nvPr>
            <p:ph type="title"/>
          </p:nvPr>
        </p:nvSpPr>
        <p:spPr/>
        <p:txBody>
          <a:bodyPr/>
          <a:lstStyle/>
          <a:p>
            <a:r>
              <a:rPr lang="en-US" spc="-40" dirty="0">
                <a:solidFill>
                  <a:schemeClr val="tx1">
                    <a:alpha val="100000"/>
                  </a:schemeClr>
                </a:solidFill>
                <a:latin typeface="Arial" panose="020B0604020202090204"/>
                <a:ea typeface="Arial" panose="020B0604020202090204"/>
                <a:cs typeface="Arial" panose="020B0604020202090204"/>
                <a:sym typeface="+mn-ea"/>
              </a:rPr>
              <a:t>Alistair Cockburn on process and p</a:t>
            </a:r>
            <a:r>
              <a:rPr lang="en-US" dirty="0">
                <a:solidFill>
                  <a:schemeClr val="tx1">
                    <a:alpha val="100000"/>
                  </a:schemeClr>
                </a:solidFill>
                <a:latin typeface="Arial" panose="020B0604020202090204"/>
                <a:ea typeface="Arial" panose="020B0604020202090204"/>
                <a:cs typeface="Arial" panose="020B0604020202090204"/>
                <a:sym typeface="+mn-ea"/>
              </a:rPr>
              <a:t>lans</a:t>
            </a:r>
            <a:endParaRPr lang="en-US" dirty="0"/>
          </a:p>
        </p:txBody>
      </p:sp>
      <p:sp>
        <p:nvSpPr>
          <p:cNvPr id="4" name="Content Placeholder 3">
            <a:extLst>
              <a:ext uri="{FF2B5EF4-FFF2-40B4-BE49-F238E27FC236}">
                <a16:creationId xmlns:a16="http://schemas.microsoft.com/office/drawing/2014/main" id="{0F9B8DF1-F1C1-B692-5510-58374932F03E}"/>
              </a:ext>
            </a:extLst>
          </p:cNvPr>
          <p:cNvSpPr>
            <a:spLocks noGrp="1"/>
          </p:cNvSpPr>
          <p:nvPr>
            <p:ph idx="1"/>
          </p:nvPr>
        </p:nvSpPr>
        <p:spPr>
          <a:xfrm>
            <a:off x="644771" y="1494504"/>
            <a:ext cx="10709031" cy="4587644"/>
          </a:xfrm>
        </p:spPr>
        <p:txBody>
          <a:bodyPr/>
          <a:lstStyle/>
          <a:p>
            <a:r>
              <a:rPr lang="en-US" sz="2400" dirty="0">
                <a:solidFill>
                  <a:schemeClr val="bg2">
                    <a:lumMod val="10000"/>
                  </a:schemeClr>
                </a:solidFill>
                <a:latin typeface="Arial" panose="020B0604020202020204" pitchFamily="34" charset="0"/>
                <a:cs typeface="Arial" panose="020B0604020202020204" pitchFamily="34" charset="0"/>
                <a:sym typeface="+mn-ea"/>
              </a:rPr>
              <a:t>Many teams follow the </a:t>
            </a:r>
            <a:r>
              <a:rPr lang="en-US" sz="2400" b="1" dirty="0">
                <a:solidFill>
                  <a:schemeClr val="bg2">
                    <a:lumMod val="10000"/>
                  </a:schemeClr>
                </a:solidFill>
                <a:latin typeface="Arial" panose="020B0604020202020204" pitchFamily="34" charset="0"/>
                <a:cs typeface="Arial" panose="020B0604020202020204" pitchFamily="34" charset="0"/>
                <a:sym typeface="+mn-ea"/>
              </a:rPr>
              <a:t>letter of the process </a:t>
            </a:r>
            <a:r>
              <a:rPr lang="en-US" sz="2400" dirty="0">
                <a:solidFill>
                  <a:schemeClr val="bg2">
                    <a:lumMod val="10000"/>
                  </a:schemeClr>
                </a:solidFill>
                <a:latin typeface="Arial" panose="020B0604020202020204" pitchFamily="34" charset="0"/>
                <a:cs typeface="Arial" panose="020B0604020202020204" pitchFamily="34" charset="0"/>
                <a:sym typeface="+mn-ea"/>
              </a:rPr>
              <a:t>rather than the </a:t>
            </a:r>
            <a:r>
              <a:rPr lang="en-US" sz="2400" b="1" dirty="0">
                <a:solidFill>
                  <a:schemeClr val="bg2">
                    <a:lumMod val="10000"/>
                  </a:schemeClr>
                </a:solidFill>
                <a:latin typeface="Arial" panose="020B0604020202020204" pitchFamily="34" charset="0"/>
                <a:cs typeface="Arial" panose="020B0604020202020204" pitchFamily="34" charset="0"/>
                <a:sym typeface="+mn-ea"/>
              </a:rPr>
              <a:t>spirit of the process</a:t>
            </a:r>
            <a:r>
              <a:rPr lang="en-US" sz="2400" dirty="0">
                <a:solidFill>
                  <a:schemeClr val="bg2">
                    <a:lumMod val="10000"/>
                  </a:schemeClr>
                </a:solidFill>
                <a:latin typeface="Arial" panose="020B0604020202020204" pitchFamily="34" charset="0"/>
                <a:cs typeface="Arial" panose="020B0604020202020204" pitchFamily="34" charset="0"/>
                <a:sym typeface="+mn-ea"/>
              </a:rPr>
              <a:t>:</a:t>
            </a:r>
          </a:p>
          <a:p>
            <a:pPr lvl="1"/>
            <a:endParaRPr lang="en-US" altLang="en-US" sz="2000" dirty="0">
              <a:solidFill>
                <a:schemeClr val="bg2">
                  <a:lumMod val="10000"/>
                </a:schemeClr>
              </a:solidFill>
              <a:latin typeface="Arial" panose="020B0604020202020204" pitchFamily="34" charset="0"/>
              <a:cs typeface="Arial" panose="020B0604020202020204" pitchFamily="34" charset="0"/>
            </a:endParaRPr>
          </a:p>
          <a:p>
            <a:pPr lvl="1"/>
            <a:r>
              <a:rPr lang="en-US" altLang="en-US" sz="2000" dirty="0">
                <a:solidFill>
                  <a:schemeClr val="bg2">
                    <a:lumMod val="10000"/>
                  </a:schemeClr>
                </a:solidFill>
                <a:latin typeface="Arial" panose="020B0604020202020204" pitchFamily="34" charset="0"/>
                <a:cs typeface="Arial" panose="020B0604020202020204" pitchFamily="34" charset="0"/>
              </a:rPr>
              <a:t>For example, a team might have daily stand-ups, sprint reviews, and retrospectives (the letter of the process) but still fail to focus on </a:t>
            </a:r>
            <a:r>
              <a:rPr lang="en-US" altLang="en-US" sz="2000" b="1" dirty="0">
                <a:solidFill>
                  <a:schemeClr val="bg2">
                    <a:lumMod val="10000"/>
                  </a:schemeClr>
                </a:solidFill>
                <a:latin typeface="Arial" panose="020B0604020202020204" pitchFamily="34" charset="0"/>
                <a:cs typeface="Arial" panose="020B0604020202020204" pitchFamily="34" charset="0"/>
              </a:rPr>
              <a:t>adapting to change, continuous improvement, or delivering customer-centric solutions </a:t>
            </a:r>
            <a:r>
              <a:rPr lang="en-US" altLang="en-US" sz="2000" dirty="0">
                <a:solidFill>
                  <a:schemeClr val="bg2">
                    <a:lumMod val="10000"/>
                  </a:schemeClr>
                </a:solidFill>
                <a:latin typeface="Arial" panose="020B0604020202020204" pitchFamily="34" charset="0"/>
                <a:cs typeface="Arial" panose="020B0604020202020204" pitchFamily="34" charset="0"/>
              </a:rPr>
              <a:t>(the </a:t>
            </a:r>
            <a:r>
              <a:rPr lang="en-US" altLang="en-US" sz="2000" b="1" dirty="0">
                <a:solidFill>
                  <a:schemeClr val="bg2">
                    <a:lumMod val="10000"/>
                  </a:schemeClr>
                </a:solidFill>
                <a:latin typeface="Arial" panose="020B0604020202020204" pitchFamily="34" charset="0"/>
                <a:cs typeface="Arial" panose="020B0604020202020204" pitchFamily="34" charset="0"/>
              </a:rPr>
              <a:t>spirit of the process</a:t>
            </a:r>
            <a:r>
              <a:rPr lang="en-US" altLang="en-US" sz="2000" dirty="0">
                <a:solidFill>
                  <a:schemeClr val="bg2">
                    <a:lumMod val="10000"/>
                  </a:schemeClr>
                </a:solidFill>
                <a:latin typeface="Arial" panose="020B0604020202020204" pitchFamily="34" charset="0"/>
                <a:cs typeface="Arial" panose="020B0604020202020204" pitchFamily="34" charset="0"/>
              </a:rPr>
              <a:t>).</a:t>
            </a:r>
          </a:p>
          <a:p>
            <a:pPr lvl="1"/>
            <a:endParaRPr lang="en-US" altLang="en-US" sz="2000" dirty="0">
              <a:solidFill>
                <a:schemeClr val="bg2">
                  <a:lumMod val="10000"/>
                </a:schemeClr>
              </a:solidFill>
              <a:latin typeface="Arial" panose="020B0604020202020204" pitchFamily="34" charset="0"/>
              <a:cs typeface="Arial" panose="020B0604020202020204" pitchFamily="34" charset="0"/>
            </a:endParaRPr>
          </a:p>
          <a:p>
            <a:pPr lvl="1"/>
            <a:r>
              <a:rPr lang="en-US" altLang="en-US" sz="2000" dirty="0">
                <a:solidFill>
                  <a:schemeClr val="bg2">
                    <a:lumMod val="10000"/>
                  </a:schemeClr>
                </a:solidFill>
                <a:latin typeface="Arial" panose="020B0604020202020204" pitchFamily="34" charset="0"/>
                <a:cs typeface="Arial" panose="020B0604020202020204" pitchFamily="34" charset="0"/>
              </a:rPr>
              <a:t>Essentially, it’s a critique that some teams might be going through the motions without genuinely embodying the mindset and values that Agile promotes.</a:t>
            </a:r>
          </a:p>
          <a:p>
            <a:endParaRPr lang="en-US" dirty="0"/>
          </a:p>
        </p:txBody>
      </p:sp>
      <p:sp>
        <p:nvSpPr>
          <p:cNvPr id="5" name="Slide Number Placeholder 4">
            <a:extLst>
              <a:ext uri="{FF2B5EF4-FFF2-40B4-BE49-F238E27FC236}">
                <a16:creationId xmlns:a16="http://schemas.microsoft.com/office/drawing/2014/main" id="{13ACE2C2-6E3D-BA49-8183-E910D1B50B30}"/>
              </a:ext>
            </a:extLst>
          </p:cNvPr>
          <p:cNvSpPr>
            <a:spLocks noGrp="1"/>
          </p:cNvSpPr>
          <p:nvPr>
            <p:ph type="sldNum" sz="quarter" idx="12"/>
          </p:nvPr>
        </p:nvSpPr>
        <p:spPr/>
        <p:txBody>
          <a:bodyPr/>
          <a:lstStyle/>
          <a:p>
            <a:fld id="{4267CD5E-26CF-4249-8540-BB1D07FD4227}" type="slidenum">
              <a:rPr lang="en-US" smtClean="0"/>
              <a:t>8</a:t>
            </a:fld>
            <a:endParaRPr lang="en-US"/>
          </a:p>
        </p:txBody>
      </p:sp>
    </p:spTree>
    <p:extLst>
      <p:ext uri="{BB962C8B-B14F-4D97-AF65-F5344CB8AC3E}">
        <p14:creationId xmlns:p14="http://schemas.microsoft.com/office/powerpoint/2010/main" val="1535520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dirty="0">
                <a:solidFill>
                  <a:schemeClr val="tx1">
                    <a:alpha val="100000"/>
                  </a:schemeClr>
                </a:solidFill>
                <a:latin typeface="Arial" panose="020B0604020202090204"/>
                <a:ea typeface="Arial" panose="020B0604020202090204"/>
                <a:cs typeface="Arial" panose="020B0604020202090204"/>
                <a:sym typeface="+mn-ea"/>
              </a:rPr>
              <a:t>Crystal</a:t>
            </a:r>
            <a:r>
              <a:rPr spc="60" dirty="0">
                <a:solidFill>
                  <a:schemeClr val="tx1">
                    <a:alpha val="100000"/>
                  </a:schemeClr>
                </a:solidFill>
                <a:latin typeface="Arial" panose="020B0604020202090204"/>
                <a:ea typeface="Arial" panose="020B0604020202090204"/>
                <a:cs typeface="Arial" panose="020B0604020202090204"/>
                <a:sym typeface="+mn-ea"/>
              </a:rPr>
              <a:t> (1992</a:t>
            </a:r>
            <a:r>
              <a:rPr spc="50" dirty="0">
                <a:solidFill>
                  <a:schemeClr val="tx1">
                    <a:alpha val="100000"/>
                  </a:schemeClr>
                </a:solidFill>
                <a:latin typeface="Arial" panose="020B0604020202090204"/>
                <a:ea typeface="Arial" panose="020B0604020202090204"/>
                <a:cs typeface="Arial" panose="020B0604020202090204"/>
                <a:sym typeface="+mn-ea"/>
              </a:rPr>
              <a:t>)</a:t>
            </a:r>
            <a:endParaRPr lang="en-US" spc="50" dirty="0">
              <a:solidFill>
                <a:schemeClr val="tx1">
                  <a:alpha val="100000"/>
                </a:schemeClr>
              </a:solidFill>
              <a:latin typeface="Arial" panose="020B0604020202090204"/>
              <a:ea typeface="Arial" panose="020B0604020202090204"/>
              <a:cs typeface="Arial" panose="020B0604020202090204"/>
              <a:sym typeface="+mn-ea"/>
            </a:endParaRPr>
          </a:p>
        </p:txBody>
      </p:sp>
      <p:sp>
        <p:nvSpPr>
          <p:cNvPr id="2" name="Content Placeholder 1"/>
          <p:cNvSpPr>
            <a:spLocks noGrp="1"/>
          </p:cNvSpPr>
          <p:nvPr>
            <p:ph idx="1"/>
          </p:nvPr>
        </p:nvSpPr>
        <p:spPr>
          <a:xfrm>
            <a:off x="646430" y="1035685"/>
            <a:ext cx="10709275" cy="4787265"/>
          </a:xfrm>
        </p:spPr>
        <p:txBody>
          <a:bodyPr>
            <a:noAutofit/>
          </a:bodyPr>
          <a:lstStyle/>
          <a:p>
            <a:pPr marL="0" indent="0" algn="l" rtl="0" eaLnBrk="0">
              <a:lnSpc>
                <a:spcPct val="53000"/>
              </a:lnSpc>
              <a:buNone/>
            </a:pPr>
            <a:endParaRPr lang="en-US" altLang="en-US" sz="2400" dirty="0"/>
          </a:p>
          <a:p>
            <a:pPr marL="355600" indent="-342900" eaLnBrk="0">
              <a:lnSpc>
                <a:spcPct val="105000"/>
              </a:lnSpc>
            </a:pPr>
            <a:r>
              <a:rPr sz="2400" spc="-70" dirty="0">
                <a:solidFill>
                  <a:srgbClr val="000000">
                    <a:alpha val="100000"/>
                  </a:srgbClr>
                </a:solidFill>
                <a:latin typeface="Arial" panose="020B0604020202090204"/>
                <a:ea typeface="Arial" panose="020B0604020202090204"/>
                <a:cs typeface="Arial" panose="020B0604020202090204"/>
                <a:sym typeface="+mn-ea"/>
              </a:rPr>
              <a:t>Alistair Cockburn interviewed successful projects a</a:t>
            </a:r>
            <a:r>
              <a:rPr sz="2400" spc="-5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d </a:t>
            </a:r>
            <a:r>
              <a:rPr sz="2400" spc="-90" dirty="0">
                <a:solidFill>
                  <a:srgbClr val="000000">
                    <a:alpha val="100000"/>
                  </a:srgbClr>
                </a:solidFill>
                <a:latin typeface="Arial" panose="020B0604020202090204"/>
                <a:ea typeface="Arial" panose="020B0604020202090204"/>
                <a:cs typeface="Arial" panose="020B0604020202090204"/>
                <a:sym typeface="+mn-ea"/>
              </a:rPr>
              <a:t>extracted the processes that helped lead to succ</a:t>
            </a:r>
            <a:r>
              <a:rPr sz="2400" spc="-8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ss</a:t>
            </a:r>
          </a:p>
          <a:p>
            <a:pPr marL="485775" lvl="1" indent="-15875" algn="l" rtl="0" eaLnBrk="0">
              <a:lnSpc>
                <a:spcPct val="105000"/>
              </a:lnSpc>
            </a:pPr>
            <a:r>
              <a:rPr sz="2400" spc="-80" dirty="0">
                <a:solidFill>
                  <a:srgbClr val="000000">
                    <a:alpha val="100000"/>
                  </a:srgbClr>
                </a:solidFill>
                <a:latin typeface="Arial" panose="020B0604020202090204"/>
                <a:ea typeface="Arial" panose="020B0604020202090204"/>
                <a:cs typeface="Arial" panose="020B0604020202090204"/>
                <a:sym typeface="+mn-ea"/>
              </a:rPr>
              <a:t>Teams were succeeding without traditional formal meth</a:t>
            </a:r>
            <a:r>
              <a:rPr sz="2400" spc="-40" dirty="0">
                <a:solidFill>
                  <a:srgbClr val="000000">
                    <a:alpha val="100000"/>
                  </a:srgbClr>
                </a:solidFill>
                <a:latin typeface="Arial" panose="020B0604020202090204"/>
                <a:ea typeface="Arial" panose="020B0604020202090204"/>
                <a:cs typeface="Arial" panose="020B0604020202090204"/>
                <a:sym typeface="+mn-ea"/>
              </a:rPr>
              <a:t>o</a:t>
            </a:r>
            <a:r>
              <a:rPr sz="2400" dirty="0">
                <a:solidFill>
                  <a:srgbClr val="000000">
                    <a:alpha val="100000"/>
                  </a:srgbClr>
                </a:solidFill>
                <a:latin typeface="Arial" panose="020B0604020202090204"/>
                <a:ea typeface="Arial" panose="020B0604020202090204"/>
                <a:cs typeface="Arial" panose="020B0604020202090204"/>
                <a:sym typeface="+mn-ea"/>
              </a:rPr>
              <a:t>ds</a:t>
            </a:r>
          </a:p>
          <a:p>
            <a:pPr marL="521970" algn="l" rtl="0" eaLnBrk="0">
              <a:lnSpc>
                <a:spcPts val="3430"/>
              </a:lnSpc>
              <a:spcBef>
                <a:spcPts val="525"/>
              </a:spcBef>
            </a:pPr>
            <a:endParaRPr lang="en-US" altLang="en-US" sz="2400" dirty="0"/>
          </a:p>
          <a:p>
            <a:pPr marL="355600" indent="-342900" eaLnBrk="0">
              <a:lnSpc>
                <a:spcPct val="122000"/>
              </a:lnSpc>
              <a:spcBef>
                <a:spcPts val="20"/>
              </a:spcBef>
            </a:pPr>
            <a:r>
              <a:rPr sz="2400" spc="-80" dirty="0">
                <a:solidFill>
                  <a:srgbClr val="000000">
                    <a:alpha val="100000"/>
                  </a:srgbClr>
                </a:solidFill>
                <a:latin typeface="Arial" panose="020B0604020202090204"/>
                <a:ea typeface="Arial" panose="020B0604020202090204"/>
                <a:cs typeface="Arial" panose="020B0604020202090204"/>
                <a:sym typeface="+mn-ea"/>
              </a:rPr>
              <a:t>Crystal is a </a:t>
            </a:r>
            <a:r>
              <a:rPr sz="2400" b="1" i="1" spc="-80" dirty="0">
                <a:solidFill>
                  <a:srgbClr val="000000">
                    <a:alpha val="100000"/>
                  </a:srgbClr>
                </a:solidFill>
                <a:latin typeface="Arial" panose="020B0604020202090204"/>
                <a:ea typeface="Arial" panose="020B0604020202090204"/>
                <a:cs typeface="Arial" panose="020B0604020202090204"/>
                <a:sym typeface="+mn-ea"/>
              </a:rPr>
              <a:t>family</a:t>
            </a:r>
            <a:r>
              <a:rPr sz="2400" spc="-80" dirty="0">
                <a:solidFill>
                  <a:srgbClr val="000000">
                    <a:alpha val="100000"/>
                  </a:srgbClr>
                </a:solidFill>
                <a:latin typeface="Arial" panose="020B0604020202090204"/>
                <a:ea typeface="Arial" panose="020B0604020202090204"/>
                <a:cs typeface="Arial" panose="020B0604020202090204"/>
                <a:sym typeface="+mn-ea"/>
              </a:rPr>
              <a:t> of methods and a set of guidelines tha</a:t>
            </a:r>
            <a:r>
              <a:rPr sz="2400" dirty="0">
                <a:solidFill>
                  <a:srgbClr val="000000">
                    <a:alpha val="100000"/>
                  </a:srgbClr>
                </a:solidFill>
                <a:latin typeface="Arial" panose="020B0604020202090204"/>
                <a:ea typeface="Arial" panose="020B0604020202090204"/>
                <a:cs typeface="Arial" panose="020B0604020202090204"/>
                <a:sym typeface="+mn-ea"/>
              </a:rPr>
              <a:t>t </a:t>
            </a:r>
            <a:r>
              <a:rPr sz="2400" spc="-60" dirty="0">
                <a:solidFill>
                  <a:srgbClr val="000000">
                    <a:alpha val="100000"/>
                  </a:srgbClr>
                </a:solidFill>
                <a:latin typeface="Arial" panose="020B0604020202090204"/>
                <a:ea typeface="Arial" panose="020B0604020202090204"/>
                <a:cs typeface="Arial" panose="020B0604020202090204"/>
                <a:sym typeface="+mn-ea"/>
              </a:rPr>
              <a:t>you adjust to meet your project’s need</a:t>
            </a:r>
            <a:r>
              <a:rPr sz="2400" spc="-3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400" dirty="0"/>
          </a:p>
          <a:p>
            <a:pPr algn="l" rtl="0" eaLnBrk="0">
              <a:lnSpc>
                <a:spcPct val="41000"/>
              </a:lnSpc>
            </a:pPr>
            <a:endParaRPr lang="en-US" altLang="en-US" sz="2400" dirty="0"/>
          </a:p>
          <a:p>
            <a:pPr marL="355600" indent="-342900" eaLnBrk="0">
              <a:lnSpc>
                <a:spcPct val="111000"/>
              </a:lnSpc>
            </a:pPr>
            <a:r>
              <a:rPr sz="2400" spc="-40" dirty="0">
                <a:solidFill>
                  <a:srgbClr val="000000">
                    <a:alpha val="100000"/>
                  </a:srgbClr>
                </a:solidFill>
                <a:latin typeface="Arial" panose="020B0604020202090204"/>
                <a:ea typeface="Arial" panose="020B0604020202090204"/>
                <a:cs typeface="Arial" panose="020B0604020202090204"/>
                <a:sym typeface="+mn-ea"/>
              </a:rPr>
              <a:t>Different flavors of Crystal for differen</a:t>
            </a:r>
            <a:r>
              <a:rPr sz="2400" spc="-1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60" dirty="0">
                <a:solidFill>
                  <a:srgbClr val="000000">
                    <a:alpha val="100000"/>
                  </a:srgbClr>
                </a:solidFill>
                <a:latin typeface="Arial" panose="020B0604020202090204"/>
                <a:ea typeface="Arial" panose="020B0604020202090204"/>
                <a:cs typeface="Arial" panose="020B0604020202090204"/>
                <a:sym typeface="+mn-ea"/>
              </a:rPr>
              <a:t>Just as no two crystals are th</a:t>
            </a:r>
            <a:r>
              <a:rPr sz="2400" spc="-20" dirty="0">
                <a:solidFill>
                  <a:srgbClr val="000000">
                    <a:alpha val="100000"/>
                  </a:srgbClr>
                </a:solidFill>
                <a:latin typeface="Arial" panose="020B0604020202090204"/>
                <a:ea typeface="Arial" panose="020B0604020202090204"/>
                <a:cs typeface="Arial" panose="020B0604020202090204"/>
                <a:sym typeface="+mn-ea"/>
              </a:rPr>
              <a:t>e</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same</a:t>
            </a:r>
            <a:r>
              <a:rPr sz="2400" spc="-6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50" dirty="0">
                <a:solidFill>
                  <a:srgbClr val="000000">
                    <a:alpha val="100000"/>
                  </a:srgbClr>
                </a:solidFill>
                <a:latin typeface="Arial" panose="020B0604020202090204"/>
                <a:ea typeface="Arial" panose="020B0604020202090204"/>
                <a:cs typeface="Arial" panose="020B0604020202090204"/>
                <a:sym typeface="+mn-ea"/>
              </a:rPr>
              <a:t>no two projects are the sam</a:t>
            </a:r>
            <a:r>
              <a:rPr sz="2400" spc="-10" dirty="0">
                <a:solidFill>
                  <a:srgbClr val="000000">
                    <a:alpha val="100000"/>
                  </a:srgbClr>
                </a:solidFill>
                <a:latin typeface="Arial" panose="020B0604020202090204"/>
                <a:ea typeface="Arial" panose="020B0604020202090204"/>
                <a:cs typeface="Arial" panose="020B0604020202090204"/>
                <a:sym typeface="+mn-ea"/>
              </a:rPr>
              <a:t>e</a:t>
            </a:r>
            <a:endParaRPr lang="en-US" sz="2400" spc="-10" dirty="0">
              <a:solidFill>
                <a:srgbClr val="000000">
                  <a:alpha val="100000"/>
                </a:srgbClr>
              </a:solidFill>
              <a:latin typeface="Arial" panose="020B0604020202090204"/>
              <a:ea typeface="Arial" panose="020B0604020202090204"/>
              <a:cs typeface="Arial" panose="020B0604020202090204"/>
              <a:sym typeface="+mn-ea"/>
            </a:endParaRPr>
          </a:p>
          <a:p>
            <a:pPr marL="755650" lvl="1" indent="-285750" algn="l" rtl="0" eaLnBrk="0">
              <a:lnSpc>
                <a:spcPct val="111000"/>
              </a:lnSpc>
            </a:pPr>
            <a:r>
              <a:rPr sz="2400" spc="-80" dirty="0">
                <a:solidFill>
                  <a:srgbClr val="000000">
                    <a:alpha val="100000"/>
                  </a:srgbClr>
                </a:solidFill>
                <a:latin typeface="Arial" panose="020B0604020202090204"/>
                <a:ea typeface="Arial" panose="020B0604020202090204"/>
                <a:cs typeface="Arial" panose="020B0604020202090204"/>
                <a:sym typeface="+mn-ea"/>
              </a:rPr>
              <a:t>E.g.</a:t>
            </a:r>
            <a:r>
              <a:rPr lang="en-US" sz="2400" spc="-80" dirty="0">
                <a:solidFill>
                  <a:srgbClr val="000000">
                    <a:alpha val="100000"/>
                  </a:srgbClr>
                </a:solidFill>
                <a:latin typeface="Arial" panose="020B0604020202090204"/>
                <a:ea typeface="Arial" panose="020B0604020202090204"/>
                <a:cs typeface="Arial" panose="020B0604020202090204"/>
                <a:sym typeface="+mn-ea"/>
              </a:rPr>
              <a:t>,</a:t>
            </a:r>
            <a:r>
              <a:rPr sz="2400" spc="-80" dirty="0">
                <a:solidFill>
                  <a:srgbClr val="000000">
                    <a:alpha val="100000"/>
                  </a:srgbClr>
                </a:solidFill>
                <a:latin typeface="Arial" panose="020B0604020202090204"/>
                <a:ea typeface="Arial" panose="020B0604020202090204"/>
                <a:cs typeface="Arial" panose="020B0604020202090204"/>
                <a:sym typeface="+mn-ea"/>
              </a:rPr>
              <a:t> small projects vs large project</a:t>
            </a:r>
            <a:r>
              <a:rPr sz="2400" spc="-30" dirty="0">
                <a:solidFill>
                  <a:srgbClr val="000000">
                    <a:alpha val="100000"/>
                  </a:srgbClr>
                </a:solidFill>
                <a:latin typeface="Arial" panose="020B0604020202090204"/>
                <a:ea typeface="Arial" panose="020B0604020202090204"/>
                <a:cs typeface="Arial" panose="020B0604020202090204"/>
                <a:sym typeface="+mn-ea"/>
              </a:rPr>
              <a:t>s</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755650" lvl="1" indent="-285750" algn="l" rtl="0" eaLnBrk="0">
              <a:lnSpc>
                <a:spcPct val="111000"/>
              </a:lnSpc>
            </a:pPr>
            <a:r>
              <a:rPr sz="2400" spc="-50" dirty="0">
                <a:solidFill>
                  <a:srgbClr val="000000">
                    <a:alpha val="100000"/>
                  </a:srgbClr>
                </a:solidFill>
                <a:latin typeface="Arial" panose="020B0604020202090204"/>
                <a:ea typeface="Arial" panose="020B0604020202090204"/>
                <a:cs typeface="Arial" panose="020B0604020202090204"/>
                <a:sym typeface="+mn-ea"/>
              </a:rPr>
              <a:t>Tailor the process to the proj</a:t>
            </a:r>
            <a:r>
              <a:rPr sz="2400" dirty="0">
                <a:solidFill>
                  <a:srgbClr val="000000">
                    <a:alpha val="100000"/>
                  </a:srgbClr>
                </a:solidFill>
                <a:latin typeface="Arial" panose="020B0604020202090204"/>
                <a:ea typeface="Arial" panose="020B0604020202090204"/>
                <a:cs typeface="Arial" panose="020B0604020202090204"/>
                <a:sym typeface="+mn-ea"/>
              </a:rPr>
              <a:t>ect</a:t>
            </a:r>
            <a:endParaRPr lang="en-US" altLang="en-US" sz="2400" dirty="0"/>
          </a:p>
          <a:p>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dirty="0">
                <a:solidFill>
                  <a:schemeClr val="tx1">
                    <a:alpha val="100000"/>
                  </a:schemeClr>
                </a:solidFill>
                <a:latin typeface="Arial" panose="020B0604020202090204"/>
                <a:ea typeface="Arial" panose="020B0604020202090204"/>
                <a:cs typeface="Arial" panose="020B0604020202090204"/>
                <a:sym typeface="+mn-ea"/>
              </a:rPr>
              <a:t>Crystal</a:t>
            </a:r>
            <a:r>
              <a:rPr spc="60" dirty="0">
                <a:solidFill>
                  <a:schemeClr val="tx1">
                    <a:alpha val="100000"/>
                  </a:schemeClr>
                </a:solidFill>
                <a:latin typeface="Arial" panose="020B0604020202090204"/>
                <a:ea typeface="Arial" panose="020B0604020202090204"/>
                <a:cs typeface="Arial" panose="020B0604020202090204"/>
                <a:sym typeface="+mn-ea"/>
              </a:rPr>
              <a:t> </a:t>
            </a:r>
            <a:r>
              <a:rPr lang="en-US" spc="60" dirty="0">
                <a:solidFill>
                  <a:schemeClr val="tx1">
                    <a:alpha val="100000"/>
                  </a:schemeClr>
                </a:solidFill>
                <a:latin typeface="Arial" panose="020B0604020202090204"/>
                <a:ea typeface="Arial" panose="020B0604020202090204"/>
                <a:cs typeface="Arial" panose="020B0604020202090204"/>
                <a:sym typeface="+mn-ea"/>
              </a:rPr>
              <a:t>Clear</a:t>
            </a:r>
          </a:p>
        </p:txBody>
      </p:sp>
      <p:sp>
        <p:nvSpPr>
          <p:cNvPr id="2" name="Content Placeholder 1"/>
          <p:cNvSpPr>
            <a:spLocks noGrp="1"/>
          </p:cNvSpPr>
          <p:nvPr>
            <p:ph idx="1"/>
          </p:nvPr>
        </p:nvSpPr>
        <p:spPr>
          <a:xfrm>
            <a:off x="646430" y="1219200"/>
            <a:ext cx="10709275" cy="3343910"/>
          </a:xfrm>
        </p:spPr>
        <p:txBody>
          <a:bodyPr/>
          <a:lstStyle/>
          <a:p>
            <a:pPr algn="l" rtl="0" eaLnBrk="0">
              <a:lnSpc>
                <a:spcPct val="83000"/>
              </a:lnSpc>
            </a:pPr>
            <a:r>
              <a:rPr sz="2400" spc="-60" dirty="0">
                <a:solidFill>
                  <a:srgbClr val="000000">
                    <a:alpha val="100000"/>
                  </a:srgbClr>
                </a:solidFill>
                <a:latin typeface="Arial" panose="020B0604020202090204"/>
                <a:ea typeface="Arial" panose="020B0604020202090204"/>
                <a:cs typeface="Arial" panose="020B0604020202090204"/>
                <a:sym typeface="+mn-ea"/>
              </a:rPr>
              <a:t>Crystal Clear is the lightest member of Crystal fami</a:t>
            </a:r>
            <a:r>
              <a:rPr sz="2400" spc="-20" dirty="0">
                <a:solidFill>
                  <a:srgbClr val="000000">
                    <a:alpha val="100000"/>
                  </a:srgbClr>
                </a:solidFill>
                <a:latin typeface="Arial" panose="020B0604020202090204"/>
                <a:ea typeface="Arial" panose="020B0604020202090204"/>
                <a:cs typeface="Arial" panose="020B0604020202090204"/>
                <a:sym typeface="+mn-ea"/>
              </a:rPr>
              <a:t>l</a:t>
            </a:r>
            <a:r>
              <a:rPr sz="2400" dirty="0">
                <a:solidFill>
                  <a:srgbClr val="000000">
                    <a:alpha val="100000"/>
                  </a:srgbClr>
                </a:solidFill>
                <a:latin typeface="Arial" panose="020B0604020202090204"/>
                <a:ea typeface="Arial" panose="020B0604020202090204"/>
                <a:cs typeface="Arial" panose="020B0604020202090204"/>
                <a:sym typeface="+mn-ea"/>
              </a:rPr>
              <a:t>y</a:t>
            </a:r>
            <a:endParaRPr lang="en-US" altLang="en-US" sz="2400" dirty="0"/>
          </a:p>
          <a:p>
            <a:pPr marL="12700" algn="l" rtl="0" eaLnBrk="0" fontAlgn="auto">
              <a:lnSpc>
                <a:spcPct val="150000"/>
              </a:lnSpc>
            </a:pPr>
            <a:r>
              <a:rPr lang="en-US" sz="2400" spc="-70" dirty="0">
                <a:solidFill>
                  <a:srgbClr val="000000">
                    <a:alpha val="100000"/>
                  </a:srgbClr>
                </a:solidFill>
                <a:latin typeface="Arial" panose="020B0604020202090204"/>
                <a:ea typeface="Arial" panose="020B0604020202090204"/>
                <a:cs typeface="Arial" panose="020B0604020202090204"/>
                <a:sym typeface="+mn-ea"/>
              </a:rPr>
              <a:t>Similar to</a:t>
            </a:r>
            <a:r>
              <a:rPr sz="2400" spc="-70" dirty="0">
                <a:solidFill>
                  <a:srgbClr val="000000">
                    <a:alpha val="100000"/>
                  </a:srgbClr>
                </a:solidFill>
                <a:latin typeface="Arial" panose="020B0604020202090204"/>
                <a:ea typeface="Arial" panose="020B0604020202090204"/>
                <a:cs typeface="Arial" panose="020B0604020202090204"/>
                <a:sym typeface="+mn-ea"/>
              </a:rPr>
              <a:t> eXtreme Programmi</a:t>
            </a:r>
            <a:r>
              <a:rPr sz="2400" spc="-5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g</a:t>
            </a:r>
            <a:endParaRPr lang="en-US" altLang="en-US" sz="2400" dirty="0"/>
          </a:p>
          <a:p>
            <a:pPr marL="26670" algn="l" rtl="0" eaLnBrk="0" fontAlgn="auto">
              <a:lnSpc>
                <a:spcPct val="150000"/>
              </a:lnSpc>
              <a:spcBef>
                <a:spcPts val="5"/>
              </a:spcBef>
            </a:pPr>
            <a:r>
              <a:rPr sz="2400" spc="-90" dirty="0">
                <a:solidFill>
                  <a:srgbClr val="000000">
                    <a:alpha val="100000"/>
                  </a:srgbClr>
                </a:solidFill>
                <a:latin typeface="Arial" panose="020B0604020202090204"/>
                <a:ea typeface="Arial" panose="020B0604020202090204"/>
                <a:cs typeface="Arial" panose="020B0604020202090204"/>
                <a:sym typeface="+mn-ea"/>
              </a:rPr>
              <a:t>Intended for small, collocated teams (1-6 member</a:t>
            </a:r>
            <a:r>
              <a:rPr sz="2400" spc="-80" dirty="0">
                <a:solidFill>
                  <a:srgbClr val="000000">
                    <a:alpha val="100000"/>
                  </a:srgbClr>
                </a:solidFill>
                <a:latin typeface="Arial" panose="020B0604020202090204"/>
                <a:ea typeface="Arial" panose="020B0604020202090204"/>
                <a:cs typeface="Arial" panose="020B0604020202090204"/>
                <a:sym typeface="+mn-ea"/>
              </a:rPr>
              <a:t>s</a:t>
            </a:r>
            <a:r>
              <a:rPr sz="2400" spc="-90" dirty="0">
                <a:solidFill>
                  <a:srgbClr val="000000">
                    <a:alpha val="100000"/>
                  </a:srgbClr>
                </a:solidFill>
                <a:latin typeface="Arial" panose="020B0604020202090204"/>
                <a:ea typeface="Arial" panose="020B0604020202090204"/>
                <a:cs typeface="Arial" panose="020B0604020202090204"/>
                <a:sym typeface="+mn-ea"/>
              </a:rPr>
              <a:t>)</a:t>
            </a:r>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10</a:t>
            </a:fld>
            <a:endParaRPr lang="en-US"/>
          </a:p>
        </p:txBody>
      </p:sp>
      <p:sp>
        <p:nvSpPr>
          <p:cNvPr id="6" name="Text Box 5"/>
          <p:cNvSpPr txBox="1"/>
          <p:nvPr/>
        </p:nvSpPr>
        <p:spPr>
          <a:xfrm>
            <a:off x="3844809" y="5805054"/>
            <a:ext cx="4790036" cy="234936"/>
          </a:xfrm>
          <a:prstGeom prst="rect">
            <a:avLst/>
          </a:prstGeom>
          <a:noFill/>
        </p:spPr>
        <p:txBody>
          <a:bodyPr wrap="square" rtlCol="0" anchor="t">
            <a:spAutoFit/>
          </a:bodyPr>
          <a:lstStyle/>
          <a:p>
            <a:pPr algn="l" rtl="0" eaLnBrk="0">
              <a:lnSpc>
                <a:spcPct val="83000"/>
              </a:lnSpc>
            </a:pPr>
            <a:r>
              <a:rPr sz="1100" dirty="0">
                <a:solidFill>
                  <a:srgbClr val="000000">
                    <a:alpha val="100000"/>
                  </a:srgbClr>
                </a:solidFill>
                <a:latin typeface="Calibri"/>
                <a:ea typeface="Calibri"/>
                <a:cs typeface="Calibri"/>
                <a:sym typeface="+mn-ea"/>
              </a:rPr>
              <a:t>Source</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Crystal</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Clear</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A</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Human</a:t>
            </a:r>
            <a:r>
              <a:rPr sz="1100" spc="80" dirty="0">
                <a:solidFill>
                  <a:srgbClr val="000000">
                    <a:alpha val="100000"/>
                  </a:srgbClr>
                </a:solidFill>
                <a:latin typeface="Calibri"/>
                <a:ea typeface="Calibri"/>
                <a:cs typeface="Calibri"/>
                <a:sym typeface="+mn-ea"/>
              </a:rPr>
              <a:t>-</a:t>
            </a:r>
            <a:r>
              <a:rPr sz="1100" dirty="0">
                <a:solidFill>
                  <a:srgbClr val="000000">
                    <a:alpha val="100000"/>
                  </a:srgbClr>
                </a:solidFill>
                <a:latin typeface="Calibri"/>
                <a:ea typeface="Calibri"/>
                <a:cs typeface="Calibri"/>
                <a:sym typeface="+mn-ea"/>
              </a:rPr>
              <a:t>Powered</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Methodology</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for</a:t>
            </a:r>
            <a:r>
              <a:rPr sz="1100" spc="8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Small</a:t>
            </a:r>
            <a:r>
              <a:rPr sz="1100" spc="40" dirty="0">
                <a:solidFill>
                  <a:srgbClr val="000000">
                    <a:alpha val="100000"/>
                  </a:srgbClr>
                </a:solidFill>
                <a:latin typeface="Calibri"/>
                <a:ea typeface="Calibri"/>
                <a:cs typeface="Calibri"/>
                <a:sym typeface="+mn-ea"/>
              </a:rPr>
              <a:t> </a:t>
            </a:r>
            <a:r>
              <a:rPr sz="1100" dirty="0">
                <a:solidFill>
                  <a:srgbClr val="000000">
                    <a:alpha val="100000"/>
                  </a:srgbClr>
                </a:solidFill>
                <a:latin typeface="Calibri"/>
                <a:ea typeface="Calibri"/>
                <a:cs typeface="Calibri"/>
                <a:sym typeface="+mn-ea"/>
              </a:rPr>
              <a:t>Teams</a:t>
            </a:r>
            <a:endParaRPr lang="en-US" sz="1100"/>
          </a:p>
        </p:txBody>
      </p:sp>
      <p:graphicFrame>
        <p:nvGraphicFramePr>
          <p:cNvPr id="5" name="Table 4"/>
          <p:cNvGraphicFramePr/>
          <p:nvPr>
            <p:custDataLst>
              <p:tags r:id="rId1"/>
            </p:custDataLst>
            <p:extLst>
              <p:ext uri="{D42A27DB-BD31-4B8C-83A1-F6EECF244321}">
                <p14:modId xmlns:p14="http://schemas.microsoft.com/office/powerpoint/2010/main" val="759408201"/>
              </p:ext>
            </p:extLst>
          </p:nvPr>
        </p:nvGraphicFramePr>
        <p:xfrm>
          <a:off x="3696508" y="2800061"/>
          <a:ext cx="4473229" cy="2922328"/>
        </p:xfrm>
        <a:graphic>
          <a:graphicData uri="http://schemas.openxmlformats.org/drawingml/2006/table">
            <a:tbl>
              <a:tblPr firstRow="1" bandRow="1">
                <a:effectLst>
                  <a:outerShdw blurRad="50800" dist="50800" dir="5400000" algn="ctr" rotWithShape="0">
                    <a:schemeClr val="bg2">
                      <a:lumMod val="10000"/>
                      <a:alpha val="100000"/>
                    </a:schemeClr>
                  </a:outerShdw>
                </a:effectLst>
                <a:tableStyleId>{5C22544A-7EE6-4342-B048-85BDC9FD1C3A}</a:tableStyleId>
              </a:tblPr>
              <a:tblGrid>
                <a:gridCol w="335280">
                  <a:extLst>
                    <a:ext uri="{9D8B030D-6E8A-4147-A177-3AD203B41FA5}">
                      <a16:colId xmlns:a16="http://schemas.microsoft.com/office/drawing/2014/main" val="20000"/>
                    </a:ext>
                  </a:extLst>
                </a:gridCol>
                <a:gridCol w="911860">
                  <a:extLst>
                    <a:ext uri="{9D8B030D-6E8A-4147-A177-3AD203B41FA5}">
                      <a16:colId xmlns:a16="http://schemas.microsoft.com/office/drawing/2014/main" val="20001"/>
                    </a:ext>
                  </a:extLst>
                </a:gridCol>
                <a:gridCol w="567690">
                  <a:extLst>
                    <a:ext uri="{9D8B030D-6E8A-4147-A177-3AD203B41FA5}">
                      <a16:colId xmlns:a16="http://schemas.microsoft.com/office/drawing/2014/main" val="20002"/>
                    </a:ext>
                  </a:extLst>
                </a:gridCol>
                <a:gridCol w="593090">
                  <a:extLst>
                    <a:ext uri="{9D8B030D-6E8A-4147-A177-3AD203B41FA5}">
                      <a16:colId xmlns:a16="http://schemas.microsoft.com/office/drawing/2014/main" val="20003"/>
                    </a:ext>
                  </a:extLst>
                </a:gridCol>
                <a:gridCol w="653415">
                  <a:extLst>
                    <a:ext uri="{9D8B030D-6E8A-4147-A177-3AD203B41FA5}">
                      <a16:colId xmlns:a16="http://schemas.microsoft.com/office/drawing/2014/main" val="20004"/>
                    </a:ext>
                  </a:extLst>
                </a:gridCol>
                <a:gridCol w="655320">
                  <a:extLst>
                    <a:ext uri="{9D8B030D-6E8A-4147-A177-3AD203B41FA5}">
                      <a16:colId xmlns:a16="http://schemas.microsoft.com/office/drawing/2014/main" val="20005"/>
                    </a:ext>
                  </a:extLst>
                </a:gridCol>
                <a:gridCol w="756574">
                  <a:extLst>
                    <a:ext uri="{9D8B030D-6E8A-4147-A177-3AD203B41FA5}">
                      <a16:colId xmlns:a16="http://schemas.microsoft.com/office/drawing/2014/main" val="20006"/>
                    </a:ext>
                  </a:extLst>
                </a:gridCol>
              </a:tblGrid>
              <a:tr h="243840">
                <a:tc rowSpan="2" gridSpan="2">
                  <a:txBody>
                    <a:bodyPr/>
                    <a:lstStyle/>
                    <a:p>
                      <a:pPr>
                        <a:buNone/>
                      </a:pPr>
                      <a:endParaRPr lang="en-US" sz="1000" b="0">
                        <a:ln>
                          <a:noFill/>
                        </a:ln>
                        <a:solidFill>
                          <a:schemeClr val="bg2">
                            <a:lumMod val="10000"/>
                          </a:schemeClr>
                        </a:solidFill>
                        <a:effectLst>
                          <a:outerShdw blurRad="50800" dist="50800" dir="5400000" algn="ctr" rotWithShape="0">
                            <a:schemeClr val="bg1">
                              <a:alpha val="100000"/>
                            </a:schemeClr>
                          </a:outerShdw>
                        </a:effectLst>
                        <a:cs typeface="+mn-lt"/>
                      </a:endParaRPr>
                    </a:p>
                  </a:txBody>
                  <a:tcPr>
                    <a:solidFill>
                      <a:schemeClr val="bg1">
                        <a:lumMod val="85000"/>
                      </a:schemeClr>
                    </a:solidFill>
                  </a:tcPr>
                </a:tc>
                <a:tc rowSpan="2" hMerge="1">
                  <a:txBody>
                    <a:bodyPr/>
                    <a:lstStyle/>
                    <a:p>
                      <a:endParaRPr lang="en-US"/>
                    </a:p>
                  </a:txBody>
                  <a:tcPr>
                    <a:solidFill>
                      <a:prstClr val="black"/>
                    </a:solidFill>
                  </a:tcPr>
                </a:tc>
                <a:tc gridSpan="5">
                  <a:txBody>
                    <a:bodyPr/>
                    <a:lstStyle/>
                    <a:p>
                      <a:pPr>
                        <a:buNone/>
                      </a:pPr>
                      <a:r>
                        <a:rPr lang="en-US" sz="1000" dirty="0">
                          <a:ln>
                            <a:noFill/>
                          </a:ln>
                          <a:solidFill>
                            <a:schemeClr val="bg2">
                              <a:lumMod val="10000"/>
                            </a:schemeClr>
                          </a:solidFill>
                          <a:effectLst>
                            <a:outerShdw blurRad="50800" dist="50800" dir="5400000" algn="ctr" rotWithShape="0">
                              <a:schemeClr val="bg1">
                                <a:alpha val="100000"/>
                              </a:schemeClr>
                            </a:outerShdw>
                          </a:effectLst>
                        </a:rPr>
                        <a:t>Crystal Methodologies</a:t>
                      </a:r>
                    </a:p>
                  </a:txBody>
                  <a:tcPr>
                    <a:solidFill>
                      <a:schemeClr val="bg1">
                        <a:lumMod val="85000"/>
                      </a:schemeClr>
                    </a:solidFill>
                  </a:tcPr>
                </a:tc>
                <a:tc hMerge="1">
                  <a:txBody>
                    <a:bodyPr/>
                    <a:lstStyle/>
                    <a:p>
                      <a:endParaRPr lang="en-US"/>
                    </a:p>
                  </a:txBody>
                  <a:tcPr>
                    <a:solidFill>
                      <a:prstClr val="black"/>
                    </a:solidFill>
                  </a:tcPr>
                </a:tc>
                <a:tc hMerge="1">
                  <a:txBody>
                    <a:bodyPr/>
                    <a:lstStyle/>
                    <a:p>
                      <a:endParaRPr lang="en-US"/>
                    </a:p>
                  </a:txBody>
                  <a:tcPr>
                    <a:solidFill>
                      <a:prstClr val="black"/>
                    </a:solidFill>
                  </a:tcPr>
                </a:tc>
                <a:tc hMerge="1">
                  <a:txBody>
                    <a:bodyPr/>
                    <a:lstStyle/>
                    <a:p>
                      <a:endParaRPr lang="en-US"/>
                    </a:p>
                  </a:txBody>
                  <a:tcPr>
                    <a:solidFill>
                      <a:prstClr val="black"/>
                    </a:solidFill>
                  </a:tcPr>
                </a:tc>
                <a:tc hMerge="1">
                  <a:txBody>
                    <a:bodyPr/>
                    <a:lstStyle/>
                    <a:p>
                      <a:endParaRPr lang="en-US"/>
                    </a:p>
                  </a:txBody>
                  <a:tcPr>
                    <a:solidFill>
                      <a:prstClr val="black"/>
                    </a:solidFill>
                  </a:tcPr>
                </a:tc>
                <a:extLst>
                  <a:ext uri="{0D108BD9-81ED-4DB2-BD59-A6C34878D82A}">
                    <a16:rowId xmlns:a16="http://schemas.microsoft.com/office/drawing/2014/main" val="10000"/>
                  </a:ext>
                </a:extLst>
              </a:tr>
              <a:tr h="396240">
                <a:tc gridSpan="2" vMerge="1">
                  <a:txBody>
                    <a:bodyPr/>
                    <a:lstStyle/>
                    <a:p>
                      <a:endParaRPr lang="en-US"/>
                    </a:p>
                  </a:txBody>
                  <a:tcPr>
                    <a:solidFill>
                      <a:prstClr val="black"/>
                    </a:solidFill>
                  </a:tcPr>
                </a:tc>
                <a:tc hMerge="1" vMerge="1">
                  <a:txBody>
                    <a:bodyPr/>
                    <a:lstStyle/>
                    <a:p>
                      <a:endParaRPr lang="en-US"/>
                    </a:p>
                  </a:txBody>
                  <a:tcPr>
                    <a:solidFill>
                      <a:prstClr val="black"/>
                    </a:solidFill>
                  </a:tcPr>
                </a:tc>
                <a:tc>
                  <a:txBody>
                    <a:bodyPr/>
                    <a:lstStyle/>
                    <a:p>
                      <a:pPr>
                        <a:buNone/>
                      </a:pPr>
                      <a:r>
                        <a:rPr lang="en-US" sz="1000" b="0">
                          <a:ln>
                            <a:noFill/>
                          </a:ln>
                          <a:solidFill>
                            <a:schemeClr val="bg2">
                              <a:lumMod val="10000"/>
                              <a:alpha val="100000"/>
                            </a:schemeClr>
                          </a:solidFill>
                          <a:effectLst>
                            <a:outerShdw blurRad="50800" dist="50800" dir="5400000" algn="ctr" rotWithShape="0">
                              <a:schemeClr val="bg1">
                                <a:alpha val="100000"/>
                              </a:schemeClr>
                            </a:outerShdw>
                          </a:effectLst>
                          <a:cs typeface="+mn-lt"/>
                        </a:rPr>
                        <a:t>Clear</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Yellow</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Orange</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Red</a:t>
                      </a:r>
                    </a:p>
                  </a:txBody>
                  <a:tcPr>
                    <a:solidFill>
                      <a:schemeClr val="bg1">
                        <a:lumMod val="85000"/>
                      </a:schemeClr>
                    </a:solidFill>
                  </a:tcPr>
                </a:tc>
                <a:tc>
                  <a:txBody>
                    <a:bodyPr/>
                    <a:lstStyle/>
                    <a:p>
                      <a:pPr>
                        <a:buNone/>
                      </a:pPr>
                      <a:r>
                        <a:rPr lang="en-US" sz="1000" b="0" dirty="0">
                          <a:ln>
                            <a:noFill/>
                          </a:ln>
                          <a:solidFill>
                            <a:schemeClr val="bg2">
                              <a:lumMod val="10000"/>
                            </a:schemeClr>
                          </a:solidFill>
                          <a:effectLst>
                            <a:outerShdw blurRad="50800" dist="50800" dir="5400000" algn="ctr" rotWithShape="0">
                              <a:schemeClr val="bg1">
                                <a:alpha val="100000"/>
                              </a:schemeClr>
                            </a:outerShdw>
                          </a:effectLst>
                          <a:cs typeface="+mn-lt"/>
                        </a:rPr>
                        <a:t>Maroon</a:t>
                      </a:r>
                    </a:p>
                  </a:txBody>
                  <a:tcPr>
                    <a:solidFill>
                      <a:schemeClr val="bg1">
                        <a:lumMod val="85000"/>
                      </a:schemeClr>
                    </a:solidFill>
                  </a:tcPr>
                </a:tc>
                <a:extLst>
                  <a:ext uri="{0D108BD9-81ED-4DB2-BD59-A6C34878D82A}">
                    <a16:rowId xmlns:a16="http://schemas.microsoft.com/office/drawing/2014/main" val="10001"/>
                  </a:ext>
                </a:extLst>
              </a:tr>
              <a:tr h="370205">
                <a:tc rowSpan="4">
                  <a:txBody>
                    <a:bodyPr/>
                    <a:lstStyle/>
                    <a:p>
                      <a:pPr algn="ctr">
                        <a:buNone/>
                      </a:pPr>
                      <a:r>
                        <a:rPr lang="en-US" sz="1000" b="1" dirty="0">
                          <a:ln>
                            <a:noFill/>
                          </a:ln>
                          <a:solidFill>
                            <a:schemeClr val="bg2">
                              <a:lumMod val="10000"/>
                            </a:schemeClr>
                          </a:solidFill>
                          <a:effectLst>
                            <a:outerShdw blurRad="50800" dist="50800" dir="5400000" algn="ctr" rotWithShape="0">
                              <a:schemeClr val="bg1">
                                <a:alpha val="100000"/>
                              </a:schemeClr>
                            </a:outerShdw>
                          </a:effectLst>
                          <a:cs typeface="+mn-lt"/>
                        </a:rPr>
                        <a:t>Critically of the Project</a:t>
                      </a:r>
                    </a:p>
                  </a:txBody>
                  <a:tcPr vert="vert270">
                    <a:solidFill>
                      <a:schemeClr val="bg1">
                        <a:lumMod val="85000"/>
                      </a:schemeClr>
                    </a:solidFill>
                  </a:tcPr>
                </a:tc>
                <a:tc>
                  <a:txBody>
                    <a:bodyPr/>
                    <a:lstStyle/>
                    <a:p>
                      <a:pPr>
                        <a:buNone/>
                      </a:pPr>
                      <a:r>
                        <a:rPr lang="en-US" sz="1000" b="0" dirty="0">
                          <a:ln>
                            <a:noFill/>
                          </a:ln>
                          <a:solidFill>
                            <a:schemeClr val="bg2">
                              <a:lumMod val="10000"/>
                            </a:schemeClr>
                          </a:solidFill>
                          <a:effectLst>
                            <a:outerShdw blurRad="50800" dist="50800" dir="5400000" algn="ctr" rotWithShape="0">
                              <a:schemeClr val="bg1">
                                <a:alpha val="100000"/>
                              </a:schemeClr>
                            </a:outerShdw>
                          </a:effectLst>
                          <a:cs typeface="+mn-lt"/>
                        </a:rPr>
                        <a:t>Life (L)</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L6</a:t>
                      </a:r>
                    </a:p>
                  </a:txBody>
                  <a:tcPr>
                    <a:solidFill>
                      <a:schemeClr val="bg1">
                        <a:lumMod val="85000"/>
                      </a:schemeClr>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L20</a:t>
                      </a:r>
                    </a:p>
                  </a:txBody>
                  <a:tcPr>
                    <a:solidFill>
                      <a:schemeClr val="accent3"/>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L40</a:t>
                      </a:r>
                    </a:p>
                  </a:txBody>
                  <a:tcPr>
                    <a:solidFill>
                      <a:schemeClr val="accent6">
                        <a:lumMod val="50000"/>
                      </a:schemeClr>
                    </a:solidFill>
                  </a:tcPr>
                </a:tc>
                <a:tc>
                  <a:txBody>
                    <a:bodyPr/>
                    <a:lstStyle/>
                    <a:p>
                      <a:pPr>
                        <a:buNone/>
                      </a:pPr>
                      <a:r>
                        <a:rPr lang="en-US" sz="1000" b="0" cap="none" spc="0" dirty="0">
                          <a:ln w="0"/>
                          <a:solidFill>
                            <a:schemeClr val="bg1"/>
                          </a:solidFill>
                          <a:effectLst>
                            <a:outerShdw blurRad="38100" dist="19050" dir="2700000" algn="tl" rotWithShape="0">
                              <a:schemeClr val="dk1">
                                <a:alpha val="40000"/>
                              </a:schemeClr>
                            </a:outerShdw>
                          </a:effectLst>
                          <a:cs typeface="+mn-lt"/>
                        </a:rPr>
                        <a:t>L80</a:t>
                      </a:r>
                    </a:p>
                  </a:txBody>
                  <a:tcPr>
                    <a:solidFill>
                      <a:schemeClr val="accent1">
                        <a:lumMod val="75000"/>
                      </a:schemeClr>
                    </a:solidFill>
                  </a:tcPr>
                </a:tc>
                <a:tc>
                  <a:txBody>
                    <a:bodyPr/>
                    <a:lstStyle/>
                    <a:p>
                      <a:pPr>
                        <a:buNone/>
                      </a:pPr>
                      <a:r>
                        <a:rPr lang="en-US" sz="1000" b="0" cap="none" spc="0">
                          <a:ln w="0"/>
                          <a:solidFill>
                            <a:schemeClr val="bg1"/>
                          </a:solidFill>
                          <a:effectLst>
                            <a:outerShdw blurRad="38100" dist="19050" dir="2700000" algn="tl" rotWithShape="0">
                              <a:schemeClr val="dk1">
                                <a:alpha val="40000"/>
                              </a:schemeClr>
                            </a:outerShdw>
                          </a:effectLst>
                          <a:cs typeface="+mn-lt"/>
                        </a:rPr>
                        <a:t>L200</a:t>
                      </a:r>
                    </a:p>
                  </a:txBody>
                  <a:tcPr>
                    <a:solidFill>
                      <a:schemeClr val="accent6">
                        <a:lumMod val="25000"/>
                      </a:schemeClr>
                    </a:solidFill>
                  </a:tcPr>
                </a:tc>
                <a:extLst>
                  <a:ext uri="{0D108BD9-81ED-4DB2-BD59-A6C34878D82A}">
                    <a16:rowId xmlns:a16="http://schemas.microsoft.com/office/drawing/2014/main" val="10002"/>
                  </a:ext>
                </a:extLst>
              </a:tr>
              <a:tr h="396240">
                <a:tc vMerge="1">
                  <a:txBody>
                    <a:bodyPr/>
                    <a:lstStyle/>
                    <a:p>
                      <a:endParaRPr lang="en-US"/>
                    </a:p>
                  </a:txBody>
                  <a:tcPr>
                    <a:solidFill>
                      <a:prstClr val="black"/>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Essential Money (E)</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E6</a:t>
                      </a:r>
                    </a:p>
                  </a:txBody>
                  <a:tcPr>
                    <a:solidFill>
                      <a:schemeClr val="bg1">
                        <a:lumMod val="85000"/>
                      </a:schemeClr>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E20</a:t>
                      </a:r>
                    </a:p>
                  </a:txBody>
                  <a:tcPr>
                    <a:solidFill>
                      <a:schemeClr val="accent3"/>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E40</a:t>
                      </a:r>
                    </a:p>
                  </a:txBody>
                  <a:tcPr>
                    <a:solidFill>
                      <a:schemeClr val="accent6">
                        <a:lumMod val="50000"/>
                      </a:schemeClr>
                    </a:solidFill>
                  </a:tcPr>
                </a:tc>
                <a:tc>
                  <a:txBody>
                    <a:bodyPr/>
                    <a:lstStyle/>
                    <a:p>
                      <a:pPr>
                        <a:buNone/>
                      </a:pPr>
                      <a:r>
                        <a:rPr lang="en-US" sz="1000" b="0" cap="none" spc="0" dirty="0">
                          <a:ln w="0"/>
                          <a:solidFill>
                            <a:schemeClr val="bg1"/>
                          </a:solidFill>
                          <a:effectLst>
                            <a:outerShdw blurRad="38100" dist="19050" dir="2700000" algn="tl" rotWithShape="0">
                              <a:schemeClr val="dk1">
                                <a:alpha val="40000"/>
                              </a:schemeClr>
                            </a:outerShdw>
                          </a:effectLst>
                          <a:cs typeface="+mn-lt"/>
                        </a:rPr>
                        <a:t>E80</a:t>
                      </a:r>
                    </a:p>
                  </a:txBody>
                  <a:tcPr>
                    <a:solidFill>
                      <a:schemeClr val="accent1">
                        <a:lumMod val="75000"/>
                      </a:schemeClr>
                    </a:solidFill>
                  </a:tcPr>
                </a:tc>
                <a:tc>
                  <a:txBody>
                    <a:bodyPr/>
                    <a:lstStyle/>
                    <a:p>
                      <a:pPr>
                        <a:buNone/>
                      </a:pPr>
                      <a:r>
                        <a:rPr lang="en-US" sz="1000" b="0" cap="none" spc="0">
                          <a:ln w="0"/>
                          <a:solidFill>
                            <a:schemeClr val="bg1"/>
                          </a:solidFill>
                          <a:effectLst>
                            <a:outerShdw blurRad="38100" dist="19050" dir="2700000" algn="tl" rotWithShape="0">
                              <a:schemeClr val="dk1">
                                <a:alpha val="40000"/>
                              </a:schemeClr>
                            </a:outerShdw>
                          </a:effectLst>
                          <a:cs typeface="+mn-lt"/>
                        </a:rPr>
                        <a:t>E200</a:t>
                      </a:r>
                    </a:p>
                  </a:txBody>
                  <a:tcPr>
                    <a:solidFill>
                      <a:schemeClr val="accent6">
                        <a:lumMod val="25000"/>
                      </a:schemeClr>
                    </a:solidFill>
                  </a:tcPr>
                </a:tc>
                <a:extLst>
                  <a:ext uri="{0D108BD9-81ED-4DB2-BD59-A6C34878D82A}">
                    <a16:rowId xmlns:a16="http://schemas.microsoft.com/office/drawing/2014/main" val="10003"/>
                  </a:ext>
                </a:extLst>
              </a:tr>
              <a:tr h="418465">
                <a:tc vMerge="1">
                  <a:txBody>
                    <a:bodyPr/>
                    <a:lstStyle/>
                    <a:p>
                      <a:endParaRPr lang="en-US"/>
                    </a:p>
                  </a:txBody>
                  <a:tcPr>
                    <a:solidFill>
                      <a:prstClr val="black"/>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Discretionary Money (D)</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D6</a:t>
                      </a:r>
                    </a:p>
                  </a:txBody>
                  <a:tcPr>
                    <a:solidFill>
                      <a:schemeClr val="bg1">
                        <a:lumMod val="85000"/>
                      </a:schemeClr>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D20</a:t>
                      </a:r>
                    </a:p>
                  </a:txBody>
                  <a:tcPr>
                    <a:solidFill>
                      <a:schemeClr val="accent3"/>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D40</a:t>
                      </a:r>
                    </a:p>
                  </a:txBody>
                  <a:tcPr>
                    <a:solidFill>
                      <a:schemeClr val="accent6">
                        <a:lumMod val="50000"/>
                      </a:schemeClr>
                    </a:solidFill>
                  </a:tcPr>
                </a:tc>
                <a:tc>
                  <a:txBody>
                    <a:bodyPr/>
                    <a:lstStyle/>
                    <a:p>
                      <a:pPr>
                        <a:buNone/>
                      </a:pPr>
                      <a:r>
                        <a:rPr lang="en-US" sz="1000" b="0" cap="none" spc="0" dirty="0">
                          <a:ln w="0"/>
                          <a:solidFill>
                            <a:schemeClr val="bg1"/>
                          </a:solidFill>
                          <a:effectLst>
                            <a:outerShdw blurRad="38100" dist="19050" dir="2700000" algn="tl" rotWithShape="0">
                              <a:schemeClr val="dk1">
                                <a:alpha val="40000"/>
                              </a:schemeClr>
                            </a:outerShdw>
                          </a:effectLst>
                          <a:cs typeface="+mn-lt"/>
                        </a:rPr>
                        <a:t>D80</a:t>
                      </a:r>
                    </a:p>
                  </a:txBody>
                  <a:tcPr>
                    <a:solidFill>
                      <a:schemeClr val="accent1">
                        <a:lumMod val="75000"/>
                      </a:schemeClr>
                    </a:solidFill>
                  </a:tcPr>
                </a:tc>
                <a:tc>
                  <a:txBody>
                    <a:bodyPr/>
                    <a:lstStyle/>
                    <a:p>
                      <a:pPr>
                        <a:buNone/>
                      </a:pPr>
                      <a:r>
                        <a:rPr lang="en-US" sz="1000" b="0" cap="none" spc="0" dirty="0">
                          <a:ln w="0"/>
                          <a:solidFill>
                            <a:schemeClr val="bg1"/>
                          </a:solidFill>
                          <a:effectLst>
                            <a:outerShdw blurRad="38100" dist="19050" dir="2700000" algn="tl" rotWithShape="0">
                              <a:schemeClr val="dk1">
                                <a:alpha val="40000"/>
                              </a:schemeClr>
                            </a:outerShdw>
                          </a:effectLst>
                          <a:cs typeface="+mn-lt"/>
                        </a:rPr>
                        <a:t>D200</a:t>
                      </a:r>
                    </a:p>
                  </a:txBody>
                  <a:tcPr>
                    <a:solidFill>
                      <a:schemeClr val="accent6">
                        <a:lumMod val="25000"/>
                      </a:schemeClr>
                    </a:solidFill>
                  </a:tcPr>
                </a:tc>
                <a:extLst>
                  <a:ext uri="{0D108BD9-81ED-4DB2-BD59-A6C34878D82A}">
                    <a16:rowId xmlns:a16="http://schemas.microsoft.com/office/drawing/2014/main" val="10004"/>
                  </a:ext>
                </a:extLst>
              </a:tr>
              <a:tr h="396240">
                <a:tc vMerge="1">
                  <a:txBody>
                    <a:bodyPr/>
                    <a:lstStyle/>
                    <a:p>
                      <a:endParaRPr lang="en-US"/>
                    </a:p>
                  </a:txBody>
                  <a:tcPr>
                    <a:solidFill>
                      <a:prstClr val="black"/>
                    </a:solidFill>
                  </a:tcPr>
                </a:tc>
                <a:tc>
                  <a:txBody>
                    <a:bodyPr/>
                    <a:lstStyle/>
                    <a:p>
                      <a:pPr>
                        <a:buNone/>
                      </a:pPr>
                      <a:r>
                        <a:rPr lang="en-US" sz="1000" b="0" dirty="0">
                          <a:ln>
                            <a:noFill/>
                          </a:ln>
                          <a:solidFill>
                            <a:schemeClr val="bg2">
                              <a:lumMod val="10000"/>
                            </a:schemeClr>
                          </a:solidFill>
                          <a:effectLst>
                            <a:outerShdw blurRad="50800" dist="50800" dir="5400000" algn="ctr" rotWithShape="0">
                              <a:schemeClr val="bg1">
                                <a:alpha val="100000"/>
                              </a:schemeClr>
                            </a:outerShdw>
                          </a:effectLst>
                          <a:cs typeface="+mn-lt"/>
                        </a:rPr>
                        <a:t>Comfort (C)</a:t>
                      </a:r>
                    </a:p>
                  </a:txBody>
                  <a:tcPr>
                    <a:solidFill>
                      <a:schemeClr val="bg1">
                        <a:lumMod val="85000"/>
                      </a:schemeClr>
                    </a:solidFill>
                  </a:tcPr>
                </a:tc>
                <a:tc>
                  <a:txBody>
                    <a:bodyPr/>
                    <a:lstStyle/>
                    <a:p>
                      <a:pPr>
                        <a:buNone/>
                      </a:pPr>
                      <a:r>
                        <a:rPr lang="en-US" sz="1000" b="0" dirty="0">
                          <a:ln>
                            <a:noFill/>
                          </a:ln>
                          <a:solidFill>
                            <a:schemeClr val="bg2">
                              <a:lumMod val="10000"/>
                            </a:schemeClr>
                          </a:solidFill>
                          <a:effectLst>
                            <a:outerShdw blurRad="50800" dist="50800" dir="5400000" algn="ctr" rotWithShape="0">
                              <a:schemeClr val="bg1">
                                <a:alpha val="100000"/>
                              </a:schemeClr>
                            </a:outerShdw>
                          </a:effectLst>
                          <a:cs typeface="+mn-lt"/>
                        </a:rPr>
                        <a:t>C6</a:t>
                      </a:r>
                    </a:p>
                  </a:txBody>
                  <a:tcPr>
                    <a:solidFill>
                      <a:schemeClr val="bg1">
                        <a:lumMod val="85000"/>
                      </a:schemeClr>
                    </a:solidFill>
                  </a:tcPr>
                </a:tc>
                <a:tc>
                  <a:txBody>
                    <a:bodyPr/>
                    <a:lstStyle/>
                    <a:p>
                      <a:pPr>
                        <a:buNone/>
                      </a:pPr>
                      <a:r>
                        <a:rPr lang="en-US" sz="1000" b="0" cap="none" spc="0" dirty="0">
                          <a:ln w="0"/>
                          <a:solidFill>
                            <a:schemeClr val="tx1"/>
                          </a:solidFill>
                          <a:effectLst>
                            <a:outerShdw blurRad="38100" dist="19050" dir="2700000" algn="tl" rotWithShape="0">
                              <a:schemeClr val="dk1">
                                <a:alpha val="40000"/>
                              </a:schemeClr>
                            </a:outerShdw>
                          </a:effectLst>
                          <a:cs typeface="+mn-lt"/>
                        </a:rPr>
                        <a:t>C20</a:t>
                      </a:r>
                    </a:p>
                  </a:txBody>
                  <a:tcPr>
                    <a:solidFill>
                      <a:schemeClr val="accent3"/>
                    </a:solidFill>
                  </a:tcPr>
                </a:tc>
                <a:tc>
                  <a:txBody>
                    <a:bodyPr/>
                    <a:lstStyle/>
                    <a:p>
                      <a:pPr>
                        <a:buNone/>
                      </a:pPr>
                      <a:r>
                        <a:rPr lang="en-US" sz="1000" b="0" cap="none" spc="0">
                          <a:ln w="0"/>
                          <a:solidFill>
                            <a:schemeClr val="tx1"/>
                          </a:solidFill>
                          <a:effectLst>
                            <a:outerShdw blurRad="38100" dist="19050" dir="2700000" algn="tl" rotWithShape="0">
                              <a:schemeClr val="dk1">
                                <a:alpha val="40000"/>
                              </a:schemeClr>
                            </a:outerShdw>
                          </a:effectLst>
                          <a:cs typeface="+mn-lt"/>
                        </a:rPr>
                        <a:t>C40</a:t>
                      </a:r>
                    </a:p>
                  </a:txBody>
                  <a:tcPr>
                    <a:solidFill>
                      <a:schemeClr val="accent6">
                        <a:lumMod val="50000"/>
                      </a:schemeClr>
                    </a:solidFill>
                  </a:tcPr>
                </a:tc>
                <a:tc>
                  <a:txBody>
                    <a:bodyPr/>
                    <a:lstStyle/>
                    <a:p>
                      <a:pPr>
                        <a:buNone/>
                      </a:pPr>
                      <a:r>
                        <a:rPr lang="en-US" sz="1000" b="0" cap="none" spc="0">
                          <a:ln w="0"/>
                          <a:solidFill>
                            <a:schemeClr val="bg1"/>
                          </a:solidFill>
                          <a:effectLst>
                            <a:outerShdw blurRad="38100" dist="19050" dir="2700000" algn="tl" rotWithShape="0">
                              <a:schemeClr val="dk1">
                                <a:alpha val="40000"/>
                              </a:schemeClr>
                            </a:outerShdw>
                          </a:effectLst>
                          <a:cs typeface="+mn-lt"/>
                        </a:rPr>
                        <a:t>C80</a:t>
                      </a:r>
                    </a:p>
                  </a:txBody>
                  <a:tcPr>
                    <a:solidFill>
                      <a:schemeClr val="accent1">
                        <a:lumMod val="75000"/>
                      </a:schemeClr>
                    </a:solidFill>
                  </a:tcPr>
                </a:tc>
                <a:tc>
                  <a:txBody>
                    <a:bodyPr/>
                    <a:lstStyle/>
                    <a:p>
                      <a:pPr>
                        <a:buNone/>
                      </a:pPr>
                      <a:r>
                        <a:rPr lang="en-US" sz="1000" b="0" cap="none" spc="0" dirty="0">
                          <a:ln w="0"/>
                          <a:solidFill>
                            <a:schemeClr val="bg1"/>
                          </a:solidFill>
                          <a:effectLst>
                            <a:outerShdw blurRad="38100" dist="19050" dir="2700000" algn="tl" rotWithShape="0">
                              <a:schemeClr val="dk1">
                                <a:alpha val="40000"/>
                              </a:schemeClr>
                            </a:outerShdw>
                          </a:effectLst>
                          <a:cs typeface="+mn-lt"/>
                        </a:rPr>
                        <a:t>C200</a:t>
                      </a:r>
                    </a:p>
                  </a:txBody>
                  <a:tcPr>
                    <a:solidFill>
                      <a:schemeClr val="accent6">
                        <a:lumMod val="25000"/>
                      </a:schemeClr>
                    </a:solidFill>
                  </a:tcPr>
                </a:tc>
                <a:extLst>
                  <a:ext uri="{0D108BD9-81ED-4DB2-BD59-A6C34878D82A}">
                    <a16:rowId xmlns:a16="http://schemas.microsoft.com/office/drawing/2014/main" val="10005"/>
                  </a:ext>
                </a:extLst>
              </a:tr>
              <a:tr h="340418">
                <a:tc gridSpan="2">
                  <a:txBody>
                    <a:bodyPr/>
                    <a:lstStyle/>
                    <a:p>
                      <a:pPr>
                        <a:buNone/>
                      </a:pPr>
                      <a:endParaRPr lang="en-US" sz="1000" b="0">
                        <a:ln>
                          <a:noFill/>
                        </a:ln>
                        <a:solidFill>
                          <a:schemeClr val="bg2">
                            <a:lumMod val="10000"/>
                          </a:schemeClr>
                        </a:solidFill>
                        <a:effectLst>
                          <a:outerShdw blurRad="50800" dist="50800" dir="5400000" algn="ctr" rotWithShape="0">
                            <a:schemeClr val="bg1">
                              <a:alpha val="100000"/>
                            </a:schemeClr>
                          </a:outerShdw>
                        </a:effectLst>
                        <a:cs typeface="+mn-lt"/>
                      </a:endParaRPr>
                    </a:p>
                  </a:txBody>
                  <a:tcPr>
                    <a:solidFill>
                      <a:schemeClr val="bg1">
                        <a:lumMod val="85000"/>
                      </a:schemeClr>
                    </a:solidFill>
                  </a:tcPr>
                </a:tc>
                <a:tc hMerge="1">
                  <a:txBody>
                    <a:bodyPr/>
                    <a:lstStyle/>
                    <a:p>
                      <a:endParaRPr lang="en-US"/>
                    </a:p>
                  </a:txBody>
                  <a:tcPr>
                    <a:solidFill>
                      <a:prstClr val="black"/>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1 to 6</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7 to 20</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21 to 40</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41 to 80 </a:t>
                      </a:r>
                    </a:p>
                  </a:txBody>
                  <a:tcPr>
                    <a:solidFill>
                      <a:schemeClr val="bg1">
                        <a:lumMod val="85000"/>
                      </a:schemeClr>
                    </a:solidFill>
                  </a:tcPr>
                </a:tc>
                <a:tc>
                  <a:txBody>
                    <a:bodyPr/>
                    <a:lstStyle/>
                    <a:p>
                      <a:pPr>
                        <a:buNone/>
                      </a:pPr>
                      <a:r>
                        <a:rPr lang="en-US" sz="1000" b="0">
                          <a:ln>
                            <a:noFill/>
                          </a:ln>
                          <a:solidFill>
                            <a:schemeClr val="bg2">
                              <a:lumMod val="10000"/>
                            </a:schemeClr>
                          </a:solidFill>
                          <a:effectLst>
                            <a:outerShdw blurRad="50800" dist="50800" dir="5400000" algn="ctr" rotWithShape="0">
                              <a:schemeClr val="bg1">
                                <a:alpha val="100000"/>
                              </a:schemeClr>
                            </a:outerShdw>
                          </a:effectLst>
                          <a:cs typeface="+mn-lt"/>
                        </a:rPr>
                        <a:t>81 to 200</a:t>
                      </a:r>
                    </a:p>
                  </a:txBody>
                  <a:tcPr>
                    <a:solidFill>
                      <a:schemeClr val="bg1">
                        <a:lumMod val="85000"/>
                      </a:schemeClr>
                    </a:solidFill>
                  </a:tcPr>
                </a:tc>
                <a:extLst>
                  <a:ext uri="{0D108BD9-81ED-4DB2-BD59-A6C34878D82A}">
                    <a16:rowId xmlns:a16="http://schemas.microsoft.com/office/drawing/2014/main" val="10006"/>
                  </a:ext>
                </a:extLst>
              </a:tr>
              <a:tr h="360680">
                <a:tc gridSpan="2">
                  <a:txBody>
                    <a:bodyPr/>
                    <a:lstStyle/>
                    <a:p>
                      <a:pPr>
                        <a:buNone/>
                      </a:pPr>
                      <a:endParaRPr lang="en-US" sz="1000" b="0">
                        <a:ln>
                          <a:noFill/>
                        </a:ln>
                        <a:solidFill>
                          <a:schemeClr val="bg2">
                            <a:lumMod val="10000"/>
                          </a:schemeClr>
                        </a:solidFill>
                        <a:effectLst>
                          <a:outerShdw blurRad="50800" dist="50800" dir="5400000" algn="ctr" rotWithShape="0">
                            <a:schemeClr val="bg1">
                              <a:alpha val="100000"/>
                            </a:schemeClr>
                          </a:outerShdw>
                        </a:effectLst>
                        <a:cs typeface="+mn-lt"/>
                      </a:endParaRPr>
                    </a:p>
                  </a:txBody>
                  <a:tcPr>
                    <a:solidFill>
                      <a:schemeClr val="bg1">
                        <a:lumMod val="85000"/>
                      </a:schemeClr>
                    </a:solidFill>
                  </a:tcPr>
                </a:tc>
                <a:tc hMerge="1">
                  <a:txBody>
                    <a:bodyPr/>
                    <a:lstStyle/>
                    <a:p>
                      <a:endParaRPr lang="en-US"/>
                    </a:p>
                  </a:txBody>
                  <a:tcPr>
                    <a:solidFill>
                      <a:prstClr val="black"/>
                    </a:solidFill>
                  </a:tcPr>
                </a:tc>
                <a:tc gridSpan="5">
                  <a:txBody>
                    <a:bodyPr/>
                    <a:lstStyle/>
                    <a:p>
                      <a:pPr>
                        <a:buNone/>
                      </a:pPr>
                      <a:r>
                        <a:rPr lang="en-US" sz="1000" b="1" dirty="0">
                          <a:ln>
                            <a:noFill/>
                          </a:ln>
                          <a:solidFill>
                            <a:schemeClr val="bg2">
                              <a:lumMod val="10000"/>
                            </a:schemeClr>
                          </a:solidFill>
                          <a:effectLst>
                            <a:outerShdw blurRad="50800" dist="50800" dir="5400000" algn="ctr" rotWithShape="0">
                              <a:schemeClr val="bg1">
                                <a:alpha val="100000"/>
                              </a:schemeClr>
                            </a:outerShdw>
                          </a:effectLst>
                          <a:cs typeface="+mn-lt"/>
                        </a:rPr>
                        <a:t>Number of People involved in the Project</a:t>
                      </a:r>
                    </a:p>
                  </a:txBody>
                  <a:tcPr>
                    <a:solidFill>
                      <a:schemeClr val="bg1">
                        <a:lumMod val="85000"/>
                      </a:schemeClr>
                    </a:solidFill>
                  </a:tcPr>
                </a:tc>
                <a:tc hMerge="1">
                  <a:txBody>
                    <a:bodyPr/>
                    <a:lstStyle/>
                    <a:p>
                      <a:endParaRPr lang="en-US"/>
                    </a:p>
                  </a:txBody>
                  <a:tcPr>
                    <a:solidFill>
                      <a:prstClr val="black"/>
                    </a:solidFill>
                  </a:tcPr>
                </a:tc>
                <a:tc hMerge="1">
                  <a:txBody>
                    <a:bodyPr/>
                    <a:lstStyle/>
                    <a:p>
                      <a:endParaRPr lang="en-US"/>
                    </a:p>
                  </a:txBody>
                  <a:tcPr>
                    <a:solidFill>
                      <a:prstClr val="black"/>
                    </a:solidFill>
                  </a:tcPr>
                </a:tc>
                <a:tc hMerge="1">
                  <a:txBody>
                    <a:bodyPr/>
                    <a:lstStyle/>
                    <a:p>
                      <a:endParaRPr lang="en-US"/>
                    </a:p>
                  </a:txBody>
                  <a:tcPr>
                    <a:solidFill>
                      <a:prstClr val="black"/>
                    </a:solidFill>
                  </a:tcPr>
                </a:tc>
                <a:tc hMerge="1">
                  <a:txBody>
                    <a:bodyPr/>
                    <a:lstStyle/>
                    <a:p>
                      <a:endParaRPr lang="en-US"/>
                    </a:p>
                  </a:txBody>
                  <a:tcPr>
                    <a:solidFill>
                      <a:prstClr val="black"/>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EB098-B4E8-74D3-2F1A-E3B48BFC9936}"/>
              </a:ext>
            </a:extLst>
          </p:cNvPr>
          <p:cNvSpPr>
            <a:spLocks noGrp="1"/>
          </p:cNvSpPr>
          <p:nvPr>
            <p:ph type="title"/>
          </p:nvPr>
        </p:nvSpPr>
        <p:spPr/>
        <p:txBody>
          <a:bodyPr/>
          <a:lstStyle/>
          <a:p>
            <a:r>
              <a:rPr lang="en-US" dirty="0">
                <a:solidFill>
                  <a:schemeClr val="tx1">
                    <a:alpha val="100000"/>
                  </a:schemeClr>
                </a:solidFill>
                <a:latin typeface="Arial" panose="020B0604020202090204"/>
                <a:ea typeface="Arial" panose="020B0604020202090204"/>
                <a:cs typeface="Arial" panose="020B0604020202090204"/>
                <a:sym typeface="+mn-ea"/>
              </a:rPr>
              <a:t>Crystal: criticality of the project</a:t>
            </a:r>
            <a:endParaRPr lang="en-US" dirty="0"/>
          </a:p>
        </p:txBody>
      </p:sp>
      <p:sp>
        <p:nvSpPr>
          <p:cNvPr id="4" name="Content Placeholder 3">
            <a:extLst>
              <a:ext uri="{FF2B5EF4-FFF2-40B4-BE49-F238E27FC236}">
                <a16:creationId xmlns:a16="http://schemas.microsoft.com/office/drawing/2014/main" id="{4006F714-DC62-04F2-E532-229614BF96AD}"/>
              </a:ext>
            </a:extLst>
          </p:cNvPr>
          <p:cNvSpPr>
            <a:spLocks noGrp="1"/>
          </p:cNvSpPr>
          <p:nvPr>
            <p:ph idx="1"/>
          </p:nvPr>
        </p:nvSpPr>
        <p:spPr>
          <a:xfrm>
            <a:off x="644771" y="1204112"/>
            <a:ext cx="10709031" cy="4878036"/>
          </a:xfrm>
        </p:spPr>
        <p:txBody>
          <a:bodyPr>
            <a:normAutofit/>
          </a:bodyPr>
          <a:lstStyle/>
          <a:p>
            <a:r>
              <a:rPr lang="en-US" sz="2000" spc="-70" dirty="0">
                <a:solidFill>
                  <a:srgbClr val="000000">
                    <a:alpha val="100000"/>
                  </a:srgbClr>
                </a:solidFill>
                <a:latin typeface="Arial" panose="020B0604020202090204"/>
                <a:cs typeface="Arial" panose="020B0604020202090204"/>
              </a:rPr>
              <a:t>In the context of different Crystal methodologies, terms like </a:t>
            </a:r>
            <a:r>
              <a:rPr lang="en-US" sz="2000" b="1" spc="-70" dirty="0">
                <a:solidFill>
                  <a:srgbClr val="000000">
                    <a:alpha val="100000"/>
                  </a:srgbClr>
                </a:solidFill>
                <a:latin typeface="Arial" panose="020B0604020202090204"/>
                <a:cs typeface="Arial" panose="020B0604020202090204"/>
              </a:rPr>
              <a:t>Life, Essential Money, Discretionary Money, and Comfort</a:t>
            </a:r>
            <a:r>
              <a:rPr lang="en-US" sz="2000" spc="-70" dirty="0">
                <a:solidFill>
                  <a:srgbClr val="000000">
                    <a:alpha val="100000"/>
                  </a:srgbClr>
                </a:solidFill>
                <a:latin typeface="Arial" panose="020B0604020202090204"/>
                <a:cs typeface="Arial" panose="020B0604020202090204"/>
              </a:rPr>
              <a:t> are often used to illustrate the trade-offs between the level of </a:t>
            </a:r>
            <a:r>
              <a:rPr lang="en-US" sz="2000" b="1" spc="-70" dirty="0">
                <a:solidFill>
                  <a:srgbClr val="000000">
                    <a:alpha val="100000"/>
                  </a:srgbClr>
                </a:solidFill>
                <a:latin typeface="Arial" panose="020B0604020202090204"/>
                <a:cs typeface="Arial" panose="020B0604020202090204"/>
              </a:rPr>
              <a:t>flexibility, communication, and formal processes</a:t>
            </a:r>
            <a:r>
              <a:rPr lang="en-US" sz="2000" spc="-70" dirty="0">
                <a:solidFill>
                  <a:srgbClr val="000000">
                    <a:alpha val="100000"/>
                  </a:srgbClr>
                </a:solidFill>
                <a:latin typeface="Arial" panose="020B0604020202090204"/>
                <a:cs typeface="Arial" panose="020B0604020202090204"/>
              </a:rPr>
              <a:t> required for a project. </a:t>
            </a:r>
          </a:p>
          <a:p>
            <a:endParaRPr lang="en-US" sz="2000" spc="-70" dirty="0">
              <a:solidFill>
                <a:srgbClr val="000000">
                  <a:alpha val="100000"/>
                </a:srgbClr>
              </a:solidFill>
              <a:latin typeface="Arial" panose="020B0604020202090204"/>
              <a:cs typeface="Arial" panose="020B0604020202090204"/>
            </a:endParaRPr>
          </a:p>
          <a:p>
            <a:r>
              <a:rPr lang="en-US" sz="2000" spc="-70" dirty="0">
                <a:solidFill>
                  <a:srgbClr val="000000">
                    <a:alpha val="100000"/>
                  </a:srgbClr>
                </a:solidFill>
                <a:latin typeface="Arial" panose="020B0604020202090204"/>
                <a:cs typeface="Arial" panose="020B0604020202090204"/>
              </a:rPr>
              <a:t>These terms may be linked to the way Crystal defines different methodologies based on the </a:t>
            </a:r>
            <a:r>
              <a:rPr lang="en-US" sz="2000" b="1" spc="-70" dirty="0">
                <a:solidFill>
                  <a:srgbClr val="000000">
                    <a:alpha val="100000"/>
                  </a:srgbClr>
                </a:solidFill>
                <a:latin typeface="Arial" panose="020B0604020202090204"/>
                <a:cs typeface="Arial" panose="020B0604020202090204"/>
              </a:rPr>
              <a:t>size and complexity of the project</a:t>
            </a:r>
            <a:r>
              <a:rPr lang="en-US" sz="2000" spc="-70" dirty="0">
                <a:solidFill>
                  <a:srgbClr val="000000">
                    <a:alpha val="100000"/>
                  </a:srgbClr>
                </a:solidFill>
                <a:latin typeface="Arial" panose="020B0604020202090204"/>
                <a:cs typeface="Arial" panose="020B0604020202090204"/>
              </a:rPr>
              <a:t>, which is reflected by different colors (</a:t>
            </a:r>
            <a:r>
              <a:rPr lang="en-US" sz="2000" b="1" spc="-70" dirty="0">
                <a:solidFill>
                  <a:srgbClr val="000000">
                    <a:alpha val="100000"/>
                  </a:srgbClr>
                </a:solidFill>
                <a:latin typeface="Arial" panose="020B0604020202090204"/>
                <a:cs typeface="Arial" panose="020B0604020202090204"/>
              </a:rPr>
              <a:t>Clear, Yellow, Orange, Red, and Maroon</a:t>
            </a:r>
            <a:r>
              <a:rPr lang="en-US" sz="2000" spc="-70" dirty="0">
                <a:solidFill>
                  <a:srgbClr val="000000">
                    <a:alpha val="100000"/>
                  </a:srgbClr>
                </a:solidFill>
                <a:latin typeface="Arial" panose="020B0604020202090204"/>
                <a:cs typeface="Arial" panose="020B0604020202090204"/>
              </a:rPr>
              <a:t>). Here's a breakdown:</a:t>
            </a:r>
          </a:p>
          <a:p>
            <a:pPr>
              <a:buNone/>
            </a:pPr>
            <a:endParaRPr lang="en-US" sz="2000" dirty="0"/>
          </a:p>
          <a:p>
            <a:pPr marL="0" lvl="1" indent="0">
              <a:spcBef>
                <a:spcPts val="1000"/>
              </a:spcBef>
              <a:buNone/>
            </a:pPr>
            <a:r>
              <a:rPr lang="en-US" sz="2000" b="1" spc="-70" dirty="0">
                <a:solidFill>
                  <a:srgbClr val="000000">
                    <a:alpha val="100000"/>
                  </a:srgbClr>
                </a:solidFill>
                <a:latin typeface="Arial" panose="020B0604020202090204"/>
                <a:cs typeface="Arial" panose="020B0604020202090204"/>
              </a:rPr>
              <a:t>1. Life:</a:t>
            </a:r>
          </a:p>
          <a:p>
            <a:pPr marL="457200" lvl="3">
              <a:spcBef>
                <a:spcPts val="1000"/>
              </a:spcBef>
              <a:buFont typeface="Wingdings" panose="05000000000000000000" pitchFamily="2" charset="2"/>
              <a:buChar char="§"/>
            </a:pPr>
            <a:r>
              <a:rPr lang="en-US" sz="2000" spc="-70" dirty="0">
                <a:solidFill>
                  <a:srgbClr val="000000">
                    <a:alpha val="100000"/>
                  </a:srgbClr>
                </a:solidFill>
                <a:latin typeface="Arial" panose="020B0604020202090204"/>
                <a:cs typeface="Arial" panose="020B0604020202090204"/>
              </a:rPr>
              <a:t>In Crystal, Life refers to the balance between the project's critical elements (like customer value, team health, and the product’s outcome) and how they are sustained over time. </a:t>
            </a:r>
          </a:p>
          <a:p>
            <a:pPr marL="457200" lvl="3">
              <a:spcBef>
                <a:spcPts val="1000"/>
              </a:spcBef>
              <a:buFont typeface="Wingdings" panose="05000000000000000000" pitchFamily="2" charset="2"/>
              <a:buChar char="§"/>
            </a:pPr>
            <a:r>
              <a:rPr lang="en-US" sz="2000" spc="-70" dirty="0">
                <a:solidFill>
                  <a:srgbClr val="000000">
                    <a:alpha val="100000"/>
                  </a:srgbClr>
                </a:solidFill>
                <a:latin typeface="Arial" panose="020B0604020202090204"/>
                <a:cs typeface="Arial" panose="020B0604020202090204"/>
              </a:rPr>
              <a:t>Life often implies the project's longevity and overall well-being, making sure it is sustainable.</a:t>
            </a:r>
          </a:p>
          <a:p>
            <a:pPr marL="457200" lvl="3">
              <a:spcBef>
                <a:spcPts val="1000"/>
              </a:spcBef>
              <a:buFont typeface="Wingdings" panose="05000000000000000000" pitchFamily="2" charset="2"/>
              <a:buChar char="§"/>
            </a:pPr>
            <a:r>
              <a:rPr lang="en-US" sz="2000" spc="-70" dirty="0">
                <a:solidFill>
                  <a:srgbClr val="000000">
                    <a:alpha val="100000"/>
                  </a:srgbClr>
                </a:solidFill>
                <a:latin typeface="Arial" panose="020B0604020202090204"/>
                <a:cs typeface="Arial" panose="020B0604020202090204"/>
              </a:rPr>
              <a:t>In simpler terms, it’s about managing a project in a way that ensures its continuity and success over the long haul.</a:t>
            </a:r>
          </a:p>
          <a:p>
            <a:pPr lvl="1"/>
            <a:endParaRPr lang="en-US" sz="2000" spc="-70" dirty="0">
              <a:solidFill>
                <a:srgbClr val="000000">
                  <a:alpha val="100000"/>
                </a:srgbClr>
              </a:solidFill>
              <a:latin typeface="Arial" panose="020B0604020202090204"/>
              <a:cs typeface="Arial" panose="020B0604020202090204"/>
            </a:endParaRPr>
          </a:p>
        </p:txBody>
      </p:sp>
      <p:sp>
        <p:nvSpPr>
          <p:cNvPr id="5" name="Slide Number Placeholder 4">
            <a:extLst>
              <a:ext uri="{FF2B5EF4-FFF2-40B4-BE49-F238E27FC236}">
                <a16:creationId xmlns:a16="http://schemas.microsoft.com/office/drawing/2014/main" id="{9E3C176C-C5AE-08D8-4847-067F7489863F}"/>
              </a:ext>
            </a:extLst>
          </p:cNvPr>
          <p:cNvSpPr>
            <a:spLocks noGrp="1"/>
          </p:cNvSpPr>
          <p:nvPr>
            <p:ph type="sldNum" sz="quarter" idx="12"/>
          </p:nvPr>
        </p:nvSpPr>
        <p:spPr/>
        <p:txBody>
          <a:bodyPr/>
          <a:lstStyle/>
          <a:p>
            <a:fld id="{4267CD5E-26CF-4249-8540-BB1D07FD4227}" type="slidenum">
              <a:rPr lang="en-US" smtClean="0"/>
              <a:t>11</a:t>
            </a:fld>
            <a:endParaRPr lang="en-US"/>
          </a:p>
        </p:txBody>
      </p:sp>
    </p:spTree>
    <p:extLst>
      <p:ext uri="{BB962C8B-B14F-4D97-AF65-F5344CB8AC3E}">
        <p14:creationId xmlns:p14="http://schemas.microsoft.com/office/powerpoint/2010/main" val="3565373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1FB4-9ABF-3387-FECD-17E22AAFF6FE}"/>
              </a:ext>
            </a:extLst>
          </p:cNvPr>
          <p:cNvSpPr>
            <a:spLocks noGrp="1"/>
          </p:cNvSpPr>
          <p:nvPr>
            <p:ph type="title"/>
          </p:nvPr>
        </p:nvSpPr>
        <p:spPr/>
        <p:txBody>
          <a:bodyPr/>
          <a:lstStyle/>
          <a:p>
            <a:r>
              <a:rPr lang="en-US" dirty="0">
                <a:solidFill>
                  <a:schemeClr val="tx1">
                    <a:alpha val="100000"/>
                  </a:schemeClr>
                </a:solidFill>
                <a:latin typeface="Arial" panose="020B0604020202090204"/>
                <a:ea typeface="Arial" panose="020B0604020202090204"/>
                <a:cs typeface="Arial" panose="020B0604020202090204"/>
                <a:sym typeface="+mn-ea"/>
              </a:rPr>
              <a:t>Crystal: criticality of the project</a:t>
            </a:r>
            <a:endParaRPr lang="en-US" dirty="0"/>
          </a:p>
        </p:txBody>
      </p:sp>
      <p:sp>
        <p:nvSpPr>
          <p:cNvPr id="4" name="Content Placeholder 3">
            <a:extLst>
              <a:ext uri="{FF2B5EF4-FFF2-40B4-BE49-F238E27FC236}">
                <a16:creationId xmlns:a16="http://schemas.microsoft.com/office/drawing/2014/main" id="{3F106E6A-C2C8-7553-9144-14516FC6796A}"/>
              </a:ext>
            </a:extLst>
          </p:cNvPr>
          <p:cNvSpPr>
            <a:spLocks noGrp="1"/>
          </p:cNvSpPr>
          <p:nvPr>
            <p:ph idx="1"/>
          </p:nvPr>
        </p:nvSpPr>
        <p:spPr>
          <a:xfrm>
            <a:off x="644771" y="1641987"/>
            <a:ext cx="10709031" cy="4440160"/>
          </a:xfrm>
        </p:spPr>
        <p:txBody>
          <a:bodyPr>
            <a:normAutofit/>
          </a:bodyPr>
          <a:lstStyle/>
          <a:p>
            <a:pPr>
              <a:buNone/>
            </a:pPr>
            <a:r>
              <a:rPr lang="en-US" sz="2000" b="1" spc="-70" dirty="0">
                <a:solidFill>
                  <a:srgbClr val="000000">
                    <a:alpha val="100000"/>
                  </a:srgbClr>
                </a:solidFill>
                <a:latin typeface="Arial" panose="020B0604020202090204"/>
                <a:cs typeface="Arial" panose="020B0604020202090204"/>
              </a:rPr>
              <a:t>2. Essential Money:</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This refers to the minimum amount of resources (</a:t>
            </a:r>
            <a:r>
              <a:rPr lang="en-US" sz="2000" b="1" spc="-70" dirty="0">
                <a:solidFill>
                  <a:srgbClr val="000000">
                    <a:alpha val="100000"/>
                  </a:srgbClr>
                </a:solidFill>
                <a:latin typeface="Arial" panose="020B0604020202090204"/>
                <a:cs typeface="Arial" panose="020B0604020202090204"/>
              </a:rPr>
              <a:t>funding, effort, time</a:t>
            </a:r>
            <a:r>
              <a:rPr lang="en-US" sz="2000" spc="-70" dirty="0">
                <a:solidFill>
                  <a:srgbClr val="000000">
                    <a:alpha val="100000"/>
                  </a:srgbClr>
                </a:solidFill>
                <a:latin typeface="Arial" panose="020B0604020202090204"/>
                <a:cs typeface="Arial" panose="020B0604020202090204"/>
              </a:rPr>
              <a:t>) necessary to deliver the core product or feature in a Crystal methodology. </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Essential money is the amount needed to make the project succeed without extraneous extras or unneeded overhead.</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It’s the budget required to cover the basic, essential requirements of a project.</a:t>
            </a:r>
            <a:endParaRPr lang="en-US" dirty="0"/>
          </a:p>
        </p:txBody>
      </p:sp>
      <p:sp>
        <p:nvSpPr>
          <p:cNvPr id="5" name="Slide Number Placeholder 4">
            <a:extLst>
              <a:ext uri="{FF2B5EF4-FFF2-40B4-BE49-F238E27FC236}">
                <a16:creationId xmlns:a16="http://schemas.microsoft.com/office/drawing/2014/main" id="{6D1277D8-7CC5-59AD-9F4D-1429985F5722}"/>
              </a:ext>
            </a:extLst>
          </p:cNvPr>
          <p:cNvSpPr>
            <a:spLocks noGrp="1"/>
          </p:cNvSpPr>
          <p:nvPr>
            <p:ph type="sldNum" sz="quarter" idx="12"/>
          </p:nvPr>
        </p:nvSpPr>
        <p:spPr/>
        <p:txBody>
          <a:bodyPr/>
          <a:lstStyle/>
          <a:p>
            <a:fld id="{4267CD5E-26CF-4249-8540-BB1D07FD4227}" type="slidenum">
              <a:rPr lang="en-US" smtClean="0"/>
              <a:t>12</a:t>
            </a:fld>
            <a:endParaRPr lang="en-US"/>
          </a:p>
        </p:txBody>
      </p:sp>
    </p:spTree>
    <p:extLst>
      <p:ext uri="{BB962C8B-B14F-4D97-AF65-F5344CB8AC3E}">
        <p14:creationId xmlns:p14="http://schemas.microsoft.com/office/powerpoint/2010/main" val="2170828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ACDEC-8D4C-D6EB-4A13-7A176247CD3A}"/>
              </a:ext>
            </a:extLst>
          </p:cNvPr>
          <p:cNvSpPr>
            <a:spLocks noGrp="1"/>
          </p:cNvSpPr>
          <p:nvPr>
            <p:ph type="title"/>
          </p:nvPr>
        </p:nvSpPr>
        <p:spPr/>
        <p:txBody>
          <a:bodyPr/>
          <a:lstStyle/>
          <a:p>
            <a:r>
              <a:rPr lang="en-US" dirty="0">
                <a:solidFill>
                  <a:schemeClr val="tx1">
                    <a:alpha val="100000"/>
                  </a:schemeClr>
                </a:solidFill>
                <a:latin typeface="Arial" panose="020B0604020202090204"/>
                <a:ea typeface="Arial" panose="020B0604020202090204"/>
                <a:cs typeface="Arial" panose="020B0604020202090204"/>
                <a:sym typeface="+mn-ea"/>
              </a:rPr>
              <a:t>Crystal: criticality of the project</a:t>
            </a:r>
            <a:endParaRPr lang="en-US" dirty="0"/>
          </a:p>
        </p:txBody>
      </p:sp>
      <p:sp>
        <p:nvSpPr>
          <p:cNvPr id="4" name="Content Placeholder 3">
            <a:extLst>
              <a:ext uri="{FF2B5EF4-FFF2-40B4-BE49-F238E27FC236}">
                <a16:creationId xmlns:a16="http://schemas.microsoft.com/office/drawing/2014/main" id="{571E94A8-E041-4039-DFCD-850A351E5F08}"/>
              </a:ext>
            </a:extLst>
          </p:cNvPr>
          <p:cNvSpPr>
            <a:spLocks noGrp="1"/>
          </p:cNvSpPr>
          <p:nvPr>
            <p:ph idx="1"/>
          </p:nvPr>
        </p:nvSpPr>
        <p:spPr>
          <a:xfrm>
            <a:off x="644771" y="1425678"/>
            <a:ext cx="10709031" cy="4656470"/>
          </a:xfrm>
        </p:spPr>
        <p:txBody>
          <a:bodyPr/>
          <a:lstStyle/>
          <a:p>
            <a:pPr lvl="1">
              <a:buFont typeface="Arial" panose="020B0604020202020204" pitchFamily="34" charset="0"/>
              <a:buChar char="•"/>
            </a:pPr>
            <a:endParaRPr lang="en-US" sz="2000" spc="-70" dirty="0">
              <a:solidFill>
                <a:srgbClr val="000000">
                  <a:alpha val="100000"/>
                </a:srgbClr>
              </a:solidFill>
              <a:latin typeface="Arial" panose="020B0604020202090204"/>
              <a:cs typeface="Arial" panose="020B0604020202090204"/>
            </a:endParaRPr>
          </a:p>
          <a:p>
            <a:pPr>
              <a:buNone/>
            </a:pPr>
            <a:r>
              <a:rPr lang="en-US" sz="2000" b="1" spc="-70" dirty="0">
                <a:solidFill>
                  <a:srgbClr val="000000">
                    <a:alpha val="100000"/>
                  </a:srgbClr>
                </a:solidFill>
                <a:latin typeface="Arial" panose="020B0604020202090204"/>
                <a:cs typeface="Arial" panose="020B0604020202090204"/>
              </a:rPr>
              <a:t>3. Discretionary Money:</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Discretionary money refers to additional resources that can be allocated to non-essential features or enhancements. </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This would be the extra budget that allows for improving the project beyond the core needs. </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In Agile terms, it might be for things like polishing the user experience or adding "nice-to-have" features that improve the overall value of the product but aren't strictly necessary for success.</a:t>
            </a:r>
          </a:p>
          <a:p>
            <a:pPr lvl="1">
              <a:buFont typeface="Arial" panose="020B0604020202020204" pitchFamily="34" charset="0"/>
              <a:buChar char="•"/>
            </a:pPr>
            <a:r>
              <a:rPr lang="en-US" sz="2000" spc="-70" dirty="0">
                <a:solidFill>
                  <a:srgbClr val="000000">
                    <a:alpha val="100000"/>
                  </a:srgbClr>
                </a:solidFill>
                <a:latin typeface="Arial" panose="020B0604020202090204"/>
                <a:cs typeface="Arial" panose="020B0604020202090204"/>
              </a:rPr>
              <a:t>The concept is about prioritizing what’s most valuable, with the flexibility to spend on enhancements as needed.</a:t>
            </a:r>
          </a:p>
          <a:p>
            <a:endParaRPr lang="en-US" dirty="0"/>
          </a:p>
        </p:txBody>
      </p:sp>
      <p:sp>
        <p:nvSpPr>
          <p:cNvPr id="5" name="Slide Number Placeholder 4">
            <a:extLst>
              <a:ext uri="{FF2B5EF4-FFF2-40B4-BE49-F238E27FC236}">
                <a16:creationId xmlns:a16="http://schemas.microsoft.com/office/drawing/2014/main" id="{53EA0802-AC4D-6BE5-7847-5385C8A70E7F}"/>
              </a:ext>
            </a:extLst>
          </p:cNvPr>
          <p:cNvSpPr>
            <a:spLocks noGrp="1"/>
          </p:cNvSpPr>
          <p:nvPr>
            <p:ph type="sldNum" sz="quarter" idx="12"/>
          </p:nvPr>
        </p:nvSpPr>
        <p:spPr/>
        <p:txBody>
          <a:bodyPr/>
          <a:lstStyle/>
          <a:p>
            <a:fld id="{4267CD5E-26CF-4249-8540-BB1D07FD4227}" type="slidenum">
              <a:rPr lang="en-US" smtClean="0"/>
              <a:t>13</a:t>
            </a:fld>
            <a:endParaRPr lang="en-US"/>
          </a:p>
        </p:txBody>
      </p:sp>
    </p:spTree>
    <p:extLst>
      <p:ext uri="{BB962C8B-B14F-4D97-AF65-F5344CB8AC3E}">
        <p14:creationId xmlns:p14="http://schemas.microsoft.com/office/powerpoint/2010/main" val="1996864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ABEA-D709-248F-0F4E-BA52E9829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CEDBA-3AFC-BCB9-22D9-555C6DDE66A1}"/>
              </a:ext>
            </a:extLst>
          </p:cNvPr>
          <p:cNvSpPr>
            <a:spLocks noGrp="1"/>
          </p:cNvSpPr>
          <p:nvPr>
            <p:ph type="title"/>
          </p:nvPr>
        </p:nvSpPr>
        <p:spPr/>
        <p:txBody>
          <a:bodyPr/>
          <a:lstStyle/>
          <a:p>
            <a:r>
              <a:rPr lang="en-US" dirty="0">
                <a:solidFill>
                  <a:schemeClr val="tx1">
                    <a:alpha val="100000"/>
                  </a:schemeClr>
                </a:solidFill>
                <a:latin typeface="Arial" panose="020B0604020202090204"/>
                <a:ea typeface="Arial" panose="020B0604020202090204"/>
                <a:cs typeface="Arial" panose="020B0604020202090204"/>
                <a:sym typeface="+mn-ea"/>
              </a:rPr>
              <a:t>Crystal: criticality of the project</a:t>
            </a:r>
            <a:endParaRPr lang="en-US" dirty="0"/>
          </a:p>
        </p:txBody>
      </p:sp>
      <p:sp>
        <p:nvSpPr>
          <p:cNvPr id="4" name="Content Placeholder 3">
            <a:extLst>
              <a:ext uri="{FF2B5EF4-FFF2-40B4-BE49-F238E27FC236}">
                <a16:creationId xmlns:a16="http://schemas.microsoft.com/office/drawing/2014/main" id="{C8E01B35-9553-3AE1-2752-6128DBA9B88E}"/>
              </a:ext>
            </a:extLst>
          </p:cNvPr>
          <p:cNvSpPr>
            <a:spLocks noGrp="1"/>
          </p:cNvSpPr>
          <p:nvPr>
            <p:ph idx="1"/>
          </p:nvPr>
        </p:nvSpPr>
        <p:spPr>
          <a:xfrm>
            <a:off x="644771" y="1651819"/>
            <a:ext cx="10709031" cy="4430328"/>
          </a:xfrm>
        </p:spPr>
        <p:txBody>
          <a:bodyPr>
            <a:normAutofit/>
          </a:bodyPr>
          <a:lstStyle/>
          <a:p>
            <a:pPr>
              <a:lnSpc>
                <a:spcPct val="100000"/>
              </a:lnSpc>
              <a:buNone/>
            </a:pPr>
            <a:r>
              <a:rPr lang="en-US" sz="2000" b="1" spc="-70" dirty="0">
                <a:solidFill>
                  <a:srgbClr val="000000">
                    <a:alpha val="100000"/>
                  </a:srgbClr>
                </a:solidFill>
                <a:latin typeface="Arial" panose="020B0604020202090204"/>
                <a:cs typeface="Arial" panose="020B0604020202090204"/>
              </a:rPr>
              <a:t>4. Comfort:</a:t>
            </a:r>
          </a:p>
          <a:p>
            <a:pPr lvl="1">
              <a:buFont typeface="Arial" panose="020B0604020202020204" pitchFamily="34" charset="0"/>
              <a:buChar char="•"/>
            </a:pPr>
            <a:r>
              <a:rPr lang="en-US" spc="-70" dirty="0">
                <a:solidFill>
                  <a:srgbClr val="000000">
                    <a:alpha val="100000"/>
                  </a:srgbClr>
                </a:solidFill>
                <a:latin typeface="Arial" panose="020B0604020202090204"/>
                <a:cs typeface="Arial" panose="020B0604020202090204"/>
              </a:rPr>
              <a:t>Comfort refers to the </a:t>
            </a:r>
            <a:r>
              <a:rPr lang="en-US" b="1" spc="-70" dirty="0">
                <a:solidFill>
                  <a:srgbClr val="000000">
                    <a:alpha val="100000"/>
                  </a:srgbClr>
                </a:solidFill>
                <a:latin typeface="Arial" panose="020B0604020202090204"/>
                <a:cs typeface="Arial" panose="020B0604020202090204"/>
              </a:rPr>
              <a:t>ease or relaxation </a:t>
            </a:r>
            <a:r>
              <a:rPr lang="en-US" spc="-70" dirty="0">
                <a:solidFill>
                  <a:srgbClr val="000000">
                    <a:alpha val="100000"/>
                  </a:srgbClr>
                </a:solidFill>
                <a:latin typeface="Arial" panose="020B0604020202090204"/>
                <a:cs typeface="Arial" panose="020B0604020202090204"/>
              </a:rPr>
              <a:t>of project constraints, such as the level of process rigor, communication intensity, or overall team structure. </a:t>
            </a:r>
          </a:p>
          <a:p>
            <a:pPr lvl="1">
              <a:buFont typeface="Arial" panose="020B0604020202020204" pitchFamily="34" charset="0"/>
              <a:buChar char="•"/>
            </a:pPr>
            <a:r>
              <a:rPr lang="en-US" spc="-70" dirty="0">
                <a:solidFill>
                  <a:srgbClr val="000000">
                    <a:alpha val="100000"/>
                  </a:srgbClr>
                </a:solidFill>
                <a:latin typeface="Arial" panose="020B0604020202090204"/>
                <a:cs typeface="Arial" panose="020B0604020202090204"/>
              </a:rPr>
              <a:t>In a methodology like Crystal, the level of comfort varies with the </a:t>
            </a:r>
            <a:r>
              <a:rPr lang="en-US" b="1" spc="-70" dirty="0">
                <a:solidFill>
                  <a:srgbClr val="000000">
                    <a:alpha val="100000"/>
                  </a:srgbClr>
                </a:solidFill>
                <a:latin typeface="Arial" panose="020B0604020202090204"/>
                <a:cs typeface="Arial" panose="020B0604020202090204"/>
              </a:rPr>
              <a:t>complexity and scale </a:t>
            </a:r>
            <a:r>
              <a:rPr lang="en-US" spc="-70" dirty="0">
                <a:solidFill>
                  <a:srgbClr val="000000">
                    <a:alpha val="100000"/>
                  </a:srgbClr>
                </a:solidFill>
                <a:latin typeface="Arial" panose="020B0604020202090204"/>
                <a:cs typeface="Arial" panose="020B0604020202090204"/>
              </a:rPr>
              <a:t>of the project. </a:t>
            </a:r>
          </a:p>
          <a:p>
            <a:pPr lvl="1">
              <a:buFont typeface="Arial" panose="020B0604020202020204" pitchFamily="34" charset="0"/>
              <a:buChar char="•"/>
            </a:pPr>
            <a:r>
              <a:rPr lang="en-US" spc="-70" dirty="0">
                <a:solidFill>
                  <a:srgbClr val="000000">
                    <a:alpha val="100000"/>
                  </a:srgbClr>
                </a:solidFill>
                <a:latin typeface="Arial" panose="020B0604020202090204"/>
                <a:cs typeface="Arial" panose="020B0604020202090204"/>
              </a:rPr>
              <a:t>The more </a:t>
            </a:r>
            <a:r>
              <a:rPr lang="en-US" b="1" spc="-70" dirty="0">
                <a:solidFill>
                  <a:srgbClr val="000000">
                    <a:alpha val="100000"/>
                  </a:srgbClr>
                </a:solidFill>
                <a:latin typeface="Arial" panose="020B0604020202090204"/>
                <a:cs typeface="Arial" panose="020B0604020202090204"/>
              </a:rPr>
              <a:t>comfort</a:t>
            </a:r>
            <a:r>
              <a:rPr lang="en-US" spc="-70" dirty="0">
                <a:solidFill>
                  <a:srgbClr val="000000">
                    <a:alpha val="100000"/>
                  </a:srgbClr>
                </a:solidFill>
                <a:latin typeface="Arial" panose="020B0604020202090204"/>
                <a:cs typeface="Arial" panose="020B0604020202090204"/>
              </a:rPr>
              <a:t> you have, the more </a:t>
            </a:r>
            <a:r>
              <a:rPr lang="en-US" b="1" spc="-70" dirty="0">
                <a:solidFill>
                  <a:srgbClr val="000000">
                    <a:alpha val="100000"/>
                  </a:srgbClr>
                </a:solidFill>
                <a:latin typeface="Arial" panose="020B0604020202090204"/>
                <a:cs typeface="Arial" panose="020B0604020202090204"/>
              </a:rPr>
              <a:t>relaxed or adaptable </a:t>
            </a:r>
            <a:r>
              <a:rPr lang="en-US" spc="-70" dirty="0">
                <a:solidFill>
                  <a:srgbClr val="000000">
                    <a:alpha val="100000"/>
                  </a:srgbClr>
                </a:solidFill>
                <a:latin typeface="Arial" panose="020B0604020202090204"/>
                <a:cs typeface="Arial" panose="020B0604020202090204"/>
              </a:rPr>
              <a:t>the project can be.</a:t>
            </a:r>
          </a:p>
          <a:p>
            <a:pPr lvl="1">
              <a:buFont typeface="Arial" panose="020B0604020202020204" pitchFamily="34" charset="0"/>
              <a:buChar char="•"/>
            </a:pPr>
            <a:r>
              <a:rPr lang="en-US" spc="-70" dirty="0">
                <a:solidFill>
                  <a:srgbClr val="000000">
                    <a:alpha val="100000"/>
                  </a:srgbClr>
                </a:solidFill>
                <a:latin typeface="Arial" panose="020B0604020202090204"/>
                <a:cs typeface="Arial" panose="020B0604020202090204"/>
              </a:rPr>
              <a:t>This is about how much </a:t>
            </a:r>
            <a:r>
              <a:rPr lang="en-US" b="1" spc="-70" dirty="0">
                <a:solidFill>
                  <a:srgbClr val="000000">
                    <a:alpha val="100000"/>
                  </a:srgbClr>
                </a:solidFill>
                <a:latin typeface="Arial" panose="020B0604020202090204"/>
                <a:cs typeface="Arial" panose="020B0604020202090204"/>
              </a:rPr>
              <a:t>flexibility and freedom </a:t>
            </a:r>
            <a:r>
              <a:rPr lang="en-US" spc="-70" dirty="0">
                <a:solidFill>
                  <a:srgbClr val="000000">
                    <a:alpha val="100000"/>
                  </a:srgbClr>
                </a:solidFill>
                <a:latin typeface="Arial" panose="020B0604020202090204"/>
                <a:cs typeface="Arial" panose="020B0604020202090204"/>
              </a:rPr>
              <a:t>the team has to manage the work without being overly constrained by rigid processes or excessive oversight.</a:t>
            </a:r>
          </a:p>
          <a:p>
            <a:endParaRPr lang="en-US" dirty="0"/>
          </a:p>
        </p:txBody>
      </p:sp>
      <p:sp>
        <p:nvSpPr>
          <p:cNvPr id="5" name="Slide Number Placeholder 4">
            <a:extLst>
              <a:ext uri="{FF2B5EF4-FFF2-40B4-BE49-F238E27FC236}">
                <a16:creationId xmlns:a16="http://schemas.microsoft.com/office/drawing/2014/main" id="{13FDC84D-4D00-1E1B-3739-915FA0EC4A61}"/>
              </a:ext>
            </a:extLst>
          </p:cNvPr>
          <p:cNvSpPr>
            <a:spLocks noGrp="1"/>
          </p:cNvSpPr>
          <p:nvPr>
            <p:ph type="sldNum" sz="quarter" idx="12"/>
          </p:nvPr>
        </p:nvSpPr>
        <p:spPr/>
        <p:txBody>
          <a:bodyPr/>
          <a:lstStyle/>
          <a:p>
            <a:fld id="{4267CD5E-26CF-4249-8540-BB1D07FD4227}" type="slidenum">
              <a:rPr lang="en-US" smtClean="0"/>
              <a:t>14</a:t>
            </a:fld>
            <a:endParaRPr lang="en-US"/>
          </a:p>
        </p:txBody>
      </p:sp>
    </p:spTree>
    <p:extLst>
      <p:ext uri="{BB962C8B-B14F-4D97-AF65-F5344CB8AC3E}">
        <p14:creationId xmlns:p14="http://schemas.microsoft.com/office/powerpoint/2010/main" val="1530053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21F9A-5B62-8A92-5F52-266F81B2D469}"/>
              </a:ext>
            </a:extLst>
          </p:cNvPr>
          <p:cNvSpPr>
            <a:spLocks noGrp="1"/>
          </p:cNvSpPr>
          <p:nvPr>
            <p:ph type="title"/>
          </p:nvPr>
        </p:nvSpPr>
        <p:spPr/>
        <p:txBody>
          <a:bodyPr/>
          <a:lstStyle/>
          <a:p>
            <a:r>
              <a:rPr lang="en-US" dirty="0">
                <a:solidFill>
                  <a:schemeClr val="tx1">
                    <a:alpha val="100000"/>
                  </a:schemeClr>
                </a:solidFill>
                <a:latin typeface="Arial" panose="020B0604020202090204"/>
                <a:ea typeface="Arial" panose="020B0604020202090204"/>
                <a:cs typeface="Arial" panose="020B0604020202090204"/>
                <a:sym typeface="+mn-ea"/>
              </a:rPr>
              <a:t>Crystal: criticality of the project</a:t>
            </a:r>
            <a:endParaRPr lang="en-US" dirty="0"/>
          </a:p>
        </p:txBody>
      </p:sp>
      <p:sp>
        <p:nvSpPr>
          <p:cNvPr id="4" name="Content Placeholder 3">
            <a:extLst>
              <a:ext uri="{FF2B5EF4-FFF2-40B4-BE49-F238E27FC236}">
                <a16:creationId xmlns:a16="http://schemas.microsoft.com/office/drawing/2014/main" id="{C4C19ABE-C23B-224A-3E89-25B388EC8FB3}"/>
              </a:ext>
            </a:extLst>
          </p:cNvPr>
          <p:cNvSpPr>
            <a:spLocks noGrp="1"/>
          </p:cNvSpPr>
          <p:nvPr>
            <p:ph idx="1"/>
          </p:nvPr>
        </p:nvSpPr>
        <p:spPr>
          <a:xfrm>
            <a:off x="644771" y="1524000"/>
            <a:ext cx="10709031" cy="4558148"/>
          </a:xfrm>
        </p:spPr>
        <p:txBody>
          <a:bodyPr/>
          <a:lstStyle/>
          <a:p>
            <a:pPr>
              <a:buNone/>
            </a:pPr>
            <a:r>
              <a:rPr lang="en-US" b="1" dirty="0">
                <a:solidFill>
                  <a:schemeClr val="tx1">
                    <a:lumMod val="50000"/>
                  </a:schemeClr>
                </a:solidFill>
                <a:latin typeface="Arial" panose="020B0604020202020204" pitchFamily="34" charset="0"/>
                <a:cs typeface="Arial" panose="020B0604020202020204" pitchFamily="34" charset="0"/>
              </a:rPr>
              <a:t>In Summary:</a:t>
            </a:r>
          </a:p>
          <a:p>
            <a:pPr lvl="1">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Life</a:t>
            </a:r>
            <a:r>
              <a:rPr lang="en-US" dirty="0">
                <a:solidFill>
                  <a:schemeClr val="tx1">
                    <a:lumMod val="50000"/>
                  </a:schemeClr>
                </a:solidFill>
                <a:latin typeface="Arial" panose="020B0604020202020204" pitchFamily="34" charset="0"/>
                <a:cs typeface="Arial" panose="020B0604020202020204" pitchFamily="34" charset="0"/>
              </a:rPr>
              <a:t>: Ensuring the sustainability of the project.</a:t>
            </a:r>
          </a:p>
          <a:p>
            <a:pPr lvl="1">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Essential Money</a:t>
            </a:r>
            <a:r>
              <a:rPr lang="en-US" dirty="0">
                <a:solidFill>
                  <a:schemeClr val="tx1">
                    <a:lumMod val="50000"/>
                  </a:schemeClr>
                </a:solidFill>
                <a:latin typeface="Arial" panose="020B0604020202020204" pitchFamily="34" charset="0"/>
                <a:cs typeface="Arial" panose="020B0604020202020204" pitchFamily="34" charset="0"/>
              </a:rPr>
              <a:t>: The minimum necessary resources for success.</a:t>
            </a:r>
          </a:p>
          <a:p>
            <a:pPr lvl="1">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Discretionary Money</a:t>
            </a:r>
            <a:r>
              <a:rPr lang="en-US" dirty="0">
                <a:solidFill>
                  <a:schemeClr val="tx1">
                    <a:lumMod val="50000"/>
                  </a:schemeClr>
                </a:solidFill>
                <a:latin typeface="Arial" panose="020B0604020202020204" pitchFamily="34" charset="0"/>
                <a:cs typeface="Arial" panose="020B0604020202020204" pitchFamily="34" charset="0"/>
              </a:rPr>
              <a:t>: Extra resources for non-essential, value-adding features.</a:t>
            </a:r>
          </a:p>
          <a:p>
            <a:pPr lvl="1">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Comfort</a:t>
            </a:r>
            <a:r>
              <a:rPr lang="en-US" dirty="0">
                <a:solidFill>
                  <a:schemeClr val="tx1">
                    <a:lumMod val="50000"/>
                  </a:schemeClr>
                </a:solidFill>
                <a:latin typeface="Arial" panose="020B0604020202020204" pitchFamily="34" charset="0"/>
                <a:cs typeface="Arial" panose="020B0604020202020204" pitchFamily="34" charset="0"/>
              </a:rPr>
              <a:t>: How rigid or flexible the team can be in following processes.</a:t>
            </a:r>
          </a:p>
          <a:p>
            <a:pPr lvl="1"/>
            <a:r>
              <a:rPr lang="en-US" dirty="0">
                <a:solidFill>
                  <a:schemeClr val="tx1">
                    <a:lumMod val="50000"/>
                  </a:schemeClr>
                </a:solidFill>
                <a:latin typeface="Arial" panose="020B0604020202020204" pitchFamily="34" charset="0"/>
                <a:cs typeface="Arial" panose="020B0604020202020204" pitchFamily="34" charset="0"/>
              </a:rPr>
              <a:t>As the project size and complexity increase, </a:t>
            </a:r>
            <a:r>
              <a:rPr lang="en-US" b="1" dirty="0">
                <a:solidFill>
                  <a:schemeClr val="tx1">
                    <a:lumMod val="50000"/>
                  </a:schemeClr>
                </a:solidFill>
                <a:latin typeface="Arial" panose="020B0604020202020204" pitchFamily="34" charset="0"/>
                <a:cs typeface="Arial" panose="020B0604020202020204" pitchFamily="34" charset="0"/>
              </a:rPr>
              <a:t>Crystal methodologies</a:t>
            </a:r>
            <a:r>
              <a:rPr lang="en-US" dirty="0">
                <a:solidFill>
                  <a:schemeClr val="tx1">
                    <a:lumMod val="50000"/>
                  </a:schemeClr>
                </a:solidFill>
                <a:latin typeface="Arial" panose="020B0604020202020204" pitchFamily="34" charset="0"/>
                <a:cs typeface="Arial" panose="020B0604020202020204" pitchFamily="34" charset="0"/>
              </a:rPr>
              <a:t> require more structure and resources, as indicated by the shift from </a:t>
            </a:r>
            <a:r>
              <a:rPr lang="en-US" b="1" dirty="0">
                <a:solidFill>
                  <a:schemeClr val="tx1">
                    <a:lumMod val="50000"/>
                  </a:schemeClr>
                </a:solidFill>
                <a:latin typeface="Arial" panose="020B0604020202020204" pitchFamily="34" charset="0"/>
                <a:cs typeface="Arial" panose="020B0604020202020204" pitchFamily="34" charset="0"/>
              </a:rPr>
              <a:t>Clear</a:t>
            </a:r>
            <a:r>
              <a:rPr lang="en-US" dirty="0">
                <a:solidFill>
                  <a:schemeClr val="tx1">
                    <a:lumMod val="50000"/>
                  </a:schemeClr>
                </a:solidFill>
                <a:latin typeface="Arial" panose="020B0604020202020204" pitchFamily="34" charset="0"/>
                <a:cs typeface="Arial" panose="020B0604020202020204" pitchFamily="34" charset="0"/>
              </a:rPr>
              <a:t> (least formal) to </a:t>
            </a:r>
            <a:r>
              <a:rPr lang="en-US" b="1" dirty="0">
                <a:solidFill>
                  <a:schemeClr val="tx1">
                    <a:lumMod val="50000"/>
                  </a:schemeClr>
                </a:solidFill>
                <a:latin typeface="Arial" panose="020B0604020202020204" pitchFamily="34" charset="0"/>
                <a:cs typeface="Arial" panose="020B0604020202020204" pitchFamily="34" charset="0"/>
              </a:rPr>
              <a:t>Maroon</a:t>
            </a:r>
            <a:r>
              <a:rPr lang="en-US" dirty="0">
                <a:solidFill>
                  <a:schemeClr val="tx1">
                    <a:lumMod val="50000"/>
                  </a:schemeClr>
                </a:solidFill>
                <a:latin typeface="Arial" panose="020B0604020202020204" pitchFamily="34" charset="0"/>
                <a:cs typeface="Arial" panose="020B0604020202020204" pitchFamily="34" charset="0"/>
              </a:rPr>
              <a:t> (most formal).</a:t>
            </a:r>
          </a:p>
          <a:p>
            <a:endParaRPr lang="en-US" dirty="0"/>
          </a:p>
        </p:txBody>
      </p:sp>
      <p:sp>
        <p:nvSpPr>
          <p:cNvPr id="5" name="Slide Number Placeholder 4">
            <a:extLst>
              <a:ext uri="{FF2B5EF4-FFF2-40B4-BE49-F238E27FC236}">
                <a16:creationId xmlns:a16="http://schemas.microsoft.com/office/drawing/2014/main" id="{FF770BBC-59AC-0F5A-0EBA-8A321C0D7EF1}"/>
              </a:ext>
            </a:extLst>
          </p:cNvPr>
          <p:cNvSpPr>
            <a:spLocks noGrp="1"/>
          </p:cNvSpPr>
          <p:nvPr>
            <p:ph type="sldNum" sz="quarter" idx="12"/>
          </p:nvPr>
        </p:nvSpPr>
        <p:spPr/>
        <p:txBody>
          <a:bodyPr/>
          <a:lstStyle/>
          <a:p>
            <a:fld id="{4267CD5E-26CF-4249-8540-BB1D07FD4227}" type="slidenum">
              <a:rPr lang="en-US" smtClean="0"/>
              <a:t>15</a:t>
            </a:fld>
            <a:endParaRPr lang="en-US"/>
          </a:p>
        </p:txBody>
      </p:sp>
    </p:spTree>
    <p:extLst>
      <p:ext uri="{BB962C8B-B14F-4D97-AF65-F5344CB8AC3E}">
        <p14:creationId xmlns:p14="http://schemas.microsoft.com/office/powerpoint/2010/main" val="846749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3B730-FB38-694B-A05B-A497B8F6B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08D58-FF95-8F00-8542-7BE4D6B2C295}"/>
              </a:ext>
            </a:extLst>
          </p:cNvPr>
          <p:cNvSpPr>
            <a:spLocks noGrp="1"/>
          </p:cNvSpPr>
          <p:nvPr>
            <p:ph type="title"/>
          </p:nvPr>
        </p:nvSpPr>
        <p:spPr/>
        <p:txBody>
          <a:bodyPr>
            <a:noAutofit/>
          </a:bodyPr>
          <a:lstStyle/>
          <a:p>
            <a:r>
              <a:rPr lang="en-US" sz="3200" dirty="0"/>
              <a:t>Crystal Methodologies: How Colors Relate to These Concepts</a:t>
            </a:r>
          </a:p>
        </p:txBody>
      </p:sp>
      <p:sp>
        <p:nvSpPr>
          <p:cNvPr id="4" name="Content Placeholder 3">
            <a:extLst>
              <a:ext uri="{FF2B5EF4-FFF2-40B4-BE49-F238E27FC236}">
                <a16:creationId xmlns:a16="http://schemas.microsoft.com/office/drawing/2014/main" id="{5167E548-B9B8-3945-5E9E-498239DF7527}"/>
              </a:ext>
            </a:extLst>
          </p:cNvPr>
          <p:cNvSpPr>
            <a:spLocks noGrp="1"/>
          </p:cNvSpPr>
          <p:nvPr>
            <p:ph idx="1"/>
          </p:nvPr>
        </p:nvSpPr>
        <p:spPr>
          <a:xfrm>
            <a:off x="644771" y="1593410"/>
            <a:ext cx="10709031" cy="4488737"/>
          </a:xfrm>
        </p:spPr>
        <p:txBody>
          <a:bodyPr>
            <a:normAutofit/>
          </a:bodyPr>
          <a:lstStyle/>
          <a:p>
            <a:pPr>
              <a:buNone/>
            </a:pPr>
            <a:r>
              <a:rPr lang="en-US" sz="2400" b="1" dirty="0">
                <a:solidFill>
                  <a:schemeClr val="bg2">
                    <a:lumMod val="10000"/>
                  </a:schemeClr>
                </a:solidFill>
                <a:latin typeface="Arial" panose="020B0604020202020204" pitchFamily="34" charset="0"/>
                <a:cs typeface="Arial" panose="020B0604020202020204" pitchFamily="34" charset="0"/>
              </a:rPr>
              <a:t>Clear</a:t>
            </a:r>
            <a:r>
              <a:rPr lang="en-US" sz="2400" dirty="0">
                <a:solidFill>
                  <a:schemeClr val="bg2">
                    <a:lumMod val="10000"/>
                  </a:schemeClr>
                </a:solidFill>
                <a:latin typeface="Arial" panose="020B0604020202020204" pitchFamily="34" charset="0"/>
                <a:cs typeface="Arial" panose="020B0604020202020204" pitchFamily="34" charset="0"/>
              </a:rPr>
              <a:t> (or </a:t>
            </a:r>
            <a:r>
              <a:rPr lang="en-US" sz="2400" b="1" dirty="0">
                <a:solidFill>
                  <a:schemeClr val="bg2">
                    <a:lumMod val="10000"/>
                  </a:schemeClr>
                </a:solidFill>
                <a:latin typeface="Arial" panose="020B0604020202020204" pitchFamily="34" charset="0"/>
                <a:cs typeface="Arial" panose="020B0604020202020204" pitchFamily="34" charset="0"/>
              </a:rPr>
              <a:t>Crystal Clear</a:t>
            </a:r>
            <a:r>
              <a:rPr lang="en-US" sz="2400" dirty="0">
                <a:solidFill>
                  <a:schemeClr val="bg2">
                    <a:lumMod val="10000"/>
                  </a:schemeClr>
                </a:solidFill>
                <a:latin typeface="Arial" panose="020B0604020202020204" pitchFamily="34" charset="0"/>
                <a:cs typeface="Arial" panose="020B0604020202020204" pitchFamily="34" charset="0"/>
              </a:rPr>
              <a:t>):</a:t>
            </a:r>
          </a:p>
          <a:p>
            <a:pPr>
              <a:buNone/>
            </a:pPr>
            <a:endParaRPr lang="en-US" sz="2400"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Life</a:t>
            </a:r>
            <a:r>
              <a:rPr lang="en-US" sz="2000" dirty="0">
                <a:solidFill>
                  <a:schemeClr val="bg2">
                    <a:lumMod val="10000"/>
                  </a:schemeClr>
                </a:solidFill>
                <a:latin typeface="Arial" panose="020B0604020202020204" pitchFamily="34" charset="0"/>
                <a:cs typeface="Arial" panose="020B0604020202020204" pitchFamily="34" charset="0"/>
              </a:rPr>
              <a:t>: High focus on </a:t>
            </a:r>
            <a:r>
              <a:rPr lang="en-US" sz="2000" b="1" dirty="0">
                <a:solidFill>
                  <a:schemeClr val="bg2">
                    <a:lumMod val="10000"/>
                  </a:schemeClr>
                </a:solidFill>
                <a:latin typeface="Arial" panose="020B0604020202020204" pitchFamily="34" charset="0"/>
                <a:cs typeface="Arial" panose="020B0604020202020204" pitchFamily="34" charset="0"/>
              </a:rPr>
              <a:t>team collaboration</a:t>
            </a:r>
            <a:r>
              <a:rPr lang="en-US" sz="2000" dirty="0">
                <a:solidFill>
                  <a:schemeClr val="bg2">
                    <a:lumMod val="10000"/>
                  </a:schemeClr>
                </a:solidFill>
                <a:latin typeface="Arial" panose="020B0604020202020204" pitchFamily="34" charset="0"/>
                <a:cs typeface="Arial" panose="020B0604020202020204" pitchFamily="34" charset="0"/>
              </a:rPr>
              <a:t>, often with a very </a:t>
            </a:r>
            <a:r>
              <a:rPr lang="en-US" sz="2000" b="1" dirty="0">
                <a:solidFill>
                  <a:schemeClr val="bg2">
                    <a:lumMod val="10000"/>
                  </a:schemeClr>
                </a:solidFill>
                <a:latin typeface="Arial" panose="020B0604020202020204" pitchFamily="34" charset="0"/>
                <a:cs typeface="Arial" panose="020B0604020202020204" pitchFamily="34" charset="0"/>
              </a:rPr>
              <a:t>light process</a:t>
            </a:r>
            <a:r>
              <a:rPr lang="en-US" sz="2000" dirty="0">
                <a:solidFill>
                  <a:schemeClr val="bg2">
                    <a:lumMod val="1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Essential Money</a:t>
            </a:r>
            <a:r>
              <a:rPr lang="en-US" sz="2000" dirty="0">
                <a:solidFill>
                  <a:schemeClr val="bg2">
                    <a:lumMod val="10000"/>
                  </a:schemeClr>
                </a:solidFill>
                <a:latin typeface="Arial" panose="020B0604020202020204" pitchFamily="34" charset="0"/>
                <a:cs typeface="Arial" panose="020B0604020202020204" pitchFamily="34" charset="0"/>
              </a:rPr>
              <a:t>: </a:t>
            </a:r>
            <a:r>
              <a:rPr lang="en-US" sz="2000" b="1" dirty="0">
                <a:solidFill>
                  <a:schemeClr val="bg2">
                    <a:lumMod val="10000"/>
                  </a:schemeClr>
                </a:solidFill>
                <a:latin typeface="Arial" panose="020B0604020202020204" pitchFamily="34" charset="0"/>
                <a:cs typeface="Arial" panose="020B0604020202020204" pitchFamily="34" charset="0"/>
              </a:rPr>
              <a:t>Minimal resources </a:t>
            </a:r>
            <a:r>
              <a:rPr lang="en-US" sz="2000" dirty="0">
                <a:solidFill>
                  <a:schemeClr val="bg2">
                    <a:lumMod val="10000"/>
                  </a:schemeClr>
                </a:solidFill>
                <a:latin typeface="Arial" panose="020B0604020202020204" pitchFamily="34" charset="0"/>
                <a:cs typeface="Arial" panose="020B0604020202020204" pitchFamily="34" charset="0"/>
              </a:rPr>
              <a:t>are needed since the project is small and focused on core deliverables.</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Discretionary Money</a:t>
            </a:r>
            <a:r>
              <a:rPr lang="en-US" sz="2000" dirty="0">
                <a:solidFill>
                  <a:schemeClr val="bg2">
                    <a:lumMod val="10000"/>
                  </a:schemeClr>
                </a:solidFill>
                <a:latin typeface="Arial" panose="020B0604020202020204" pitchFamily="34" charset="0"/>
                <a:cs typeface="Arial" panose="020B0604020202020204" pitchFamily="34" charset="0"/>
              </a:rPr>
              <a:t>: Not much; the emphasis is on </a:t>
            </a:r>
            <a:r>
              <a:rPr lang="en-US" sz="2000" b="1" dirty="0">
                <a:solidFill>
                  <a:schemeClr val="bg2">
                    <a:lumMod val="10000"/>
                  </a:schemeClr>
                </a:solidFill>
                <a:latin typeface="Arial" panose="020B0604020202020204" pitchFamily="34" charset="0"/>
                <a:cs typeface="Arial" panose="020B0604020202020204" pitchFamily="34" charset="0"/>
              </a:rPr>
              <a:t>simplicity and delivering value</a:t>
            </a:r>
            <a:r>
              <a:rPr lang="en-US" sz="2000" dirty="0">
                <a:solidFill>
                  <a:schemeClr val="bg2">
                    <a:lumMod val="1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Comfort</a:t>
            </a:r>
            <a:r>
              <a:rPr lang="en-US" sz="2000" dirty="0">
                <a:solidFill>
                  <a:schemeClr val="bg2">
                    <a:lumMod val="10000"/>
                  </a:schemeClr>
                </a:solidFill>
                <a:latin typeface="Arial" panose="020B0604020202020204" pitchFamily="34" charset="0"/>
                <a:cs typeface="Arial" panose="020B0604020202020204" pitchFamily="34" charset="0"/>
              </a:rPr>
              <a:t>: High; the team has a </a:t>
            </a:r>
            <a:r>
              <a:rPr lang="en-US" sz="2000" b="1" dirty="0">
                <a:solidFill>
                  <a:schemeClr val="bg2">
                    <a:lumMod val="10000"/>
                  </a:schemeClr>
                </a:solidFill>
                <a:latin typeface="Arial" panose="020B0604020202020204" pitchFamily="34" charset="0"/>
                <a:cs typeface="Arial" panose="020B0604020202020204" pitchFamily="34" charset="0"/>
              </a:rPr>
              <a:t>lot of freedom and flexibility </a:t>
            </a:r>
            <a:r>
              <a:rPr lang="en-US" sz="2000" dirty="0">
                <a:solidFill>
                  <a:schemeClr val="bg2">
                    <a:lumMod val="10000"/>
                  </a:schemeClr>
                </a:solidFill>
                <a:latin typeface="Arial" panose="020B0604020202020204" pitchFamily="34" charset="0"/>
                <a:cs typeface="Arial" panose="020B0604020202020204" pitchFamily="34" charset="0"/>
              </a:rPr>
              <a:t>to adapt.</a:t>
            </a:r>
          </a:p>
          <a:p>
            <a:pPr lvl="1">
              <a:buFont typeface="Arial" panose="020B0604020202020204" pitchFamily="34" charset="0"/>
              <a:buChar char="•"/>
            </a:pPr>
            <a:endParaRPr lang="en-US" sz="2000"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So, clear is for </a:t>
            </a:r>
            <a:r>
              <a:rPr lang="en-US" sz="2000" b="1" dirty="0">
                <a:solidFill>
                  <a:schemeClr val="bg2">
                    <a:lumMod val="10000"/>
                  </a:schemeClr>
                </a:solidFill>
                <a:latin typeface="Arial" panose="020B0604020202020204" pitchFamily="34" charset="0"/>
                <a:cs typeface="Arial" panose="020B0604020202020204" pitchFamily="34" charset="0"/>
              </a:rPr>
              <a:t>small teams and low-complexity </a:t>
            </a:r>
            <a:r>
              <a:rPr lang="en-US" sz="2000" dirty="0">
                <a:solidFill>
                  <a:schemeClr val="bg2">
                    <a:lumMod val="10000"/>
                  </a:schemeClr>
                </a:solidFill>
                <a:latin typeface="Arial" panose="020B0604020202020204" pitchFamily="34" charset="0"/>
                <a:cs typeface="Arial" panose="020B0604020202020204" pitchFamily="34" charset="0"/>
              </a:rPr>
              <a:t>projects, so it involves </a:t>
            </a:r>
            <a:r>
              <a:rPr lang="en-US" sz="2000" b="1" dirty="0">
                <a:solidFill>
                  <a:schemeClr val="bg2">
                    <a:lumMod val="10000"/>
                  </a:schemeClr>
                </a:solidFill>
                <a:latin typeface="Arial" panose="020B0604020202020204" pitchFamily="34" charset="0"/>
                <a:cs typeface="Arial" panose="020B0604020202020204" pitchFamily="34" charset="0"/>
              </a:rPr>
              <a:t>less overhead and more flexibility</a:t>
            </a:r>
            <a:r>
              <a:rPr lang="en-US" sz="2000" dirty="0">
                <a:solidFill>
                  <a:schemeClr val="bg2">
                    <a:lumMod val="10000"/>
                  </a:schemeClr>
                </a:solidFill>
                <a:latin typeface="Arial" panose="020B0604020202020204" pitchFamily="34" charset="0"/>
                <a:cs typeface="Arial" panose="020B0604020202020204" pitchFamily="34" charset="0"/>
              </a:rPr>
              <a:t>.</a:t>
            </a:r>
          </a:p>
          <a:p>
            <a:endParaRPr lang="en-US" sz="2000" dirty="0"/>
          </a:p>
        </p:txBody>
      </p:sp>
      <p:sp>
        <p:nvSpPr>
          <p:cNvPr id="5" name="Slide Number Placeholder 4">
            <a:extLst>
              <a:ext uri="{FF2B5EF4-FFF2-40B4-BE49-F238E27FC236}">
                <a16:creationId xmlns:a16="http://schemas.microsoft.com/office/drawing/2014/main" id="{8DFB992A-2293-8434-BE03-0CDB7736A504}"/>
              </a:ext>
            </a:extLst>
          </p:cNvPr>
          <p:cNvSpPr>
            <a:spLocks noGrp="1"/>
          </p:cNvSpPr>
          <p:nvPr>
            <p:ph type="sldNum" sz="quarter" idx="12"/>
          </p:nvPr>
        </p:nvSpPr>
        <p:spPr/>
        <p:txBody>
          <a:bodyPr/>
          <a:lstStyle/>
          <a:p>
            <a:fld id="{4267CD5E-26CF-4249-8540-BB1D07FD4227}" type="slidenum">
              <a:rPr lang="en-US" smtClean="0"/>
              <a:t>16</a:t>
            </a:fld>
            <a:endParaRPr lang="en-US"/>
          </a:p>
        </p:txBody>
      </p:sp>
    </p:spTree>
    <p:extLst>
      <p:ext uri="{BB962C8B-B14F-4D97-AF65-F5344CB8AC3E}">
        <p14:creationId xmlns:p14="http://schemas.microsoft.com/office/powerpoint/2010/main" val="53742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CDBB1-904D-E20F-270A-70CAA34FB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AA57A-5C6D-BBBF-51A8-40F63D7BC104}"/>
              </a:ext>
            </a:extLst>
          </p:cNvPr>
          <p:cNvSpPr>
            <a:spLocks noGrp="1"/>
          </p:cNvSpPr>
          <p:nvPr>
            <p:ph type="title"/>
          </p:nvPr>
        </p:nvSpPr>
        <p:spPr/>
        <p:txBody>
          <a:bodyPr>
            <a:noAutofit/>
          </a:bodyPr>
          <a:lstStyle/>
          <a:p>
            <a:r>
              <a:rPr lang="en-US" sz="3200" dirty="0"/>
              <a:t>Crystal Methodologies: How Colors Relate to These Concepts</a:t>
            </a:r>
          </a:p>
        </p:txBody>
      </p:sp>
      <p:sp>
        <p:nvSpPr>
          <p:cNvPr id="4" name="Content Placeholder 3">
            <a:extLst>
              <a:ext uri="{FF2B5EF4-FFF2-40B4-BE49-F238E27FC236}">
                <a16:creationId xmlns:a16="http://schemas.microsoft.com/office/drawing/2014/main" id="{36AD56C2-6B60-BAFE-8FE2-3BDABB59452B}"/>
              </a:ext>
            </a:extLst>
          </p:cNvPr>
          <p:cNvSpPr>
            <a:spLocks noGrp="1"/>
          </p:cNvSpPr>
          <p:nvPr>
            <p:ph idx="1"/>
          </p:nvPr>
        </p:nvSpPr>
        <p:spPr>
          <a:xfrm>
            <a:off x="644771" y="1593410"/>
            <a:ext cx="10709031" cy="4488737"/>
          </a:xfrm>
        </p:spPr>
        <p:txBody>
          <a:bodyPr>
            <a:normAutofit/>
          </a:bodyPr>
          <a:lstStyle/>
          <a:p>
            <a:pPr>
              <a:buNone/>
            </a:pPr>
            <a:r>
              <a:rPr lang="en-US" sz="2400" b="1" dirty="0">
                <a:solidFill>
                  <a:schemeClr val="tx1">
                    <a:lumMod val="50000"/>
                  </a:schemeClr>
                </a:solidFill>
                <a:latin typeface="Arial" panose="020B0604020202020204" pitchFamily="34" charset="0"/>
                <a:cs typeface="Arial" panose="020B0604020202020204" pitchFamily="34" charset="0"/>
              </a:rPr>
              <a:t>Yellow</a:t>
            </a:r>
            <a:r>
              <a:rPr lang="en-US" sz="2400" dirty="0">
                <a:solidFill>
                  <a:schemeClr val="tx1">
                    <a:lumMod val="50000"/>
                  </a:schemeClr>
                </a:solidFill>
                <a:latin typeface="Arial" panose="020B0604020202020204" pitchFamily="34" charset="0"/>
                <a:cs typeface="Arial" panose="020B0604020202020204" pitchFamily="34" charset="0"/>
              </a:rPr>
              <a:t> (or </a:t>
            </a:r>
            <a:r>
              <a:rPr lang="en-US" sz="2400" b="1" dirty="0">
                <a:solidFill>
                  <a:schemeClr val="tx1">
                    <a:lumMod val="50000"/>
                  </a:schemeClr>
                </a:solidFill>
                <a:latin typeface="Arial" panose="020B0604020202020204" pitchFamily="34" charset="0"/>
                <a:cs typeface="Arial" panose="020B0604020202020204" pitchFamily="34" charset="0"/>
              </a:rPr>
              <a:t>Crystal Yellow</a:t>
            </a:r>
            <a:r>
              <a:rPr lang="en-US" sz="2400" dirty="0">
                <a:solidFill>
                  <a:schemeClr val="tx1">
                    <a:lumMod val="50000"/>
                  </a:schemeClr>
                </a:solidFill>
                <a:latin typeface="Arial" panose="020B0604020202020204" pitchFamily="34" charset="0"/>
                <a:cs typeface="Arial" panose="020B0604020202020204" pitchFamily="34" charset="0"/>
              </a:rPr>
              <a:t>):</a:t>
            </a:r>
          </a:p>
          <a:p>
            <a:pPr>
              <a:buNone/>
            </a:pPr>
            <a:endParaRPr lang="en-US" sz="24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Life</a:t>
            </a:r>
            <a:r>
              <a:rPr lang="en-US" sz="2000" dirty="0">
                <a:solidFill>
                  <a:schemeClr val="tx1">
                    <a:lumMod val="50000"/>
                  </a:schemeClr>
                </a:solidFill>
                <a:latin typeface="Arial" panose="020B0604020202020204" pitchFamily="34" charset="0"/>
                <a:cs typeface="Arial" panose="020B0604020202020204" pitchFamily="34" charset="0"/>
              </a:rPr>
              <a:t>: Balanced attention to both </a:t>
            </a:r>
            <a:r>
              <a:rPr lang="en-US" sz="2000" b="1" dirty="0">
                <a:solidFill>
                  <a:schemeClr val="tx1">
                    <a:lumMod val="50000"/>
                  </a:schemeClr>
                </a:solidFill>
                <a:latin typeface="Arial" panose="020B0604020202020204" pitchFamily="34" charset="0"/>
                <a:cs typeface="Arial" panose="020B0604020202020204" pitchFamily="34" charset="0"/>
              </a:rPr>
              <a:t>long-term viability </a:t>
            </a:r>
            <a:r>
              <a:rPr lang="en-US" sz="2000" dirty="0">
                <a:solidFill>
                  <a:schemeClr val="tx1">
                    <a:lumMod val="50000"/>
                  </a:schemeClr>
                </a:solidFill>
                <a:latin typeface="Arial" panose="020B0604020202020204" pitchFamily="34" charset="0"/>
                <a:cs typeface="Arial" panose="020B0604020202020204" pitchFamily="34" charset="0"/>
              </a:rPr>
              <a:t>and </a:t>
            </a:r>
            <a:r>
              <a:rPr lang="en-US" sz="2000" b="1" dirty="0">
                <a:solidFill>
                  <a:schemeClr val="tx1">
                    <a:lumMod val="50000"/>
                  </a:schemeClr>
                </a:solidFill>
                <a:latin typeface="Arial" panose="020B0604020202020204" pitchFamily="34" charset="0"/>
                <a:cs typeface="Arial" panose="020B0604020202020204" pitchFamily="34" charset="0"/>
              </a:rPr>
              <a:t>iterative progress</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Essential Money</a:t>
            </a:r>
            <a:r>
              <a:rPr lang="en-US" sz="2000" dirty="0">
                <a:solidFill>
                  <a:schemeClr val="tx1">
                    <a:lumMod val="50000"/>
                  </a:schemeClr>
                </a:solidFill>
                <a:latin typeface="Arial" panose="020B0604020202020204" pitchFamily="34" charset="0"/>
                <a:cs typeface="Arial" panose="020B0604020202020204" pitchFamily="34" charset="0"/>
              </a:rPr>
              <a:t>: A bit </a:t>
            </a:r>
            <a:r>
              <a:rPr lang="en-US" sz="2000" b="1" dirty="0">
                <a:solidFill>
                  <a:schemeClr val="tx1">
                    <a:lumMod val="50000"/>
                  </a:schemeClr>
                </a:solidFill>
                <a:latin typeface="Arial" panose="020B0604020202020204" pitchFamily="34" charset="0"/>
                <a:cs typeface="Arial" panose="020B0604020202020204" pitchFamily="34" charset="0"/>
              </a:rPr>
              <a:t>more resources than Clear</a:t>
            </a:r>
            <a:r>
              <a:rPr lang="en-US" sz="2000" dirty="0">
                <a:solidFill>
                  <a:schemeClr val="tx1">
                    <a:lumMod val="50000"/>
                  </a:schemeClr>
                </a:solidFill>
                <a:latin typeface="Arial" panose="020B0604020202020204" pitchFamily="34" charset="0"/>
                <a:cs typeface="Arial" panose="020B0604020202020204" pitchFamily="34" charset="0"/>
              </a:rPr>
              <a:t>, but still minimal.</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Discretionary Money</a:t>
            </a:r>
            <a:r>
              <a:rPr lang="en-US" sz="2000" dirty="0">
                <a:solidFill>
                  <a:schemeClr val="tx1">
                    <a:lumMod val="50000"/>
                  </a:schemeClr>
                </a:solidFill>
                <a:latin typeface="Arial" panose="020B0604020202020204" pitchFamily="34" charset="0"/>
                <a:cs typeface="Arial" panose="020B0604020202020204" pitchFamily="34" charset="0"/>
              </a:rPr>
              <a:t>: You might have some </a:t>
            </a:r>
            <a:r>
              <a:rPr lang="en-US" sz="2000" b="1" dirty="0">
                <a:solidFill>
                  <a:schemeClr val="tx1">
                    <a:lumMod val="50000"/>
                  </a:schemeClr>
                </a:solidFill>
                <a:latin typeface="Arial" panose="020B0604020202020204" pitchFamily="34" charset="0"/>
                <a:cs typeface="Arial" panose="020B0604020202020204" pitchFamily="34" charset="0"/>
              </a:rPr>
              <a:t>extra flexibility </a:t>
            </a:r>
            <a:r>
              <a:rPr lang="en-US" sz="2000" dirty="0">
                <a:solidFill>
                  <a:schemeClr val="tx1">
                    <a:lumMod val="50000"/>
                  </a:schemeClr>
                </a:solidFill>
                <a:latin typeface="Arial" panose="020B0604020202020204" pitchFamily="34" charset="0"/>
                <a:cs typeface="Arial" panose="020B0604020202020204" pitchFamily="34" charset="0"/>
              </a:rPr>
              <a:t>in terms of features, but it's still mostly focused on </a:t>
            </a:r>
            <a:r>
              <a:rPr lang="en-US" sz="2000" b="1" dirty="0">
                <a:solidFill>
                  <a:schemeClr val="tx1">
                    <a:lumMod val="50000"/>
                  </a:schemeClr>
                </a:solidFill>
                <a:latin typeface="Arial" panose="020B0604020202020204" pitchFamily="34" charset="0"/>
                <a:cs typeface="Arial" panose="020B0604020202020204" pitchFamily="34" charset="0"/>
              </a:rPr>
              <a:t>essentials</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Comfort</a:t>
            </a:r>
            <a:r>
              <a:rPr lang="en-US" sz="2000" dirty="0">
                <a:solidFill>
                  <a:schemeClr val="tx1">
                    <a:lumMod val="50000"/>
                  </a:schemeClr>
                </a:solidFill>
                <a:latin typeface="Arial" panose="020B0604020202020204" pitchFamily="34" charset="0"/>
                <a:cs typeface="Arial" panose="020B0604020202020204" pitchFamily="34" charset="0"/>
              </a:rPr>
              <a:t>: Moderate; some </a:t>
            </a:r>
            <a:r>
              <a:rPr lang="en-US" sz="2000" b="1" dirty="0">
                <a:solidFill>
                  <a:schemeClr val="tx1">
                    <a:lumMod val="50000"/>
                  </a:schemeClr>
                </a:solidFill>
                <a:latin typeface="Arial" panose="020B0604020202020204" pitchFamily="34" charset="0"/>
                <a:cs typeface="Arial" panose="020B0604020202020204" pitchFamily="34" charset="0"/>
              </a:rPr>
              <a:t>formal processes </a:t>
            </a:r>
            <a:r>
              <a:rPr lang="en-US" sz="2000" dirty="0">
                <a:solidFill>
                  <a:schemeClr val="tx1">
                    <a:lumMod val="50000"/>
                  </a:schemeClr>
                </a:solidFill>
                <a:latin typeface="Arial" panose="020B0604020202020204" pitchFamily="34" charset="0"/>
                <a:cs typeface="Arial" panose="020B0604020202020204" pitchFamily="34" charset="0"/>
              </a:rPr>
              <a:t>(like regular iterations) but still </a:t>
            </a:r>
            <a:r>
              <a:rPr lang="en-US" sz="2000" b="1" dirty="0">
                <a:solidFill>
                  <a:schemeClr val="tx1">
                    <a:lumMod val="50000"/>
                  </a:schemeClr>
                </a:solidFill>
                <a:latin typeface="Arial" panose="020B0604020202020204" pitchFamily="34" charset="0"/>
                <a:cs typeface="Arial" panose="020B0604020202020204" pitchFamily="34" charset="0"/>
              </a:rPr>
              <a:t>relatively flexible</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endParaRPr lang="en-US" sz="20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solidFill>
                  <a:schemeClr val="tx1">
                    <a:lumMod val="50000"/>
                  </a:schemeClr>
                </a:solidFill>
                <a:latin typeface="Arial" panose="020B0604020202020204" pitchFamily="34" charset="0"/>
                <a:cs typeface="Arial" panose="020B0604020202020204" pitchFamily="34" charset="0"/>
              </a:rPr>
              <a:t>So, yellow is for </a:t>
            </a:r>
            <a:r>
              <a:rPr lang="en-US" sz="2000" b="1" dirty="0">
                <a:solidFill>
                  <a:schemeClr val="tx1">
                    <a:lumMod val="50000"/>
                  </a:schemeClr>
                </a:solidFill>
                <a:latin typeface="Arial" panose="020B0604020202020204" pitchFamily="34" charset="0"/>
                <a:cs typeface="Arial" panose="020B0604020202020204" pitchFamily="34" charset="0"/>
              </a:rPr>
              <a:t>medium-sized teams and moderate complexity</a:t>
            </a:r>
            <a:r>
              <a:rPr lang="en-US" sz="2000" dirty="0">
                <a:solidFill>
                  <a:schemeClr val="tx1">
                    <a:lumMod val="50000"/>
                  </a:schemeClr>
                </a:solidFill>
                <a:latin typeface="Arial" panose="020B0604020202020204" pitchFamily="34" charset="0"/>
                <a:cs typeface="Arial" panose="020B0604020202020204" pitchFamily="34" charset="0"/>
              </a:rPr>
              <a:t>.</a:t>
            </a:r>
          </a:p>
          <a:p>
            <a:endParaRPr lang="en-US" dirty="0">
              <a:solidFill>
                <a:schemeClr val="tx1">
                  <a:lumMod val="50000"/>
                </a:schemeClr>
              </a:solidFill>
            </a:endParaRPr>
          </a:p>
        </p:txBody>
      </p:sp>
      <p:sp>
        <p:nvSpPr>
          <p:cNvPr id="5" name="Slide Number Placeholder 4">
            <a:extLst>
              <a:ext uri="{FF2B5EF4-FFF2-40B4-BE49-F238E27FC236}">
                <a16:creationId xmlns:a16="http://schemas.microsoft.com/office/drawing/2014/main" id="{4E9C9EE2-8DDD-F23C-D76C-84E6CCE70FD1}"/>
              </a:ext>
            </a:extLst>
          </p:cNvPr>
          <p:cNvSpPr>
            <a:spLocks noGrp="1"/>
          </p:cNvSpPr>
          <p:nvPr>
            <p:ph type="sldNum" sz="quarter" idx="12"/>
          </p:nvPr>
        </p:nvSpPr>
        <p:spPr/>
        <p:txBody>
          <a:bodyPr/>
          <a:lstStyle/>
          <a:p>
            <a:fld id="{4267CD5E-26CF-4249-8540-BB1D07FD4227}" type="slidenum">
              <a:rPr lang="en-US" smtClean="0"/>
              <a:t>17</a:t>
            </a:fld>
            <a:endParaRPr lang="en-US"/>
          </a:p>
        </p:txBody>
      </p:sp>
    </p:spTree>
    <p:extLst>
      <p:ext uri="{BB962C8B-B14F-4D97-AF65-F5344CB8AC3E}">
        <p14:creationId xmlns:p14="http://schemas.microsoft.com/office/powerpoint/2010/main" val="594379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ED4A0-2B3A-8FF2-365F-DFFE50F2F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17A41-0121-384B-1396-75BBB72B10B0}"/>
              </a:ext>
            </a:extLst>
          </p:cNvPr>
          <p:cNvSpPr>
            <a:spLocks noGrp="1"/>
          </p:cNvSpPr>
          <p:nvPr>
            <p:ph type="title"/>
          </p:nvPr>
        </p:nvSpPr>
        <p:spPr/>
        <p:txBody>
          <a:bodyPr>
            <a:noAutofit/>
          </a:bodyPr>
          <a:lstStyle/>
          <a:p>
            <a:r>
              <a:rPr lang="en-US" sz="3200" dirty="0"/>
              <a:t>Crystal Methodologies: How Colors Relate to These Concepts</a:t>
            </a:r>
          </a:p>
        </p:txBody>
      </p:sp>
      <p:sp>
        <p:nvSpPr>
          <p:cNvPr id="4" name="Content Placeholder 3">
            <a:extLst>
              <a:ext uri="{FF2B5EF4-FFF2-40B4-BE49-F238E27FC236}">
                <a16:creationId xmlns:a16="http://schemas.microsoft.com/office/drawing/2014/main" id="{0CDC13D9-12BB-5636-1DA8-14DE21888DA4}"/>
              </a:ext>
            </a:extLst>
          </p:cNvPr>
          <p:cNvSpPr>
            <a:spLocks noGrp="1"/>
          </p:cNvSpPr>
          <p:nvPr>
            <p:ph idx="1"/>
          </p:nvPr>
        </p:nvSpPr>
        <p:spPr>
          <a:xfrm>
            <a:off x="644771" y="1593410"/>
            <a:ext cx="10709031" cy="4488737"/>
          </a:xfrm>
        </p:spPr>
        <p:txBody>
          <a:bodyPr>
            <a:normAutofit/>
          </a:bodyPr>
          <a:lstStyle/>
          <a:p>
            <a:pPr>
              <a:buNone/>
            </a:pPr>
            <a:r>
              <a:rPr lang="en-US" sz="2400" b="1" dirty="0">
                <a:solidFill>
                  <a:schemeClr val="tx1">
                    <a:lumMod val="50000"/>
                  </a:schemeClr>
                </a:solidFill>
                <a:latin typeface="Arial" panose="020B0604020202020204" pitchFamily="34" charset="0"/>
                <a:cs typeface="Arial" panose="020B0604020202020204" pitchFamily="34" charset="0"/>
              </a:rPr>
              <a:t>Orange</a:t>
            </a:r>
            <a:r>
              <a:rPr lang="en-US" sz="2400" dirty="0">
                <a:solidFill>
                  <a:schemeClr val="tx1">
                    <a:lumMod val="50000"/>
                  </a:schemeClr>
                </a:solidFill>
                <a:latin typeface="Arial" panose="020B0604020202020204" pitchFamily="34" charset="0"/>
                <a:cs typeface="Arial" panose="020B0604020202020204" pitchFamily="34" charset="0"/>
              </a:rPr>
              <a:t> (or </a:t>
            </a:r>
            <a:r>
              <a:rPr lang="en-US" sz="2400" b="1" dirty="0">
                <a:solidFill>
                  <a:schemeClr val="tx1">
                    <a:lumMod val="50000"/>
                  </a:schemeClr>
                </a:solidFill>
                <a:latin typeface="Arial" panose="020B0604020202020204" pitchFamily="34" charset="0"/>
                <a:cs typeface="Arial" panose="020B0604020202020204" pitchFamily="34" charset="0"/>
              </a:rPr>
              <a:t>Crystal Orange</a:t>
            </a:r>
            <a:r>
              <a:rPr lang="en-US" sz="2400" dirty="0">
                <a:solidFill>
                  <a:schemeClr val="tx1">
                    <a:lumMod val="50000"/>
                  </a:schemeClr>
                </a:solidFill>
                <a:latin typeface="Arial" panose="020B0604020202020204" pitchFamily="34" charset="0"/>
                <a:cs typeface="Arial" panose="020B0604020202020204" pitchFamily="34" charset="0"/>
              </a:rPr>
              <a:t>):</a:t>
            </a:r>
          </a:p>
          <a:p>
            <a:pPr>
              <a:buNone/>
            </a:pPr>
            <a:endParaRPr lang="en-US" sz="24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Life</a:t>
            </a:r>
            <a:r>
              <a:rPr lang="en-US" sz="2000" dirty="0">
                <a:solidFill>
                  <a:schemeClr val="tx1">
                    <a:lumMod val="50000"/>
                  </a:schemeClr>
                </a:solidFill>
                <a:latin typeface="Arial" panose="020B0604020202020204" pitchFamily="34" charset="0"/>
                <a:cs typeface="Arial" panose="020B0604020202020204" pitchFamily="34" charset="0"/>
              </a:rPr>
              <a:t>: More </a:t>
            </a:r>
            <a:r>
              <a:rPr lang="en-US" sz="2000" b="1" dirty="0">
                <a:solidFill>
                  <a:schemeClr val="tx1">
                    <a:lumMod val="50000"/>
                  </a:schemeClr>
                </a:solidFill>
                <a:latin typeface="Arial" panose="020B0604020202020204" pitchFamily="34" charset="0"/>
                <a:cs typeface="Arial" panose="020B0604020202020204" pitchFamily="34" charset="0"/>
              </a:rPr>
              <a:t>defined structures </a:t>
            </a:r>
            <a:r>
              <a:rPr lang="en-US" sz="2000" dirty="0">
                <a:solidFill>
                  <a:schemeClr val="tx1">
                    <a:lumMod val="50000"/>
                  </a:schemeClr>
                </a:solidFill>
                <a:latin typeface="Arial" panose="020B0604020202020204" pitchFamily="34" charset="0"/>
                <a:cs typeface="Arial" panose="020B0604020202020204" pitchFamily="34" charset="0"/>
              </a:rPr>
              <a:t>are needed for ensuring the </a:t>
            </a:r>
            <a:r>
              <a:rPr lang="en-US" sz="2000" b="1" dirty="0">
                <a:solidFill>
                  <a:schemeClr val="tx1">
                    <a:lumMod val="50000"/>
                  </a:schemeClr>
                </a:solidFill>
                <a:latin typeface="Arial" panose="020B0604020202020204" pitchFamily="34" charset="0"/>
                <a:cs typeface="Arial" panose="020B0604020202020204" pitchFamily="34" charset="0"/>
              </a:rPr>
              <a:t>long-term success </a:t>
            </a:r>
            <a:r>
              <a:rPr lang="en-US" sz="2000" dirty="0">
                <a:solidFill>
                  <a:schemeClr val="tx1">
                    <a:lumMod val="50000"/>
                  </a:schemeClr>
                </a:solidFill>
                <a:latin typeface="Arial" panose="020B0604020202020204" pitchFamily="34" charset="0"/>
                <a:cs typeface="Arial" panose="020B0604020202020204" pitchFamily="34" charset="0"/>
              </a:rPr>
              <a:t>of the project, focusing on </a:t>
            </a:r>
            <a:r>
              <a:rPr lang="en-US" sz="2000" b="1" dirty="0">
                <a:solidFill>
                  <a:schemeClr val="tx1">
                    <a:lumMod val="50000"/>
                  </a:schemeClr>
                </a:solidFill>
                <a:latin typeface="Arial" panose="020B0604020202020204" pitchFamily="34" charset="0"/>
                <a:cs typeface="Arial" panose="020B0604020202020204" pitchFamily="34" charset="0"/>
              </a:rPr>
              <a:t>scalability and managing larger teams</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Essential Money</a:t>
            </a:r>
            <a:r>
              <a:rPr lang="en-US" sz="2000" dirty="0">
                <a:solidFill>
                  <a:schemeClr val="tx1">
                    <a:lumMod val="50000"/>
                  </a:schemeClr>
                </a:solidFill>
                <a:latin typeface="Arial" panose="020B0604020202020204" pitchFamily="34" charset="0"/>
                <a:cs typeface="Arial" panose="020B0604020202020204" pitchFamily="34" charset="0"/>
              </a:rPr>
              <a:t>: More resources are required compared to Yellow due to </a:t>
            </a:r>
            <a:r>
              <a:rPr lang="en-US" sz="2000" b="1" dirty="0">
                <a:solidFill>
                  <a:schemeClr val="tx1">
                    <a:lumMod val="50000"/>
                  </a:schemeClr>
                </a:solidFill>
                <a:latin typeface="Arial" panose="020B0604020202020204" pitchFamily="34" charset="0"/>
                <a:cs typeface="Arial" panose="020B0604020202020204" pitchFamily="34" charset="0"/>
              </a:rPr>
              <a:t>larger project complexity</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Discretionary Money</a:t>
            </a:r>
            <a:r>
              <a:rPr lang="en-US" sz="2000" dirty="0">
                <a:solidFill>
                  <a:schemeClr val="tx1">
                    <a:lumMod val="50000"/>
                  </a:schemeClr>
                </a:solidFill>
                <a:latin typeface="Arial" panose="020B0604020202020204" pitchFamily="34" charset="0"/>
                <a:cs typeface="Arial" panose="020B0604020202020204" pitchFamily="34" charset="0"/>
              </a:rPr>
              <a:t>: Some flexibility for extra features or non-critical requirements.</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Comfort</a:t>
            </a:r>
            <a:r>
              <a:rPr lang="en-US" sz="2000" dirty="0">
                <a:solidFill>
                  <a:schemeClr val="tx1">
                    <a:lumMod val="50000"/>
                  </a:schemeClr>
                </a:solidFill>
                <a:latin typeface="Arial" panose="020B0604020202020204" pitchFamily="34" charset="0"/>
                <a:cs typeface="Arial" panose="020B0604020202020204" pitchFamily="34" charset="0"/>
              </a:rPr>
              <a:t>: Less comfort; a more structured approach is required, with defined roles and processes.</a:t>
            </a:r>
          </a:p>
          <a:p>
            <a:pPr lvl="1">
              <a:buFont typeface="Arial" panose="020B0604020202020204" pitchFamily="34" charset="0"/>
              <a:buChar char="•"/>
            </a:pPr>
            <a:endParaRPr lang="en-US" sz="20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solidFill>
                  <a:schemeClr val="tx1">
                    <a:lumMod val="50000"/>
                  </a:schemeClr>
                </a:solidFill>
                <a:latin typeface="Arial" panose="020B0604020202020204" pitchFamily="34" charset="0"/>
                <a:cs typeface="Arial" panose="020B0604020202020204" pitchFamily="34" charset="0"/>
              </a:rPr>
              <a:t>So, orange is for </a:t>
            </a:r>
            <a:r>
              <a:rPr lang="en-US" sz="2000" b="1" dirty="0">
                <a:solidFill>
                  <a:schemeClr val="tx1">
                    <a:lumMod val="50000"/>
                  </a:schemeClr>
                </a:solidFill>
                <a:latin typeface="Arial" panose="020B0604020202020204" pitchFamily="34" charset="0"/>
                <a:cs typeface="Arial" panose="020B0604020202020204" pitchFamily="34" charset="0"/>
              </a:rPr>
              <a:t>medium to larger </a:t>
            </a:r>
            <a:r>
              <a:rPr lang="en-US" sz="2000" dirty="0">
                <a:solidFill>
                  <a:schemeClr val="tx1">
                    <a:lumMod val="50000"/>
                  </a:schemeClr>
                </a:solidFill>
                <a:latin typeface="Arial" panose="020B0604020202020204" pitchFamily="34" charset="0"/>
                <a:cs typeface="Arial" panose="020B0604020202020204" pitchFamily="34" charset="0"/>
              </a:rPr>
              <a:t>teams where more structure is needed to manage complexity.</a:t>
            </a:r>
          </a:p>
          <a:p>
            <a:endParaRPr lang="en-US" dirty="0">
              <a:solidFill>
                <a:schemeClr val="tx1">
                  <a:lumMod val="5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75FC81B-78C8-0791-8AC7-F5A3EE4C568A}"/>
              </a:ext>
            </a:extLst>
          </p:cNvPr>
          <p:cNvSpPr>
            <a:spLocks noGrp="1"/>
          </p:cNvSpPr>
          <p:nvPr>
            <p:ph type="sldNum" sz="quarter" idx="12"/>
          </p:nvPr>
        </p:nvSpPr>
        <p:spPr/>
        <p:txBody>
          <a:bodyPr/>
          <a:lstStyle/>
          <a:p>
            <a:fld id="{4267CD5E-26CF-4249-8540-BB1D07FD4227}" type="slidenum">
              <a:rPr lang="en-US" smtClean="0"/>
              <a:t>18</a:t>
            </a:fld>
            <a:endParaRPr lang="en-US"/>
          </a:p>
        </p:txBody>
      </p:sp>
    </p:spTree>
    <p:extLst>
      <p:ext uri="{BB962C8B-B14F-4D97-AF65-F5344CB8AC3E}">
        <p14:creationId xmlns:p14="http://schemas.microsoft.com/office/powerpoint/2010/main" val="825402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04A48-A475-F37F-C3DC-575267B3F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6EB24-C494-7784-B806-358D1D0140BA}"/>
              </a:ext>
            </a:extLst>
          </p:cNvPr>
          <p:cNvSpPr>
            <a:spLocks noGrp="1"/>
          </p:cNvSpPr>
          <p:nvPr>
            <p:ph type="title"/>
          </p:nvPr>
        </p:nvSpPr>
        <p:spPr/>
        <p:txBody>
          <a:bodyPr>
            <a:noAutofit/>
          </a:bodyPr>
          <a:lstStyle/>
          <a:p>
            <a:r>
              <a:rPr lang="en-US" sz="3200" dirty="0"/>
              <a:t>Crystal Methodologies: How Colors Relate to These Concepts</a:t>
            </a:r>
          </a:p>
        </p:txBody>
      </p:sp>
      <p:sp>
        <p:nvSpPr>
          <p:cNvPr id="4" name="Content Placeholder 3">
            <a:extLst>
              <a:ext uri="{FF2B5EF4-FFF2-40B4-BE49-F238E27FC236}">
                <a16:creationId xmlns:a16="http://schemas.microsoft.com/office/drawing/2014/main" id="{77A11828-35A9-FFC1-63DC-D89F40C8CDA6}"/>
              </a:ext>
            </a:extLst>
          </p:cNvPr>
          <p:cNvSpPr>
            <a:spLocks noGrp="1"/>
          </p:cNvSpPr>
          <p:nvPr>
            <p:ph idx="1"/>
          </p:nvPr>
        </p:nvSpPr>
        <p:spPr>
          <a:xfrm>
            <a:off x="644771" y="1593410"/>
            <a:ext cx="10709031" cy="4488737"/>
          </a:xfrm>
        </p:spPr>
        <p:txBody>
          <a:bodyPr>
            <a:normAutofit/>
          </a:bodyPr>
          <a:lstStyle/>
          <a:p>
            <a:pPr>
              <a:buNone/>
            </a:pPr>
            <a:r>
              <a:rPr lang="en-US" sz="2400" b="1" dirty="0">
                <a:solidFill>
                  <a:schemeClr val="tx1">
                    <a:lumMod val="50000"/>
                  </a:schemeClr>
                </a:solidFill>
                <a:latin typeface="Arial" panose="020B0604020202020204" pitchFamily="34" charset="0"/>
                <a:cs typeface="Arial" panose="020B0604020202020204" pitchFamily="34" charset="0"/>
              </a:rPr>
              <a:t>Red</a:t>
            </a:r>
            <a:r>
              <a:rPr lang="en-US" sz="2400" dirty="0">
                <a:solidFill>
                  <a:schemeClr val="tx1">
                    <a:lumMod val="50000"/>
                  </a:schemeClr>
                </a:solidFill>
                <a:latin typeface="Arial" panose="020B0604020202020204" pitchFamily="34" charset="0"/>
                <a:cs typeface="Arial" panose="020B0604020202020204" pitchFamily="34" charset="0"/>
              </a:rPr>
              <a:t> (or </a:t>
            </a:r>
            <a:r>
              <a:rPr lang="en-US" sz="2400" b="1" dirty="0">
                <a:solidFill>
                  <a:schemeClr val="tx1">
                    <a:lumMod val="50000"/>
                  </a:schemeClr>
                </a:solidFill>
                <a:latin typeface="Arial" panose="020B0604020202020204" pitchFamily="34" charset="0"/>
                <a:cs typeface="Arial" panose="020B0604020202020204" pitchFamily="34" charset="0"/>
              </a:rPr>
              <a:t>Crystal Red</a:t>
            </a:r>
            <a:r>
              <a:rPr lang="en-US" sz="2400" dirty="0">
                <a:solidFill>
                  <a:schemeClr val="tx1">
                    <a:lumMod val="50000"/>
                  </a:schemeClr>
                </a:solidFill>
                <a:latin typeface="Arial" panose="020B0604020202020204" pitchFamily="34" charset="0"/>
                <a:cs typeface="Arial" panose="020B0604020202020204" pitchFamily="34" charset="0"/>
              </a:rPr>
              <a:t>):</a:t>
            </a:r>
          </a:p>
          <a:p>
            <a:pPr>
              <a:buNone/>
            </a:pPr>
            <a:endParaRPr lang="en-US" sz="24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Life</a:t>
            </a:r>
            <a:r>
              <a:rPr lang="en-US" sz="2000" dirty="0">
                <a:solidFill>
                  <a:schemeClr val="tx1">
                    <a:lumMod val="50000"/>
                  </a:schemeClr>
                </a:solidFill>
                <a:latin typeface="Arial" panose="020B0604020202020204" pitchFamily="34" charset="0"/>
                <a:cs typeface="Arial" panose="020B0604020202020204" pitchFamily="34" charset="0"/>
              </a:rPr>
              <a:t>: Focused on </a:t>
            </a:r>
            <a:r>
              <a:rPr lang="en-US" sz="2000" b="1" dirty="0">
                <a:solidFill>
                  <a:schemeClr val="tx1">
                    <a:lumMod val="50000"/>
                  </a:schemeClr>
                </a:solidFill>
                <a:latin typeface="Arial" panose="020B0604020202020204" pitchFamily="34" charset="0"/>
                <a:cs typeface="Arial" panose="020B0604020202020204" pitchFamily="34" charset="0"/>
              </a:rPr>
              <a:t>long-term viability </a:t>
            </a:r>
            <a:r>
              <a:rPr lang="en-US" sz="2000" dirty="0">
                <a:solidFill>
                  <a:schemeClr val="tx1">
                    <a:lumMod val="50000"/>
                  </a:schemeClr>
                </a:solidFill>
                <a:latin typeface="Arial" panose="020B0604020202020204" pitchFamily="34" charset="0"/>
                <a:cs typeface="Arial" panose="020B0604020202020204" pitchFamily="34" charset="0"/>
              </a:rPr>
              <a:t>and the ability to scale for </a:t>
            </a:r>
            <a:r>
              <a:rPr lang="en-US" sz="2000" b="1" dirty="0">
                <a:solidFill>
                  <a:schemeClr val="tx1">
                    <a:lumMod val="50000"/>
                  </a:schemeClr>
                </a:solidFill>
                <a:latin typeface="Arial" panose="020B0604020202020204" pitchFamily="34" charset="0"/>
                <a:cs typeface="Arial" panose="020B0604020202020204" pitchFamily="34" charset="0"/>
              </a:rPr>
              <a:t>large teams</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Essential Money</a:t>
            </a:r>
            <a:r>
              <a:rPr lang="en-US" sz="2000" dirty="0">
                <a:solidFill>
                  <a:schemeClr val="tx1">
                    <a:lumMod val="50000"/>
                  </a:schemeClr>
                </a:solidFill>
                <a:latin typeface="Arial" panose="020B0604020202020204" pitchFamily="34" charset="0"/>
                <a:cs typeface="Arial" panose="020B0604020202020204" pitchFamily="34" charset="0"/>
              </a:rPr>
              <a:t>: Significant resources required due to the scale of the project.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Discretionary Money</a:t>
            </a:r>
            <a:r>
              <a:rPr lang="en-US" sz="2000" dirty="0">
                <a:solidFill>
                  <a:schemeClr val="tx1">
                    <a:lumMod val="50000"/>
                  </a:schemeClr>
                </a:solidFill>
                <a:latin typeface="Arial" panose="020B0604020202020204" pitchFamily="34" charset="0"/>
                <a:cs typeface="Arial" panose="020B0604020202020204" pitchFamily="34" charset="0"/>
              </a:rPr>
              <a:t>: Some extra budget available for </a:t>
            </a:r>
            <a:r>
              <a:rPr lang="en-US" sz="2000" b="1" dirty="0">
                <a:solidFill>
                  <a:schemeClr val="tx1">
                    <a:lumMod val="50000"/>
                  </a:schemeClr>
                </a:solidFill>
                <a:latin typeface="Arial" panose="020B0604020202020204" pitchFamily="34" charset="0"/>
                <a:cs typeface="Arial" panose="020B0604020202020204" pitchFamily="34" charset="0"/>
              </a:rPr>
              <a:t>additional features or quality improvements</a:t>
            </a:r>
            <a:r>
              <a:rPr lang="en-US" sz="20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Comfort</a:t>
            </a:r>
            <a:r>
              <a:rPr lang="en-US" sz="2000" dirty="0">
                <a:solidFill>
                  <a:schemeClr val="tx1">
                    <a:lumMod val="50000"/>
                  </a:schemeClr>
                </a:solidFill>
                <a:latin typeface="Arial" panose="020B0604020202020204" pitchFamily="34" charset="0"/>
                <a:cs typeface="Arial" panose="020B0604020202020204" pitchFamily="34" charset="0"/>
              </a:rPr>
              <a:t>: Low comfort; more </a:t>
            </a:r>
            <a:r>
              <a:rPr lang="en-US" sz="2000" b="1" dirty="0">
                <a:solidFill>
                  <a:schemeClr val="tx1">
                    <a:lumMod val="50000"/>
                  </a:schemeClr>
                </a:solidFill>
                <a:latin typeface="Arial" panose="020B0604020202020204" pitchFamily="34" charset="0"/>
                <a:cs typeface="Arial" panose="020B0604020202020204" pitchFamily="34" charset="0"/>
              </a:rPr>
              <a:t>formalized processes </a:t>
            </a:r>
            <a:r>
              <a:rPr lang="en-US" sz="2000" dirty="0">
                <a:solidFill>
                  <a:schemeClr val="tx1">
                    <a:lumMod val="50000"/>
                  </a:schemeClr>
                </a:solidFill>
                <a:latin typeface="Arial" panose="020B0604020202020204" pitchFamily="34" charset="0"/>
                <a:cs typeface="Arial" panose="020B0604020202020204" pitchFamily="34" charset="0"/>
              </a:rPr>
              <a:t>and stricter adherence to practices.</a:t>
            </a:r>
          </a:p>
          <a:p>
            <a:pPr lvl="1">
              <a:buFont typeface="Arial" panose="020B0604020202020204" pitchFamily="34" charset="0"/>
              <a:buChar char="•"/>
            </a:pPr>
            <a:endParaRPr lang="en-US" sz="20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solidFill>
                  <a:schemeClr val="tx1">
                    <a:lumMod val="50000"/>
                  </a:schemeClr>
                </a:solidFill>
                <a:latin typeface="Arial" panose="020B0604020202020204" pitchFamily="34" charset="0"/>
                <a:cs typeface="Arial" panose="020B0604020202020204" pitchFamily="34" charset="0"/>
              </a:rPr>
              <a:t>So, red is for </a:t>
            </a:r>
            <a:r>
              <a:rPr lang="en-US" sz="2000" b="1" dirty="0">
                <a:solidFill>
                  <a:schemeClr val="tx1">
                    <a:lumMod val="50000"/>
                  </a:schemeClr>
                </a:solidFill>
                <a:latin typeface="Arial" panose="020B0604020202020204" pitchFamily="34" charset="0"/>
                <a:cs typeface="Arial" panose="020B0604020202020204" pitchFamily="34" charset="0"/>
              </a:rPr>
              <a:t>large teams and highly complex </a:t>
            </a:r>
            <a:r>
              <a:rPr lang="en-US" sz="2000" dirty="0">
                <a:solidFill>
                  <a:schemeClr val="tx1">
                    <a:lumMod val="50000"/>
                  </a:schemeClr>
                </a:solidFill>
                <a:latin typeface="Arial" panose="020B0604020202020204" pitchFamily="34" charset="0"/>
                <a:cs typeface="Arial" panose="020B0604020202020204" pitchFamily="34" charset="0"/>
              </a:rPr>
              <a:t>projects that require more structure and formal practices to handle the increased risk and complexity.</a:t>
            </a:r>
          </a:p>
          <a:p>
            <a:endParaRPr lang="en-US" dirty="0">
              <a:solidFill>
                <a:schemeClr val="tx1">
                  <a:lumMod val="5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DE6E9155-E80E-7158-1513-A4A39363299E}"/>
              </a:ext>
            </a:extLst>
          </p:cNvPr>
          <p:cNvSpPr>
            <a:spLocks noGrp="1"/>
          </p:cNvSpPr>
          <p:nvPr>
            <p:ph type="sldNum" sz="quarter" idx="12"/>
          </p:nvPr>
        </p:nvSpPr>
        <p:spPr/>
        <p:txBody>
          <a:bodyPr/>
          <a:lstStyle/>
          <a:p>
            <a:fld id="{4267CD5E-26CF-4249-8540-BB1D07FD4227}" type="slidenum">
              <a:rPr lang="en-US" smtClean="0"/>
              <a:t>19</a:t>
            </a:fld>
            <a:endParaRPr lang="en-US"/>
          </a:p>
        </p:txBody>
      </p:sp>
    </p:spTree>
    <p:extLst>
      <p:ext uri="{BB962C8B-B14F-4D97-AF65-F5344CB8AC3E}">
        <p14:creationId xmlns:p14="http://schemas.microsoft.com/office/powerpoint/2010/main" val="1586510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2914-D9B3-E145-1BBD-C35DA2795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284A9-0B30-70D0-5877-AE5F23AC1E33}"/>
              </a:ext>
            </a:extLst>
          </p:cNvPr>
          <p:cNvSpPr>
            <a:spLocks noGrp="1"/>
          </p:cNvSpPr>
          <p:nvPr>
            <p:ph type="title"/>
          </p:nvPr>
        </p:nvSpPr>
        <p:spPr/>
        <p:txBody>
          <a:bodyPr>
            <a:noAutofit/>
          </a:bodyPr>
          <a:lstStyle/>
          <a:p>
            <a:r>
              <a:rPr lang="en-US" sz="3200" dirty="0"/>
              <a:t>Crystal Methodologies: How Colors Relate to These Concepts</a:t>
            </a:r>
          </a:p>
        </p:txBody>
      </p:sp>
      <p:sp>
        <p:nvSpPr>
          <p:cNvPr id="4" name="Content Placeholder 3">
            <a:extLst>
              <a:ext uri="{FF2B5EF4-FFF2-40B4-BE49-F238E27FC236}">
                <a16:creationId xmlns:a16="http://schemas.microsoft.com/office/drawing/2014/main" id="{DBB87782-16EE-1373-6041-793D536B01C7}"/>
              </a:ext>
            </a:extLst>
          </p:cNvPr>
          <p:cNvSpPr>
            <a:spLocks noGrp="1"/>
          </p:cNvSpPr>
          <p:nvPr>
            <p:ph idx="1"/>
          </p:nvPr>
        </p:nvSpPr>
        <p:spPr>
          <a:xfrm>
            <a:off x="644771" y="1593410"/>
            <a:ext cx="10709031" cy="4488737"/>
          </a:xfrm>
        </p:spPr>
        <p:txBody>
          <a:bodyPr>
            <a:normAutofit/>
          </a:bodyPr>
          <a:lstStyle/>
          <a:p>
            <a:pPr>
              <a:buNone/>
            </a:pPr>
            <a:r>
              <a:rPr lang="en-US" sz="2400" b="1" dirty="0">
                <a:solidFill>
                  <a:schemeClr val="tx1">
                    <a:lumMod val="50000"/>
                  </a:schemeClr>
                </a:solidFill>
                <a:latin typeface="Arial" panose="020B0604020202020204" pitchFamily="34" charset="0"/>
                <a:cs typeface="Arial" panose="020B0604020202020204" pitchFamily="34" charset="0"/>
              </a:rPr>
              <a:t>Maroon</a:t>
            </a:r>
            <a:r>
              <a:rPr lang="en-US" sz="2400" dirty="0">
                <a:solidFill>
                  <a:schemeClr val="tx1">
                    <a:lumMod val="50000"/>
                  </a:schemeClr>
                </a:solidFill>
                <a:latin typeface="Arial" panose="020B0604020202020204" pitchFamily="34" charset="0"/>
                <a:cs typeface="Arial" panose="020B0604020202020204" pitchFamily="34" charset="0"/>
              </a:rPr>
              <a:t> (or </a:t>
            </a:r>
            <a:r>
              <a:rPr lang="en-US" sz="2400" b="1" dirty="0">
                <a:solidFill>
                  <a:schemeClr val="tx1">
                    <a:lumMod val="50000"/>
                  </a:schemeClr>
                </a:solidFill>
                <a:latin typeface="Arial" panose="020B0604020202020204" pitchFamily="34" charset="0"/>
                <a:cs typeface="Arial" panose="020B0604020202020204" pitchFamily="34" charset="0"/>
              </a:rPr>
              <a:t>Crystal Maroon</a:t>
            </a:r>
            <a:r>
              <a:rPr lang="en-US" sz="2400" dirty="0">
                <a:solidFill>
                  <a:schemeClr val="tx1">
                    <a:lumMod val="50000"/>
                  </a:schemeClr>
                </a:solidFill>
                <a:latin typeface="Arial" panose="020B0604020202020204" pitchFamily="34" charset="0"/>
                <a:cs typeface="Arial" panose="020B0604020202020204" pitchFamily="34" charset="0"/>
              </a:rPr>
              <a:t>):</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Life</a:t>
            </a:r>
            <a:r>
              <a:rPr lang="en-US" sz="2000" dirty="0">
                <a:solidFill>
                  <a:schemeClr val="tx1">
                    <a:lumMod val="50000"/>
                  </a:schemeClr>
                </a:solidFill>
                <a:latin typeface="Arial" panose="020B0604020202020204" pitchFamily="34" charset="0"/>
                <a:cs typeface="Arial" panose="020B0604020202020204" pitchFamily="34" charset="0"/>
              </a:rPr>
              <a:t>: Long-term survival of the project is critical, and great attention is paid to keeping it sustainable over time.</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Essential Money</a:t>
            </a:r>
            <a:r>
              <a:rPr lang="en-US" sz="2000" dirty="0">
                <a:solidFill>
                  <a:schemeClr val="tx1">
                    <a:lumMod val="50000"/>
                  </a:schemeClr>
                </a:solidFill>
                <a:latin typeface="Arial" panose="020B0604020202020204" pitchFamily="34" charset="0"/>
                <a:cs typeface="Arial" panose="020B0604020202020204" pitchFamily="34" charset="0"/>
              </a:rPr>
              <a:t>: Large-scale budgets are required, and resources are allocated for both essential and non-essential aspects.</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Discretionary Money</a:t>
            </a:r>
            <a:r>
              <a:rPr lang="en-US" sz="2000" dirty="0">
                <a:solidFill>
                  <a:schemeClr val="tx1">
                    <a:lumMod val="50000"/>
                  </a:schemeClr>
                </a:solidFill>
                <a:latin typeface="Arial" panose="020B0604020202020204" pitchFamily="34" charset="0"/>
                <a:cs typeface="Arial" panose="020B0604020202020204" pitchFamily="34" charset="0"/>
              </a:rPr>
              <a:t>: Significant resources for features that improve quality but aren't strictly necessary for the product's core value.</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Comfort</a:t>
            </a:r>
            <a:r>
              <a:rPr lang="en-US" sz="2000" dirty="0">
                <a:solidFill>
                  <a:schemeClr val="tx1">
                    <a:lumMod val="50000"/>
                  </a:schemeClr>
                </a:solidFill>
                <a:latin typeface="Arial" panose="020B0604020202020204" pitchFamily="34" charset="0"/>
                <a:cs typeface="Arial" panose="020B0604020202020204" pitchFamily="34" charset="0"/>
              </a:rPr>
              <a:t>: Low; extensive formal processes and more rigid management.</a:t>
            </a:r>
          </a:p>
          <a:p>
            <a:pPr lvl="1">
              <a:buFont typeface="Arial" panose="020B0604020202020204" pitchFamily="34" charset="0"/>
              <a:buChar char="•"/>
            </a:pPr>
            <a:endParaRPr lang="en-US" sz="2000"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solidFill>
                  <a:schemeClr val="tx1">
                    <a:lumMod val="50000"/>
                  </a:schemeClr>
                </a:solidFill>
                <a:latin typeface="Arial" panose="020B0604020202020204" pitchFamily="34" charset="0"/>
                <a:cs typeface="Arial" panose="020B0604020202020204" pitchFamily="34" charset="0"/>
              </a:rPr>
              <a:t>So, maroon is typically for </a:t>
            </a:r>
            <a:r>
              <a:rPr lang="en-US" sz="2000" b="1" dirty="0">
                <a:solidFill>
                  <a:schemeClr val="tx1">
                    <a:lumMod val="50000"/>
                  </a:schemeClr>
                </a:solidFill>
                <a:latin typeface="Arial" panose="020B0604020202020204" pitchFamily="34" charset="0"/>
                <a:cs typeface="Arial" panose="020B0604020202020204" pitchFamily="34" charset="0"/>
              </a:rPr>
              <a:t>very large and complex </a:t>
            </a:r>
            <a:r>
              <a:rPr lang="en-US" sz="2000" dirty="0">
                <a:solidFill>
                  <a:schemeClr val="tx1">
                    <a:lumMod val="50000"/>
                  </a:schemeClr>
                </a:solidFill>
                <a:latin typeface="Arial" panose="020B0604020202020204" pitchFamily="34" charset="0"/>
                <a:cs typeface="Arial" panose="020B0604020202020204" pitchFamily="34" charset="0"/>
              </a:rPr>
              <a:t>organizations or projects, requiring a lot of formal process, structure, and resources.</a:t>
            </a:r>
          </a:p>
          <a:p>
            <a:endParaRPr lang="en-US" dirty="0">
              <a:solidFill>
                <a:schemeClr val="tx1">
                  <a:lumMod val="5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8FA0CD3-BF30-531F-9AFA-4106F3CB1D69}"/>
              </a:ext>
            </a:extLst>
          </p:cNvPr>
          <p:cNvSpPr>
            <a:spLocks noGrp="1"/>
          </p:cNvSpPr>
          <p:nvPr>
            <p:ph type="sldNum" sz="quarter" idx="12"/>
          </p:nvPr>
        </p:nvSpPr>
        <p:spPr/>
        <p:txBody>
          <a:bodyPr/>
          <a:lstStyle/>
          <a:p>
            <a:fld id="{4267CD5E-26CF-4249-8540-BB1D07FD4227}" type="slidenum">
              <a:rPr lang="en-US" smtClean="0"/>
              <a:t>20</a:t>
            </a:fld>
            <a:endParaRPr lang="en-US"/>
          </a:p>
        </p:txBody>
      </p:sp>
    </p:spTree>
    <p:extLst>
      <p:ext uri="{BB962C8B-B14F-4D97-AF65-F5344CB8AC3E}">
        <p14:creationId xmlns:p14="http://schemas.microsoft.com/office/powerpoint/2010/main" val="1003446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pc="-40" dirty="0">
                <a:solidFill>
                  <a:schemeClr val="tx1">
                    <a:alpha val="100000"/>
                  </a:schemeClr>
                </a:solidFill>
                <a:latin typeface="Arial" panose="020B0604020202090204"/>
                <a:ea typeface="Arial" panose="020B0604020202090204"/>
                <a:cs typeface="Arial" panose="020B0604020202090204"/>
                <a:sym typeface="+mn-ea"/>
              </a:rPr>
              <a:t>Properties, Strategies,Technique</a:t>
            </a:r>
            <a:r>
              <a:rPr spc="-10" dirty="0">
                <a:solidFill>
                  <a:schemeClr val="tx1">
                    <a:alpha val="100000"/>
                  </a:schemeClr>
                </a:solidFill>
                <a:latin typeface="Arial" panose="020B0604020202090204"/>
                <a:ea typeface="Arial" panose="020B0604020202090204"/>
                <a:cs typeface="Arial" panose="020B0604020202090204"/>
                <a:sym typeface="+mn-ea"/>
              </a:rPr>
              <a:t>s</a:t>
            </a:r>
            <a:endParaRPr lang="en-US" spc="-10" dirty="0">
              <a:solidFill>
                <a:schemeClr val="tx1">
                  <a:alpha val="100000"/>
                </a:schemeClr>
              </a:solidFill>
              <a:latin typeface="Arial" panose="020B0604020202090204"/>
              <a:ea typeface="Arial" panose="020B0604020202090204"/>
              <a:cs typeface="Arial" panose="020B0604020202090204"/>
              <a:sym typeface="+mn-ea"/>
            </a:endParaRPr>
          </a:p>
        </p:txBody>
      </p:sp>
      <p:sp>
        <p:nvSpPr>
          <p:cNvPr id="2" name="Content Placeholder 1"/>
          <p:cNvSpPr>
            <a:spLocks noGrp="1"/>
          </p:cNvSpPr>
          <p:nvPr>
            <p:ph idx="1"/>
          </p:nvPr>
        </p:nvSpPr>
        <p:spPr>
          <a:xfrm>
            <a:off x="646430" y="1701806"/>
            <a:ext cx="9730877" cy="4273544"/>
          </a:xfrm>
        </p:spPr>
        <p:txBody>
          <a:bodyPr>
            <a:normAutofit/>
          </a:bodyPr>
          <a:lstStyle/>
          <a:p>
            <a:pPr marL="298450" indent="-285750" eaLnBrk="0">
              <a:lnSpc>
                <a:spcPct val="150000"/>
              </a:lnSpc>
              <a:spcBef>
                <a:spcPts val="110"/>
              </a:spcBef>
            </a:pPr>
            <a:r>
              <a:rPr lang="en-US" sz="2400" dirty="0">
                <a:solidFill>
                  <a:schemeClr val="tx1">
                    <a:lumMod val="50000"/>
                  </a:schemeClr>
                </a:solidFill>
                <a:latin typeface="Arial" panose="020B0604020202020204" pitchFamily="34" charset="0"/>
                <a:cs typeface="Arial" panose="020B0604020202020204" pitchFamily="34" charset="0"/>
              </a:rPr>
              <a:t>In </a:t>
            </a:r>
            <a:r>
              <a:rPr lang="en-US" sz="2400" b="1" dirty="0">
                <a:solidFill>
                  <a:schemeClr val="tx1">
                    <a:lumMod val="50000"/>
                  </a:schemeClr>
                </a:solidFill>
                <a:latin typeface="Arial" panose="020B0604020202020204" pitchFamily="34" charset="0"/>
                <a:cs typeface="Arial" panose="020B0604020202020204" pitchFamily="34" charset="0"/>
              </a:rPr>
              <a:t>Crystal methodology</a:t>
            </a:r>
            <a:r>
              <a:rPr lang="en-US" sz="2400" dirty="0">
                <a:solidFill>
                  <a:schemeClr val="tx1">
                    <a:lumMod val="50000"/>
                  </a:schemeClr>
                </a:solidFill>
                <a:latin typeface="Arial" panose="020B0604020202020204" pitchFamily="34" charset="0"/>
                <a:cs typeface="Arial" panose="020B0604020202020204" pitchFamily="34" charset="0"/>
              </a:rPr>
              <a:t>, the concepts of </a:t>
            </a:r>
            <a:r>
              <a:rPr lang="en-US" sz="2400" b="1" dirty="0">
                <a:solidFill>
                  <a:schemeClr val="tx1">
                    <a:lumMod val="50000"/>
                  </a:schemeClr>
                </a:solidFill>
                <a:latin typeface="Arial" panose="020B0604020202020204" pitchFamily="34" charset="0"/>
                <a:cs typeface="Arial" panose="020B0604020202020204" pitchFamily="34" charset="0"/>
              </a:rPr>
              <a:t>properties</a:t>
            </a:r>
            <a:r>
              <a:rPr lang="en-US" sz="2400" dirty="0">
                <a:solidFill>
                  <a:schemeClr val="tx1">
                    <a:lumMod val="50000"/>
                  </a:schemeClr>
                </a:solidFill>
                <a:latin typeface="Arial" panose="020B0604020202020204" pitchFamily="34" charset="0"/>
                <a:cs typeface="Arial" panose="020B0604020202020204" pitchFamily="34" charset="0"/>
              </a:rPr>
              <a:t>, </a:t>
            </a:r>
            <a:r>
              <a:rPr lang="en-US" sz="2400" b="1" dirty="0">
                <a:solidFill>
                  <a:schemeClr val="tx1">
                    <a:lumMod val="50000"/>
                  </a:schemeClr>
                </a:solidFill>
                <a:latin typeface="Arial" panose="020B0604020202020204" pitchFamily="34" charset="0"/>
                <a:cs typeface="Arial" panose="020B0604020202020204" pitchFamily="34" charset="0"/>
              </a:rPr>
              <a:t>strategies</a:t>
            </a:r>
            <a:r>
              <a:rPr lang="en-US" sz="2400" dirty="0">
                <a:solidFill>
                  <a:schemeClr val="tx1">
                    <a:lumMod val="50000"/>
                  </a:schemeClr>
                </a:solidFill>
                <a:latin typeface="Arial" panose="020B0604020202020204" pitchFamily="34" charset="0"/>
                <a:cs typeface="Arial" panose="020B0604020202020204" pitchFamily="34" charset="0"/>
              </a:rPr>
              <a:t>, and </a:t>
            </a:r>
            <a:r>
              <a:rPr lang="en-US" sz="2400" b="1" dirty="0">
                <a:solidFill>
                  <a:schemeClr val="tx1">
                    <a:lumMod val="50000"/>
                  </a:schemeClr>
                </a:solidFill>
                <a:latin typeface="Arial" panose="020B0604020202020204" pitchFamily="34" charset="0"/>
                <a:cs typeface="Arial" panose="020B0604020202020204" pitchFamily="34" charset="0"/>
              </a:rPr>
              <a:t>techniques</a:t>
            </a:r>
            <a:r>
              <a:rPr lang="en-US" sz="2400" dirty="0">
                <a:solidFill>
                  <a:schemeClr val="tx1">
                    <a:lumMod val="50000"/>
                  </a:schemeClr>
                </a:solidFill>
                <a:latin typeface="Arial" panose="020B0604020202020204" pitchFamily="34" charset="0"/>
                <a:cs typeface="Arial" panose="020B0604020202020204" pitchFamily="34" charset="0"/>
              </a:rPr>
              <a:t> help tailor Agile practices to a project's needs.</a:t>
            </a:r>
          </a:p>
        </p:txBody>
      </p:sp>
      <p:sp>
        <p:nvSpPr>
          <p:cNvPr id="3" name="Slide Number Placeholder 2"/>
          <p:cNvSpPr>
            <a:spLocks noGrp="1"/>
          </p:cNvSpPr>
          <p:nvPr>
            <p:ph type="sldNum" sz="quarter" idx="12"/>
          </p:nvPr>
        </p:nvSpPr>
        <p:spPr/>
        <p:txBody>
          <a:bodyPr/>
          <a:lstStyle/>
          <a:p>
            <a:fld id="{4267CD5E-26CF-4249-8540-BB1D07FD4227}" type="slidenum">
              <a:rPr lang="en-US" smtClean="0"/>
              <a:t>21</a:t>
            </a:fld>
            <a:endParaRPr lang="en-US"/>
          </a:p>
        </p:txBody>
      </p:sp>
      <p:pic>
        <p:nvPicPr>
          <p:cNvPr id="48" name="picture 48"/>
          <p:cNvPicPr>
            <a:picLocks noChangeAspect="1"/>
          </p:cNvPicPr>
          <p:nvPr/>
        </p:nvPicPr>
        <p:blipFill>
          <a:blip r:embed="rId2"/>
          <a:stretch>
            <a:fillRect/>
          </a:stretch>
        </p:blipFill>
        <p:spPr>
          <a:xfrm rot="21600000">
            <a:off x="1194253" y="4202347"/>
            <a:ext cx="2516921" cy="643251"/>
          </a:xfrm>
          <a:prstGeom prst="rect">
            <a:avLst/>
          </a:prstGeom>
        </p:spPr>
      </p:pic>
      <p:pic>
        <p:nvPicPr>
          <p:cNvPr id="46" name="picture 46"/>
          <p:cNvPicPr>
            <a:picLocks noChangeAspect="1"/>
          </p:cNvPicPr>
          <p:nvPr/>
        </p:nvPicPr>
        <p:blipFill>
          <a:blip r:embed="rId3"/>
          <a:stretch>
            <a:fillRect/>
          </a:stretch>
        </p:blipFill>
        <p:spPr>
          <a:xfrm rot="21600000">
            <a:off x="4691720" y="3666418"/>
            <a:ext cx="2173554" cy="1738841"/>
          </a:xfrm>
          <a:prstGeom prst="rect">
            <a:avLst/>
          </a:prstGeom>
        </p:spPr>
      </p:pic>
      <p:pic>
        <p:nvPicPr>
          <p:cNvPr id="47" name="picture 47"/>
          <p:cNvPicPr>
            <a:picLocks noChangeAspect="1"/>
          </p:cNvPicPr>
          <p:nvPr/>
        </p:nvPicPr>
        <p:blipFill>
          <a:blip r:embed="rId4"/>
          <a:stretch>
            <a:fillRect/>
          </a:stretch>
        </p:blipFill>
        <p:spPr>
          <a:xfrm rot="21600000">
            <a:off x="8374518" y="3781141"/>
            <a:ext cx="2002790" cy="1509395"/>
          </a:xfrm>
          <a:prstGeom prst="rect">
            <a:avLst/>
          </a:prstGeom>
        </p:spPr>
      </p:pic>
      <p:pic>
        <p:nvPicPr>
          <p:cNvPr id="49" name="picture 49"/>
          <p:cNvPicPr>
            <a:picLocks noChangeAspect="1"/>
          </p:cNvPicPr>
          <p:nvPr/>
        </p:nvPicPr>
        <p:blipFill>
          <a:blip r:embed="rId5"/>
          <a:stretch>
            <a:fillRect/>
          </a:stretch>
        </p:blipFill>
        <p:spPr>
          <a:xfrm rot="21600000">
            <a:off x="1512275" y="4336366"/>
            <a:ext cx="1903200" cy="3989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DD709-2FD3-CFC2-DDFA-31A24331921F}"/>
              </a:ext>
            </a:extLst>
          </p:cNvPr>
          <p:cNvSpPr>
            <a:spLocks noGrp="1"/>
          </p:cNvSpPr>
          <p:nvPr>
            <p:ph type="title"/>
          </p:nvPr>
        </p:nvSpPr>
        <p:spPr/>
        <p:txBody>
          <a:bodyPr/>
          <a:lstStyle/>
          <a:p>
            <a:r>
              <a:rPr lang="en-US" spc="-40" dirty="0">
                <a:solidFill>
                  <a:schemeClr val="tx1">
                    <a:alpha val="100000"/>
                  </a:schemeClr>
                </a:solidFill>
                <a:latin typeface="Arial" panose="020B0604020202090204"/>
                <a:ea typeface="Arial" panose="020B0604020202090204"/>
                <a:cs typeface="Arial" panose="020B0604020202090204"/>
                <a:sym typeface="+mn-ea"/>
              </a:rPr>
              <a:t>Properties</a:t>
            </a:r>
            <a:endParaRPr lang="en-US" dirty="0"/>
          </a:p>
        </p:txBody>
      </p:sp>
      <p:sp>
        <p:nvSpPr>
          <p:cNvPr id="4" name="Content Placeholder 3">
            <a:extLst>
              <a:ext uri="{FF2B5EF4-FFF2-40B4-BE49-F238E27FC236}">
                <a16:creationId xmlns:a16="http://schemas.microsoft.com/office/drawing/2014/main" id="{BCDB8E13-A56D-F519-7855-C113D4D87747}"/>
              </a:ext>
            </a:extLst>
          </p:cNvPr>
          <p:cNvSpPr>
            <a:spLocks noGrp="1"/>
          </p:cNvSpPr>
          <p:nvPr>
            <p:ph idx="1"/>
          </p:nvPr>
        </p:nvSpPr>
        <p:spPr>
          <a:xfrm>
            <a:off x="644771" y="1249378"/>
            <a:ext cx="10709031" cy="4832769"/>
          </a:xfrm>
        </p:spPr>
        <p:txBody>
          <a:bodyPr/>
          <a:lstStyle/>
          <a:p>
            <a:pPr marL="309880" indent="-285750" eaLnBrk="0">
              <a:lnSpc>
                <a:spcPct val="150000"/>
              </a:lnSpc>
              <a:spcBef>
                <a:spcPts val="5"/>
              </a:spcBef>
            </a:pPr>
            <a:r>
              <a:rPr lang="en-US"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Propertie</a:t>
            </a:r>
            <a:r>
              <a:rPr lang="en-US" spc="-4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s: These are key characteristics of the project, such as:</a:t>
            </a:r>
          </a:p>
          <a:p>
            <a:pPr marL="767080" lvl="1" indent="-285750" eaLnBrk="0">
              <a:lnSpc>
                <a:spcPct val="150000"/>
              </a:lnSpc>
              <a:spcBef>
                <a:spcPts val="5"/>
              </a:spcBef>
            </a:pPr>
            <a:r>
              <a:rPr lang="en-US" b="1" dirty="0">
                <a:solidFill>
                  <a:schemeClr val="tx1">
                    <a:lumMod val="50000"/>
                  </a:schemeClr>
                </a:solidFill>
                <a:latin typeface="Arial" panose="020B0604020202020204" pitchFamily="34" charset="0"/>
                <a:cs typeface="Arial" panose="020B0604020202020204" pitchFamily="34" charset="0"/>
              </a:rPr>
              <a:t>Team size</a:t>
            </a:r>
            <a:r>
              <a:rPr lang="en-US" dirty="0">
                <a:solidFill>
                  <a:schemeClr val="tx1">
                    <a:lumMod val="50000"/>
                  </a:schemeClr>
                </a:solidFill>
                <a:latin typeface="Arial" panose="020B0604020202020204" pitchFamily="34" charset="0"/>
                <a:cs typeface="Arial" panose="020B0604020202020204" pitchFamily="34" charset="0"/>
              </a:rPr>
              <a:t> (small, medium, large)</a:t>
            </a:r>
          </a:p>
          <a:p>
            <a:pPr marL="767080" lvl="1" indent="-285750" eaLnBrk="0">
              <a:lnSpc>
                <a:spcPct val="150000"/>
              </a:lnSpc>
              <a:spcBef>
                <a:spcPts val="5"/>
              </a:spcBef>
            </a:pPr>
            <a:r>
              <a:rPr lang="en-US" b="1" dirty="0">
                <a:solidFill>
                  <a:schemeClr val="tx1">
                    <a:lumMod val="50000"/>
                  </a:schemeClr>
                </a:solidFill>
                <a:latin typeface="Arial" panose="020B0604020202020204" pitchFamily="34" charset="0"/>
                <a:cs typeface="Arial" panose="020B0604020202020204" pitchFamily="34" charset="0"/>
              </a:rPr>
              <a:t>Criticality</a:t>
            </a:r>
            <a:r>
              <a:rPr lang="en-US" dirty="0">
                <a:solidFill>
                  <a:schemeClr val="tx1">
                    <a:lumMod val="50000"/>
                  </a:schemeClr>
                </a:solidFill>
                <a:latin typeface="Arial" panose="020B0604020202020204" pitchFamily="34" charset="0"/>
                <a:cs typeface="Arial" panose="020B0604020202020204" pitchFamily="34" charset="0"/>
              </a:rPr>
              <a:t> (importance of the software)</a:t>
            </a:r>
          </a:p>
          <a:p>
            <a:pPr marL="767080" lvl="1" indent="-285750" eaLnBrk="0">
              <a:lnSpc>
                <a:spcPct val="150000"/>
              </a:lnSpc>
              <a:spcBef>
                <a:spcPts val="5"/>
              </a:spcBef>
            </a:pPr>
            <a:r>
              <a:rPr lang="en-US" b="1" dirty="0">
                <a:solidFill>
                  <a:schemeClr val="tx1">
                    <a:lumMod val="50000"/>
                  </a:schemeClr>
                </a:solidFill>
                <a:latin typeface="Arial" panose="020B0604020202020204" pitchFamily="34" charset="0"/>
                <a:cs typeface="Arial" panose="020B0604020202020204" pitchFamily="34" charset="0"/>
              </a:rPr>
              <a:t>Lifespan</a:t>
            </a:r>
            <a:r>
              <a:rPr lang="en-US" dirty="0">
                <a:solidFill>
                  <a:schemeClr val="tx1">
                    <a:lumMod val="50000"/>
                  </a:schemeClr>
                </a:solidFill>
                <a:latin typeface="Arial" panose="020B0604020202020204" pitchFamily="34" charset="0"/>
                <a:cs typeface="Arial" panose="020B0604020202020204" pitchFamily="34" charset="0"/>
              </a:rPr>
              <a:t> (short-term or long-term)</a:t>
            </a:r>
          </a:p>
          <a:p>
            <a:pPr marL="767080" lvl="1" indent="-285750" eaLnBrk="0">
              <a:lnSpc>
                <a:spcPct val="150000"/>
              </a:lnSpc>
              <a:spcBef>
                <a:spcPts val="5"/>
              </a:spcBef>
            </a:pPr>
            <a:r>
              <a:rPr lang="en-US" b="1" dirty="0">
                <a:solidFill>
                  <a:schemeClr val="tx1">
                    <a:lumMod val="50000"/>
                  </a:schemeClr>
                </a:solidFill>
                <a:latin typeface="Arial" panose="020B0604020202020204" pitchFamily="34" charset="0"/>
                <a:cs typeface="Arial" panose="020B0604020202020204" pitchFamily="34" charset="0"/>
              </a:rPr>
              <a:t>Dynamism</a:t>
            </a:r>
            <a:r>
              <a:rPr lang="en-US" dirty="0">
                <a:solidFill>
                  <a:schemeClr val="tx1">
                    <a:lumMod val="50000"/>
                  </a:schemeClr>
                </a:solidFill>
                <a:latin typeface="Arial" panose="020B0604020202020204" pitchFamily="34" charset="0"/>
                <a:cs typeface="Arial" panose="020B0604020202020204" pitchFamily="34" charset="0"/>
              </a:rPr>
              <a:t> (rate of change)</a:t>
            </a:r>
          </a:p>
          <a:p>
            <a:pPr marL="767080" lvl="1" indent="-285750" eaLnBrk="0">
              <a:lnSpc>
                <a:spcPct val="150000"/>
              </a:lnSpc>
              <a:spcBef>
                <a:spcPts val="5"/>
              </a:spcBef>
            </a:pPr>
            <a:r>
              <a:rPr lang="en-US" i="1"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Properties</a:t>
            </a:r>
            <a:r>
              <a:rPr lang="en-US"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 should be true about any projec</a:t>
            </a:r>
            <a:r>
              <a:rPr lang="en-US" spc="-4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t </a:t>
            </a:r>
          </a:p>
          <a:p>
            <a:pPr marL="767080" lvl="1" indent="-285750" eaLnBrk="0">
              <a:lnSpc>
                <a:spcPct val="150000"/>
              </a:lnSpc>
              <a:spcBef>
                <a:spcPts val="5"/>
              </a:spcBef>
            </a:pPr>
            <a:r>
              <a:rPr lang="en-US" spc="-7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 e.g., Principles in the Agile Manif</a:t>
            </a:r>
            <a:r>
              <a:rPr lang="en-US"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e</a:t>
            </a:r>
            <a:r>
              <a:rPr lang="en-US"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sto</a:t>
            </a:r>
          </a:p>
          <a:p>
            <a:pPr marL="767080" lvl="1" indent="-285750" eaLnBrk="0">
              <a:lnSpc>
                <a:spcPct val="150000"/>
              </a:lnSpc>
              <a:spcBef>
                <a:spcPts val="5"/>
              </a:spcBef>
            </a:pPr>
            <a:endParaRPr lang="en-US" dirty="0">
              <a:solidFill>
                <a:schemeClr val="tx1">
                  <a:lumMod val="50000"/>
                </a:schemeClr>
              </a:solidFill>
              <a:latin typeface="Arial" panose="020B0604020202020204" pitchFamily="34" charset="0"/>
              <a:cs typeface="Arial" panose="020B0604020202020204" pitchFamily="34" charset="0"/>
            </a:endParaRPr>
          </a:p>
          <a:p>
            <a:endParaRPr lang="en-US" dirty="0"/>
          </a:p>
        </p:txBody>
      </p:sp>
      <p:sp>
        <p:nvSpPr>
          <p:cNvPr id="5" name="Slide Number Placeholder 4">
            <a:extLst>
              <a:ext uri="{FF2B5EF4-FFF2-40B4-BE49-F238E27FC236}">
                <a16:creationId xmlns:a16="http://schemas.microsoft.com/office/drawing/2014/main" id="{9C44A172-03A0-EC52-655D-995C976D651A}"/>
              </a:ext>
            </a:extLst>
          </p:cNvPr>
          <p:cNvSpPr>
            <a:spLocks noGrp="1"/>
          </p:cNvSpPr>
          <p:nvPr>
            <p:ph type="sldNum" sz="quarter" idx="12"/>
          </p:nvPr>
        </p:nvSpPr>
        <p:spPr/>
        <p:txBody>
          <a:bodyPr/>
          <a:lstStyle/>
          <a:p>
            <a:fld id="{4267CD5E-26CF-4249-8540-BB1D07FD4227}" type="slidenum">
              <a:rPr lang="en-US" smtClean="0"/>
              <a:t>22</a:t>
            </a:fld>
            <a:endParaRPr lang="en-US"/>
          </a:p>
        </p:txBody>
      </p:sp>
    </p:spTree>
    <p:extLst>
      <p:ext uri="{BB962C8B-B14F-4D97-AF65-F5344CB8AC3E}">
        <p14:creationId xmlns:p14="http://schemas.microsoft.com/office/powerpoint/2010/main" val="663994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4454" y="365127"/>
            <a:ext cx="10709031" cy="734621"/>
          </a:xfrm>
        </p:spPr>
        <p:txBody>
          <a:bodyPr>
            <a:normAutofit fontScale="90000"/>
          </a:bodyPr>
          <a:lstStyle/>
          <a:p>
            <a:r>
              <a:rPr spc="-30" dirty="0">
                <a:solidFill>
                  <a:schemeClr val="tx1">
                    <a:alpha val="100000"/>
                  </a:schemeClr>
                </a:solidFill>
                <a:latin typeface="Arial" panose="020B0604020202090204"/>
                <a:ea typeface="Arial" panose="020B0604020202090204"/>
                <a:cs typeface="Arial" panose="020B0604020202090204"/>
                <a:sym typeface="+mn-ea"/>
              </a:rPr>
              <a:t>Properties across all Cry</a:t>
            </a:r>
            <a:r>
              <a:rPr spc="-20" dirty="0">
                <a:solidFill>
                  <a:schemeClr val="tx1">
                    <a:alpha val="100000"/>
                  </a:schemeClr>
                </a:solidFill>
                <a:latin typeface="Arial" panose="020B0604020202090204"/>
                <a:ea typeface="Arial" panose="020B0604020202090204"/>
                <a:cs typeface="Arial" panose="020B0604020202090204"/>
                <a:sym typeface="+mn-ea"/>
              </a:rPr>
              <a:t>s</a:t>
            </a:r>
            <a:r>
              <a:rPr dirty="0">
                <a:solidFill>
                  <a:schemeClr val="tx1">
                    <a:alpha val="100000"/>
                  </a:schemeClr>
                </a:solidFill>
                <a:latin typeface="Arial" panose="020B0604020202090204"/>
                <a:ea typeface="Arial" panose="020B0604020202090204"/>
                <a:cs typeface="Arial" panose="020B0604020202090204"/>
                <a:sym typeface="+mn-ea"/>
              </a:rPr>
              <a:t>tal</a:t>
            </a:r>
            <a:r>
              <a:rPr spc="-3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Methods</a:t>
            </a:r>
            <a:br>
              <a:rPr lang="en-US" altLang="en-US" dirty="0"/>
            </a:br>
            <a:endParaRPr lang="en-US"/>
          </a:p>
        </p:txBody>
      </p:sp>
      <p:sp>
        <p:nvSpPr>
          <p:cNvPr id="2" name="Content Placeholder 1"/>
          <p:cNvSpPr>
            <a:spLocks noGrp="1"/>
          </p:cNvSpPr>
          <p:nvPr>
            <p:ph idx="1"/>
          </p:nvPr>
        </p:nvSpPr>
        <p:spPr>
          <a:xfrm>
            <a:off x="644525" y="1441450"/>
            <a:ext cx="10709275" cy="4640580"/>
          </a:xfrm>
        </p:spPr>
        <p:txBody>
          <a:bodyPr>
            <a:normAutofit/>
          </a:bodyPr>
          <a:lstStyle/>
          <a:p>
            <a:pPr marL="0" indent="0" algn="l" rtl="0" eaLnBrk="0" fontAlgn="auto">
              <a:lnSpc>
                <a:spcPct val="150000"/>
              </a:lnSpc>
              <a:buNone/>
            </a:pPr>
            <a:r>
              <a:rPr sz="2000" spc="-50" dirty="0">
                <a:solidFill>
                  <a:srgbClr val="000000">
                    <a:alpha val="100000"/>
                  </a:srgbClr>
                </a:solidFill>
                <a:latin typeface="Arial" panose="020B0604020202090204"/>
                <a:ea typeface="Arial" panose="020B0604020202090204"/>
                <a:cs typeface="Arial" panose="020B0604020202090204"/>
                <a:sym typeface="+mn-ea"/>
              </a:rPr>
              <a:t>1 Frequent delivery (Clea</a:t>
            </a:r>
            <a:r>
              <a:rPr sz="2000" spc="-30" dirty="0">
                <a:solidFill>
                  <a:srgbClr val="000000">
                    <a:alpha val="100000"/>
                  </a:srgbClr>
                </a:solidFill>
                <a:latin typeface="Arial" panose="020B0604020202090204"/>
                <a:ea typeface="Arial" panose="020B0604020202090204"/>
                <a:cs typeface="Arial" panose="020B0604020202090204"/>
                <a:sym typeface="+mn-ea"/>
              </a:rPr>
              <a:t>r</a:t>
            </a:r>
            <a:r>
              <a:rPr sz="2000" spc="-50" dirty="0">
                <a:solidFill>
                  <a:srgbClr val="000000">
                    <a:alpha val="100000"/>
                  </a:srgbClr>
                </a:solidFill>
                <a:latin typeface="Arial" panose="020B0604020202090204"/>
                <a:ea typeface="Arial" panose="020B0604020202090204"/>
                <a:cs typeface="Arial" panose="020B0604020202090204"/>
                <a:sym typeface="+mn-ea"/>
              </a:rPr>
              <a:t>)</a:t>
            </a:r>
          </a:p>
          <a:p>
            <a:pPr lvl="1" eaLnBrk="0">
              <a:lnSpc>
                <a:spcPct val="150000"/>
              </a:lnSpc>
            </a:pPr>
            <a:r>
              <a:rPr sz="2000" spc="-70" dirty="0">
                <a:solidFill>
                  <a:srgbClr val="000000">
                    <a:alpha val="100000"/>
                  </a:srgbClr>
                </a:solidFill>
                <a:latin typeface="Arial" panose="020B0604020202090204"/>
                <a:ea typeface="Arial" panose="020B0604020202090204"/>
                <a:cs typeface="Arial" panose="020B0604020202090204"/>
                <a:sym typeface="+mn-ea"/>
              </a:rPr>
              <a:t>Intervals of 2 weeks to 4 mo</a:t>
            </a:r>
            <a:r>
              <a:rPr sz="2000" spc="-60" dirty="0">
                <a:solidFill>
                  <a:srgbClr val="000000">
                    <a:alpha val="100000"/>
                  </a:srgbClr>
                </a:solidFill>
                <a:latin typeface="Arial" panose="020B0604020202090204"/>
                <a:ea typeface="Arial" panose="020B0604020202090204"/>
                <a:cs typeface="Arial" panose="020B0604020202090204"/>
                <a:sym typeface="+mn-ea"/>
              </a:rPr>
              <a:t>n</a:t>
            </a:r>
            <a:r>
              <a:rPr sz="2000" dirty="0">
                <a:solidFill>
                  <a:srgbClr val="000000">
                    <a:alpha val="100000"/>
                  </a:srgbClr>
                </a:solidFill>
                <a:latin typeface="Arial" panose="020B0604020202090204"/>
                <a:ea typeface="Arial" panose="020B0604020202090204"/>
                <a:cs typeface="Arial" panose="020B0604020202090204"/>
                <a:sym typeface="+mn-ea"/>
              </a:rPr>
              <a:t>ths</a:t>
            </a:r>
          </a:p>
          <a:p>
            <a:pPr lvl="1" eaLnBrk="0">
              <a:lnSpc>
                <a:spcPct val="150000"/>
              </a:lnSpc>
            </a:pPr>
            <a:r>
              <a:rPr sz="2000" spc="-80" dirty="0">
                <a:solidFill>
                  <a:srgbClr val="000000">
                    <a:alpha val="100000"/>
                  </a:srgbClr>
                </a:solidFill>
                <a:latin typeface="Arial" panose="020B0604020202090204"/>
                <a:ea typeface="Arial" panose="020B0604020202090204"/>
                <a:cs typeface="Arial" panose="020B0604020202090204"/>
                <a:sym typeface="+mn-ea"/>
              </a:rPr>
              <a:t>Tune Crystal parameters to your project’s </a:t>
            </a:r>
            <a:r>
              <a:rPr sz="2000" spc="-20" dirty="0">
                <a:solidFill>
                  <a:srgbClr val="000000">
                    <a:alpha val="100000"/>
                  </a:srgbClr>
                </a:solidFill>
                <a:latin typeface="Arial" panose="020B0604020202090204"/>
                <a:ea typeface="Arial" panose="020B0604020202090204"/>
                <a:cs typeface="Arial" panose="020B0604020202090204"/>
                <a:sym typeface="+mn-ea"/>
              </a:rPr>
              <a:t>n</a:t>
            </a:r>
            <a:r>
              <a:rPr sz="2000" dirty="0">
                <a:solidFill>
                  <a:srgbClr val="000000">
                    <a:alpha val="100000"/>
                  </a:srgbClr>
                </a:solidFill>
                <a:latin typeface="Arial" panose="020B0604020202090204"/>
                <a:ea typeface="Arial" panose="020B0604020202090204"/>
                <a:cs typeface="Arial" panose="020B0604020202090204"/>
                <a:sym typeface="+mn-ea"/>
              </a:rPr>
              <a:t>eeds</a:t>
            </a:r>
          </a:p>
          <a:p>
            <a:pPr marL="274320" lvl="1" indent="0" eaLnBrk="0">
              <a:lnSpc>
                <a:spcPct val="150000"/>
              </a:lnSpc>
              <a:buNone/>
            </a:pPr>
            <a:endParaRPr lang="en-US" altLang="en-US" sz="2000" dirty="0"/>
          </a:p>
          <a:p>
            <a:pPr marL="0" indent="0" algn="l" rtl="0" eaLnBrk="0" fontAlgn="auto">
              <a:lnSpc>
                <a:spcPct val="150000"/>
              </a:lnSpc>
              <a:buNone/>
            </a:pPr>
            <a:r>
              <a:rPr sz="2000" spc="-60" dirty="0">
                <a:solidFill>
                  <a:srgbClr val="000000">
                    <a:alpha val="100000"/>
                  </a:srgbClr>
                </a:solidFill>
                <a:latin typeface="Arial" panose="020B0604020202090204"/>
                <a:ea typeface="Arial" panose="020B0604020202090204"/>
                <a:cs typeface="Arial" panose="020B0604020202090204"/>
                <a:sym typeface="+mn-ea"/>
              </a:rPr>
              <a:t>2  Reflective improvement (Cle</a:t>
            </a:r>
            <a:r>
              <a:rPr sz="2000" spc="-3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r</a:t>
            </a:r>
            <a:r>
              <a:rPr sz="2000" spc="-60" dirty="0">
                <a:solidFill>
                  <a:srgbClr val="000000">
                    <a:alpha val="100000"/>
                  </a:srgbClr>
                </a:solidFill>
                <a:latin typeface="Arial" panose="020B0604020202090204"/>
                <a:ea typeface="Arial" panose="020B0604020202090204"/>
                <a:cs typeface="Arial" panose="020B0604020202090204"/>
                <a:sym typeface="+mn-ea"/>
              </a:rPr>
              <a:t>)</a:t>
            </a:r>
          </a:p>
          <a:p>
            <a:pPr marL="469900" lvl="1" algn="l" rtl="0" eaLnBrk="0" fontAlgn="auto">
              <a:lnSpc>
                <a:spcPct val="150000"/>
              </a:lnSpc>
            </a:pPr>
            <a:r>
              <a:rPr sz="2000" spc="-80" dirty="0">
                <a:solidFill>
                  <a:srgbClr val="000000">
                    <a:alpha val="100000"/>
                  </a:srgbClr>
                </a:solidFill>
                <a:latin typeface="Arial" panose="020B0604020202090204"/>
                <a:ea typeface="Arial" panose="020B0604020202090204"/>
                <a:cs typeface="Arial" panose="020B0604020202090204"/>
                <a:sym typeface="+mn-ea"/>
              </a:rPr>
              <a:t>“Reflection workshop” every few weeks, </a:t>
            </a:r>
            <a:r>
              <a:rPr lang="en-US" sz="2000" spc="-80" dirty="0">
                <a:solidFill>
                  <a:srgbClr val="000000">
                    <a:alpha val="100000"/>
                  </a:srgbClr>
                </a:solidFill>
                <a:latin typeface="Arial" panose="020B0604020202090204"/>
                <a:ea typeface="Arial" panose="020B0604020202090204"/>
                <a:cs typeface="Arial" panose="020B0604020202090204"/>
                <a:sym typeface="+mn-ea"/>
              </a:rPr>
              <a:t>e.g.,</a:t>
            </a:r>
            <a:r>
              <a:rPr sz="2000" spc="-80" dirty="0">
                <a:solidFill>
                  <a:srgbClr val="000000">
                    <a:alpha val="100000"/>
                  </a:srgbClr>
                </a:solidFill>
                <a:latin typeface="Arial" panose="020B0604020202090204"/>
                <a:ea typeface="Arial" panose="020B0604020202090204"/>
                <a:cs typeface="Arial" panose="020B0604020202090204"/>
                <a:sym typeface="+mn-ea"/>
              </a:rPr>
              <a:t> after every deliv</a:t>
            </a:r>
            <a:r>
              <a:rPr sz="2000" spc="-10" dirty="0">
                <a:solidFill>
                  <a:srgbClr val="000000">
                    <a:alpha val="100000"/>
                  </a:srgbClr>
                </a:solidFill>
                <a:latin typeface="Arial" panose="020B0604020202090204"/>
                <a:ea typeface="Arial" panose="020B0604020202090204"/>
                <a:cs typeface="Arial" panose="020B0604020202090204"/>
                <a:sym typeface="+mn-ea"/>
              </a:rPr>
              <a:t>e</a:t>
            </a:r>
            <a:r>
              <a:rPr sz="2000" dirty="0">
                <a:solidFill>
                  <a:srgbClr val="000000">
                    <a:alpha val="100000"/>
                  </a:srgbClr>
                </a:solidFill>
                <a:latin typeface="Arial" panose="020B0604020202090204"/>
                <a:ea typeface="Arial" panose="020B0604020202090204"/>
                <a:cs typeface="Arial" panose="020B0604020202090204"/>
                <a:sym typeface="+mn-ea"/>
              </a:rPr>
              <a:t>ry </a:t>
            </a:r>
          </a:p>
          <a:p>
            <a:pPr marL="469900" lvl="1" algn="l" rtl="0" eaLnBrk="0" fontAlgn="auto">
              <a:lnSpc>
                <a:spcPct val="150000"/>
              </a:lnSpc>
            </a:pPr>
            <a:r>
              <a:rPr sz="2000" spc="-90" dirty="0">
                <a:solidFill>
                  <a:srgbClr val="000000">
                    <a:alpha val="100000"/>
                  </a:srgbClr>
                </a:solidFill>
                <a:latin typeface="Arial" panose="020B0604020202090204"/>
                <a:ea typeface="Arial" panose="020B0604020202090204"/>
                <a:cs typeface="Arial" panose="020B0604020202090204"/>
                <a:sym typeface="+mn-ea"/>
              </a:rPr>
              <a:t>Review what parts of process worked and what needs to chan</a:t>
            </a:r>
            <a:r>
              <a:rPr sz="2000" spc="-70" dirty="0">
                <a:solidFill>
                  <a:srgbClr val="000000">
                    <a:alpha val="100000"/>
                  </a:srgbClr>
                </a:solidFill>
                <a:latin typeface="Arial" panose="020B0604020202090204"/>
                <a:ea typeface="Arial" panose="020B0604020202090204"/>
                <a:cs typeface="Arial" panose="020B0604020202090204"/>
                <a:sym typeface="+mn-ea"/>
              </a:rPr>
              <a:t>g</a:t>
            </a:r>
            <a:r>
              <a:rPr sz="2000" dirty="0">
                <a:solidFill>
                  <a:srgbClr val="000000">
                    <a:alpha val="100000"/>
                  </a:srgbClr>
                </a:solidFill>
                <a:latin typeface="Arial" panose="020B0604020202090204"/>
                <a:ea typeface="Arial" panose="020B0604020202090204"/>
                <a:cs typeface="Arial" panose="020B0604020202090204"/>
                <a:sym typeface="+mn-ea"/>
              </a:rPr>
              <a:t>e</a:t>
            </a:r>
          </a:p>
          <a:p>
            <a:pPr marL="469900" lvl="1" algn="l" rtl="0" eaLnBrk="0" fontAlgn="auto">
              <a:lnSpc>
                <a:spcPct val="150000"/>
              </a:lnSpc>
            </a:pPr>
            <a:r>
              <a:rPr sz="2000" spc="-70" dirty="0">
                <a:solidFill>
                  <a:srgbClr val="000000">
                    <a:alpha val="100000"/>
                  </a:srgbClr>
                </a:solidFill>
                <a:latin typeface="Arial" panose="020B0604020202090204"/>
                <a:ea typeface="Arial" panose="020B0604020202090204"/>
                <a:cs typeface="Arial" panose="020B0604020202090204"/>
                <a:sym typeface="+mn-ea"/>
              </a:rPr>
              <a:t>Analogous to Sprint Retrospectiv</a:t>
            </a:r>
            <a:r>
              <a:rPr sz="2000" spc="-60" dirty="0">
                <a:solidFill>
                  <a:srgbClr val="000000">
                    <a:alpha val="100000"/>
                  </a:srgbClr>
                </a:solidFill>
                <a:latin typeface="Arial" panose="020B0604020202090204"/>
                <a:ea typeface="Arial" panose="020B0604020202090204"/>
                <a:cs typeface="Arial" panose="020B0604020202090204"/>
                <a:sym typeface="+mn-ea"/>
              </a:rPr>
              <a:t>e</a:t>
            </a:r>
            <a:endParaRPr lang="en-US" altLang="en-US" sz="2000" dirty="0"/>
          </a:p>
          <a:p>
            <a:pPr algn="l" rtl="0" fontAlgn="auto">
              <a:lnSpc>
                <a:spcPct val="150000"/>
              </a:lnSpc>
            </a:pPr>
            <a:endParaRPr 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23</a:t>
            </a:fld>
            <a:endParaRPr lang="en-US"/>
          </a:p>
        </p:txBody>
      </p:sp>
      <p:pic>
        <p:nvPicPr>
          <p:cNvPr id="56" name="picture 56"/>
          <p:cNvPicPr>
            <a:picLocks noChangeAspect="1"/>
          </p:cNvPicPr>
          <p:nvPr/>
        </p:nvPicPr>
        <p:blipFill>
          <a:blip r:embed="rId2"/>
          <a:stretch>
            <a:fillRect/>
          </a:stretch>
        </p:blipFill>
        <p:spPr>
          <a:xfrm rot="21600000">
            <a:off x="8396366" y="1441423"/>
            <a:ext cx="2516921" cy="6432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30" dirty="0">
                <a:solidFill>
                  <a:schemeClr val="tx1">
                    <a:alpha val="100000"/>
                  </a:schemeClr>
                </a:solidFill>
                <a:latin typeface="Arial" panose="020B0604020202090204"/>
                <a:ea typeface="Arial" panose="020B0604020202090204"/>
                <a:cs typeface="Arial" panose="020B0604020202090204"/>
                <a:sym typeface="+mn-ea"/>
              </a:rPr>
              <a:t>Properties across all Cry</a:t>
            </a:r>
            <a:r>
              <a:rPr spc="-20" dirty="0">
                <a:solidFill>
                  <a:schemeClr val="tx1">
                    <a:alpha val="100000"/>
                  </a:schemeClr>
                </a:solidFill>
                <a:latin typeface="Arial" panose="020B0604020202090204"/>
                <a:ea typeface="Arial" panose="020B0604020202090204"/>
                <a:cs typeface="Arial" panose="020B0604020202090204"/>
                <a:sym typeface="+mn-ea"/>
              </a:rPr>
              <a:t>s</a:t>
            </a:r>
            <a:r>
              <a:rPr dirty="0">
                <a:solidFill>
                  <a:schemeClr val="tx1">
                    <a:alpha val="100000"/>
                  </a:schemeClr>
                </a:solidFill>
                <a:latin typeface="Arial" panose="020B0604020202090204"/>
                <a:ea typeface="Arial" panose="020B0604020202090204"/>
                <a:cs typeface="Arial" panose="020B0604020202090204"/>
                <a:sym typeface="+mn-ea"/>
              </a:rPr>
              <a:t>tal</a:t>
            </a:r>
            <a:r>
              <a:rPr spc="-3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Methods</a:t>
            </a:r>
            <a:br>
              <a:rPr lang="en-US" altLang="en-US" dirty="0">
                <a:solidFill>
                  <a:schemeClr val="tx1"/>
                </a:solidFill>
              </a:rPr>
            </a:br>
            <a:endParaRPr lang="en-US" altLang="en-US" dirty="0">
              <a:solidFill>
                <a:schemeClr val="tx1"/>
              </a:solidFill>
            </a:endParaRPr>
          </a:p>
        </p:txBody>
      </p:sp>
      <p:sp>
        <p:nvSpPr>
          <p:cNvPr id="2" name="Content Placeholder 1"/>
          <p:cNvSpPr>
            <a:spLocks noGrp="1"/>
          </p:cNvSpPr>
          <p:nvPr>
            <p:ph idx="1"/>
          </p:nvPr>
        </p:nvSpPr>
        <p:spPr>
          <a:xfrm>
            <a:off x="646430" y="1593850"/>
            <a:ext cx="6699943" cy="3879215"/>
          </a:xfrm>
        </p:spPr>
        <p:txBody>
          <a:bodyPr>
            <a:normAutofit fontScale="92500" lnSpcReduction="10000"/>
          </a:bodyPr>
          <a:lstStyle/>
          <a:p>
            <a:pPr algn="l" rtl="0" eaLnBrk="0">
              <a:lnSpc>
                <a:spcPct val="65000"/>
              </a:lnSpc>
            </a:pPr>
            <a:endParaRPr lang="en-US" altLang="en-US" dirty="0">
              <a:latin typeface="Arial" panose="020B0604020202020204" pitchFamily="34" charset="0"/>
              <a:cs typeface="Arial" panose="020B0604020202020204" pitchFamily="34" charset="0"/>
            </a:endParaRPr>
          </a:p>
          <a:p>
            <a:pPr marL="12700" indent="0" algn="l" rtl="0" eaLnBrk="0">
              <a:lnSpc>
                <a:spcPct val="102000"/>
              </a:lnSpc>
              <a:buNone/>
            </a:pPr>
            <a:r>
              <a:rPr sz="20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3  Osmotic communica</a:t>
            </a:r>
            <a:r>
              <a:rPr sz="2000"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ion </a:t>
            </a:r>
            <a:r>
              <a:rPr sz="2000" spc="-8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(Clea</a:t>
            </a:r>
            <a:r>
              <a:rPr sz="20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a:t>
            </a:r>
            <a:r>
              <a:rPr sz="2000" spc="-8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endParaRPr lang="en-US" sz="2000" spc="-8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12700" indent="0" algn="l" rtl="0" eaLnBrk="0">
              <a:lnSpc>
                <a:spcPct val="102000"/>
              </a:lnSpc>
              <a:buNone/>
            </a:pPr>
            <a:endParaRPr lang="en-US" sz="2000" spc="-8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572770" lvl="1" indent="-285750" eaLnBrk="0">
              <a:lnSpc>
                <a:spcPct val="102000"/>
              </a:lnSpc>
            </a:pPr>
            <a:r>
              <a:rPr spc="-8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See, hear, and absorb information in backgrou</a:t>
            </a:r>
            <a:r>
              <a:rPr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n</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a:t>
            </a:r>
            <a:endPar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572770" lvl="1" indent="-285750" eaLnBrk="0">
              <a:lnSpc>
                <a:spcPct val="102000"/>
              </a:lnSpc>
            </a:pPr>
            <a:r>
              <a:rPr spc="-1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Improves communicati</a:t>
            </a:r>
            <a:r>
              <a:rPr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n </a:t>
            </a:r>
            <a:r>
              <a:rPr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across tea</a:t>
            </a:r>
            <a:r>
              <a:rPr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m</a:t>
            </a:r>
            <a:endParaRPr lang="en-US"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572770" lvl="1" indent="-285750" eaLnBrk="0">
              <a:lnSpc>
                <a:spcPct val="102000"/>
              </a:lnSpc>
            </a:pPr>
            <a:r>
              <a:rPr spc="-9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All team members are awar</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a:t>
            </a:r>
            <a:r>
              <a:rPr spc="-9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of </a:t>
            </a:r>
            <a:r>
              <a:rPr spc="-8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others’ work and can h</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elp </a:t>
            </a:r>
            <a:r>
              <a:rPr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or</a:t>
            </a:r>
            <a:r>
              <a:rPr lang="en-US"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take over if nee</a:t>
            </a:r>
            <a:r>
              <a:rPr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ed</a:t>
            </a:r>
            <a:endPar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572770" lvl="1" indent="-285750" eaLnBrk="0">
              <a:lnSpc>
                <a:spcPct val="102000"/>
              </a:lnSpc>
            </a:pPr>
            <a:r>
              <a:rPr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Goal: communications an</a:t>
            </a:r>
            <a:r>
              <a:rPr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 </a:t>
            </a:r>
            <a:r>
              <a:rPr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communit</a:t>
            </a:r>
            <a:r>
              <a:rPr lang="en-US"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y</a:t>
            </a:r>
          </a:p>
          <a:p>
            <a:pPr marL="572770" lvl="1" indent="-285750" eaLnBrk="0">
              <a:lnSpc>
                <a:spcPct val="102000"/>
              </a:lnSpc>
            </a:pPr>
            <a:r>
              <a:rPr lang="en-US" altLang="en-US" spc="-70" dirty="0">
                <a:solidFill>
                  <a:srgbClr val="000000">
                    <a:alpha val="100000"/>
                  </a:srgbClr>
                </a:solidFill>
                <a:latin typeface="Arial" panose="020B0604020202020204" pitchFamily="34" charset="0"/>
                <a:cs typeface="Arial" panose="020B0604020202020204" pitchFamily="34" charset="0"/>
              </a:rPr>
              <a:t>Osmotic communication is about the </a:t>
            </a:r>
            <a:r>
              <a:rPr lang="en-US" altLang="en-US" b="1" spc="-70" dirty="0">
                <a:solidFill>
                  <a:srgbClr val="000000">
                    <a:alpha val="100000"/>
                  </a:srgbClr>
                </a:solidFill>
                <a:latin typeface="Arial" panose="020B0604020202020204" pitchFamily="34" charset="0"/>
                <a:cs typeface="Arial" panose="020B0604020202020204" pitchFamily="34" charset="0"/>
              </a:rPr>
              <a:t>informal, indirect, and often effortless flow of information or influence </a:t>
            </a:r>
            <a:r>
              <a:rPr lang="en-US" altLang="en-US" spc="-70" dirty="0">
                <a:solidFill>
                  <a:srgbClr val="000000">
                    <a:alpha val="100000"/>
                  </a:srgbClr>
                </a:solidFill>
                <a:latin typeface="Arial" panose="020B0604020202020204" pitchFamily="34" charset="0"/>
                <a:cs typeface="Arial" panose="020B0604020202020204" pitchFamily="34" charset="0"/>
              </a:rPr>
              <a:t>between people, environments, or systems. </a:t>
            </a:r>
          </a:p>
          <a:p>
            <a:pPr marL="572770" lvl="1" indent="-285750" eaLnBrk="0">
              <a:lnSpc>
                <a:spcPct val="102000"/>
              </a:lnSpc>
            </a:pPr>
            <a:r>
              <a:rPr lang="en-US" altLang="en-US" spc="-70" dirty="0">
                <a:solidFill>
                  <a:srgbClr val="000000">
                    <a:alpha val="100000"/>
                  </a:srgbClr>
                </a:solidFill>
                <a:latin typeface="Arial" panose="020B0604020202020204" pitchFamily="34" charset="0"/>
                <a:cs typeface="Arial" panose="020B0604020202020204" pitchFamily="34" charset="0"/>
              </a:rPr>
              <a:t>It's not forceful or intentional but occurs organically, almost as if by diffusion.</a:t>
            </a:r>
          </a:p>
          <a:p>
            <a:pPr marL="0" indent="0">
              <a:buNone/>
            </a:pPr>
            <a:endParaRPr lang="en-US"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24</a:t>
            </a:fld>
            <a:endParaRPr lang="en-US"/>
          </a:p>
        </p:txBody>
      </p:sp>
      <p:pic>
        <p:nvPicPr>
          <p:cNvPr id="59" name="picture 59"/>
          <p:cNvPicPr>
            <a:picLocks noChangeAspect="1"/>
          </p:cNvPicPr>
          <p:nvPr/>
        </p:nvPicPr>
        <p:blipFill>
          <a:blip r:embed="rId2"/>
          <a:stretch>
            <a:fillRect/>
          </a:stretch>
        </p:blipFill>
        <p:spPr>
          <a:xfrm rot="21600000">
            <a:off x="7428943" y="2414163"/>
            <a:ext cx="3937361" cy="2849987"/>
          </a:xfrm>
          <a:prstGeom prst="rect">
            <a:avLst/>
          </a:prstGeom>
        </p:spPr>
      </p:pic>
      <p:pic>
        <p:nvPicPr>
          <p:cNvPr id="58" name="picture 58"/>
          <p:cNvPicPr>
            <a:picLocks noChangeAspect="1"/>
          </p:cNvPicPr>
          <p:nvPr/>
        </p:nvPicPr>
        <p:blipFill>
          <a:blip r:embed="rId3"/>
          <a:stretch>
            <a:fillRect/>
          </a:stretch>
        </p:blipFill>
        <p:spPr>
          <a:xfrm rot="21600000">
            <a:off x="7926466" y="1099703"/>
            <a:ext cx="2516921" cy="64325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30" dirty="0">
                <a:solidFill>
                  <a:schemeClr val="tx1">
                    <a:alpha val="100000"/>
                  </a:schemeClr>
                </a:solidFill>
                <a:latin typeface="Arial" panose="020B0604020202090204"/>
                <a:ea typeface="Arial" panose="020B0604020202090204"/>
                <a:cs typeface="Arial" panose="020B0604020202090204"/>
                <a:sym typeface="+mn-ea"/>
              </a:rPr>
              <a:t>Properties across all Cry</a:t>
            </a:r>
            <a:r>
              <a:rPr spc="-20" dirty="0">
                <a:solidFill>
                  <a:schemeClr val="tx1">
                    <a:alpha val="100000"/>
                  </a:schemeClr>
                </a:solidFill>
                <a:latin typeface="Arial" panose="020B0604020202090204"/>
                <a:ea typeface="Arial" panose="020B0604020202090204"/>
                <a:cs typeface="Arial" panose="020B0604020202090204"/>
                <a:sym typeface="+mn-ea"/>
              </a:rPr>
              <a:t>s</a:t>
            </a:r>
            <a:r>
              <a:rPr dirty="0">
                <a:solidFill>
                  <a:schemeClr val="tx1">
                    <a:alpha val="100000"/>
                  </a:schemeClr>
                </a:solidFill>
                <a:latin typeface="Arial" panose="020B0604020202090204"/>
                <a:ea typeface="Arial" panose="020B0604020202090204"/>
                <a:cs typeface="Arial" panose="020B0604020202090204"/>
                <a:sym typeface="+mn-ea"/>
              </a:rPr>
              <a:t>tal</a:t>
            </a:r>
            <a:r>
              <a:rPr spc="-3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Methods</a:t>
            </a:r>
            <a:br>
              <a:rPr lang="en-US" altLang="en-US" dirty="0">
                <a:solidFill>
                  <a:schemeClr val="tx1"/>
                </a:solidFill>
              </a:rPr>
            </a:br>
            <a:endParaRPr lang="en-US" altLang="en-US" dirty="0">
              <a:solidFill>
                <a:schemeClr val="tx1"/>
              </a:solidFill>
            </a:endParaRPr>
          </a:p>
        </p:txBody>
      </p:sp>
      <p:sp>
        <p:nvSpPr>
          <p:cNvPr id="2" name="Content Placeholder 1"/>
          <p:cNvSpPr>
            <a:spLocks noGrp="1"/>
          </p:cNvSpPr>
          <p:nvPr>
            <p:ph idx="1"/>
          </p:nvPr>
        </p:nvSpPr>
        <p:spPr>
          <a:xfrm>
            <a:off x="644525" y="1022350"/>
            <a:ext cx="8220710" cy="5059680"/>
          </a:xfrm>
        </p:spPr>
        <p:txBody>
          <a:bodyPr>
            <a:normAutofit/>
          </a:bodyPr>
          <a:lstStyle/>
          <a:p>
            <a:pPr marL="0" indent="0">
              <a:buNone/>
            </a:pPr>
            <a:endParaRPr lang="en-US" dirty="0"/>
          </a:p>
          <a:p>
            <a:pPr marL="0" indent="0" algn="l" rtl="0" eaLnBrk="0">
              <a:lnSpc>
                <a:spcPct val="111000"/>
              </a:lnSpc>
              <a:buNone/>
            </a:pPr>
            <a:r>
              <a:rPr sz="2000" spc="-60" dirty="0">
                <a:solidFill>
                  <a:srgbClr val="000000">
                    <a:alpha val="100000"/>
                  </a:srgbClr>
                </a:solidFill>
                <a:latin typeface="Arial" panose="020B0604020202090204"/>
                <a:ea typeface="Arial" panose="020B0604020202090204"/>
                <a:cs typeface="Arial" panose="020B0604020202090204"/>
                <a:sym typeface="+mn-ea"/>
              </a:rPr>
              <a:t>4   Person</a:t>
            </a:r>
            <a:r>
              <a:rPr sz="2000" spc="-3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l </a:t>
            </a:r>
            <a:r>
              <a:rPr lang="en-US" sz="2000" dirty="0">
                <a:solidFill>
                  <a:srgbClr val="000000">
                    <a:alpha val="100000"/>
                  </a:srgbClr>
                </a:solidFill>
                <a:latin typeface="Arial" panose="020B0604020202090204"/>
                <a:ea typeface="Arial" panose="020B0604020202090204"/>
                <a:cs typeface="Arial" panose="020B0604020202090204"/>
                <a:sym typeface="+mn-ea"/>
              </a:rPr>
              <a:t>safety</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a:lnSpc>
                <a:spcPct val="83000"/>
              </a:lnSpc>
              <a:buNone/>
            </a:pPr>
            <a:endParaRPr lang="en-US"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ct val="83000"/>
              </a:lnSpc>
            </a:pPr>
            <a:r>
              <a:rPr spc="-50" dirty="0">
                <a:solidFill>
                  <a:srgbClr val="000000">
                    <a:alpha val="100000"/>
                  </a:srgbClr>
                </a:solidFill>
                <a:latin typeface="Arial" panose="020B0604020202090204"/>
                <a:ea typeface="Arial" panose="020B0604020202090204"/>
                <a:cs typeface="Arial" panose="020B0604020202090204"/>
                <a:sym typeface="+mn-ea"/>
              </a:rPr>
              <a:t>Everyone should be comfortable sharing ideas with eve</a:t>
            </a:r>
            <a:r>
              <a:rPr dirty="0">
                <a:solidFill>
                  <a:srgbClr val="000000">
                    <a:alpha val="100000"/>
                  </a:srgbClr>
                </a:solidFill>
                <a:latin typeface="Arial" panose="020B0604020202090204"/>
                <a:ea typeface="Arial" panose="020B0604020202090204"/>
                <a:cs typeface="Arial" panose="020B0604020202090204"/>
                <a:sym typeface="+mn-ea"/>
              </a:rPr>
              <a:t>ryone </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ct val="83000"/>
              </a:lnSpc>
            </a:pPr>
            <a:r>
              <a:rPr spc="-60" dirty="0">
                <a:solidFill>
                  <a:srgbClr val="000000">
                    <a:alpha val="100000"/>
                  </a:srgbClr>
                </a:solidFill>
                <a:latin typeface="Arial" panose="020B0604020202090204"/>
                <a:ea typeface="Arial" panose="020B0604020202090204"/>
                <a:cs typeface="Arial" panose="020B0604020202090204"/>
                <a:sym typeface="+mn-ea"/>
              </a:rPr>
              <a:t>Mutual trust across the team, including the “b</a:t>
            </a:r>
            <a:r>
              <a:rPr spc="-50" dirty="0">
                <a:solidFill>
                  <a:srgbClr val="000000">
                    <a:alpha val="100000"/>
                  </a:srgbClr>
                </a:solidFill>
                <a:latin typeface="Arial" panose="020B0604020202090204"/>
                <a:ea typeface="Arial" panose="020B0604020202090204"/>
                <a:cs typeface="Arial" panose="020B0604020202090204"/>
                <a:sym typeface="+mn-ea"/>
              </a:rPr>
              <a:t>o</a:t>
            </a:r>
            <a:r>
              <a:rPr dirty="0">
                <a:solidFill>
                  <a:srgbClr val="000000">
                    <a:alpha val="100000"/>
                  </a:srgbClr>
                </a:solidFill>
                <a:latin typeface="Arial" panose="020B0604020202090204"/>
                <a:ea typeface="Arial" panose="020B0604020202090204"/>
                <a:cs typeface="Arial" panose="020B0604020202090204"/>
                <a:sym typeface="+mn-ea"/>
              </a:rPr>
              <a:t>ss</a:t>
            </a:r>
            <a:r>
              <a:rPr spc="-60" dirty="0">
                <a:solidFill>
                  <a:srgbClr val="000000">
                    <a:alpha val="100000"/>
                  </a:srgbClr>
                </a:solidFill>
                <a:latin typeface="Arial" panose="020B0604020202090204"/>
                <a:ea typeface="Arial" panose="020B0604020202090204"/>
                <a:cs typeface="Arial" panose="020B0604020202090204"/>
                <a:sym typeface="+mn-ea"/>
              </a:rPr>
              <a:t>”</a:t>
            </a:r>
          </a:p>
          <a:p>
            <a:pPr lvl="1" eaLnBrk="0">
              <a:lnSpc>
                <a:spcPct val="83000"/>
              </a:lnSpc>
            </a:pPr>
            <a:r>
              <a:rPr spc="-70" dirty="0">
                <a:solidFill>
                  <a:srgbClr val="000000">
                    <a:alpha val="100000"/>
                  </a:srgbClr>
                </a:solidFill>
                <a:latin typeface="Arial" panose="020B0604020202090204"/>
                <a:ea typeface="Arial" panose="020B0604020202090204"/>
                <a:cs typeface="Arial" panose="020B0604020202090204"/>
                <a:sym typeface="+mn-ea"/>
              </a:rPr>
              <a:t>Speak up without fear of ridi</a:t>
            </a:r>
            <a:r>
              <a:rPr spc="-40" dirty="0">
                <a:solidFill>
                  <a:srgbClr val="000000">
                    <a:alpha val="100000"/>
                  </a:srgbClr>
                </a:solidFill>
                <a:latin typeface="Arial" panose="020B0604020202090204"/>
                <a:ea typeface="Arial" panose="020B0604020202090204"/>
                <a:cs typeface="Arial" panose="020B0604020202090204"/>
                <a:sym typeface="+mn-ea"/>
              </a:rPr>
              <a:t>c</a:t>
            </a:r>
            <a:r>
              <a:rPr dirty="0">
                <a:solidFill>
                  <a:srgbClr val="000000">
                    <a:alpha val="100000"/>
                  </a:srgbClr>
                </a:solidFill>
                <a:latin typeface="Arial" panose="020B0604020202090204"/>
                <a:ea typeface="Arial" panose="020B0604020202090204"/>
                <a:cs typeface="Arial" panose="020B0604020202090204"/>
                <a:sym typeface="+mn-ea"/>
              </a:rPr>
              <a:t>ule</a:t>
            </a:r>
            <a:endParaRPr lang="en-US" altLang="en-US" dirty="0"/>
          </a:p>
          <a:p>
            <a:pPr marL="0" indent="0" algn="l" rtl="0" eaLnBrk="0">
              <a:lnSpc>
                <a:spcPct val="102000"/>
              </a:lnSpc>
              <a:buNone/>
            </a:pPr>
            <a:endParaRPr lang="en-US" altLang="en-US" dirty="0"/>
          </a:p>
          <a:p>
            <a:pPr marL="0" indent="0" algn="l" rtl="0" eaLnBrk="0">
              <a:lnSpc>
                <a:spcPct val="82000"/>
              </a:lnSpc>
              <a:spcBef>
                <a:spcPts val="850"/>
              </a:spcBef>
              <a:buNone/>
            </a:pPr>
            <a:r>
              <a:rPr sz="2000" spc="-70" dirty="0">
                <a:solidFill>
                  <a:srgbClr val="000000">
                    <a:alpha val="100000"/>
                  </a:srgbClr>
                </a:solidFill>
                <a:latin typeface="Arial" panose="020B0604020202090204"/>
                <a:ea typeface="Arial" panose="020B0604020202090204"/>
                <a:cs typeface="Arial" panose="020B0604020202090204"/>
                <a:sym typeface="+mn-ea"/>
              </a:rPr>
              <a:t>5   Foc</a:t>
            </a:r>
            <a:r>
              <a:rPr sz="2000" spc="-50" dirty="0">
                <a:solidFill>
                  <a:srgbClr val="000000">
                    <a:alpha val="100000"/>
                  </a:srgbClr>
                </a:solidFill>
                <a:latin typeface="Arial" panose="020B0604020202090204"/>
                <a:ea typeface="Arial" panose="020B0604020202090204"/>
                <a:cs typeface="Arial" panose="020B0604020202090204"/>
                <a:sym typeface="+mn-ea"/>
              </a:rPr>
              <a:t>u</a:t>
            </a:r>
            <a:r>
              <a:rPr sz="2000" dirty="0">
                <a:solidFill>
                  <a:srgbClr val="000000">
                    <a:alpha val="100000"/>
                  </a:srgbClr>
                </a:solidFill>
                <a:latin typeface="Arial" panose="020B0604020202090204"/>
                <a:ea typeface="Arial" panose="020B0604020202090204"/>
                <a:cs typeface="Arial" panose="020B0604020202090204"/>
                <a:sym typeface="+mn-ea"/>
              </a:rPr>
              <a:t>s</a:t>
            </a:r>
            <a:endParaRPr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a:lnSpc>
                <a:spcPct val="82000"/>
              </a:lnSpc>
              <a:spcBef>
                <a:spcPts val="850"/>
              </a:spcBef>
            </a:pPr>
            <a:endParaRPr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a:lnSpc>
                <a:spcPct val="82000"/>
              </a:lnSpc>
              <a:spcBef>
                <a:spcPts val="850"/>
              </a:spcBef>
            </a:pPr>
            <a:r>
              <a:rPr spc="-90" dirty="0">
                <a:solidFill>
                  <a:srgbClr val="000000">
                    <a:alpha val="100000"/>
                  </a:srgbClr>
                </a:solidFill>
                <a:latin typeface="Arial" panose="020B0604020202090204"/>
                <a:ea typeface="Arial" panose="020B0604020202090204"/>
                <a:cs typeface="Arial" panose="020B0604020202090204"/>
                <a:sym typeface="+mn-ea"/>
              </a:rPr>
              <a:t>Minimize interruptions from calls, email, meeti</a:t>
            </a:r>
            <a:r>
              <a:rPr spc="-30" dirty="0">
                <a:solidFill>
                  <a:srgbClr val="000000">
                    <a:alpha val="100000"/>
                  </a:srgbClr>
                </a:solidFill>
                <a:latin typeface="Arial" panose="020B0604020202090204"/>
                <a:ea typeface="Arial" panose="020B0604020202090204"/>
                <a:cs typeface="Arial" panose="020B0604020202090204"/>
                <a:sym typeface="+mn-ea"/>
              </a:rPr>
              <a:t>n</a:t>
            </a:r>
            <a:r>
              <a:rPr dirty="0">
                <a:solidFill>
                  <a:srgbClr val="000000">
                    <a:alpha val="100000"/>
                  </a:srgbClr>
                </a:solidFill>
                <a:latin typeface="Arial" panose="020B0604020202090204"/>
                <a:ea typeface="Arial" panose="020B0604020202090204"/>
                <a:cs typeface="Arial" panose="020B0604020202090204"/>
                <a:sym typeface="+mn-ea"/>
              </a:rPr>
              <a:t>gs </a:t>
            </a:r>
            <a:r>
              <a:rPr lang="en-US" dirty="0">
                <a:solidFill>
                  <a:srgbClr val="000000">
                    <a:alpha val="100000"/>
                  </a:srgbClr>
                </a:solidFill>
                <a:latin typeface="Arial" panose="020B0604020202090204"/>
                <a:ea typeface="Arial" panose="020B0604020202090204"/>
                <a:cs typeface="Arial" panose="020B0604020202090204"/>
                <a:sym typeface="+mn-ea"/>
              </a:rPr>
              <a:t>(</a:t>
            </a:r>
            <a:r>
              <a:rPr spc="-50" dirty="0">
                <a:solidFill>
                  <a:srgbClr val="000000">
                    <a:alpha val="100000"/>
                  </a:srgbClr>
                </a:solidFill>
                <a:latin typeface="Arial" panose="020B0604020202090204"/>
                <a:ea typeface="Arial" panose="020B0604020202090204"/>
                <a:cs typeface="Arial" panose="020B0604020202090204"/>
                <a:sym typeface="+mn-ea"/>
              </a:rPr>
              <a:t>At least two hours per day of uninterrup</a:t>
            </a:r>
            <a:r>
              <a:rPr dirty="0">
                <a:solidFill>
                  <a:srgbClr val="000000">
                    <a:alpha val="100000"/>
                  </a:srgbClr>
                </a:solidFill>
                <a:latin typeface="Arial" panose="020B0604020202090204"/>
                <a:ea typeface="Arial" panose="020B0604020202090204"/>
                <a:cs typeface="Arial" panose="020B0604020202090204"/>
                <a:sym typeface="+mn-ea"/>
              </a:rPr>
              <a:t>ted</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time</a:t>
            </a:r>
            <a:r>
              <a:rPr lang="en-US" dirty="0">
                <a:solidFill>
                  <a:srgbClr val="000000">
                    <a:alpha val="100000"/>
                  </a:srgbClr>
                </a:solidFill>
                <a:latin typeface="Arial" panose="020B0604020202090204"/>
                <a:ea typeface="Arial" panose="020B0604020202090204"/>
                <a:cs typeface="Arial" panose="020B0604020202090204"/>
                <a:sym typeface="+mn-ea"/>
              </a:rPr>
              <a:t>)</a:t>
            </a:r>
            <a:endParaRPr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a:lnSpc>
                <a:spcPct val="82000"/>
              </a:lnSpc>
              <a:spcBef>
                <a:spcPts val="850"/>
              </a:spcBef>
            </a:pPr>
            <a:r>
              <a:rPr spc="-40" dirty="0">
                <a:solidFill>
                  <a:srgbClr val="000000">
                    <a:alpha val="100000"/>
                  </a:srgbClr>
                </a:solidFill>
                <a:latin typeface="Arial" panose="020B0604020202090204"/>
                <a:ea typeface="Arial" panose="020B0604020202090204"/>
                <a:cs typeface="Arial" panose="020B0604020202090204"/>
                <a:sym typeface="+mn-ea"/>
              </a:rPr>
              <a:t>Clear direction and priorities for t</a:t>
            </a:r>
            <a:r>
              <a:rPr spc="-20" dirty="0">
                <a:solidFill>
                  <a:srgbClr val="000000">
                    <a:alpha val="100000"/>
                  </a:srgbClr>
                </a:solidFill>
                <a:latin typeface="Arial" panose="020B0604020202090204"/>
                <a:ea typeface="Arial" panose="020B0604020202090204"/>
                <a:cs typeface="Arial" panose="020B0604020202090204"/>
                <a:sym typeface="+mn-ea"/>
              </a:rPr>
              <a:t>h</a:t>
            </a:r>
            <a:r>
              <a:rPr dirty="0">
                <a:solidFill>
                  <a:srgbClr val="000000">
                    <a:alpha val="100000"/>
                  </a:srgbClr>
                </a:solidFill>
                <a:latin typeface="Arial" panose="020B0604020202090204"/>
                <a:ea typeface="Arial" panose="020B0604020202090204"/>
                <a:cs typeface="Arial" panose="020B0604020202090204"/>
                <a:sym typeface="+mn-ea"/>
              </a:rPr>
              <a:t>e</a:t>
            </a:r>
            <a:r>
              <a:rPr spc="-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project </a:t>
            </a:r>
            <a:r>
              <a:rPr lang="en-US" dirty="0">
                <a:solidFill>
                  <a:srgbClr val="000000">
                    <a:alpha val="100000"/>
                  </a:srgbClr>
                </a:solidFill>
                <a:latin typeface="Arial" panose="020B0604020202090204"/>
                <a:ea typeface="Arial" panose="020B0604020202090204"/>
                <a:cs typeface="Arial" panose="020B0604020202090204"/>
                <a:sym typeface="+mn-ea"/>
              </a:rPr>
              <a:t>(</a:t>
            </a:r>
            <a:r>
              <a:rPr spc="-60" dirty="0">
                <a:solidFill>
                  <a:srgbClr val="000000">
                    <a:alpha val="100000"/>
                  </a:srgbClr>
                </a:solidFill>
                <a:latin typeface="Arial" panose="020B0604020202090204"/>
                <a:ea typeface="Arial" panose="020B0604020202090204"/>
                <a:cs typeface="Arial" panose="020B0604020202090204"/>
                <a:sym typeface="+mn-ea"/>
              </a:rPr>
              <a:t>Everyone knows what to wor</a:t>
            </a:r>
            <a:r>
              <a:rPr spc="-40" dirty="0">
                <a:solidFill>
                  <a:srgbClr val="000000">
                    <a:alpha val="100000"/>
                  </a:srgbClr>
                </a:solidFill>
                <a:latin typeface="Arial" panose="020B0604020202090204"/>
                <a:ea typeface="Arial" panose="020B0604020202090204"/>
                <a:cs typeface="Arial" panose="020B0604020202090204"/>
                <a:sym typeface="+mn-ea"/>
              </a:rPr>
              <a:t>k</a:t>
            </a:r>
            <a:r>
              <a:rPr spc="-6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on</a:t>
            </a:r>
            <a:r>
              <a:rPr lang="en-US" dirty="0">
                <a:solidFill>
                  <a:srgbClr val="000000">
                    <a:alpha val="100000"/>
                  </a:srgbClr>
                </a:solidFill>
                <a:latin typeface="Arial" panose="020B0604020202090204"/>
                <a:ea typeface="Arial" panose="020B0604020202090204"/>
                <a:cs typeface="Arial" panose="020B0604020202090204"/>
                <a:sym typeface="+mn-ea"/>
              </a:rPr>
              <a:t>)</a:t>
            </a:r>
            <a:endParaRPr spc="-50"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a:lnSpc>
                <a:spcPct val="82000"/>
              </a:lnSpc>
              <a:spcBef>
                <a:spcPts val="850"/>
              </a:spcBef>
            </a:pPr>
            <a:r>
              <a:rPr spc="-50" dirty="0">
                <a:solidFill>
                  <a:srgbClr val="000000">
                    <a:alpha val="100000"/>
                  </a:srgbClr>
                </a:solidFill>
                <a:latin typeface="Arial" panose="020B0604020202090204"/>
                <a:ea typeface="Arial" panose="020B0604020202090204"/>
                <a:cs typeface="Arial" panose="020B0604020202090204"/>
                <a:sym typeface="+mn-ea"/>
              </a:rPr>
              <a:t>People have time and peace of mi</a:t>
            </a:r>
            <a:r>
              <a:rPr spc="-20" dirty="0">
                <a:solidFill>
                  <a:srgbClr val="000000">
                    <a:alpha val="100000"/>
                  </a:srgbClr>
                </a:solidFill>
                <a:latin typeface="Arial" panose="020B0604020202090204"/>
                <a:ea typeface="Arial" panose="020B0604020202090204"/>
                <a:cs typeface="Arial" panose="020B0604020202090204"/>
                <a:sym typeface="+mn-ea"/>
              </a:rPr>
              <a:t>n</a:t>
            </a:r>
            <a:r>
              <a:rPr dirty="0">
                <a:solidFill>
                  <a:srgbClr val="000000">
                    <a:alpha val="100000"/>
                  </a:srgbClr>
                </a:solidFill>
                <a:latin typeface="Arial" panose="020B0604020202090204"/>
                <a:ea typeface="Arial" panose="020B0604020202090204"/>
                <a:cs typeface="Arial" panose="020B0604020202090204"/>
                <a:sym typeface="+mn-ea"/>
              </a:rPr>
              <a:t>d</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to</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work</a:t>
            </a: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25</a:t>
            </a:fld>
            <a:endParaRPr lang="en-US"/>
          </a:p>
        </p:txBody>
      </p:sp>
      <p:pic>
        <p:nvPicPr>
          <p:cNvPr id="69" name="picture 69"/>
          <p:cNvPicPr>
            <a:picLocks noChangeAspect="1"/>
          </p:cNvPicPr>
          <p:nvPr/>
        </p:nvPicPr>
        <p:blipFill>
          <a:blip r:embed="rId2"/>
          <a:stretch>
            <a:fillRect/>
          </a:stretch>
        </p:blipFill>
        <p:spPr>
          <a:xfrm rot="21600000">
            <a:off x="8942466" y="1329663"/>
            <a:ext cx="2516921" cy="64325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B226C-9EB4-F654-4125-FF3FFEC0225B}"/>
              </a:ext>
            </a:extLst>
          </p:cNvPr>
          <p:cNvSpPr>
            <a:spLocks noGrp="1"/>
          </p:cNvSpPr>
          <p:nvPr>
            <p:ph type="title"/>
          </p:nvPr>
        </p:nvSpPr>
        <p:spPr/>
        <p:txBody>
          <a:bodyPr>
            <a:normAutofit fontScale="90000"/>
          </a:bodyPr>
          <a:lstStyle/>
          <a:p>
            <a:r>
              <a:rPr lang="en-US" spc="-30" dirty="0">
                <a:solidFill>
                  <a:schemeClr val="tx1">
                    <a:alpha val="100000"/>
                  </a:schemeClr>
                </a:solidFill>
                <a:latin typeface="Arial" panose="020B0604020202090204"/>
                <a:ea typeface="Arial" panose="020B0604020202090204"/>
                <a:cs typeface="Arial" panose="020B0604020202090204"/>
                <a:sym typeface="+mn-ea"/>
              </a:rPr>
              <a:t>Properties across all Cry</a:t>
            </a:r>
            <a:r>
              <a:rPr lang="en-US" spc="-20" dirty="0">
                <a:solidFill>
                  <a:schemeClr val="tx1">
                    <a:alpha val="100000"/>
                  </a:schemeClr>
                </a:solidFill>
                <a:latin typeface="Arial" panose="020B0604020202090204"/>
                <a:ea typeface="Arial" panose="020B0604020202090204"/>
                <a:cs typeface="Arial" panose="020B0604020202090204"/>
                <a:sym typeface="+mn-ea"/>
              </a:rPr>
              <a:t>s</a:t>
            </a:r>
            <a:r>
              <a:rPr lang="en-US" dirty="0">
                <a:solidFill>
                  <a:schemeClr val="tx1">
                    <a:alpha val="100000"/>
                  </a:schemeClr>
                </a:solidFill>
                <a:latin typeface="Arial" panose="020B0604020202090204"/>
                <a:ea typeface="Arial" panose="020B0604020202090204"/>
                <a:cs typeface="Arial" panose="020B0604020202090204"/>
                <a:sym typeface="+mn-ea"/>
              </a:rPr>
              <a:t>tal</a:t>
            </a:r>
            <a:r>
              <a:rPr lang="en-US" spc="-30" dirty="0">
                <a:solidFill>
                  <a:schemeClr val="tx1">
                    <a:alpha val="100000"/>
                  </a:schemeClr>
                </a:solidFill>
                <a:latin typeface="Arial" panose="020B0604020202090204"/>
                <a:ea typeface="Arial" panose="020B0604020202090204"/>
                <a:cs typeface="Arial" panose="020B0604020202090204"/>
                <a:sym typeface="+mn-ea"/>
              </a:rPr>
              <a:t> </a:t>
            </a:r>
            <a:r>
              <a:rPr lang="en-US" dirty="0">
                <a:solidFill>
                  <a:schemeClr val="tx1">
                    <a:alpha val="100000"/>
                  </a:schemeClr>
                </a:solidFill>
                <a:latin typeface="Arial" panose="020B0604020202090204"/>
                <a:ea typeface="Arial" panose="020B0604020202090204"/>
                <a:cs typeface="Arial" panose="020B0604020202090204"/>
                <a:sym typeface="+mn-ea"/>
              </a:rPr>
              <a:t>Methods</a:t>
            </a:r>
            <a:br>
              <a:rPr lang="en-US" altLang="en-US" dirty="0">
                <a:sym typeface="+mn-ea"/>
              </a:rPr>
            </a:br>
            <a:endParaRPr lang="en-US" dirty="0"/>
          </a:p>
        </p:txBody>
      </p:sp>
      <p:sp>
        <p:nvSpPr>
          <p:cNvPr id="4" name="Content Placeholder 3">
            <a:extLst>
              <a:ext uri="{FF2B5EF4-FFF2-40B4-BE49-F238E27FC236}">
                <a16:creationId xmlns:a16="http://schemas.microsoft.com/office/drawing/2014/main" id="{AFC2B43D-F21B-8E6F-6B93-F57E945F4CEE}"/>
              </a:ext>
            </a:extLst>
          </p:cNvPr>
          <p:cNvSpPr>
            <a:spLocks noGrp="1"/>
          </p:cNvSpPr>
          <p:nvPr>
            <p:ph idx="1"/>
          </p:nvPr>
        </p:nvSpPr>
        <p:spPr>
          <a:xfrm>
            <a:off x="644771" y="1330860"/>
            <a:ext cx="10709031" cy="4751288"/>
          </a:xfrm>
        </p:spPr>
        <p:txBody>
          <a:bodyPr/>
          <a:lstStyle/>
          <a:p>
            <a:pPr marL="0" indent="0">
              <a:buNone/>
            </a:pPr>
            <a:r>
              <a:rPr lang="en-US" sz="2000" spc="-7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6  Collaboration across organizational bound</a:t>
            </a:r>
            <a:r>
              <a:rPr lang="en-US" sz="2000"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a</a:t>
            </a:r>
            <a:r>
              <a:rPr lang="en-US" sz="200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ries</a:t>
            </a:r>
          </a:p>
          <a:p>
            <a:pPr lvl="1"/>
            <a:r>
              <a:rPr lang="en-US" b="1" dirty="0">
                <a:solidFill>
                  <a:schemeClr val="tx1">
                    <a:lumMod val="50000"/>
                  </a:schemeClr>
                </a:solidFill>
                <a:latin typeface="Arial" panose="020B0604020202020204" pitchFamily="34" charset="0"/>
                <a:cs typeface="Arial" panose="020B0604020202020204" pitchFamily="34" charset="0"/>
              </a:rPr>
              <a:t>Breaks down silos</a:t>
            </a:r>
            <a:r>
              <a:rPr lang="en-US" dirty="0">
                <a:solidFill>
                  <a:schemeClr val="tx1">
                    <a:lumMod val="50000"/>
                  </a:schemeClr>
                </a:solidFill>
                <a:latin typeface="Arial" panose="020B0604020202020204" pitchFamily="34" charset="0"/>
                <a:cs typeface="Arial" panose="020B0604020202020204" pitchFamily="34" charset="0"/>
              </a:rPr>
              <a:t> by encouraging teamwork across departments.</a:t>
            </a:r>
          </a:p>
          <a:p>
            <a:pPr lvl="1"/>
            <a:r>
              <a:rPr lang="en-US" b="1" dirty="0">
                <a:solidFill>
                  <a:schemeClr val="tx1">
                    <a:lumMod val="50000"/>
                  </a:schemeClr>
                </a:solidFill>
                <a:latin typeface="Arial" panose="020B0604020202020204" pitchFamily="34" charset="0"/>
                <a:cs typeface="Arial" panose="020B0604020202020204" pitchFamily="34" charset="0"/>
              </a:rPr>
              <a:t>Fosters open communication</a:t>
            </a:r>
            <a:r>
              <a:rPr lang="en-US" dirty="0">
                <a:solidFill>
                  <a:schemeClr val="tx1">
                    <a:lumMod val="50000"/>
                  </a:schemeClr>
                </a:solidFill>
                <a:latin typeface="Arial" panose="020B0604020202020204" pitchFamily="34" charset="0"/>
                <a:cs typeface="Arial" panose="020B0604020202020204" pitchFamily="34" charset="0"/>
              </a:rPr>
              <a:t> to ensure information is shared and understood.</a:t>
            </a:r>
          </a:p>
          <a:p>
            <a:pPr lvl="1"/>
            <a:r>
              <a:rPr lang="en-US" b="1" dirty="0">
                <a:solidFill>
                  <a:schemeClr val="tx1">
                    <a:lumMod val="50000"/>
                  </a:schemeClr>
                </a:solidFill>
                <a:latin typeface="Arial" panose="020B0604020202020204" pitchFamily="34" charset="0"/>
                <a:cs typeface="Arial" panose="020B0604020202020204" pitchFamily="34" charset="0"/>
              </a:rPr>
              <a:t>Improves decision-making</a:t>
            </a:r>
            <a:r>
              <a:rPr lang="en-US" dirty="0">
                <a:solidFill>
                  <a:schemeClr val="tx1">
                    <a:lumMod val="50000"/>
                  </a:schemeClr>
                </a:solidFill>
                <a:latin typeface="Arial" panose="020B0604020202020204" pitchFamily="34" charset="0"/>
                <a:cs typeface="Arial" panose="020B0604020202020204" pitchFamily="34" charset="0"/>
              </a:rPr>
              <a:t> by incorporating diverse perspectives.</a:t>
            </a:r>
          </a:p>
          <a:p>
            <a:pPr lvl="1"/>
            <a:r>
              <a:rPr lang="en-US" b="1" dirty="0">
                <a:solidFill>
                  <a:schemeClr val="tx1">
                    <a:lumMod val="50000"/>
                  </a:schemeClr>
                </a:solidFill>
                <a:latin typeface="Arial" panose="020B0604020202020204" pitchFamily="34" charset="0"/>
                <a:cs typeface="Arial" panose="020B0604020202020204" pitchFamily="34" charset="0"/>
              </a:rPr>
              <a:t>Aligns goals</a:t>
            </a:r>
            <a:r>
              <a:rPr lang="en-US" dirty="0">
                <a:solidFill>
                  <a:schemeClr val="tx1">
                    <a:lumMod val="50000"/>
                  </a:schemeClr>
                </a:solidFill>
                <a:latin typeface="Arial" panose="020B0604020202020204" pitchFamily="34" charset="0"/>
                <a:cs typeface="Arial" panose="020B0604020202020204" pitchFamily="34" charset="0"/>
              </a:rPr>
              <a:t> to ensure teams work towards a common vision.</a:t>
            </a:r>
          </a:p>
          <a:p>
            <a:pPr lvl="1"/>
            <a:r>
              <a:rPr lang="en-US" b="1" dirty="0">
                <a:solidFill>
                  <a:schemeClr val="tx1">
                    <a:lumMod val="50000"/>
                  </a:schemeClr>
                </a:solidFill>
                <a:latin typeface="Arial" panose="020B0604020202020204" pitchFamily="34" charset="0"/>
                <a:cs typeface="Arial" panose="020B0604020202020204" pitchFamily="34" charset="0"/>
              </a:rPr>
              <a:t>Increases flexibility</a:t>
            </a:r>
            <a:r>
              <a:rPr lang="en-US" dirty="0">
                <a:solidFill>
                  <a:schemeClr val="tx1">
                    <a:lumMod val="50000"/>
                  </a:schemeClr>
                </a:solidFill>
                <a:latin typeface="Arial" panose="020B0604020202020204" pitchFamily="34" charset="0"/>
                <a:cs typeface="Arial" panose="020B0604020202020204" pitchFamily="34" charset="0"/>
              </a:rPr>
              <a:t> for quick responses to changes or issues.</a:t>
            </a:r>
          </a:p>
          <a:p>
            <a:pPr lvl="1"/>
            <a:r>
              <a:rPr lang="en-US" b="1" dirty="0">
                <a:solidFill>
                  <a:schemeClr val="tx1">
                    <a:lumMod val="50000"/>
                  </a:schemeClr>
                </a:solidFill>
                <a:latin typeface="Arial" panose="020B0604020202020204" pitchFamily="34" charset="0"/>
                <a:cs typeface="Arial" panose="020B0604020202020204" pitchFamily="34" charset="0"/>
              </a:rPr>
              <a:t>Supports continuous delivery</a:t>
            </a:r>
            <a:r>
              <a:rPr lang="en-US" dirty="0">
                <a:solidFill>
                  <a:schemeClr val="tx1">
                    <a:lumMod val="50000"/>
                  </a:schemeClr>
                </a:solidFill>
                <a:latin typeface="Arial" panose="020B0604020202020204" pitchFamily="34" charset="0"/>
                <a:cs typeface="Arial" panose="020B0604020202020204" pitchFamily="34" charset="0"/>
              </a:rPr>
              <a:t> with smooth cross-team coordination.</a:t>
            </a:r>
          </a:p>
          <a:p>
            <a:pPr lvl="1"/>
            <a:r>
              <a:rPr lang="en-US" b="1" dirty="0">
                <a:solidFill>
                  <a:schemeClr val="tx1">
                    <a:lumMod val="50000"/>
                  </a:schemeClr>
                </a:solidFill>
                <a:latin typeface="Arial" panose="020B0604020202020204" pitchFamily="34" charset="0"/>
                <a:cs typeface="Arial" panose="020B0604020202020204" pitchFamily="34" charset="0"/>
              </a:rPr>
              <a:t>Encourages cross-functional skills</a:t>
            </a:r>
            <a:r>
              <a:rPr lang="en-US" dirty="0">
                <a:solidFill>
                  <a:schemeClr val="tx1">
                    <a:lumMod val="50000"/>
                  </a:schemeClr>
                </a:solidFill>
                <a:latin typeface="Arial" panose="020B0604020202020204" pitchFamily="34" charset="0"/>
                <a:cs typeface="Arial" panose="020B0604020202020204" pitchFamily="34" charset="0"/>
              </a:rPr>
              <a:t> and knowledge sharing.</a:t>
            </a:r>
          </a:p>
          <a:p>
            <a:pPr lvl="1"/>
            <a:r>
              <a:rPr lang="en-US" b="1" dirty="0">
                <a:solidFill>
                  <a:schemeClr val="tx1">
                    <a:lumMod val="50000"/>
                  </a:schemeClr>
                </a:solidFill>
                <a:latin typeface="Arial" panose="020B0604020202020204" pitchFamily="34" charset="0"/>
                <a:cs typeface="Arial" panose="020B0604020202020204" pitchFamily="34" charset="0"/>
              </a:rPr>
              <a:t>Creates shared responsibility</a:t>
            </a:r>
            <a:r>
              <a:rPr lang="en-US" dirty="0">
                <a:solidFill>
                  <a:schemeClr val="tx1">
                    <a:lumMod val="50000"/>
                  </a:schemeClr>
                </a:solidFill>
                <a:latin typeface="Arial" panose="020B0604020202020204" pitchFamily="34" charset="0"/>
                <a:cs typeface="Arial" panose="020B0604020202020204" pitchFamily="34" charset="0"/>
              </a:rPr>
              <a:t> for project success.</a:t>
            </a:r>
          </a:p>
          <a:p>
            <a:pPr lvl="1"/>
            <a:r>
              <a:rPr lang="en-US" b="1" dirty="0">
                <a:solidFill>
                  <a:schemeClr val="tx1">
                    <a:lumMod val="50000"/>
                  </a:schemeClr>
                </a:solidFill>
                <a:latin typeface="Arial" panose="020B0604020202020204" pitchFamily="34" charset="0"/>
                <a:cs typeface="Arial" panose="020B0604020202020204" pitchFamily="34" charset="0"/>
              </a:rPr>
              <a:t>Boosts innovation</a:t>
            </a:r>
            <a:r>
              <a:rPr lang="en-US" dirty="0">
                <a:solidFill>
                  <a:schemeClr val="tx1">
                    <a:lumMod val="50000"/>
                  </a:schemeClr>
                </a:solidFill>
                <a:latin typeface="Arial" panose="020B0604020202020204" pitchFamily="34" charset="0"/>
                <a:cs typeface="Arial" panose="020B0604020202020204" pitchFamily="34" charset="0"/>
              </a:rPr>
              <a:t> through diverse team contributions.</a:t>
            </a:r>
          </a:p>
          <a:p>
            <a:pPr lvl="1"/>
            <a:r>
              <a:rPr lang="en-US" dirty="0">
                <a:solidFill>
                  <a:schemeClr val="tx1">
                    <a:lumMod val="50000"/>
                  </a:schemeClr>
                </a:solidFill>
                <a:latin typeface="Arial" panose="020B0604020202020204" pitchFamily="34" charset="0"/>
                <a:cs typeface="Arial" panose="020B0604020202020204" pitchFamily="34" charset="0"/>
              </a:rPr>
              <a:t>This collaboration ensures more effective and efficient software development.</a:t>
            </a:r>
          </a:p>
          <a:p>
            <a:endParaRPr lang="en-US" dirty="0">
              <a:solidFill>
                <a:schemeClr val="tx1">
                  <a:lumMod val="5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F7F507F-DDD1-7352-66C6-A45DB865197B}"/>
              </a:ext>
            </a:extLst>
          </p:cNvPr>
          <p:cNvSpPr>
            <a:spLocks noGrp="1"/>
          </p:cNvSpPr>
          <p:nvPr>
            <p:ph type="sldNum" sz="quarter" idx="12"/>
          </p:nvPr>
        </p:nvSpPr>
        <p:spPr/>
        <p:txBody>
          <a:bodyPr/>
          <a:lstStyle/>
          <a:p>
            <a:fld id="{4267CD5E-26CF-4249-8540-BB1D07FD4227}" type="slidenum">
              <a:rPr lang="en-US" smtClean="0"/>
              <a:t>26</a:t>
            </a:fld>
            <a:endParaRPr lang="en-US"/>
          </a:p>
        </p:txBody>
      </p:sp>
    </p:spTree>
    <p:extLst>
      <p:ext uri="{BB962C8B-B14F-4D97-AF65-F5344CB8AC3E}">
        <p14:creationId xmlns:p14="http://schemas.microsoft.com/office/powerpoint/2010/main" val="1814227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pc="-30" dirty="0">
                <a:solidFill>
                  <a:schemeClr val="tx1">
                    <a:alpha val="100000"/>
                  </a:schemeClr>
                </a:solidFill>
                <a:latin typeface="Arial" panose="020B0604020202090204"/>
                <a:ea typeface="Arial" panose="020B0604020202090204"/>
                <a:cs typeface="Arial" panose="020B0604020202090204"/>
                <a:sym typeface="+mn-ea"/>
              </a:rPr>
              <a:t>Properties across all Cry</a:t>
            </a:r>
            <a:r>
              <a:rPr spc="-20" dirty="0">
                <a:solidFill>
                  <a:schemeClr val="tx1">
                    <a:alpha val="100000"/>
                  </a:schemeClr>
                </a:solidFill>
                <a:latin typeface="Arial" panose="020B0604020202090204"/>
                <a:ea typeface="Arial" panose="020B0604020202090204"/>
                <a:cs typeface="Arial" panose="020B0604020202090204"/>
                <a:sym typeface="+mn-ea"/>
              </a:rPr>
              <a:t>s</a:t>
            </a:r>
            <a:r>
              <a:rPr dirty="0">
                <a:solidFill>
                  <a:schemeClr val="tx1">
                    <a:alpha val="100000"/>
                  </a:schemeClr>
                </a:solidFill>
                <a:latin typeface="Arial" panose="020B0604020202090204"/>
                <a:ea typeface="Arial" panose="020B0604020202090204"/>
                <a:cs typeface="Arial" panose="020B0604020202090204"/>
                <a:sym typeface="+mn-ea"/>
              </a:rPr>
              <a:t>tal</a:t>
            </a:r>
            <a:r>
              <a:rPr spc="-3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Methods</a:t>
            </a:r>
            <a:br>
              <a:rPr lang="en-US" altLang="en-US" dirty="0">
                <a:sym typeface="+mn-ea"/>
              </a:rPr>
            </a:br>
            <a:endParaRPr lang="en-US" dirty="0"/>
          </a:p>
        </p:txBody>
      </p:sp>
      <p:sp>
        <p:nvSpPr>
          <p:cNvPr id="2" name="Content Placeholder 1"/>
          <p:cNvSpPr>
            <a:spLocks noGrp="1"/>
          </p:cNvSpPr>
          <p:nvPr>
            <p:ph idx="1"/>
          </p:nvPr>
        </p:nvSpPr>
        <p:spPr>
          <a:xfrm>
            <a:off x="644525" y="1294765"/>
            <a:ext cx="10709275" cy="4787265"/>
          </a:xfrm>
        </p:spPr>
        <p:txBody>
          <a:bodyPr>
            <a:normAutofit/>
          </a:bodyPr>
          <a:lstStyle/>
          <a:p>
            <a:endParaRPr spc="-80" dirty="0">
              <a:solidFill>
                <a:srgbClr val="000000">
                  <a:alpha val="100000"/>
                </a:srgbClr>
              </a:solidFill>
              <a:latin typeface="Arial" panose="020B0604020202090204"/>
              <a:ea typeface="Arial" panose="020B0604020202090204"/>
              <a:cs typeface="Arial" panose="020B0604020202090204"/>
              <a:sym typeface="+mn-ea"/>
            </a:endParaRPr>
          </a:p>
          <a:p>
            <a:pPr marL="0" indent="0">
              <a:buNone/>
            </a:pPr>
            <a:r>
              <a:rPr lang="en-US" sz="2000" spc="-80" dirty="0">
                <a:solidFill>
                  <a:srgbClr val="000000">
                    <a:alpha val="100000"/>
                  </a:srgbClr>
                </a:solidFill>
                <a:latin typeface="Arial" panose="020B0604020202090204"/>
                <a:ea typeface="Arial" panose="020B0604020202090204"/>
                <a:cs typeface="Arial" panose="020B0604020202090204"/>
                <a:sym typeface="+mn-ea"/>
              </a:rPr>
              <a:t>6   </a:t>
            </a:r>
            <a:r>
              <a:rPr sz="2000" spc="-80" dirty="0">
                <a:solidFill>
                  <a:srgbClr val="000000">
                    <a:alpha val="100000"/>
                  </a:srgbClr>
                </a:solidFill>
                <a:latin typeface="Arial" panose="020B0604020202090204"/>
                <a:ea typeface="Arial" panose="020B0604020202090204"/>
                <a:cs typeface="Arial" panose="020B0604020202090204"/>
                <a:sym typeface="+mn-ea"/>
              </a:rPr>
              <a:t>Easy access to domain exper</a:t>
            </a:r>
            <a:r>
              <a:rPr sz="2000" dirty="0">
                <a:solidFill>
                  <a:srgbClr val="000000">
                    <a:alpha val="100000"/>
                  </a:srgbClr>
                </a:solidFill>
                <a:latin typeface="Arial" panose="020B0604020202090204"/>
                <a:ea typeface="Arial" panose="020B0604020202090204"/>
                <a:cs typeface="Arial" panose="020B0604020202090204"/>
                <a:sym typeface="+mn-ea"/>
              </a:rPr>
              <a:t>ts</a:t>
            </a:r>
            <a:endParaRPr dirty="0">
              <a:solidFill>
                <a:srgbClr val="000000">
                  <a:alpha val="100000"/>
                </a:srgbClr>
              </a:solidFill>
              <a:latin typeface="Arial" panose="020B0604020202090204"/>
              <a:ea typeface="Arial" panose="020B0604020202090204"/>
              <a:cs typeface="Arial" panose="020B0604020202090204"/>
              <a:sym typeface="+mn-ea"/>
            </a:endParaRPr>
          </a:p>
          <a:p>
            <a:pPr lvl="1"/>
            <a:r>
              <a:rPr spc="-70" dirty="0">
                <a:solidFill>
                  <a:srgbClr val="000000">
                    <a:alpha val="100000"/>
                  </a:srgbClr>
                </a:solidFill>
                <a:latin typeface="Arial" panose="020B0604020202090204"/>
                <a:ea typeface="Arial" panose="020B0604020202090204"/>
                <a:cs typeface="Arial" panose="020B0604020202090204"/>
                <a:sym typeface="+mn-ea"/>
              </a:rPr>
              <a:t>Onsite or via regular meetin</a:t>
            </a:r>
            <a:r>
              <a:rPr spc="-10" dirty="0">
                <a:solidFill>
                  <a:srgbClr val="000000">
                    <a:alpha val="100000"/>
                  </a:srgbClr>
                </a:solidFill>
                <a:latin typeface="Arial" panose="020B0604020202090204"/>
                <a:ea typeface="Arial" panose="020B0604020202090204"/>
                <a:cs typeface="Arial" panose="020B0604020202090204"/>
                <a:sym typeface="+mn-ea"/>
              </a:rPr>
              <a:t>g</a:t>
            </a:r>
            <a:r>
              <a:rPr dirty="0">
                <a:solidFill>
                  <a:srgbClr val="000000">
                    <a:alpha val="100000"/>
                  </a:srgbClr>
                </a:solidFill>
                <a:latin typeface="Arial" panose="020B0604020202090204"/>
                <a:ea typeface="Arial" panose="020B0604020202090204"/>
                <a:cs typeface="Arial" panose="020B0604020202090204"/>
                <a:sym typeface="+mn-ea"/>
              </a:rPr>
              <a:t>s</a:t>
            </a:r>
          </a:p>
          <a:p>
            <a:pPr lvl="1"/>
            <a:r>
              <a:rPr spc="-70" dirty="0">
                <a:solidFill>
                  <a:srgbClr val="000000">
                    <a:alpha val="100000"/>
                  </a:srgbClr>
                </a:solidFill>
                <a:latin typeface="Arial" panose="020B0604020202090204"/>
                <a:ea typeface="Arial" panose="020B0604020202090204"/>
                <a:cs typeface="Arial" panose="020B0604020202090204"/>
                <a:sym typeface="+mn-ea"/>
              </a:rPr>
              <a:t>Analogous to onsite experts from </a:t>
            </a:r>
            <a:r>
              <a:rPr spc="-70" dirty="0" err="1">
                <a:solidFill>
                  <a:srgbClr val="000000">
                    <a:alpha val="100000"/>
                  </a:srgbClr>
                </a:solidFill>
                <a:latin typeface="Arial" panose="020B0604020202090204"/>
                <a:ea typeface="Arial" panose="020B0604020202090204"/>
                <a:cs typeface="Arial" panose="020B0604020202090204"/>
                <a:sym typeface="+mn-ea"/>
              </a:rPr>
              <a:t>eXtreme</a:t>
            </a:r>
            <a:r>
              <a:rPr spc="-70" dirty="0">
                <a:solidFill>
                  <a:srgbClr val="000000">
                    <a:alpha val="100000"/>
                  </a:srgbClr>
                </a:solidFill>
                <a:latin typeface="Arial" panose="020B0604020202090204"/>
                <a:ea typeface="Arial" panose="020B0604020202090204"/>
                <a:cs typeface="Arial" panose="020B0604020202090204"/>
                <a:sym typeface="+mn-ea"/>
              </a:rPr>
              <a:t> Progra</a:t>
            </a:r>
            <a:r>
              <a:rPr dirty="0">
                <a:solidFill>
                  <a:srgbClr val="000000">
                    <a:alpha val="100000"/>
                  </a:srgbClr>
                </a:solidFill>
                <a:latin typeface="Arial" panose="020B0604020202090204"/>
                <a:ea typeface="Arial" panose="020B0604020202090204"/>
                <a:cs typeface="Arial" panose="020B0604020202090204"/>
                <a:sym typeface="+mn-ea"/>
              </a:rPr>
              <a:t>mming</a:t>
            </a:r>
          </a:p>
          <a:p>
            <a:pPr marL="274320" lvl="1" indent="0">
              <a:buNone/>
            </a:pPr>
            <a:endParaRPr dirty="0">
              <a:solidFill>
                <a:srgbClr val="000000">
                  <a:alpha val="100000"/>
                </a:srgbClr>
              </a:solidFill>
              <a:latin typeface="Arial" panose="020B0604020202090204"/>
              <a:ea typeface="Arial" panose="020B0604020202090204"/>
              <a:cs typeface="Arial" panose="020B0604020202090204"/>
              <a:sym typeface="+mn-ea"/>
            </a:endParaRPr>
          </a:p>
          <a:p>
            <a:pPr marL="19050" indent="0" algn="l" rtl="0" eaLnBrk="0">
              <a:lnSpc>
                <a:spcPct val="130000"/>
              </a:lnSpc>
              <a:spcBef>
                <a:spcPts val="60"/>
              </a:spcBef>
              <a:buNone/>
            </a:pPr>
            <a:r>
              <a:rPr sz="2000" spc="-90" dirty="0">
                <a:solidFill>
                  <a:srgbClr val="000000">
                    <a:alpha val="100000"/>
                  </a:srgbClr>
                </a:solidFill>
                <a:latin typeface="Arial" panose="020B0604020202090204"/>
                <a:ea typeface="Arial" panose="020B0604020202090204"/>
                <a:cs typeface="Arial" panose="020B0604020202090204"/>
                <a:sym typeface="+mn-ea"/>
              </a:rPr>
              <a:t>7</a:t>
            </a:r>
            <a:r>
              <a:rPr lang="en-US" sz="2000" spc="-90" dirty="0">
                <a:solidFill>
                  <a:srgbClr val="000000">
                    <a:alpha val="100000"/>
                  </a:srgbClr>
                </a:solidFill>
                <a:latin typeface="Arial" panose="020B0604020202090204"/>
                <a:ea typeface="Arial" panose="020B0604020202090204"/>
                <a:cs typeface="Arial" panose="020B0604020202090204"/>
                <a:sym typeface="+mn-ea"/>
              </a:rPr>
              <a:t>  </a:t>
            </a:r>
            <a:r>
              <a:rPr sz="2000" spc="-90" dirty="0">
                <a:solidFill>
                  <a:srgbClr val="000000">
                    <a:alpha val="100000"/>
                  </a:srgbClr>
                </a:solidFill>
                <a:latin typeface="Arial" panose="020B0604020202090204"/>
                <a:ea typeface="Arial" panose="020B0604020202090204"/>
                <a:cs typeface="Arial" panose="020B0604020202090204"/>
                <a:sym typeface="+mn-ea"/>
              </a:rPr>
              <a:t>Technical environme</a:t>
            </a:r>
            <a:r>
              <a:rPr sz="2000" spc="-20" dirty="0">
                <a:solidFill>
                  <a:srgbClr val="000000">
                    <a:alpha val="100000"/>
                  </a:srgbClr>
                </a:solidFill>
                <a:latin typeface="Arial" panose="020B0604020202090204"/>
                <a:ea typeface="Arial" panose="020B0604020202090204"/>
                <a:cs typeface="Arial" panose="020B0604020202090204"/>
                <a:sym typeface="+mn-ea"/>
              </a:rPr>
              <a:t>n</a:t>
            </a:r>
            <a:r>
              <a:rPr sz="2000" dirty="0">
                <a:solidFill>
                  <a:srgbClr val="000000">
                    <a:alpha val="100000"/>
                  </a:srgbClr>
                </a:solidFill>
                <a:latin typeface="Arial" panose="020B0604020202090204"/>
                <a:ea typeface="Arial" panose="020B0604020202090204"/>
                <a:cs typeface="Arial" panose="020B0604020202090204"/>
                <a:sym typeface="+mn-ea"/>
              </a:rPr>
              <a:t>t</a:t>
            </a:r>
            <a:endParaRPr dirty="0">
              <a:solidFill>
                <a:srgbClr val="000000">
                  <a:alpha val="100000"/>
                </a:srgbClr>
              </a:solidFill>
              <a:latin typeface="Arial" panose="020B0604020202090204"/>
              <a:ea typeface="Arial" panose="020B0604020202090204"/>
              <a:cs typeface="Arial" panose="020B0604020202090204"/>
              <a:sym typeface="+mn-ea"/>
            </a:endParaRPr>
          </a:p>
          <a:p>
            <a:pPr marL="762000" lvl="1" indent="-285750" eaLnBrk="0">
              <a:lnSpc>
                <a:spcPct val="130000"/>
              </a:lnSpc>
              <a:spcBef>
                <a:spcPts val="60"/>
              </a:spcBef>
            </a:pPr>
            <a:r>
              <a:rPr spc="-40" dirty="0">
                <a:solidFill>
                  <a:srgbClr val="000000">
                    <a:alpha val="100000"/>
                  </a:srgbClr>
                </a:solidFill>
                <a:latin typeface="Arial" panose="020B0604020202090204"/>
                <a:ea typeface="Arial" panose="020B0604020202090204"/>
                <a:cs typeface="Arial" panose="020B0604020202090204"/>
                <a:sym typeface="+mn-ea"/>
              </a:rPr>
              <a:t>Automated test</a:t>
            </a:r>
            <a:r>
              <a:rPr spc="-30" dirty="0">
                <a:solidFill>
                  <a:srgbClr val="000000">
                    <a:alpha val="100000"/>
                  </a:srgbClr>
                </a:solidFill>
                <a:latin typeface="Arial" panose="020B0604020202090204"/>
                <a:ea typeface="Arial" panose="020B0604020202090204"/>
                <a:cs typeface="Arial" panose="020B0604020202090204"/>
                <a:sym typeface="+mn-ea"/>
              </a:rPr>
              <a:t>s</a:t>
            </a:r>
          </a:p>
          <a:p>
            <a:pPr marL="762000" lvl="1" indent="-285750" eaLnBrk="0">
              <a:lnSpc>
                <a:spcPct val="130000"/>
              </a:lnSpc>
              <a:spcBef>
                <a:spcPts val="60"/>
              </a:spcBef>
            </a:pPr>
            <a:r>
              <a:rPr spc="-110" dirty="0">
                <a:solidFill>
                  <a:srgbClr val="000000">
                    <a:alpha val="100000"/>
                  </a:srgbClr>
                </a:solidFill>
                <a:latin typeface="Arial" panose="020B0604020202090204"/>
                <a:ea typeface="Arial" panose="020B0604020202090204"/>
                <a:cs typeface="Arial" panose="020B0604020202090204"/>
                <a:sym typeface="+mn-ea"/>
              </a:rPr>
              <a:t>Configuration manageme</a:t>
            </a:r>
            <a:r>
              <a:rPr spc="-90" dirty="0">
                <a:solidFill>
                  <a:srgbClr val="000000">
                    <a:alpha val="100000"/>
                  </a:srgbClr>
                </a:solidFill>
                <a:latin typeface="Arial" panose="020B0604020202090204"/>
                <a:ea typeface="Arial" panose="020B0604020202090204"/>
                <a:cs typeface="Arial" panose="020B0604020202090204"/>
                <a:sym typeface="+mn-ea"/>
              </a:rPr>
              <a:t>n</a:t>
            </a:r>
            <a:r>
              <a:rPr dirty="0">
                <a:solidFill>
                  <a:srgbClr val="000000">
                    <a:alpha val="100000"/>
                  </a:srgbClr>
                </a:solidFill>
                <a:latin typeface="Arial" panose="020B0604020202090204"/>
                <a:ea typeface="Arial" panose="020B0604020202090204"/>
                <a:cs typeface="Arial" panose="020B0604020202090204"/>
                <a:sym typeface="+mn-ea"/>
              </a:rPr>
              <a:t>t</a:t>
            </a:r>
          </a:p>
          <a:p>
            <a:pPr marL="762000" lvl="1" indent="-285750" eaLnBrk="0">
              <a:lnSpc>
                <a:spcPct val="130000"/>
              </a:lnSpc>
              <a:spcBef>
                <a:spcPts val="60"/>
              </a:spcBef>
            </a:pPr>
            <a:r>
              <a:rPr spc="-70" dirty="0">
                <a:solidFill>
                  <a:srgbClr val="000000">
                    <a:alpha val="100000"/>
                  </a:srgbClr>
                </a:solidFill>
                <a:latin typeface="Arial" panose="020B0604020202090204"/>
                <a:ea typeface="Arial" panose="020B0604020202090204"/>
                <a:cs typeface="Arial" panose="020B0604020202090204"/>
                <a:sym typeface="+mn-ea"/>
              </a:rPr>
              <a:t>Frequent/Continuous integrat</a:t>
            </a:r>
            <a:r>
              <a:rPr spc="-30" dirty="0">
                <a:solidFill>
                  <a:srgbClr val="000000">
                    <a:alpha val="100000"/>
                  </a:srgbClr>
                </a:solidFill>
                <a:latin typeface="Arial" panose="020B0604020202090204"/>
                <a:ea typeface="Arial" panose="020B0604020202090204"/>
                <a:cs typeface="Arial" panose="020B0604020202090204"/>
                <a:sym typeface="+mn-ea"/>
              </a:rPr>
              <a:t>i</a:t>
            </a:r>
            <a:r>
              <a:rPr dirty="0">
                <a:solidFill>
                  <a:srgbClr val="000000">
                    <a:alpha val="100000"/>
                  </a:srgbClr>
                </a:solidFill>
                <a:latin typeface="Arial" panose="020B0604020202090204"/>
                <a:ea typeface="Arial" panose="020B0604020202090204"/>
                <a:cs typeface="Arial" panose="020B0604020202090204"/>
                <a:sym typeface="+mn-ea"/>
              </a:rPr>
              <a:t>on</a:t>
            </a: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27</a:t>
            </a:fld>
            <a:endParaRPr lang="en-US"/>
          </a:p>
        </p:txBody>
      </p:sp>
      <p:pic>
        <p:nvPicPr>
          <p:cNvPr id="78" name="picture 78"/>
          <p:cNvPicPr>
            <a:picLocks noChangeAspect="1"/>
          </p:cNvPicPr>
          <p:nvPr/>
        </p:nvPicPr>
        <p:blipFill>
          <a:blip r:embed="rId2"/>
          <a:stretch>
            <a:fillRect/>
          </a:stretch>
        </p:blipFill>
        <p:spPr>
          <a:xfrm rot="21600000">
            <a:off x="8218566" y="1481428"/>
            <a:ext cx="2516921" cy="64325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74C2-B847-D8D6-B4E3-54AA9A3D3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8E3A4-E9C8-4A2A-A0BE-010A463F209E}"/>
              </a:ext>
            </a:extLst>
          </p:cNvPr>
          <p:cNvSpPr>
            <a:spLocks noGrp="1"/>
          </p:cNvSpPr>
          <p:nvPr>
            <p:ph type="title"/>
          </p:nvPr>
        </p:nvSpPr>
        <p:spPr/>
        <p:txBody>
          <a:bodyPr/>
          <a:lstStyle/>
          <a:p>
            <a:r>
              <a:rPr lang="en-US" spc="-40" dirty="0">
                <a:solidFill>
                  <a:schemeClr val="tx1">
                    <a:alpha val="100000"/>
                  </a:schemeClr>
                </a:solidFill>
                <a:latin typeface="Arial" panose="020B0604020202090204"/>
                <a:ea typeface="Arial" panose="020B0604020202090204"/>
                <a:cs typeface="Arial" panose="020B0604020202090204"/>
                <a:sym typeface="+mn-ea"/>
              </a:rPr>
              <a:t>Strategies</a:t>
            </a:r>
            <a:endParaRPr lang="en-US" dirty="0"/>
          </a:p>
        </p:txBody>
      </p:sp>
      <p:sp>
        <p:nvSpPr>
          <p:cNvPr id="4" name="Content Placeholder 3">
            <a:extLst>
              <a:ext uri="{FF2B5EF4-FFF2-40B4-BE49-F238E27FC236}">
                <a16:creationId xmlns:a16="http://schemas.microsoft.com/office/drawing/2014/main" id="{474B7F90-51D0-BAFA-FF91-CA83B0478310}"/>
              </a:ext>
            </a:extLst>
          </p:cNvPr>
          <p:cNvSpPr>
            <a:spLocks noGrp="1"/>
          </p:cNvSpPr>
          <p:nvPr>
            <p:ph idx="1"/>
          </p:nvPr>
        </p:nvSpPr>
        <p:spPr>
          <a:xfrm>
            <a:off x="644771" y="1249378"/>
            <a:ext cx="10709031" cy="4832769"/>
          </a:xfrm>
        </p:spPr>
        <p:txBody>
          <a:bodyPr/>
          <a:lstStyle/>
          <a:p>
            <a:pPr marL="309880" indent="-285750" eaLnBrk="0">
              <a:lnSpc>
                <a:spcPct val="150000"/>
              </a:lnSpc>
              <a:spcBef>
                <a:spcPts val="5"/>
              </a:spcBef>
            </a:pPr>
            <a:r>
              <a:rPr lang="en-US" altLang="en-US" dirty="0">
                <a:solidFill>
                  <a:schemeClr val="tx1">
                    <a:lumMod val="50000"/>
                  </a:schemeClr>
                </a:solidFill>
                <a:latin typeface="Arial" panose="020B0604020202020204" pitchFamily="34" charset="0"/>
                <a:cs typeface="Arial" panose="020B0604020202020204" pitchFamily="34" charset="0"/>
              </a:rPr>
              <a:t>Strategies</a:t>
            </a:r>
            <a:r>
              <a:rPr lang="en-US" spc="-4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 These are guiding principles for managing the project, such as:</a:t>
            </a:r>
          </a:p>
          <a:p>
            <a:pPr marL="755650" lvl="1" indent="-285750" eaLnBrk="0">
              <a:lnSpc>
                <a:spcPct val="150000"/>
              </a:lnSpc>
              <a:spcBef>
                <a:spcPts val="110"/>
              </a:spcBef>
            </a:pPr>
            <a:r>
              <a:rPr lang="en-US" b="1" dirty="0">
                <a:solidFill>
                  <a:schemeClr val="tx1">
                    <a:lumMod val="50000"/>
                  </a:schemeClr>
                </a:solidFill>
                <a:latin typeface="Arial" panose="020B0604020202020204" pitchFamily="34" charset="0"/>
                <a:cs typeface="Arial" panose="020B0604020202020204" pitchFamily="34" charset="0"/>
              </a:rPr>
              <a:t>Frequent delivery</a:t>
            </a:r>
            <a:r>
              <a:rPr lang="en-US" dirty="0">
                <a:solidFill>
                  <a:schemeClr val="tx1">
                    <a:lumMod val="50000"/>
                  </a:schemeClr>
                </a:solidFill>
                <a:latin typeface="Arial" panose="020B0604020202020204" pitchFamily="34" charset="0"/>
                <a:cs typeface="Arial" panose="020B0604020202020204" pitchFamily="34" charset="0"/>
              </a:rPr>
              <a:t> of working software</a:t>
            </a:r>
          </a:p>
          <a:p>
            <a:pPr marL="755650" lvl="1" indent="-285750" eaLnBrk="0">
              <a:lnSpc>
                <a:spcPct val="150000"/>
              </a:lnSpc>
              <a:spcBef>
                <a:spcPts val="110"/>
              </a:spcBef>
            </a:pPr>
            <a:r>
              <a:rPr lang="en-US" b="1" dirty="0">
                <a:solidFill>
                  <a:schemeClr val="tx1">
                    <a:lumMod val="50000"/>
                  </a:schemeClr>
                </a:solidFill>
                <a:latin typeface="Arial" panose="020B0604020202020204" pitchFamily="34" charset="0"/>
                <a:cs typeface="Arial" panose="020B0604020202020204" pitchFamily="34" charset="0"/>
              </a:rPr>
              <a:t>Reflective improvement</a:t>
            </a:r>
            <a:r>
              <a:rPr lang="en-US" dirty="0">
                <a:solidFill>
                  <a:schemeClr val="tx1">
                    <a:lumMod val="50000"/>
                  </a:schemeClr>
                </a:solidFill>
                <a:latin typeface="Arial" panose="020B0604020202020204" pitchFamily="34" charset="0"/>
                <a:cs typeface="Arial" panose="020B0604020202020204" pitchFamily="34" charset="0"/>
              </a:rPr>
              <a:t> through feedback</a:t>
            </a:r>
          </a:p>
          <a:p>
            <a:pPr marL="755650" lvl="1" indent="-285750" eaLnBrk="0">
              <a:lnSpc>
                <a:spcPct val="150000"/>
              </a:lnSpc>
              <a:spcBef>
                <a:spcPts val="110"/>
              </a:spcBef>
            </a:pPr>
            <a:r>
              <a:rPr lang="en-US" b="1" dirty="0">
                <a:solidFill>
                  <a:schemeClr val="tx1">
                    <a:lumMod val="50000"/>
                  </a:schemeClr>
                </a:solidFill>
                <a:latin typeface="Arial" panose="020B0604020202020204" pitchFamily="34" charset="0"/>
                <a:cs typeface="Arial" panose="020B0604020202020204" pitchFamily="34" charset="0"/>
              </a:rPr>
              <a:t>Close collaboration</a:t>
            </a:r>
            <a:r>
              <a:rPr lang="en-US" dirty="0">
                <a:solidFill>
                  <a:schemeClr val="tx1">
                    <a:lumMod val="50000"/>
                  </a:schemeClr>
                </a:solidFill>
                <a:latin typeface="Arial" panose="020B0604020202020204" pitchFamily="34" charset="0"/>
                <a:cs typeface="Arial" panose="020B0604020202020204" pitchFamily="34" charset="0"/>
              </a:rPr>
              <a:t> with stakeholders</a:t>
            </a:r>
          </a:p>
          <a:p>
            <a:pPr marL="755650" lvl="1" indent="-285750" eaLnBrk="0">
              <a:lnSpc>
                <a:spcPct val="150000"/>
              </a:lnSpc>
              <a:spcBef>
                <a:spcPts val="110"/>
              </a:spcBef>
            </a:pPr>
            <a:r>
              <a:rPr lang="en-US" b="1" dirty="0">
                <a:solidFill>
                  <a:schemeClr val="tx1">
                    <a:lumMod val="50000"/>
                  </a:schemeClr>
                </a:solidFill>
                <a:latin typeface="Arial" panose="020B0604020202020204" pitchFamily="34" charset="0"/>
                <a:cs typeface="Arial" panose="020B0604020202020204" pitchFamily="34" charset="0"/>
              </a:rPr>
              <a:t>Technical excellence</a:t>
            </a:r>
            <a:r>
              <a:rPr lang="en-US" dirty="0">
                <a:solidFill>
                  <a:schemeClr val="tx1">
                    <a:lumMod val="50000"/>
                  </a:schemeClr>
                </a:solidFill>
                <a:latin typeface="Arial" panose="020B0604020202020204" pitchFamily="34" charset="0"/>
                <a:cs typeface="Arial" panose="020B0604020202020204" pitchFamily="34" charset="0"/>
              </a:rPr>
              <a:t> and </a:t>
            </a:r>
            <a:r>
              <a:rPr lang="en-US" b="1" dirty="0">
                <a:solidFill>
                  <a:schemeClr val="tx1">
                    <a:lumMod val="50000"/>
                  </a:schemeClr>
                </a:solidFill>
                <a:latin typeface="Arial" panose="020B0604020202020204" pitchFamily="34" charset="0"/>
                <a:cs typeface="Arial" panose="020B0604020202020204" pitchFamily="34" charset="0"/>
              </a:rPr>
              <a:t>personal safety</a:t>
            </a:r>
            <a:r>
              <a:rPr lang="en-US" dirty="0">
                <a:solidFill>
                  <a:schemeClr val="tx1">
                    <a:lumMod val="50000"/>
                  </a:schemeClr>
                </a:solidFill>
                <a:latin typeface="Arial" panose="020B0604020202020204" pitchFamily="34" charset="0"/>
                <a:cs typeface="Arial" panose="020B0604020202020204" pitchFamily="34" charset="0"/>
              </a:rPr>
              <a:t> within the team</a:t>
            </a:r>
          </a:p>
          <a:p>
            <a:pPr marL="755650" lvl="1" indent="-285750" eaLnBrk="0">
              <a:lnSpc>
                <a:spcPct val="150000"/>
              </a:lnSpc>
              <a:spcBef>
                <a:spcPts val="110"/>
              </a:spcBef>
            </a:pPr>
            <a:r>
              <a:rPr lang="en-US" spc="-7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Strategies are a plan to accomplish a go</a:t>
            </a:r>
            <a:r>
              <a:rPr lang="en-US" spc="-3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a</a:t>
            </a:r>
            <a:r>
              <a:rPr lang="en-US"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l</a:t>
            </a:r>
          </a:p>
          <a:p>
            <a:pPr marL="755650" lvl="1" indent="-285750" eaLnBrk="0">
              <a:lnSpc>
                <a:spcPct val="150000"/>
              </a:lnSpc>
              <a:spcBef>
                <a:spcPts val="110"/>
              </a:spcBef>
            </a:pPr>
            <a:r>
              <a:rPr lang="en-US" spc="-9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Higher level approaches to solving proble</a:t>
            </a:r>
            <a:r>
              <a:rPr lang="en-US" spc="-2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m</a:t>
            </a:r>
            <a:r>
              <a:rPr lang="en-US"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s</a:t>
            </a:r>
          </a:p>
          <a:p>
            <a:pPr marL="755650" lvl="1" indent="-285750" eaLnBrk="0">
              <a:lnSpc>
                <a:spcPct val="150000"/>
              </a:lnSpc>
              <a:spcBef>
                <a:spcPts val="110"/>
              </a:spcBef>
            </a:pPr>
            <a:endParaRPr lang="en-US" dirty="0">
              <a:solidFill>
                <a:schemeClr val="tx1">
                  <a:lumMod val="50000"/>
                </a:schemeClr>
              </a:solidFill>
              <a:latin typeface="Arial" panose="020B0604020202020204" pitchFamily="34" charset="0"/>
              <a:cs typeface="Arial" panose="020B0604020202020204" pitchFamily="34" charset="0"/>
            </a:endParaRPr>
          </a:p>
          <a:p>
            <a:endParaRPr lang="en-US" dirty="0"/>
          </a:p>
        </p:txBody>
      </p:sp>
      <p:sp>
        <p:nvSpPr>
          <p:cNvPr id="5" name="Slide Number Placeholder 4">
            <a:extLst>
              <a:ext uri="{FF2B5EF4-FFF2-40B4-BE49-F238E27FC236}">
                <a16:creationId xmlns:a16="http://schemas.microsoft.com/office/drawing/2014/main" id="{97E68225-9168-5C73-56F4-BF23A1401A51}"/>
              </a:ext>
            </a:extLst>
          </p:cNvPr>
          <p:cNvSpPr>
            <a:spLocks noGrp="1"/>
          </p:cNvSpPr>
          <p:nvPr>
            <p:ph type="sldNum" sz="quarter" idx="12"/>
          </p:nvPr>
        </p:nvSpPr>
        <p:spPr/>
        <p:txBody>
          <a:bodyPr/>
          <a:lstStyle/>
          <a:p>
            <a:fld id="{4267CD5E-26CF-4249-8540-BB1D07FD4227}" type="slidenum">
              <a:rPr lang="en-US" smtClean="0"/>
              <a:t>28</a:t>
            </a:fld>
            <a:endParaRPr lang="en-US"/>
          </a:p>
        </p:txBody>
      </p:sp>
    </p:spTree>
    <p:extLst>
      <p:ext uri="{BB962C8B-B14F-4D97-AF65-F5344CB8AC3E}">
        <p14:creationId xmlns:p14="http://schemas.microsoft.com/office/powerpoint/2010/main" val="3408384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Strategies</a:t>
            </a:r>
          </a:p>
        </p:txBody>
      </p:sp>
      <p:sp>
        <p:nvSpPr>
          <p:cNvPr id="2" name="Content Placeholder 1"/>
          <p:cNvSpPr>
            <a:spLocks noGrp="1"/>
          </p:cNvSpPr>
          <p:nvPr>
            <p:ph idx="1"/>
          </p:nvPr>
        </p:nvSpPr>
        <p:spPr>
          <a:xfrm>
            <a:off x="644525" y="1294765"/>
            <a:ext cx="10709275" cy="4787265"/>
          </a:xfrm>
        </p:spPr>
        <p:txBody>
          <a:bodyPr>
            <a:normAutofit/>
          </a:bodyPr>
          <a:lstStyle/>
          <a:p>
            <a:pPr marL="0" indent="0" algn="l" rtl="0" eaLnBrk="0" fontAlgn="auto">
              <a:lnSpc>
                <a:spcPct val="150000"/>
              </a:lnSpc>
              <a:buNone/>
            </a:pPr>
            <a:r>
              <a:rPr sz="2000" spc="-50" dirty="0">
                <a:solidFill>
                  <a:srgbClr val="000000">
                    <a:alpha val="100000"/>
                  </a:srgbClr>
                </a:solidFill>
                <a:latin typeface="Arial" panose="020B0604020202090204"/>
                <a:ea typeface="Arial" panose="020B0604020202090204"/>
                <a:cs typeface="Arial" panose="020B0604020202090204"/>
                <a:sym typeface="+mn-ea"/>
              </a:rPr>
              <a:t>1  Explorator</a:t>
            </a:r>
            <a:r>
              <a:rPr sz="2000" spc="-40" dirty="0">
                <a:solidFill>
                  <a:srgbClr val="000000">
                    <a:alpha val="100000"/>
                  </a:srgbClr>
                </a:solidFill>
                <a:latin typeface="Arial" panose="020B0604020202090204"/>
                <a:ea typeface="Arial" panose="020B0604020202090204"/>
                <a:cs typeface="Arial" panose="020B0604020202090204"/>
                <a:sym typeface="+mn-ea"/>
              </a:rPr>
              <a:t>y</a:t>
            </a:r>
            <a:r>
              <a:rPr sz="2000" spc="-50" dirty="0">
                <a:solidFill>
                  <a:srgbClr val="000000">
                    <a:alpha val="100000"/>
                  </a:srgbClr>
                </a:solidFill>
                <a:latin typeface="Arial" panose="020B0604020202090204"/>
                <a:ea typeface="Arial" panose="020B0604020202090204"/>
                <a:cs typeface="Arial" panose="020B0604020202090204"/>
                <a:sym typeface="+mn-ea"/>
              </a:rPr>
              <a:t> 360</a:t>
            </a:r>
          </a:p>
          <a:p>
            <a:pPr lvl="1" eaLnBrk="0">
              <a:lnSpc>
                <a:spcPct val="150000"/>
              </a:lnSpc>
            </a:pPr>
            <a:r>
              <a:rPr spc="-50" dirty="0">
                <a:solidFill>
                  <a:srgbClr val="000000">
                    <a:alpha val="100000"/>
                  </a:srgbClr>
                </a:solidFill>
                <a:latin typeface="Arial" panose="020B0604020202090204"/>
                <a:ea typeface="Arial" panose="020B0604020202090204"/>
                <a:cs typeface="Arial" panose="020B0604020202090204"/>
                <a:sym typeface="+mn-ea"/>
              </a:rPr>
              <a:t>Planning at the beginning of the pro</a:t>
            </a:r>
            <a:r>
              <a:rPr spc="-20" dirty="0">
                <a:solidFill>
                  <a:srgbClr val="000000">
                    <a:alpha val="100000"/>
                  </a:srgbClr>
                </a:solidFill>
                <a:latin typeface="Arial" panose="020B0604020202090204"/>
                <a:ea typeface="Arial" panose="020B0604020202090204"/>
                <a:cs typeface="Arial" panose="020B0604020202090204"/>
                <a:sym typeface="+mn-ea"/>
              </a:rPr>
              <a:t>j</a:t>
            </a:r>
            <a:r>
              <a:rPr dirty="0">
                <a:solidFill>
                  <a:srgbClr val="000000">
                    <a:alpha val="100000"/>
                  </a:srgbClr>
                </a:solidFill>
                <a:latin typeface="Arial" panose="020B0604020202090204"/>
                <a:ea typeface="Arial" panose="020B0604020202090204"/>
                <a:cs typeface="Arial" panose="020B0604020202090204"/>
                <a:sym typeface="+mn-ea"/>
              </a:rPr>
              <a:t>ect </a:t>
            </a:r>
            <a:r>
              <a:rPr spc="-50" dirty="0">
                <a:solidFill>
                  <a:srgbClr val="000000">
                    <a:alpha val="100000"/>
                  </a:srgbClr>
                </a:solidFill>
                <a:latin typeface="Arial" panose="020B0604020202090204"/>
                <a:ea typeface="Arial" panose="020B0604020202090204"/>
                <a:cs typeface="Arial" panose="020B0604020202090204"/>
                <a:sym typeface="+mn-ea"/>
              </a:rPr>
              <a:t>Early requirements and domain mode</a:t>
            </a:r>
            <a:r>
              <a:rPr spc="-40" dirty="0">
                <a:solidFill>
                  <a:srgbClr val="000000">
                    <a:alpha val="100000"/>
                  </a:srgbClr>
                </a:solidFill>
                <a:latin typeface="Arial" panose="020B0604020202090204"/>
                <a:ea typeface="Arial" panose="020B0604020202090204"/>
                <a:cs typeface="Arial" panose="020B0604020202090204"/>
                <a:sym typeface="+mn-ea"/>
              </a:rPr>
              <a:t>l</a:t>
            </a:r>
          </a:p>
          <a:p>
            <a:pPr lvl="1" eaLnBrk="0">
              <a:lnSpc>
                <a:spcPct val="150000"/>
              </a:lnSpc>
            </a:pPr>
            <a:r>
              <a:rPr spc="-70" dirty="0">
                <a:solidFill>
                  <a:srgbClr val="000000">
                    <a:alpha val="100000"/>
                  </a:srgbClr>
                </a:solidFill>
                <a:latin typeface="Arial" panose="020B0604020202090204"/>
                <a:ea typeface="Arial" panose="020B0604020202090204"/>
                <a:cs typeface="Arial" panose="020B0604020202090204"/>
                <a:sym typeface="+mn-ea"/>
              </a:rPr>
              <a:t>Demonstrations of feasibili</a:t>
            </a:r>
            <a:r>
              <a:rPr spc="-20" dirty="0">
                <a:solidFill>
                  <a:srgbClr val="000000">
                    <a:alpha val="100000"/>
                  </a:srgbClr>
                </a:solidFill>
                <a:latin typeface="Arial" panose="020B0604020202090204"/>
                <a:ea typeface="Arial" panose="020B0604020202090204"/>
                <a:cs typeface="Arial" panose="020B0604020202090204"/>
                <a:sym typeface="+mn-ea"/>
              </a:rPr>
              <a:t>t</a:t>
            </a:r>
            <a:r>
              <a:rPr dirty="0">
                <a:solidFill>
                  <a:srgbClr val="000000">
                    <a:alpha val="100000"/>
                  </a:srgbClr>
                </a:solidFill>
                <a:latin typeface="Arial" panose="020B0604020202090204"/>
                <a:ea typeface="Arial" panose="020B0604020202090204"/>
                <a:cs typeface="Arial" panose="020B0604020202090204"/>
                <a:sym typeface="+mn-ea"/>
              </a:rPr>
              <a:t>y</a:t>
            </a:r>
            <a:endParaRPr lang="en-US" altLang="en-US"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fontAlgn="auto">
              <a:lnSpc>
                <a:spcPct val="150000"/>
              </a:lnSpc>
              <a:buNone/>
            </a:pPr>
            <a:endParaRPr lang="en-US" altLang="en-US" sz="2000" spc="-30"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fontAlgn="auto">
              <a:lnSpc>
                <a:spcPct val="150000"/>
              </a:lnSpc>
              <a:buNone/>
            </a:pPr>
            <a:r>
              <a:rPr sz="2000" spc="-30" dirty="0">
                <a:solidFill>
                  <a:srgbClr val="000000">
                    <a:alpha val="100000"/>
                  </a:srgbClr>
                </a:solidFill>
                <a:latin typeface="Arial" panose="020B0604020202090204"/>
                <a:ea typeface="Arial" panose="020B0604020202090204"/>
                <a:cs typeface="Arial" panose="020B0604020202090204"/>
                <a:sym typeface="+mn-ea"/>
              </a:rPr>
              <a:t>2  Early vic</a:t>
            </a:r>
            <a:r>
              <a:rPr sz="2000" spc="-10" dirty="0">
                <a:solidFill>
                  <a:srgbClr val="000000">
                    <a:alpha val="100000"/>
                  </a:srgbClr>
                </a:solidFill>
                <a:latin typeface="Arial" panose="020B0604020202090204"/>
                <a:ea typeface="Arial" panose="020B0604020202090204"/>
                <a:cs typeface="Arial" panose="020B0604020202090204"/>
                <a:sym typeface="+mn-ea"/>
              </a:rPr>
              <a:t>t</a:t>
            </a:r>
            <a:r>
              <a:rPr sz="2000" dirty="0">
                <a:solidFill>
                  <a:srgbClr val="000000">
                    <a:alpha val="100000"/>
                  </a:srgbClr>
                </a:solidFill>
                <a:latin typeface="Arial" panose="020B0604020202090204"/>
                <a:ea typeface="Arial" panose="020B0604020202090204"/>
                <a:cs typeface="Arial" panose="020B0604020202090204"/>
                <a:sym typeface="+mn-ea"/>
              </a:rPr>
              <a:t>ory</a:t>
            </a:r>
            <a:endParaRPr lang="en-US" altLang="en-US" dirty="0"/>
          </a:p>
          <a:p>
            <a:pPr lvl="1" algn="l" rtl="0" eaLnBrk="0" fontAlgn="auto">
              <a:lnSpc>
                <a:spcPct val="150000"/>
              </a:lnSpc>
            </a:pPr>
            <a:r>
              <a:rPr spc="-60" dirty="0">
                <a:solidFill>
                  <a:srgbClr val="000000">
                    <a:alpha val="100000"/>
                  </a:srgbClr>
                </a:solidFill>
                <a:latin typeface="Arial" panose="020B0604020202090204"/>
                <a:ea typeface="Arial" panose="020B0604020202090204"/>
                <a:cs typeface="Arial" panose="020B0604020202090204"/>
                <a:sym typeface="+mn-ea"/>
              </a:rPr>
              <a:t>Focus on an easy first deliverabl</a:t>
            </a:r>
            <a:r>
              <a:rPr spc="-50" dirty="0">
                <a:solidFill>
                  <a:srgbClr val="000000">
                    <a:alpha val="100000"/>
                  </a:srgbClr>
                </a:solidFill>
                <a:latin typeface="Arial" panose="020B0604020202090204"/>
                <a:ea typeface="Arial" panose="020B0604020202090204"/>
                <a:cs typeface="Arial" panose="020B0604020202090204"/>
                <a:sym typeface="+mn-ea"/>
              </a:rPr>
              <a:t>e</a:t>
            </a:r>
            <a:r>
              <a:rPr lang="en-US" altLang="en-US" dirty="0"/>
              <a:t> </a:t>
            </a:r>
          </a:p>
          <a:p>
            <a:pPr marL="469900" lvl="1" algn="l" rtl="0" eaLnBrk="0" fontAlgn="auto">
              <a:lnSpc>
                <a:spcPct val="150000"/>
              </a:lnSpc>
            </a:pPr>
            <a:r>
              <a:rPr spc="-50" dirty="0">
                <a:solidFill>
                  <a:srgbClr val="000000">
                    <a:alpha val="100000"/>
                  </a:srgbClr>
                </a:solidFill>
                <a:latin typeface="Arial" panose="020B0604020202090204"/>
                <a:ea typeface="Arial" panose="020B0604020202090204"/>
                <a:cs typeface="Arial" panose="020B0604020202090204"/>
                <a:sym typeface="+mn-ea"/>
              </a:rPr>
              <a:t>Winning helps the team to bond and feel suc</a:t>
            </a:r>
            <a:r>
              <a:rPr spc="-10" dirty="0">
                <a:solidFill>
                  <a:srgbClr val="000000">
                    <a:alpha val="100000"/>
                  </a:srgbClr>
                </a:solidFill>
                <a:latin typeface="Arial" panose="020B0604020202090204"/>
                <a:ea typeface="Arial" panose="020B0604020202090204"/>
                <a:cs typeface="Arial" panose="020B0604020202090204"/>
                <a:sym typeface="+mn-ea"/>
              </a:rPr>
              <a:t>c</a:t>
            </a:r>
            <a:r>
              <a:rPr dirty="0">
                <a:solidFill>
                  <a:srgbClr val="000000">
                    <a:alpha val="100000"/>
                  </a:srgbClr>
                </a:solidFill>
                <a:latin typeface="Arial" panose="020B0604020202090204"/>
                <a:ea typeface="Arial" panose="020B0604020202090204"/>
                <a:cs typeface="Arial" panose="020B0604020202090204"/>
                <a:sym typeface="+mn-ea"/>
              </a:rPr>
              <a:t>essful</a:t>
            </a:r>
            <a:endParaRPr lang="en-US" altLang="en-US" dirty="0"/>
          </a:p>
          <a:p>
            <a:pPr marL="327025" algn="l" rtl="0" eaLnBrk="0" fontAlgn="auto">
              <a:lnSpc>
                <a:spcPct val="150000"/>
              </a:lnSpc>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29</a:t>
            </a:fld>
            <a:endParaRPr lang="en-US"/>
          </a:p>
        </p:txBody>
      </p:sp>
      <p:pic>
        <p:nvPicPr>
          <p:cNvPr id="84" name="picture 84"/>
          <p:cNvPicPr>
            <a:picLocks noChangeAspect="1"/>
          </p:cNvPicPr>
          <p:nvPr/>
        </p:nvPicPr>
        <p:blipFill>
          <a:blip r:embed="rId2"/>
          <a:stretch>
            <a:fillRect/>
          </a:stretch>
        </p:blipFill>
        <p:spPr>
          <a:xfrm rot="21600000">
            <a:off x="8809869" y="2718537"/>
            <a:ext cx="2173554" cy="173884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sym typeface="+mn-ea"/>
              </a:rPr>
              <a:t>Strategies</a:t>
            </a:r>
            <a:endParaRPr lang="en-US"/>
          </a:p>
        </p:txBody>
      </p:sp>
      <p:sp>
        <p:nvSpPr>
          <p:cNvPr id="2" name="Content Placeholder 1"/>
          <p:cNvSpPr>
            <a:spLocks noGrp="1"/>
          </p:cNvSpPr>
          <p:nvPr>
            <p:ph idx="1"/>
          </p:nvPr>
        </p:nvSpPr>
        <p:spPr>
          <a:xfrm>
            <a:off x="646430" y="1009650"/>
            <a:ext cx="10709275" cy="4958080"/>
          </a:xfrm>
        </p:spPr>
        <p:txBody>
          <a:bodyPr>
            <a:normAutofit/>
          </a:bodyPr>
          <a:lstStyle/>
          <a:p>
            <a:pPr algn="l" rtl="0" eaLnBrk="0">
              <a:lnSpc>
                <a:spcPct val="83000"/>
              </a:lnSpc>
            </a:pPr>
            <a:endParaRPr lang="en-US" altLang="en-US" dirty="0"/>
          </a:p>
          <a:p>
            <a:pPr marL="0" indent="0" algn="l" rtl="0" eaLnBrk="0">
              <a:lnSpc>
                <a:spcPts val="3695"/>
              </a:lnSpc>
              <a:buNone/>
            </a:pPr>
            <a:r>
              <a:rPr sz="2000" spc="-60" dirty="0">
                <a:solidFill>
                  <a:srgbClr val="000000">
                    <a:alpha val="100000"/>
                  </a:srgbClr>
                </a:solidFill>
                <a:latin typeface="Arial" panose="020B0604020202090204"/>
                <a:ea typeface="Arial" panose="020B0604020202090204"/>
                <a:cs typeface="Arial" panose="020B0604020202090204"/>
                <a:sym typeface="+mn-ea"/>
              </a:rPr>
              <a:t>3  Walking skeleto</a:t>
            </a:r>
            <a:r>
              <a:rPr sz="2000" dirty="0">
                <a:solidFill>
                  <a:srgbClr val="000000">
                    <a:alpha val="100000"/>
                  </a:srgbClr>
                </a:solidFill>
                <a:latin typeface="Arial" panose="020B0604020202090204"/>
                <a:ea typeface="Arial" panose="020B0604020202090204"/>
                <a:cs typeface="Arial" panose="020B0604020202090204"/>
                <a:sym typeface="+mn-ea"/>
              </a:rPr>
              <a:t>n</a:t>
            </a:r>
            <a:endParaRPr lang="en-US" altLang="en-US" dirty="0"/>
          </a:p>
          <a:p>
            <a:pPr marL="0" indent="0" algn="l" rtl="0" eaLnBrk="0">
              <a:lnSpc>
                <a:spcPct val="83000"/>
              </a:lnSpc>
              <a:buNone/>
            </a:pPr>
            <a:endParaRPr spc="-80"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ct val="83000"/>
              </a:lnSpc>
            </a:pPr>
            <a:r>
              <a:rPr spc="-80" dirty="0">
                <a:solidFill>
                  <a:srgbClr val="000000">
                    <a:alpha val="100000"/>
                  </a:srgbClr>
                </a:solidFill>
                <a:latin typeface="Arial" panose="020B0604020202090204"/>
                <a:ea typeface="Arial" panose="020B0604020202090204"/>
                <a:cs typeface="Arial" panose="020B0604020202090204"/>
                <a:sym typeface="+mn-ea"/>
              </a:rPr>
              <a:t>Tiny end-to-end version of the system’s function</a:t>
            </a:r>
            <a:r>
              <a:rPr spc="-3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lity </a:t>
            </a:r>
          </a:p>
          <a:p>
            <a:pPr lvl="1" eaLnBrk="0">
              <a:lnSpc>
                <a:spcPct val="83000"/>
              </a:lnSpc>
            </a:pPr>
            <a:r>
              <a:rPr spc="-70" dirty="0">
                <a:solidFill>
                  <a:srgbClr val="000000">
                    <a:alpha val="100000"/>
                  </a:srgbClr>
                </a:solidFill>
                <a:latin typeface="Arial" panose="020B0604020202090204"/>
                <a:ea typeface="Arial" panose="020B0604020202090204"/>
                <a:cs typeface="Arial" panose="020B0604020202090204"/>
                <a:sym typeface="+mn-ea"/>
              </a:rPr>
              <a:t>Provides a simple model for the user to ex</a:t>
            </a:r>
            <a:r>
              <a:rPr spc="-10" dirty="0">
                <a:solidFill>
                  <a:srgbClr val="000000">
                    <a:alpha val="100000"/>
                  </a:srgbClr>
                </a:solidFill>
                <a:latin typeface="Arial" panose="020B0604020202090204"/>
                <a:ea typeface="Arial" panose="020B0604020202090204"/>
                <a:cs typeface="Arial" panose="020B0604020202090204"/>
                <a:sym typeface="+mn-ea"/>
              </a:rPr>
              <a:t>p</a:t>
            </a:r>
            <a:r>
              <a:rPr dirty="0">
                <a:solidFill>
                  <a:srgbClr val="000000">
                    <a:alpha val="100000"/>
                  </a:srgbClr>
                </a:solidFill>
                <a:latin typeface="Arial" panose="020B0604020202090204"/>
                <a:ea typeface="Arial" panose="020B0604020202090204"/>
                <a:cs typeface="Arial" panose="020B0604020202090204"/>
                <a:sym typeface="+mn-ea"/>
              </a:rPr>
              <a:t>lore</a:t>
            </a:r>
          </a:p>
          <a:p>
            <a:pPr lvl="1" eaLnBrk="0">
              <a:lnSpc>
                <a:spcPct val="83000"/>
              </a:lnSpc>
            </a:pPr>
            <a:r>
              <a:rPr spc="-70" dirty="0">
                <a:solidFill>
                  <a:srgbClr val="000000">
                    <a:alpha val="100000"/>
                  </a:srgbClr>
                </a:solidFill>
                <a:latin typeface="Arial" panose="020B0604020202090204"/>
                <a:ea typeface="Arial" panose="020B0604020202090204"/>
                <a:cs typeface="Arial" panose="020B0604020202090204"/>
                <a:sym typeface="+mn-ea"/>
              </a:rPr>
              <a:t>System evolves from this first architecture</a:t>
            </a:r>
          </a:p>
          <a:p>
            <a:pPr marL="0" indent="0" algn="l" rtl="0" eaLnBrk="0">
              <a:lnSpc>
                <a:spcPct val="83000"/>
              </a:lnSpc>
              <a:buNone/>
            </a:pPr>
            <a:endParaRPr spc="-70"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a:lnSpc>
                <a:spcPct val="83000"/>
              </a:lnSpc>
              <a:buNone/>
            </a:pPr>
            <a:r>
              <a:rPr sz="2000" spc="-50" dirty="0">
                <a:solidFill>
                  <a:srgbClr val="000000">
                    <a:alpha val="100000"/>
                  </a:srgbClr>
                </a:solidFill>
                <a:latin typeface="Arial" panose="020B0604020202090204"/>
                <a:ea typeface="Arial" panose="020B0604020202090204"/>
                <a:cs typeface="Arial" panose="020B0604020202090204"/>
                <a:sym typeface="+mn-ea"/>
              </a:rPr>
              <a:t>4  Incremental re-archite</a:t>
            </a:r>
            <a:r>
              <a:rPr sz="2000" spc="-30" dirty="0">
                <a:solidFill>
                  <a:srgbClr val="000000">
                    <a:alpha val="100000"/>
                  </a:srgbClr>
                </a:solidFill>
                <a:latin typeface="Arial" panose="020B0604020202090204"/>
                <a:ea typeface="Arial" panose="020B0604020202090204"/>
                <a:cs typeface="Arial" panose="020B0604020202090204"/>
                <a:sym typeface="+mn-ea"/>
              </a:rPr>
              <a:t>c</a:t>
            </a:r>
            <a:r>
              <a:rPr sz="2000" dirty="0">
                <a:solidFill>
                  <a:srgbClr val="000000">
                    <a:alpha val="100000"/>
                  </a:srgbClr>
                </a:solidFill>
                <a:latin typeface="Arial" panose="020B0604020202090204"/>
                <a:ea typeface="Arial" panose="020B0604020202090204"/>
                <a:cs typeface="Arial" panose="020B0604020202090204"/>
                <a:sym typeface="+mn-ea"/>
              </a:rPr>
              <a:t>ture</a:t>
            </a:r>
          </a:p>
          <a:p>
            <a:pPr marL="0" indent="0" eaLnBrk="0">
              <a:lnSpc>
                <a:spcPct val="83000"/>
              </a:lnSpc>
              <a:buNone/>
            </a:pPr>
            <a:r>
              <a:rPr sz="200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                              </a:t>
            </a:r>
          </a:p>
          <a:p>
            <a:pPr lvl="1" algn="l" rtl="0" eaLnBrk="0">
              <a:lnSpc>
                <a:spcPct val="83000"/>
              </a:lnSpc>
            </a:pPr>
            <a:r>
              <a:rPr spc="-90" dirty="0">
                <a:solidFill>
                  <a:srgbClr val="000000">
                    <a:alpha val="100000"/>
                  </a:srgbClr>
                </a:solidFill>
                <a:latin typeface="Arial" panose="020B0604020202090204"/>
                <a:ea typeface="Arial" panose="020B0604020202090204"/>
                <a:cs typeface="Arial" panose="020B0604020202090204"/>
                <a:sym typeface="+mn-ea"/>
              </a:rPr>
              <a:t>Be prepared to change the architectu</a:t>
            </a:r>
            <a:r>
              <a:rPr dirty="0">
                <a:solidFill>
                  <a:srgbClr val="000000">
                    <a:alpha val="100000"/>
                  </a:srgbClr>
                </a:solidFill>
                <a:latin typeface="Arial" panose="020B0604020202090204"/>
                <a:ea typeface="Arial" panose="020B0604020202090204"/>
                <a:cs typeface="Arial" panose="020B0604020202090204"/>
                <a:sym typeface="+mn-ea"/>
              </a:rPr>
              <a:t>re</a:t>
            </a:r>
          </a:p>
          <a:p>
            <a:pPr lvl="1" algn="l" rtl="0" eaLnBrk="0">
              <a:lnSpc>
                <a:spcPct val="83000"/>
              </a:lnSpc>
            </a:pPr>
            <a:r>
              <a:rPr spc="-70" dirty="0">
                <a:solidFill>
                  <a:srgbClr val="000000">
                    <a:alpha val="100000"/>
                  </a:srgbClr>
                </a:solidFill>
                <a:latin typeface="Arial" panose="020B0604020202090204"/>
                <a:ea typeface="Arial" panose="020B0604020202090204"/>
                <a:cs typeface="Arial" panose="020B0604020202090204"/>
                <a:sym typeface="+mn-ea"/>
              </a:rPr>
              <a:t>Have a fallback or temporary solution (a </a:t>
            </a:r>
            <a:r>
              <a:rPr lang="en-US" spc="-70" dirty="0">
                <a:solidFill>
                  <a:srgbClr val="000000">
                    <a:alpha val="100000"/>
                  </a:srgbClr>
                </a:solidFill>
                <a:latin typeface="Arial" panose="020B0604020202090204"/>
                <a:ea typeface="Arial" panose="020B0604020202090204"/>
                <a:cs typeface="Arial" panose="020B0604020202090204"/>
                <a:sym typeface="+mn-ea"/>
              </a:rPr>
              <a:t>short-term</a:t>
            </a:r>
            <a:r>
              <a:rPr spc="-7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hack</a:t>
            </a:r>
            <a:r>
              <a:rPr spc="-70" dirty="0">
                <a:solidFill>
                  <a:srgbClr val="000000">
                    <a:alpha val="100000"/>
                  </a:srgbClr>
                </a:solidFill>
                <a:latin typeface="Arial" panose="020B0604020202090204"/>
                <a:ea typeface="Arial" panose="020B0604020202090204"/>
                <a:cs typeface="Arial" panose="020B0604020202090204"/>
                <a:sym typeface="+mn-ea"/>
              </a:rPr>
              <a:t>)</a:t>
            </a:r>
          </a:p>
          <a:p>
            <a:pPr lvl="1" algn="l" rtl="0" eaLnBrk="0">
              <a:lnSpc>
                <a:spcPct val="83000"/>
              </a:lnSpc>
            </a:pPr>
            <a:r>
              <a:rPr spc="-60" dirty="0">
                <a:solidFill>
                  <a:srgbClr val="000000">
                    <a:alpha val="100000"/>
                  </a:srgbClr>
                </a:solidFill>
                <a:latin typeface="Arial" panose="020B0604020202090204"/>
                <a:ea typeface="Arial" panose="020B0604020202090204"/>
                <a:cs typeface="Arial" panose="020B0604020202090204"/>
                <a:sym typeface="+mn-ea"/>
              </a:rPr>
              <a:t>Evolve to the new architecture through parallel effor</a:t>
            </a:r>
            <a:r>
              <a:rPr spc="-40" dirty="0">
                <a:solidFill>
                  <a:srgbClr val="000000">
                    <a:alpha val="100000"/>
                  </a:srgbClr>
                </a:solidFill>
                <a:latin typeface="Arial" panose="020B0604020202090204"/>
                <a:ea typeface="Arial" panose="020B0604020202090204"/>
                <a:cs typeface="Arial" panose="020B0604020202090204"/>
                <a:sym typeface="+mn-ea"/>
              </a:rPr>
              <a:t>t</a:t>
            </a:r>
            <a:endParaRPr lang="en-US" altLang="en-US" dirty="0"/>
          </a:p>
          <a:p>
            <a:pPr marL="313690" indent="-17780" algn="l" rtl="0" eaLnBrk="0">
              <a:lnSpc>
                <a:spcPct val="143000"/>
              </a:lnSpc>
              <a:spcBef>
                <a:spcPts val="115"/>
              </a:spcBef>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30</a:t>
            </a:fld>
            <a:endParaRPr lang="en-US"/>
          </a:p>
        </p:txBody>
      </p:sp>
      <p:pic>
        <p:nvPicPr>
          <p:cNvPr id="93" name="picture 93"/>
          <p:cNvPicPr>
            <a:picLocks noChangeAspect="1"/>
          </p:cNvPicPr>
          <p:nvPr/>
        </p:nvPicPr>
        <p:blipFill>
          <a:blip r:embed="rId2"/>
          <a:stretch>
            <a:fillRect/>
          </a:stretch>
        </p:blipFill>
        <p:spPr>
          <a:xfrm rot="21600000">
            <a:off x="8030210" y="1113155"/>
            <a:ext cx="2174875" cy="2112645"/>
          </a:xfrm>
          <a:prstGeom prst="rect">
            <a:avLst/>
          </a:prstGeom>
        </p:spPr>
      </p:pic>
      <p:pic>
        <p:nvPicPr>
          <p:cNvPr id="86" name="picture 86"/>
          <p:cNvPicPr>
            <a:picLocks noChangeAspect="1"/>
          </p:cNvPicPr>
          <p:nvPr/>
        </p:nvPicPr>
        <p:blipFill>
          <a:blip r:embed="rId3"/>
          <a:stretch>
            <a:fillRect/>
          </a:stretch>
        </p:blipFill>
        <p:spPr>
          <a:xfrm rot="21600000">
            <a:off x="7889875" y="3427095"/>
            <a:ext cx="2440305" cy="195199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sym typeface="+mn-ea"/>
              </a:rPr>
              <a:t>Strategies</a:t>
            </a:r>
            <a:endParaRPr lang="en-US"/>
          </a:p>
        </p:txBody>
      </p:sp>
      <p:sp>
        <p:nvSpPr>
          <p:cNvPr id="2" name="Content Placeholder 1"/>
          <p:cNvSpPr>
            <a:spLocks noGrp="1"/>
          </p:cNvSpPr>
          <p:nvPr>
            <p:ph idx="1"/>
          </p:nvPr>
        </p:nvSpPr>
        <p:spPr>
          <a:xfrm>
            <a:off x="646676" y="1214179"/>
            <a:ext cx="10709031" cy="3879273"/>
          </a:xfrm>
        </p:spPr>
        <p:txBody>
          <a:bodyPr/>
          <a:lstStyle/>
          <a:p>
            <a:pPr marL="0" indent="0" algn="l" rtl="0" eaLnBrk="0">
              <a:lnSpc>
                <a:spcPct val="83000"/>
              </a:lnSpc>
              <a:buNone/>
            </a:pPr>
            <a:endParaRPr lang="en-US" sz="2000" spc="-20"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a:lnSpc>
                <a:spcPct val="83000"/>
              </a:lnSpc>
              <a:buNone/>
            </a:pPr>
            <a:r>
              <a:rPr sz="2000" spc="-20" dirty="0">
                <a:solidFill>
                  <a:srgbClr val="000000">
                    <a:alpha val="100000"/>
                  </a:srgbClr>
                </a:solidFill>
                <a:latin typeface="Arial" panose="020B0604020202090204"/>
                <a:ea typeface="Arial" panose="020B0604020202090204"/>
                <a:cs typeface="Arial" panose="020B0604020202090204"/>
                <a:sym typeface="+mn-ea"/>
              </a:rPr>
              <a:t>5  Information r</a:t>
            </a:r>
            <a:r>
              <a:rPr sz="2000" dirty="0">
                <a:solidFill>
                  <a:srgbClr val="000000">
                    <a:alpha val="100000"/>
                  </a:srgbClr>
                </a:solidFill>
                <a:latin typeface="Arial" panose="020B0604020202090204"/>
                <a:ea typeface="Arial" panose="020B0604020202090204"/>
                <a:cs typeface="Arial" panose="020B0604020202090204"/>
                <a:sym typeface="+mn-ea"/>
              </a:rPr>
              <a:t>adiators</a:t>
            </a:r>
          </a:p>
          <a:p>
            <a:pPr algn="l" rtl="0" eaLnBrk="0">
              <a:lnSpc>
                <a:spcPct val="83000"/>
              </a:lnSpc>
            </a:pPr>
            <a:endParaRPr sz="2000" spc="-80" dirty="0">
              <a:solidFill>
                <a:srgbClr val="000000">
                  <a:alpha val="100000"/>
                </a:srgbClr>
              </a:solidFill>
              <a:latin typeface="Arial" panose="020B0604020202090204"/>
              <a:ea typeface="Arial" panose="020B0604020202090204"/>
              <a:cs typeface="Arial" panose="020B0604020202090204"/>
              <a:sym typeface="+mn-ea"/>
            </a:endParaRPr>
          </a:p>
          <a:p>
            <a:pPr lvl="1" algn="l" rtl="0" eaLnBrk="0">
              <a:lnSpc>
                <a:spcPct val="83000"/>
              </a:lnSpc>
            </a:pPr>
            <a:r>
              <a:rPr spc="-80" dirty="0">
                <a:solidFill>
                  <a:srgbClr val="000000">
                    <a:alpha val="100000"/>
                  </a:srgbClr>
                </a:solidFill>
                <a:latin typeface="Arial" panose="020B0604020202090204"/>
                <a:ea typeface="Arial" panose="020B0604020202090204"/>
                <a:cs typeface="Arial" panose="020B0604020202090204"/>
                <a:sym typeface="+mn-ea"/>
              </a:rPr>
              <a:t>Display useful information through osmotic communic</a:t>
            </a:r>
            <a:r>
              <a:rPr spc="-6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tion</a:t>
            </a:r>
          </a:p>
          <a:p>
            <a:pPr lvl="1" algn="l" rtl="0" eaLnBrk="0">
              <a:lnSpc>
                <a:spcPct val="83000"/>
              </a:lnSpc>
            </a:pPr>
            <a:r>
              <a:rPr spc="-90" dirty="0">
                <a:solidFill>
                  <a:srgbClr val="000000">
                    <a:alpha val="100000"/>
                  </a:srgbClr>
                </a:solidFill>
                <a:latin typeface="Arial" panose="020B0604020202090204"/>
                <a:ea typeface="Arial" panose="020B0604020202090204"/>
                <a:cs typeface="Arial" panose="020B0604020202090204"/>
                <a:sym typeface="+mn-ea"/>
              </a:rPr>
              <a:t>Updated continuou</a:t>
            </a:r>
            <a:r>
              <a:rPr spc="-80" dirty="0">
                <a:solidFill>
                  <a:srgbClr val="000000">
                    <a:alpha val="100000"/>
                  </a:srgbClr>
                </a:solidFill>
                <a:latin typeface="Arial" panose="020B0604020202090204"/>
                <a:ea typeface="Arial" panose="020B0604020202090204"/>
                <a:cs typeface="Arial" panose="020B0604020202090204"/>
                <a:sym typeface="+mn-ea"/>
              </a:rPr>
              <a:t>s</a:t>
            </a:r>
            <a:r>
              <a:rPr dirty="0">
                <a:solidFill>
                  <a:srgbClr val="000000">
                    <a:alpha val="100000"/>
                  </a:srgbClr>
                </a:solidFill>
                <a:latin typeface="Arial" panose="020B0604020202090204"/>
                <a:ea typeface="Arial" panose="020B0604020202090204"/>
                <a:cs typeface="Arial" panose="020B0604020202090204"/>
                <a:sym typeface="+mn-ea"/>
              </a:rPr>
              <a:t>ly</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lvl="1" algn="l" rtl="0" eaLnBrk="0">
              <a:lnSpc>
                <a:spcPct val="83000"/>
              </a:lnSpc>
            </a:pPr>
            <a:r>
              <a:rPr spc="-60" dirty="0">
                <a:solidFill>
                  <a:srgbClr val="000000">
                    <a:alpha val="100000"/>
                  </a:srgbClr>
                </a:solidFill>
                <a:latin typeface="Arial" panose="020B0604020202090204"/>
                <a:ea typeface="Arial" panose="020B0604020202090204"/>
                <a:cs typeface="Arial" panose="020B0604020202090204"/>
                <a:sym typeface="+mn-ea"/>
              </a:rPr>
              <a:t>E</a:t>
            </a:r>
            <a:r>
              <a:rPr lang="en-US" spc="-60" dirty="0">
                <a:solidFill>
                  <a:srgbClr val="000000">
                    <a:alpha val="100000"/>
                  </a:srgbClr>
                </a:solidFill>
                <a:latin typeface="Arial" panose="020B0604020202090204"/>
                <a:ea typeface="Arial" panose="020B0604020202090204"/>
                <a:cs typeface="Arial" panose="020B0604020202090204"/>
                <a:sym typeface="+mn-ea"/>
              </a:rPr>
              <a:t>.</a:t>
            </a:r>
            <a:r>
              <a:rPr spc="-60" dirty="0">
                <a:solidFill>
                  <a:srgbClr val="000000">
                    <a:alpha val="100000"/>
                  </a:srgbClr>
                </a:solidFill>
                <a:latin typeface="Arial" panose="020B0604020202090204"/>
                <a:ea typeface="Arial" panose="020B0604020202090204"/>
                <a:cs typeface="Arial" panose="020B0604020202090204"/>
                <a:sym typeface="+mn-ea"/>
              </a:rPr>
              <a:t>g</a:t>
            </a:r>
            <a:r>
              <a:rPr lang="en-US" spc="-60" dirty="0">
                <a:solidFill>
                  <a:srgbClr val="000000">
                    <a:alpha val="100000"/>
                  </a:srgbClr>
                </a:solidFill>
                <a:latin typeface="Arial" panose="020B0604020202090204"/>
                <a:ea typeface="Arial" panose="020B0604020202090204"/>
                <a:cs typeface="Arial" panose="020B0604020202090204"/>
                <a:sym typeface="+mn-ea"/>
              </a:rPr>
              <a:t>.,</a:t>
            </a:r>
            <a:r>
              <a:rPr spc="-60" dirty="0">
                <a:solidFill>
                  <a:srgbClr val="000000">
                    <a:alpha val="100000"/>
                  </a:srgbClr>
                </a:solidFill>
                <a:latin typeface="Arial" panose="020B0604020202090204"/>
                <a:ea typeface="Arial" panose="020B0604020202090204"/>
                <a:cs typeface="Arial" panose="020B0604020202090204"/>
                <a:sym typeface="+mn-ea"/>
              </a:rPr>
              <a:t> Burn down chart to display status and progre</a:t>
            </a:r>
            <a:r>
              <a:rPr spc="-30" dirty="0">
                <a:solidFill>
                  <a:srgbClr val="000000">
                    <a:alpha val="100000"/>
                  </a:srgbClr>
                </a:solidFill>
                <a:latin typeface="Arial" panose="020B0604020202090204"/>
                <a:ea typeface="Arial" panose="020B0604020202090204"/>
                <a:cs typeface="Arial" panose="020B0604020202090204"/>
                <a:sym typeface="+mn-ea"/>
              </a:rPr>
              <a:t>s</a:t>
            </a:r>
            <a:r>
              <a:rPr dirty="0">
                <a:solidFill>
                  <a:srgbClr val="000000">
                    <a:alpha val="100000"/>
                  </a:srgbClr>
                </a:solidFill>
                <a:latin typeface="Arial" panose="020B0604020202090204"/>
                <a:ea typeface="Arial" panose="020B0604020202090204"/>
                <a:cs typeface="Arial" panose="020B0604020202090204"/>
                <a:sym typeface="+mn-ea"/>
              </a:rPr>
              <a:t>s</a:t>
            </a: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31</a:t>
            </a:fld>
            <a:endParaRPr lang="en-US"/>
          </a:p>
        </p:txBody>
      </p:sp>
      <p:pic>
        <p:nvPicPr>
          <p:cNvPr id="94" name="picture 94"/>
          <p:cNvPicPr>
            <a:picLocks noChangeAspect="1"/>
          </p:cNvPicPr>
          <p:nvPr/>
        </p:nvPicPr>
        <p:blipFill>
          <a:blip r:embed="rId2"/>
          <a:stretch>
            <a:fillRect/>
          </a:stretch>
        </p:blipFill>
        <p:spPr>
          <a:xfrm rot="21600000">
            <a:off x="7188520" y="2206107"/>
            <a:ext cx="4166870" cy="2887345"/>
          </a:xfrm>
          <a:prstGeom prst="rect">
            <a:avLst/>
          </a:prstGeom>
        </p:spPr>
      </p:pic>
      <p:pic>
        <p:nvPicPr>
          <p:cNvPr id="97" name="picture 97"/>
          <p:cNvPicPr>
            <a:picLocks noChangeAspect="1"/>
          </p:cNvPicPr>
          <p:nvPr/>
        </p:nvPicPr>
        <p:blipFill>
          <a:blip r:embed="rId3"/>
          <a:stretch>
            <a:fillRect/>
          </a:stretch>
        </p:blipFill>
        <p:spPr>
          <a:xfrm rot="21600000">
            <a:off x="8402868" y="777782"/>
            <a:ext cx="2173554" cy="17388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60781-EC5C-1A75-D0DB-1543E2684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5CC15-8CB1-783C-0D82-6877D710AC2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a:t>
            </a:r>
            <a:r>
              <a:rPr lang="en-US" sz="4000" b="1" dirty="0">
                <a:latin typeface="Arial" panose="020B0604020202020204" pitchFamily="34" charset="0"/>
                <a:cs typeface="Arial" panose="020B0604020202020204" pitchFamily="34" charset="0"/>
              </a:rPr>
              <a:t>echniques</a:t>
            </a:r>
            <a:endParaRPr lang="en-US" dirty="0"/>
          </a:p>
        </p:txBody>
      </p:sp>
      <p:sp>
        <p:nvSpPr>
          <p:cNvPr id="4" name="Content Placeholder 3">
            <a:extLst>
              <a:ext uri="{FF2B5EF4-FFF2-40B4-BE49-F238E27FC236}">
                <a16:creationId xmlns:a16="http://schemas.microsoft.com/office/drawing/2014/main" id="{38A98CD3-B950-1E8F-4E9D-1865575ECE3E}"/>
              </a:ext>
            </a:extLst>
          </p:cNvPr>
          <p:cNvSpPr>
            <a:spLocks noGrp="1"/>
          </p:cNvSpPr>
          <p:nvPr>
            <p:ph idx="1"/>
          </p:nvPr>
        </p:nvSpPr>
        <p:spPr>
          <a:xfrm>
            <a:off x="644771" y="1249378"/>
            <a:ext cx="10709031" cy="4832769"/>
          </a:xfrm>
        </p:spPr>
        <p:txBody>
          <a:bodyPr/>
          <a:lstStyle/>
          <a:p>
            <a:pPr marL="309880" indent="-285750" eaLnBrk="0">
              <a:lnSpc>
                <a:spcPct val="150000"/>
              </a:lnSpc>
              <a:spcBef>
                <a:spcPts val="5"/>
              </a:spcBef>
            </a:pPr>
            <a:r>
              <a:rPr lang="en-US" altLang="en-US" dirty="0">
                <a:solidFill>
                  <a:schemeClr val="tx1">
                    <a:lumMod val="50000"/>
                  </a:schemeClr>
                </a:solidFill>
                <a:latin typeface="Arial" panose="020B0604020202020204" pitchFamily="34" charset="0"/>
                <a:cs typeface="Arial" panose="020B0604020202020204" pitchFamily="34" charset="0"/>
              </a:rPr>
              <a:t>Techniques</a:t>
            </a:r>
            <a:r>
              <a:rPr lang="en-US" spc="-4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 These are specific practices used to implement strategies, such as:</a:t>
            </a:r>
          </a:p>
          <a:p>
            <a:pPr marL="755650" lvl="1" indent="-285750" eaLnBrk="0">
              <a:lnSpc>
                <a:spcPct val="150000"/>
              </a:lnSpc>
              <a:spcBef>
                <a:spcPts val="725"/>
              </a:spcBef>
            </a:pPr>
            <a:r>
              <a:rPr lang="en-US" b="1" dirty="0">
                <a:solidFill>
                  <a:schemeClr val="tx1">
                    <a:lumMod val="50000"/>
                  </a:schemeClr>
                </a:solidFill>
                <a:latin typeface="Arial" panose="020B0604020202020204" pitchFamily="34" charset="0"/>
                <a:cs typeface="Arial" panose="020B0604020202020204" pitchFamily="34" charset="0"/>
              </a:rPr>
              <a:t>Frequent releases</a:t>
            </a:r>
            <a:r>
              <a:rPr lang="en-US" dirty="0">
                <a:solidFill>
                  <a:schemeClr val="tx1">
                    <a:lumMod val="50000"/>
                  </a:schemeClr>
                </a:solidFill>
                <a:latin typeface="Arial" panose="020B0604020202020204" pitchFamily="34" charset="0"/>
                <a:cs typeface="Arial" panose="020B0604020202020204" pitchFamily="34" charset="0"/>
              </a:rPr>
              <a:t> of small increments</a:t>
            </a:r>
          </a:p>
          <a:p>
            <a:pPr marL="755650" lvl="1" indent="-285750" eaLnBrk="0">
              <a:lnSpc>
                <a:spcPct val="150000"/>
              </a:lnSpc>
              <a:spcBef>
                <a:spcPts val="725"/>
              </a:spcBef>
            </a:pPr>
            <a:r>
              <a:rPr lang="en-US" b="1" dirty="0">
                <a:solidFill>
                  <a:schemeClr val="tx1">
                    <a:lumMod val="50000"/>
                  </a:schemeClr>
                </a:solidFill>
                <a:latin typeface="Arial" panose="020B0604020202020204" pitchFamily="34" charset="0"/>
                <a:cs typeface="Arial" panose="020B0604020202020204" pitchFamily="34" charset="0"/>
              </a:rPr>
              <a:t>Pair programming</a:t>
            </a:r>
            <a:endParaRPr lang="en-US" dirty="0">
              <a:solidFill>
                <a:schemeClr val="tx1">
                  <a:lumMod val="50000"/>
                </a:schemeClr>
              </a:solidFill>
              <a:latin typeface="Arial" panose="020B0604020202020204" pitchFamily="34" charset="0"/>
              <a:cs typeface="Arial" panose="020B0604020202020204" pitchFamily="34" charset="0"/>
            </a:endParaRPr>
          </a:p>
          <a:p>
            <a:pPr marL="755650" lvl="1" indent="-285750" eaLnBrk="0">
              <a:lnSpc>
                <a:spcPct val="150000"/>
              </a:lnSpc>
              <a:spcBef>
                <a:spcPts val="725"/>
              </a:spcBef>
            </a:pPr>
            <a:r>
              <a:rPr lang="en-US" b="1" dirty="0">
                <a:solidFill>
                  <a:schemeClr val="tx1">
                    <a:lumMod val="50000"/>
                  </a:schemeClr>
                </a:solidFill>
                <a:latin typeface="Arial" panose="020B0604020202020204" pitchFamily="34" charset="0"/>
                <a:cs typeface="Arial" panose="020B0604020202020204" pitchFamily="34" charset="0"/>
              </a:rPr>
              <a:t>Automated testing</a:t>
            </a:r>
            <a:endParaRPr lang="en-US" dirty="0">
              <a:solidFill>
                <a:schemeClr val="tx1">
                  <a:lumMod val="50000"/>
                </a:schemeClr>
              </a:solidFill>
              <a:latin typeface="Arial" panose="020B0604020202020204" pitchFamily="34" charset="0"/>
              <a:cs typeface="Arial" panose="020B0604020202020204" pitchFamily="34" charset="0"/>
            </a:endParaRPr>
          </a:p>
          <a:p>
            <a:pPr marL="755650" lvl="1" indent="-285750" eaLnBrk="0">
              <a:lnSpc>
                <a:spcPct val="150000"/>
              </a:lnSpc>
              <a:spcBef>
                <a:spcPts val="725"/>
              </a:spcBef>
            </a:pPr>
            <a:r>
              <a:rPr lang="en-US" b="1" dirty="0">
                <a:solidFill>
                  <a:schemeClr val="tx1">
                    <a:lumMod val="50000"/>
                  </a:schemeClr>
                </a:solidFill>
                <a:latin typeface="Arial" panose="020B0604020202020204" pitchFamily="34" charset="0"/>
                <a:cs typeface="Arial" panose="020B0604020202020204" pitchFamily="34" charset="0"/>
              </a:rPr>
              <a:t>Simple design</a:t>
            </a:r>
          </a:p>
          <a:p>
            <a:pPr marL="755650" lvl="1" indent="-285750" eaLnBrk="0">
              <a:lnSpc>
                <a:spcPct val="150000"/>
              </a:lnSpc>
              <a:spcBef>
                <a:spcPts val="725"/>
              </a:spcBef>
            </a:pPr>
            <a:r>
              <a:rPr lang="en-US" spc="-7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Techniques are things y</a:t>
            </a:r>
            <a:r>
              <a:rPr lang="en-US"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o</a:t>
            </a:r>
            <a:r>
              <a:rPr lang="en-US"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u</a:t>
            </a:r>
            <a:r>
              <a:rPr lang="en-US" spc="-7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 </a:t>
            </a:r>
            <a:r>
              <a:rPr lang="en-US"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do</a:t>
            </a:r>
          </a:p>
          <a:p>
            <a:pPr marL="755650" lvl="1" indent="-285750" eaLnBrk="0">
              <a:lnSpc>
                <a:spcPct val="150000"/>
              </a:lnSpc>
              <a:spcBef>
                <a:spcPts val="725"/>
              </a:spcBef>
            </a:pPr>
            <a:r>
              <a:rPr lang="en-US" spc="-5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Skills that the team can develop and use to solve pr</a:t>
            </a:r>
            <a:r>
              <a:rPr lang="en-US" spc="-40"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o</a:t>
            </a:r>
            <a:r>
              <a:rPr lang="en-US" dirty="0">
                <a:solidFill>
                  <a:schemeClr val="tx1">
                    <a:lumMod val="50000"/>
                  </a:schemeClr>
                </a:solidFill>
                <a:latin typeface="Arial" panose="020B0604020202020204" pitchFamily="34" charset="0"/>
                <a:ea typeface="Arial" panose="020B0604020202090204"/>
                <a:cs typeface="Arial" panose="020B0604020202020204" pitchFamily="34" charset="0"/>
                <a:sym typeface="+mn-ea"/>
              </a:rPr>
              <a:t>blems</a:t>
            </a:r>
            <a:endParaRPr lang="en-US" dirty="0">
              <a:solidFill>
                <a:schemeClr val="tx1">
                  <a:lumMod val="50000"/>
                </a:schemeClr>
              </a:solidFill>
              <a:latin typeface="Arial" panose="020B0604020202020204" pitchFamily="34" charset="0"/>
              <a:cs typeface="Arial" panose="020B0604020202020204" pitchFamily="34" charset="0"/>
            </a:endParaRPr>
          </a:p>
          <a:p>
            <a:r>
              <a:rPr lang="en-US" dirty="0">
                <a:solidFill>
                  <a:schemeClr val="tx1">
                    <a:lumMod val="50000"/>
                  </a:schemeClr>
                </a:solidFill>
                <a:latin typeface="Arial" panose="020B0604020202020204" pitchFamily="34" charset="0"/>
                <a:cs typeface="Arial" panose="020B0604020202020204" pitchFamily="34" charset="0"/>
              </a:rPr>
              <a:t>By adjusting properties, strategies, and techniques, Crystal customizes Agile practices to fit the unique needs of each project.</a:t>
            </a:r>
          </a:p>
        </p:txBody>
      </p:sp>
      <p:sp>
        <p:nvSpPr>
          <p:cNvPr id="5" name="Slide Number Placeholder 4">
            <a:extLst>
              <a:ext uri="{FF2B5EF4-FFF2-40B4-BE49-F238E27FC236}">
                <a16:creationId xmlns:a16="http://schemas.microsoft.com/office/drawing/2014/main" id="{CC35F766-FE65-08F4-870C-4D03EFC9705B}"/>
              </a:ext>
            </a:extLst>
          </p:cNvPr>
          <p:cNvSpPr>
            <a:spLocks noGrp="1"/>
          </p:cNvSpPr>
          <p:nvPr>
            <p:ph type="sldNum" sz="quarter" idx="12"/>
          </p:nvPr>
        </p:nvSpPr>
        <p:spPr/>
        <p:txBody>
          <a:bodyPr/>
          <a:lstStyle/>
          <a:p>
            <a:fld id="{4267CD5E-26CF-4249-8540-BB1D07FD4227}" type="slidenum">
              <a:rPr lang="en-US" smtClean="0"/>
              <a:t>32</a:t>
            </a:fld>
            <a:endParaRPr lang="en-US"/>
          </a:p>
        </p:txBody>
      </p:sp>
    </p:spTree>
    <p:extLst>
      <p:ext uri="{BB962C8B-B14F-4D97-AF65-F5344CB8AC3E}">
        <p14:creationId xmlns:p14="http://schemas.microsoft.com/office/powerpoint/2010/main" val="2771424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6359" y="327027"/>
            <a:ext cx="10709031" cy="734621"/>
          </a:xfrm>
        </p:spPr>
        <p:txBody>
          <a:bodyPr/>
          <a:lstStyle/>
          <a:p>
            <a:r>
              <a:rPr lang="en-US"/>
              <a:t>Techniques</a:t>
            </a:r>
          </a:p>
        </p:txBody>
      </p:sp>
      <p:sp>
        <p:nvSpPr>
          <p:cNvPr id="2" name="Content Placeholder 1"/>
          <p:cNvSpPr>
            <a:spLocks noGrp="1"/>
          </p:cNvSpPr>
          <p:nvPr>
            <p:ph idx="1"/>
          </p:nvPr>
        </p:nvSpPr>
        <p:spPr>
          <a:xfrm>
            <a:off x="646430" y="542290"/>
            <a:ext cx="10709275" cy="5655310"/>
          </a:xfrm>
        </p:spPr>
        <p:txBody>
          <a:bodyPr>
            <a:normAutofit fontScale="97500"/>
          </a:bodyPr>
          <a:lstStyle/>
          <a:p>
            <a:pPr indent="0" algn="l" rtl="0" eaLnBrk="0" fontAlgn="auto">
              <a:lnSpc>
                <a:spcPct val="200000"/>
              </a:lnSpc>
              <a:buNone/>
            </a:pPr>
            <a:endParaRPr lang="en-US" altLang="en-US" sz="1400" dirty="0"/>
          </a:p>
          <a:p>
            <a:pPr marL="12700" indent="0" eaLnBrk="0">
              <a:lnSpc>
                <a:spcPct val="200000"/>
              </a:lnSpc>
              <a:buNone/>
            </a:pPr>
            <a:r>
              <a:rPr sz="2000" spc="-60" dirty="0">
                <a:solidFill>
                  <a:srgbClr val="000000">
                    <a:alpha val="100000"/>
                  </a:srgbClr>
                </a:solidFill>
                <a:latin typeface="Arial" panose="020B0604020202090204"/>
                <a:ea typeface="Arial" panose="020B0604020202090204"/>
                <a:cs typeface="Arial" panose="020B0604020202090204"/>
                <a:sym typeface="+mn-ea"/>
              </a:rPr>
              <a:t>1   Methodology shaping to define the pro</a:t>
            </a:r>
            <a:r>
              <a:rPr sz="2000" spc="-50" dirty="0">
                <a:solidFill>
                  <a:srgbClr val="000000">
                    <a:alpha val="100000"/>
                  </a:srgbClr>
                </a:solidFill>
                <a:latin typeface="Arial" panose="020B0604020202090204"/>
                <a:ea typeface="Arial" panose="020B0604020202090204"/>
                <a:cs typeface="Arial" panose="020B0604020202090204"/>
                <a:sym typeface="+mn-ea"/>
              </a:rPr>
              <a:t>c</a:t>
            </a:r>
            <a:r>
              <a:rPr sz="2000" dirty="0">
                <a:solidFill>
                  <a:srgbClr val="000000">
                    <a:alpha val="100000"/>
                  </a:srgbClr>
                </a:solidFill>
                <a:latin typeface="Arial" panose="020B0604020202090204"/>
                <a:ea typeface="Arial" panose="020B0604020202090204"/>
                <a:cs typeface="Arial" panose="020B0604020202090204"/>
                <a:sym typeface="+mn-ea"/>
              </a:rPr>
              <a:t>ess</a:t>
            </a:r>
            <a:endParaRPr dirty="0">
              <a:solidFill>
                <a:srgbClr val="000000">
                  <a:alpha val="100000"/>
                </a:srgbClr>
              </a:solidFill>
              <a:latin typeface="Arial" panose="020B0604020202090204"/>
              <a:ea typeface="Arial" panose="020B0604020202090204"/>
              <a:cs typeface="Arial" panose="020B0604020202090204"/>
              <a:sym typeface="+mn-ea"/>
            </a:endParaRPr>
          </a:p>
          <a:p>
            <a:pPr marL="755650" lvl="1" indent="-285750" eaLnBrk="0">
              <a:lnSpc>
                <a:spcPct val="200000"/>
              </a:lnSpc>
            </a:pPr>
            <a:r>
              <a:rPr spc="-50" dirty="0">
                <a:solidFill>
                  <a:srgbClr val="000000">
                    <a:alpha val="100000"/>
                  </a:srgbClr>
                </a:solidFill>
                <a:latin typeface="Arial" panose="020B0604020202090204"/>
                <a:ea typeface="Arial" panose="020B0604020202090204"/>
                <a:cs typeface="Arial" panose="020B0604020202090204"/>
                <a:sym typeface="+mn-ea"/>
              </a:rPr>
              <a:t>Conduct interviews to collect information abou</a:t>
            </a:r>
            <a:r>
              <a:rPr dirty="0">
                <a:solidFill>
                  <a:srgbClr val="000000">
                    <a:alpha val="100000"/>
                  </a:srgbClr>
                </a:solidFill>
                <a:latin typeface="Arial" panose="020B0604020202090204"/>
                <a:ea typeface="Arial" panose="020B0604020202090204"/>
                <a:cs typeface="Arial" panose="020B0604020202090204"/>
                <a:sym typeface="+mn-ea"/>
              </a:rPr>
              <a:t>t</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the</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team</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marL="755650" lvl="1" indent="-285750" eaLnBrk="0">
              <a:lnSpc>
                <a:spcPct val="200000"/>
              </a:lnSpc>
            </a:pPr>
            <a:r>
              <a:rPr spc="-70" dirty="0">
                <a:solidFill>
                  <a:srgbClr val="000000">
                    <a:alpha val="100000"/>
                  </a:srgbClr>
                </a:solidFill>
                <a:latin typeface="Arial" panose="020B0604020202090204"/>
                <a:ea typeface="Arial" panose="020B0604020202090204"/>
                <a:cs typeface="Arial" panose="020B0604020202090204"/>
                <a:sym typeface="+mn-ea"/>
              </a:rPr>
              <a:t>Conduct workshop to define an optimal process for t</a:t>
            </a:r>
            <a:r>
              <a:rPr spc="-10" dirty="0">
                <a:solidFill>
                  <a:srgbClr val="000000">
                    <a:alpha val="100000"/>
                  </a:srgbClr>
                </a:solidFill>
                <a:latin typeface="Arial" panose="020B0604020202090204"/>
                <a:ea typeface="Arial" panose="020B0604020202090204"/>
                <a:cs typeface="Arial" panose="020B0604020202090204"/>
                <a:sym typeface="+mn-ea"/>
              </a:rPr>
              <a:t>h</a:t>
            </a:r>
            <a:r>
              <a:rPr dirty="0">
                <a:solidFill>
                  <a:srgbClr val="000000">
                    <a:alpha val="100000"/>
                  </a:srgbClr>
                </a:solidFill>
                <a:latin typeface="Arial" panose="020B0604020202090204"/>
                <a:ea typeface="Arial" panose="020B0604020202090204"/>
                <a:cs typeface="Arial" panose="020B0604020202090204"/>
                <a:sym typeface="+mn-ea"/>
              </a:rPr>
              <a:t>is</a:t>
            </a:r>
            <a:r>
              <a:rPr spc="-7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team </a:t>
            </a:r>
          </a:p>
          <a:p>
            <a:pPr marL="12700" indent="0" eaLnBrk="0">
              <a:lnSpc>
                <a:spcPct val="200000"/>
              </a:lnSpc>
              <a:buNone/>
            </a:pPr>
            <a:r>
              <a:rPr sz="2000" spc="-40" dirty="0">
                <a:solidFill>
                  <a:srgbClr val="000000">
                    <a:alpha val="100000"/>
                  </a:srgbClr>
                </a:solidFill>
                <a:latin typeface="Arial" panose="020B0604020202090204"/>
                <a:ea typeface="Arial" panose="020B0604020202090204"/>
                <a:cs typeface="Arial" panose="020B0604020202090204"/>
                <a:sym typeface="+mn-ea"/>
              </a:rPr>
              <a:t>2  Reflection works</a:t>
            </a:r>
            <a:r>
              <a:rPr sz="2000" dirty="0">
                <a:solidFill>
                  <a:srgbClr val="000000">
                    <a:alpha val="100000"/>
                  </a:srgbClr>
                </a:solidFill>
                <a:latin typeface="Arial" panose="020B0604020202090204"/>
                <a:ea typeface="Arial" panose="020B0604020202090204"/>
                <a:cs typeface="Arial" panose="020B0604020202090204"/>
                <a:sym typeface="+mn-ea"/>
              </a:rPr>
              <a:t>hop</a:t>
            </a:r>
            <a:endParaRPr dirty="0">
              <a:solidFill>
                <a:srgbClr val="000000">
                  <a:alpha val="100000"/>
                </a:srgbClr>
              </a:solidFill>
              <a:latin typeface="Arial" panose="020B0604020202090204"/>
              <a:ea typeface="Arial" panose="020B0604020202090204"/>
              <a:cs typeface="Arial" panose="020B0604020202090204"/>
              <a:sym typeface="+mn-ea"/>
            </a:endParaRPr>
          </a:p>
          <a:p>
            <a:pPr marL="766445" lvl="1" indent="-285750" algn="l" rtl="0" eaLnBrk="0" fontAlgn="auto">
              <a:lnSpc>
                <a:spcPct val="200000"/>
              </a:lnSpc>
              <a:spcBef>
                <a:spcPts val="95"/>
              </a:spcBef>
            </a:pPr>
            <a:r>
              <a:rPr spc="-90" dirty="0">
                <a:solidFill>
                  <a:srgbClr val="000000">
                    <a:alpha val="100000"/>
                  </a:srgbClr>
                </a:solidFill>
                <a:latin typeface="Arial" panose="020B0604020202090204"/>
                <a:ea typeface="Arial" panose="020B0604020202090204"/>
                <a:cs typeface="Arial" panose="020B0604020202090204"/>
                <a:sym typeface="+mn-ea"/>
              </a:rPr>
              <a:t>Hour-long meeting after each deli</a:t>
            </a:r>
            <a:r>
              <a:rPr spc="-10" dirty="0">
                <a:solidFill>
                  <a:srgbClr val="000000">
                    <a:alpha val="100000"/>
                  </a:srgbClr>
                </a:solidFill>
                <a:latin typeface="Arial" panose="020B0604020202090204"/>
                <a:ea typeface="Arial" panose="020B0604020202090204"/>
                <a:cs typeface="Arial" panose="020B0604020202090204"/>
                <a:sym typeface="+mn-ea"/>
              </a:rPr>
              <a:t>v</a:t>
            </a:r>
            <a:r>
              <a:rPr dirty="0">
                <a:solidFill>
                  <a:srgbClr val="000000">
                    <a:alpha val="100000"/>
                  </a:srgbClr>
                </a:solidFill>
                <a:latin typeface="Arial" panose="020B0604020202090204"/>
                <a:ea typeface="Arial" panose="020B0604020202090204"/>
                <a:cs typeface="Arial" panose="020B0604020202090204"/>
                <a:sym typeface="+mn-ea"/>
              </a:rPr>
              <a:t>ery </a:t>
            </a:r>
          </a:p>
          <a:p>
            <a:pPr marL="766445" lvl="1" indent="-285750" algn="l" rtl="0" eaLnBrk="0" fontAlgn="auto">
              <a:lnSpc>
                <a:spcPct val="200000"/>
              </a:lnSpc>
              <a:spcBef>
                <a:spcPts val="95"/>
              </a:spcBef>
            </a:pPr>
            <a:r>
              <a:rPr spc="-60" dirty="0">
                <a:solidFill>
                  <a:srgbClr val="000000">
                    <a:alpha val="100000"/>
                  </a:srgbClr>
                </a:solidFill>
                <a:latin typeface="Arial" panose="020B0604020202090204"/>
                <a:ea typeface="Arial" panose="020B0604020202090204"/>
                <a:cs typeface="Arial" panose="020B0604020202090204"/>
                <a:sym typeface="+mn-ea"/>
              </a:rPr>
              <a:t>What are we doing we</a:t>
            </a:r>
            <a:r>
              <a:rPr spc="-40" dirty="0">
                <a:solidFill>
                  <a:srgbClr val="000000">
                    <a:alpha val="100000"/>
                  </a:srgbClr>
                </a:solidFill>
                <a:latin typeface="Arial" panose="020B0604020202090204"/>
                <a:ea typeface="Arial" panose="020B0604020202090204"/>
                <a:cs typeface="Arial" panose="020B0604020202090204"/>
                <a:sym typeface="+mn-ea"/>
              </a:rPr>
              <a:t>l</a:t>
            </a:r>
            <a:r>
              <a:rPr dirty="0">
                <a:solidFill>
                  <a:srgbClr val="000000">
                    <a:alpha val="100000"/>
                  </a:srgbClr>
                </a:solidFill>
                <a:latin typeface="Arial" panose="020B0604020202090204"/>
                <a:ea typeface="Arial" panose="020B0604020202090204"/>
                <a:cs typeface="Arial" panose="020B0604020202090204"/>
                <a:sym typeface="+mn-ea"/>
              </a:rPr>
              <a:t>l</a:t>
            </a:r>
            <a:r>
              <a:rPr spc="-60" dirty="0">
                <a:solidFill>
                  <a:srgbClr val="000000">
                    <a:alpha val="100000"/>
                  </a:srgbClr>
                </a:solidFill>
                <a:latin typeface="Arial" panose="020B0604020202090204"/>
                <a:ea typeface="Arial" panose="020B0604020202090204"/>
                <a:cs typeface="Arial" panose="020B0604020202090204"/>
                <a:sym typeface="+mn-ea"/>
              </a:rPr>
              <a:t>?</a:t>
            </a:r>
            <a:r>
              <a:rPr spc="-40" dirty="0">
                <a:solidFill>
                  <a:srgbClr val="000000">
                    <a:alpha val="100000"/>
                  </a:srgbClr>
                </a:solidFill>
                <a:latin typeface="Arial" panose="020B0604020202090204"/>
                <a:ea typeface="Arial" panose="020B0604020202090204"/>
                <a:cs typeface="Arial" panose="020B0604020202090204"/>
                <a:sym typeface="+mn-ea"/>
              </a:rPr>
              <a:t>What can we do bette</a:t>
            </a:r>
            <a:r>
              <a:rPr spc="-10" dirty="0">
                <a:solidFill>
                  <a:srgbClr val="000000">
                    <a:alpha val="100000"/>
                  </a:srgbClr>
                </a:solidFill>
                <a:latin typeface="Arial" panose="020B0604020202090204"/>
                <a:ea typeface="Arial" panose="020B0604020202090204"/>
                <a:cs typeface="Arial" panose="020B0604020202090204"/>
                <a:sym typeface="+mn-ea"/>
              </a:rPr>
              <a:t>r</a:t>
            </a:r>
            <a:r>
              <a:rPr spc="-40" dirty="0">
                <a:solidFill>
                  <a:srgbClr val="000000">
                    <a:alpha val="100000"/>
                  </a:srgbClr>
                </a:solidFill>
                <a:latin typeface="Arial" panose="020B0604020202090204"/>
                <a:ea typeface="Arial" panose="020B0604020202090204"/>
                <a:cs typeface="Arial" panose="020B0604020202090204"/>
                <a:sym typeface="+mn-ea"/>
              </a:rPr>
              <a:t>?</a:t>
            </a:r>
          </a:p>
          <a:p>
            <a:pPr marL="766445" lvl="1" indent="-285750" algn="l" rtl="0" eaLnBrk="0" fontAlgn="auto">
              <a:lnSpc>
                <a:spcPct val="200000"/>
              </a:lnSpc>
              <a:spcBef>
                <a:spcPts val="95"/>
              </a:spcBef>
            </a:pPr>
            <a:r>
              <a:rPr spc="-80" dirty="0">
                <a:solidFill>
                  <a:srgbClr val="000000">
                    <a:alpha val="100000"/>
                  </a:srgbClr>
                </a:solidFill>
                <a:latin typeface="Arial" panose="020B0604020202090204"/>
                <a:ea typeface="Arial" panose="020B0604020202090204"/>
                <a:cs typeface="Arial" panose="020B0604020202090204"/>
                <a:sym typeface="+mn-ea"/>
              </a:rPr>
              <a:t>How can we improve our proc</a:t>
            </a:r>
            <a:r>
              <a:rPr spc="-4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ss</a:t>
            </a:r>
            <a:r>
              <a:rPr spc="-80" dirty="0">
                <a:solidFill>
                  <a:srgbClr val="000000">
                    <a:alpha val="100000"/>
                  </a:srgbClr>
                </a:solidFill>
                <a:latin typeface="Arial" panose="020B0604020202090204"/>
                <a:ea typeface="Arial" panose="020B0604020202090204"/>
                <a:cs typeface="Arial" panose="020B0604020202090204"/>
                <a:sym typeface="+mn-ea"/>
              </a:rPr>
              <a:t>?</a:t>
            </a:r>
          </a:p>
          <a:p>
            <a:pPr marL="766445" lvl="1" indent="-285750" algn="l" rtl="0" eaLnBrk="0" fontAlgn="auto">
              <a:lnSpc>
                <a:spcPct val="200000"/>
              </a:lnSpc>
              <a:spcBef>
                <a:spcPts val="95"/>
              </a:spcBef>
            </a:pPr>
            <a:r>
              <a:rPr spc="-70" dirty="0">
                <a:solidFill>
                  <a:srgbClr val="000000">
                    <a:alpha val="100000"/>
                  </a:srgbClr>
                </a:solidFill>
                <a:latin typeface="Arial" panose="020B0604020202090204"/>
                <a:ea typeface="Arial" panose="020B0604020202090204"/>
                <a:cs typeface="Arial" panose="020B0604020202090204"/>
                <a:sym typeface="+mn-ea"/>
              </a:rPr>
              <a:t>Analogous to Sprint Retrospectiv</a:t>
            </a:r>
            <a:r>
              <a:rPr spc="-60" dirty="0">
                <a:solidFill>
                  <a:srgbClr val="000000">
                    <a:alpha val="100000"/>
                  </a:srgbClr>
                </a:solidFill>
                <a:latin typeface="Arial" panose="020B0604020202090204"/>
                <a:ea typeface="Arial" panose="020B0604020202090204"/>
                <a:cs typeface="Arial" panose="020B0604020202090204"/>
                <a:sym typeface="+mn-ea"/>
              </a:rPr>
              <a:t>e</a:t>
            </a:r>
            <a:endParaRPr lang="en-US" altLang="en-US" sz="1400" dirty="0"/>
          </a:p>
          <a:p>
            <a:pPr marL="12700" indent="0" algn="l" rtl="0" eaLnBrk="0" fontAlgn="auto">
              <a:lnSpc>
                <a:spcPct val="200000"/>
              </a:lnSpc>
              <a:spcBef>
                <a:spcPts val="5"/>
              </a:spcBef>
            </a:pPr>
            <a:endParaRPr sz="1400" dirty="0">
              <a:solidFill>
                <a:srgbClr val="000000">
                  <a:alpha val="100000"/>
                </a:srgbClr>
              </a:solidFill>
              <a:latin typeface="Arial" panose="020B0604020202090204"/>
              <a:ea typeface="Arial" panose="020B0604020202090204"/>
              <a:cs typeface="Arial" panose="020B0604020202090204"/>
              <a:sym typeface="+mn-ea"/>
            </a:endParaRPr>
          </a:p>
          <a:p>
            <a:pPr marL="12700" indent="0" algn="l" rtl="0" eaLnBrk="0" fontAlgn="auto">
              <a:lnSpc>
                <a:spcPct val="200000"/>
              </a:lnSpc>
            </a:pPr>
            <a:endParaRPr lang="en-US" sz="1400" dirty="0"/>
          </a:p>
        </p:txBody>
      </p:sp>
      <p:sp>
        <p:nvSpPr>
          <p:cNvPr id="3" name="Slide Number Placeholder 2"/>
          <p:cNvSpPr>
            <a:spLocks noGrp="1"/>
          </p:cNvSpPr>
          <p:nvPr>
            <p:ph type="sldNum" sz="quarter" idx="12"/>
          </p:nvPr>
        </p:nvSpPr>
        <p:spPr/>
        <p:txBody>
          <a:bodyPr/>
          <a:lstStyle/>
          <a:p>
            <a:fld id="{4267CD5E-26CF-4249-8540-BB1D07FD4227}" type="slidenum">
              <a:rPr lang="en-US" smtClean="0"/>
              <a:t>33</a:t>
            </a:fld>
            <a:endParaRPr lang="en-US"/>
          </a:p>
        </p:txBody>
      </p:sp>
      <p:pic>
        <p:nvPicPr>
          <p:cNvPr id="109" name="picture 109"/>
          <p:cNvPicPr>
            <a:picLocks noChangeAspect="1"/>
          </p:cNvPicPr>
          <p:nvPr/>
        </p:nvPicPr>
        <p:blipFill>
          <a:blip r:embed="rId3"/>
          <a:stretch>
            <a:fillRect/>
          </a:stretch>
        </p:blipFill>
        <p:spPr>
          <a:xfrm rot="21600000">
            <a:off x="8026400" y="327025"/>
            <a:ext cx="2538730" cy="1914525"/>
          </a:xfrm>
          <a:prstGeom prst="rect">
            <a:avLst/>
          </a:prstGeom>
        </p:spPr>
      </p:pic>
      <p:graphicFrame>
        <p:nvGraphicFramePr>
          <p:cNvPr id="6" name="Table 5"/>
          <p:cNvGraphicFramePr/>
          <p:nvPr>
            <p:custDataLst>
              <p:tags r:id="rId1"/>
            </p:custDataLst>
            <p:extLst>
              <p:ext uri="{D42A27DB-BD31-4B8C-83A1-F6EECF244321}">
                <p14:modId xmlns:p14="http://schemas.microsoft.com/office/powerpoint/2010/main" val="2402852648"/>
              </p:ext>
            </p:extLst>
          </p:nvPr>
        </p:nvGraphicFramePr>
        <p:xfrm>
          <a:off x="7327581" y="2553970"/>
          <a:ext cx="4096663" cy="3331210"/>
        </p:xfrm>
        <a:graphic>
          <a:graphicData uri="http://schemas.openxmlformats.org/drawingml/2006/table">
            <a:tbl>
              <a:tblPr firstRow="1" bandRow="1">
                <a:effectLst>
                  <a:outerShdw blurRad="50800" dist="50800" dir="5400000" sx="1000" sy="1000" algn="ctr" rotWithShape="0">
                    <a:schemeClr val="bg2">
                      <a:lumMod val="10000"/>
                      <a:alpha val="100000"/>
                    </a:schemeClr>
                  </a:outerShdw>
                </a:effectLst>
                <a:tableStyleId>{5C22544A-7EE6-4342-B048-85BDC9FD1C3A}</a:tableStyleId>
              </a:tblPr>
              <a:tblGrid>
                <a:gridCol w="2155129">
                  <a:extLst>
                    <a:ext uri="{9D8B030D-6E8A-4147-A177-3AD203B41FA5}">
                      <a16:colId xmlns:a16="http://schemas.microsoft.com/office/drawing/2014/main" val="20000"/>
                    </a:ext>
                  </a:extLst>
                </a:gridCol>
                <a:gridCol w="1941534">
                  <a:extLst>
                    <a:ext uri="{9D8B030D-6E8A-4147-A177-3AD203B41FA5}">
                      <a16:colId xmlns:a16="http://schemas.microsoft.com/office/drawing/2014/main" val="20001"/>
                    </a:ext>
                  </a:extLst>
                </a:gridCol>
              </a:tblGrid>
              <a:tr h="1725930">
                <a:tc>
                  <a:txBody>
                    <a:bodyPr/>
                    <a:lstStyle/>
                    <a:p>
                      <a:pPr>
                        <a:lnSpc>
                          <a:spcPct val="100000"/>
                        </a:lnSpc>
                        <a:buNone/>
                      </a:pPr>
                      <a:r>
                        <a:rPr lang="en-US" b="1">
                          <a:ln>
                            <a:noFill/>
                          </a:ln>
                          <a:solidFill>
                            <a:schemeClr val="bg2">
                              <a:lumMod val="10000"/>
                            </a:schemeClr>
                          </a:solidFill>
                          <a:effectLst>
                            <a:outerShdw blurRad="50800" dir="5400000" algn="ctr" rotWithShape="0">
                              <a:srgbClr val="000000">
                                <a:alpha val="0"/>
                              </a:srgbClr>
                            </a:outerShdw>
                          </a:effectLst>
                        </a:rPr>
                        <a:t>Keep these</a:t>
                      </a:r>
                    </a:p>
                    <a:p>
                      <a:pPr>
                        <a:lnSpc>
                          <a:spcPct val="100000"/>
                        </a:lnSpc>
                        <a:buNone/>
                      </a:pPr>
                      <a:r>
                        <a:rPr lang="en-US" b="0">
                          <a:ln>
                            <a:noFill/>
                          </a:ln>
                          <a:solidFill>
                            <a:schemeClr val="bg2">
                              <a:lumMod val="10000"/>
                            </a:schemeClr>
                          </a:solidFill>
                          <a:effectLst>
                            <a:outerShdw blurRad="50800" dir="5400000" algn="ctr" rotWithShape="0">
                              <a:srgbClr val="000000">
                                <a:alpha val="0"/>
                              </a:srgbClr>
                            </a:outerShdw>
                          </a:effectLst>
                        </a:rPr>
                        <a:t>test lock-down</a:t>
                      </a:r>
                    </a:p>
                    <a:p>
                      <a:pPr>
                        <a:lnSpc>
                          <a:spcPct val="100000"/>
                        </a:lnSpc>
                        <a:buNone/>
                      </a:pPr>
                      <a:r>
                        <a:rPr lang="en-US" b="0">
                          <a:ln>
                            <a:noFill/>
                          </a:ln>
                          <a:solidFill>
                            <a:schemeClr val="bg2">
                              <a:lumMod val="10000"/>
                            </a:schemeClr>
                          </a:solidFill>
                          <a:effectLst>
                            <a:outerShdw blurRad="50800" dir="5400000" algn="ctr" rotWithShape="0">
                              <a:srgbClr val="000000">
                                <a:alpha val="0"/>
                              </a:srgbClr>
                            </a:outerShdw>
                          </a:effectLst>
                        </a:rPr>
                        <a:t>quiet time</a:t>
                      </a:r>
                    </a:p>
                    <a:p>
                      <a:pPr>
                        <a:lnSpc>
                          <a:spcPct val="100000"/>
                        </a:lnSpc>
                        <a:buNone/>
                      </a:pPr>
                      <a:r>
                        <a:rPr lang="en-US" b="0">
                          <a:ln>
                            <a:noFill/>
                          </a:ln>
                          <a:solidFill>
                            <a:schemeClr val="bg2">
                              <a:lumMod val="10000"/>
                            </a:schemeClr>
                          </a:solidFill>
                          <a:effectLst>
                            <a:outerShdw blurRad="50800" dir="5400000" algn="ctr" rotWithShape="0">
                              <a:srgbClr val="000000">
                                <a:alpha val="0"/>
                              </a:srgbClr>
                            </a:outerShdw>
                          </a:effectLst>
                        </a:rPr>
                        <a:t>daily meetings</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alpha val="11000"/>
                      </a:schemeClr>
                    </a:solidFill>
                  </a:tcPr>
                </a:tc>
                <a:tc rowSpan="2">
                  <a:txBody>
                    <a:bodyPr/>
                    <a:lstStyle/>
                    <a:p>
                      <a:pPr>
                        <a:buNone/>
                      </a:pPr>
                      <a:r>
                        <a:rPr lang="en-US" b="1">
                          <a:solidFill>
                            <a:schemeClr val="bg2">
                              <a:lumMod val="10000"/>
                            </a:schemeClr>
                          </a:solidFill>
                        </a:rPr>
                        <a:t>Try these</a:t>
                      </a:r>
                    </a:p>
                    <a:p>
                      <a:pPr>
                        <a:buNone/>
                      </a:pPr>
                      <a:r>
                        <a:rPr lang="en-US" b="0">
                          <a:solidFill>
                            <a:schemeClr val="bg2">
                              <a:lumMod val="10000"/>
                            </a:schemeClr>
                          </a:solidFill>
                        </a:rPr>
                        <a:t>pair testing</a:t>
                      </a:r>
                    </a:p>
                    <a:p>
                      <a:pPr>
                        <a:buNone/>
                      </a:pPr>
                      <a:r>
                        <a:rPr lang="en-US" b="0">
                          <a:solidFill>
                            <a:schemeClr val="bg2">
                              <a:lumMod val="10000"/>
                            </a:schemeClr>
                          </a:solidFill>
                        </a:rPr>
                        <a:t>fines for interruptions</a:t>
                      </a:r>
                    </a:p>
                    <a:p>
                      <a:pPr>
                        <a:buNone/>
                      </a:pPr>
                      <a:r>
                        <a:rPr lang="en-US" b="0">
                          <a:solidFill>
                            <a:schemeClr val="bg2">
                              <a:lumMod val="10000"/>
                            </a:schemeClr>
                          </a:solidFill>
                        </a:rPr>
                        <a:t>programmers help testers</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r h="1605280">
                <a:tc>
                  <a:txBody>
                    <a:bodyPr/>
                    <a:lstStyle/>
                    <a:p>
                      <a:pPr>
                        <a:lnSpc>
                          <a:spcPct val="100000"/>
                        </a:lnSpc>
                        <a:buNone/>
                      </a:pPr>
                      <a:r>
                        <a:rPr lang="en-US" b="1" dirty="0">
                          <a:ln>
                            <a:noFill/>
                          </a:ln>
                          <a:solidFill>
                            <a:schemeClr val="bg2">
                              <a:lumMod val="10000"/>
                            </a:schemeClr>
                          </a:solidFill>
                          <a:effectLst>
                            <a:outerShdw blurRad="50800" dir="5400000" algn="ctr" rotWithShape="0">
                              <a:srgbClr val="000000">
                                <a:alpha val="0"/>
                              </a:srgbClr>
                            </a:outerShdw>
                          </a:effectLst>
                        </a:rPr>
                        <a:t>Problems</a:t>
                      </a:r>
                    </a:p>
                    <a:p>
                      <a:pPr>
                        <a:lnSpc>
                          <a:spcPct val="100000"/>
                        </a:lnSpc>
                        <a:buNone/>
                      </a:pPr>
                      <a:r>
                        <a:rPr lang="en-US" b="0" dirty="0">
                          <a:ln>
                            <a:noFill/>
                          </a:ln>
                          <a:solidFill>
                            <a:schemeClr val="bg2">
                              <a:lumMod val="10000"/>
                            </a:schemeClr>
                          </a:solidFill>
                          <a:effectLst>
                            <a:outerShdw blurRad="50800" dir="5400000" algn="ctr" rotWithShape="0">
                              <a:srgbClr val="000000">
                                <a:alpha val="0"/>
                              </a:srgbClr>
                            </a:outerShdw>
                          </a:effectLst>
                        </a:rPr>
                        <a:t>too many interruptions shipping buggy code</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accent1">
                        <a:alpha val="11000"/>
                      </a:schemeClr>
                    </a:solidFill>
                  </a:tcPr>
                </a:tc>
                <a:tc vMerge="1">
                  <a:txBody>
                    <a:bodyPr/>
                    <a:lstStyle/>
                    <a:p>
                      <a:endParaRPr lang="en-US"/>
                    </a:p>
                  </a:txBody>
                  <a:tcPr>
                    <a:lnL w="12700">
                      <a:solidFill>
                        <a:schemeClr val="tx1"/>
                      </a:solidFill>
                      <a:prstDash val="solid"/>
                    </a:lnL>
                    <a:lnR w="12700">
                      <a:solidFill>
                        <a:schemeClr val="tx1"/>
                      </a:solidFill>
                      <a:prstDash val="solid"/>
                    </a:lnR>
                    <a:lnB w="12700">
                      <a:solidFill>
                        <a:schemeClr val="tx1"/>
                      </a:solidFill>
                      <a:prstDash val="solid"/>
                    </a:lnB>
                    <a:solidFill>
                      <a:schemeClr val="accent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ym typeface="+mn-ea"/>
              </a:rPr>
              <a:t>Techniques</a:t>
            </a:r>
            <a:endParaRPr lang="en-US" dirty="0"/>
          </a:p>
        </p:txBody>
      </p:sp>
      <p:sp>
        <p:nvSpPr>
          <p:cNvPr id="2" name="Content Placeholder 1"/>
          <p:cNvSpPr>
            <a:spLocks noGrp="1"/>
          </p:cNvSpPr>
          <p:nvPr>
            <p:ph idx="1"/>
          </p:nvPr>
        </p:nvSpPr>
        <p:spPr>
          <a:xfrm>
            <a:off x="644525" y="1294765"/>
            <a:ext cx="10709275" cy="4787265"/>
          </a:xfrm>
        </p:spPr>
        <p:txBody>
          <a:bodyPr/>
          <a:lstStyle/>
          <a:p>
            <a:pPr marL="0" indent="0" algn="l" rtl="0" eaLnBrk="0">
              <a:lnSpc>
                <a:spcPct val="83000"/>
              </a:lnSpc>
              <a:buNone/>
            </a:pPr>
            <a:r>
              <a:rPr sz="2000" spc="-60" dirty="0">
                <a:solidFill>
                  <a:srgbClr val="000000">
                    <a:alpha val="100000"/>
                  </a:srgbClr>
                </a:solidFill>
                <a:latin typeface="Arial" panose="020B0604020202090204"/>
                <a:ea typeface="Arial" panose="020B0604020202090204"/>
                <a:cs typeface="Arial" panose="020B0604020202090204"/>
                <a:sym typeface="+mn-ea"/>
              </a:rPr>
              <a:t>3   Blitz planning/Planning “Jam Ses</a:t>
            </a:r>
            <a:r>
              <a:rPr sz="2000" spc="-40" dirty="0">
                <a:solidFill>
                  <a:srgbClr val="000000">
                    <a:alpha val="100000"/>
                  </a:srgbClr>
                </a:solidFill>
                <a:latin typeface="Arial" panose="020B0604020202090204"/>
                <a:ea typeface="Arial" panose="020B0604020202090204"/>
                <a:cs typeface="Arial" panose="020B0604020202090204"/>
                <a:sym typeface="+mn-ea"/>
              </a:rPr>
              <a:t>s</a:t>
            </a:r>
            <a:r>
              <a:rPr sz="2000" dirty="0">
                <a:solidFill>
                  <a:srgbClr val="000000">
                    <a:alpha val="100000"/>
                  </a:srgbClr>
                </a:solidFill>
                <a:latin typeface="Arial" panose="020B0604020202090204"/>
                <a:ea typeface="Arial" panose="020B0604020202090204"/>
                <a:cs typeface="Arial" panose="020B0604020202090204"/>
                <a:sym typeface="+mn-ea"/>
              </a:rPr>
              <a:t>ion</a:t>
            </a:r>
            <a:r>
              <a:rPr sz="2000" spc="-6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772160" lvl="1" algn="l" rtl="0" eaLnBrk="0">
              <a:lnSpc>
                <a:spcPct val="86000"/>
              </a:lnSpc>
              <a:spcBef>
                <a:spcPts val="1810"/>
              </a:spcBef>
            </a:pPr>
            <a:r>
              <a:rPr spc="-90" dirty="0">
                <a:solidFill>
                  <a:srgbClr val="000000">
                    <a:alpha val="100000"/>
                  </a:srgbClr>
                </a:solidFill>
                <a:latin typeface="Arial" panose="020B0604020202090204"/>
                <a:ea typeface="Arial" panose="020B0604020202090204"/>
                <a:cs typeface="Arial" panose="020B0604020202090204"/>
                <a:sym typeface="+mn-ea"/>
              </a:rPr>
              <a:t>Like XP's Planning Ga</a:t>
            </a:r>
            <a:r>
              <a:rPr spc="-70" dirty="0">
                <a:solidFill>
                  <a:srgbClr val="000000">
                    <a:alpha val="100000"/>
                  </a:srgbClr>
                </a:solidFill>
                <a:latin typeface="Arial" panose="020B0604020202090204"/>
                <a:ea typeface="Arial" panose="020B0604020202090204"/>
                <a:cs typeface="Arial" panose="020B0604020202090204"/>
                <a:sym typeface="+mn-ea"/>
              </a:rPr>
              <a:t>m</a:t>
            </a:r>
            <a:r>
              <a:rPr dirty="0">
                <a:solidFill>
                  <a:srgbClr val="000000">
                    <a:alpha val="100000"/>
                  </a:srgbClr>
                </a:solidFill>
                <a:latin typeface="Arial" panose="020B0604020202090204"/>
                <a:ea typeface="Arial" panose="020B0604020202090204"/>
                <a:cs typeface="Arial" panose="020B0604020202090204"/>
                <a:sym typeface="+mn-ea"/>
              </a:rPr>
              <a:t>e</a:t>
            </a:r>
            <a:endParaRPr lang="en-US" altLang="en-US" dirty="0"/>
          </a:p>
          <a:p>
            <a:pPr marL="763905" lvl="1" algn="l" rtl="0" eaLnBrk="0">
              <a:lnSpc>
                <a:spcPts val="4475"/>
              </a:lnSpc>
              <a:spcBef>
                <a:spcPts val="70"/>
              </a:spcBef>
            </a:pPr>
            <a:r>
              <a:rPr spc="-60" dirty="0">
                <a:solidFill>
                  <a:srgbClr val="000000">
                    <a:alpha val="100000"/>
                  </a:srgbClr>
                </a:solidFill>
                <a:latin typeface="Arial" panose="020B0604020202090204"/>
                <a:ea typeface="Arial" panose="020B0604020202090204"/>
                <a:cs typeface="Arial" panose="020B0604020202090204"/>
                <a:sym typeface="+mn-ea"/>
              </a:rPr>
              <a:t>Create initial project </a:t>
            </a:r>
            <a:r>
              <a:rPr spc="-40" dirty="0">
                <a:solidFill>
                  <a:srgbClr val="000000">
                    <a:alpha val="100000"/>
                  </a:srgbClr>
                </a:solidFill>
                <a:latin typeface="Arial" panose="020B0604020202090204"/>
                <a:ea typeface="Arial" panose="020B0604020202090204"/>
                <a:cs typeface="Arial" panose="020B0604020202090204"/>
                <a:sym typeface="+mn-ea"/>
              </a:rPr>
              <a:t>p</a:t>
            </a:r>
            <a:r>
              <a:rPr dirty="0">
                <a:solidFill>
                  <a:srgbClr val="000000">
                    <a:alpha val="100000"/>
                  </a:srgbClr>
                </a:solidFill>
                <a:latin typeface="Arial" panose="020B0604020202090204"/>
                <a:ea typeface="Arial" panose="020B0604020202090204"/>
                <a:cs typeface="Arial" panose="020B0604020202090204"/>
                <a:sym typeface="+mn-ea"/>
              </a:rPr>
              <a:t>lan</a:t>
            </a:r>
          </a:p>
          <a:p>
            <a:pPr marL="763905" lvl="1" algn="l" rtl="0" eaLnBrk="0">
              <a:lnSpc>
                <a:spcPts val="4475"/>
              </a:lnSpc>
              <a:spcBef>
                <a:spcPts val="70"/>
              </a:spcBef>
            </a:pPr>
            <a:r>
              <a:rPr spc="-50" dirty="0">
                <a:solidFill>
                  <a:srgbClr val="000000">
                    <a:alpha val="100000"/>
                  </a:srgbClr>
                </a:solidFill>
                <a:latin typeface="Arial" panose="020B0604020202090204"/>
                <a:ea typeface="Arial" panose="020B0604020202090204"/>
                <a:cs typeface="Arial" panose="020B0604020202090204"/>
                <a:sym typeface="+mn-ea"/>
              </a:rPr>
              <a:t>Include all stakeholder</a:t>
            </a:r>
            <a:r>
              <a:rPr dirty="0">
                <a:solidFill>
                  <a:srgbClr val="000000">
                    <a:alpha val="100000"/>
                  </a:srgbClr>
                </a:solidFill>
                <a:latin typeface="Arial" panose="020B0604020202090204"/>
                <a:ea typeface="Arial" panose="020B0604020202090204"/>
                <a:cs typeface="Arial" panose="020B0604020202090204"/>
                <a:sym typeface="+mn-ea"/>
              </a:rPr>
              <a:t>s </a:t>
            </a:r>
            <a:r>
              <a:rPr lang="en-US" dirty="0">
                <a:solidFill>
                  <a:srgbClr val="000000">
                    <a:alpha val="100000"/>
                  </a:srgbClr>
                </a:solidFill>
                <a:latin typeface="Arial" panose="020B0604020202090204"/>
                <a:ea typeface="Arial" panose="020B0604020202090204"/>
                <a:cs typeface="Arial" panose="020B0604020202090204"/>
                <a:sym typeface="+mn-ea"/>
              </a:rPr>
              <a:t>(</a:t>
            </a:r>
            <a:r>
              <a:rPr spc="-90" dirty="0">
                <a:solidFill>
                  <a:srgbClr val="000000">
                    <a:alpha val="100000"/>
                  </a:srgbClr>
                </a:solidFill>
                <a:latin typeface="Arial" panose="020B0604020202090204"/>
                <a:ea typeface="Arial" panose="020B0604020202090204"/>
                <a:cs typeface="Arial" panose="020B0604020202090204"/>
                <a:sym typeface="+mn-ea"/>
              </a:rPr>
              <a:t>Executive sponsor, users, develop</a:t>
            </a:r>
            <a:r>
              <a:rPr spc="-2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rs</a:t>
            </a:r>
            <a:r>
              <a:rPr lang="en-US"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             </a:t>
            </a:r>
          </a:p>
          <a:p>
            <a:pPr marL="763905" lvl="1" algn="l" rtl="0" eaLnBrk="0">
              <a:lnSpc>
                <a:spcPts val="4475"/>
              </a:lnSpc>
              <a:spcBef>
                <a:spcPts val="70"/>
              </a:spcBef>
            </a:pPr>
            <a:r>
              <a:rPr spc="-50" dirty="0">
                <a:solidFill>
                  <a:srgbClr val="000000">
                    <a:alpha val="100000"/>
                  </a:srgbClr>
                </a:solidFill>
                <a:latin typeface="Arial" panose="020B0604020202090204"/>
                <a:ea typeface="Arial" panose="020B0604020202090204"/>
                <a:cs typeface="Arial" panose="020B0604020202090204"/>
                <a:sym typeface="+mn-ea"/>
              </a:rPr>
              <a:t>Planning Game vs Blitz Pl</a:t>
            </a:r>
            <a:r>
              <a:rPr spc="-1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nning</a:t>
            </a: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34</a:t>
            </a:fld>
            <a:endParaRPr lang="en-US"/>
          </a:p>
        </p:txBody>
      </p:sp>
      <p:graphicFrame>
        <p:nvGraphicFramePr>
          <p:cNvPr id="5" name="Table 4"/>
          <p:cNvGraphicFramePr/>
          <p:nvPr>
            <p:custDataLst>
              <p:tags r:id="rId1"/>
            </p:custDataLst>
          </p:nvPr>
        </p:nvGraphicFramePr>
        <p:xfrm>
          <a:off x="1734185" y="4067175"/>
          <a:ext cx="85344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81000">
                <a:tc>
                  <a:txBody>
                    <a:bodyPr/>
                    <a:lstStyle/>
                    <a:p>
                      <a:pPr>
                        <a:buNone/>
                      </a:pPr>
                      <a:r>
                        <a:rPr lang="en-US"/>
                        <a:t>Planning Game</a:t>
                      </a:r>
                    </a:p>
                  </a:txBody>
                  <a:tcPr/>
                </a:tc>
                <a:tc>
                  <a:txBody>
                    <a:bodyPr/>
                    <a:lstStyle/>
                    <a:p>
                      <a:pPr>
                        <a:buNone/>
                      </a:pPr>
                      <a:r>
                        <a:rPr lang="en-US"/>
                        <a:t>Blitz Planning</a:t>
                      </a:r>
                    </a:p>
                  </a:txBody>
                  <a:tcPr/>
                </a:tc>
                <a:extLst>
                  <a:ext uri="{0D108BD9-81ED-4DB2-BD59-A6C34878D82A}">
                    <a16:rowId xmlns:a16="http://schemas.microsoft.com/office/drawing/2014/main" val="10000"/>
                  </a:ext>
                </a:extLst>
              </a:tr>
              <a:tr h="381000">
                <a:tc>
                  <a:txBody>
                    <a:bodyPr/>
                    <a:lstStyle/>
                    <a:p>
                      <a:pPr>
                        <a:buNone/>
                      </a:pPr>
                      <a:r>
                        <a:rPr lang="en-US"/>
                        <a:t>User Stories</a:t>
                      </a:r>
                    </a:p>
                  </a:txBody>
                  <a:tcPr/>
                </a:tc>
                <a:tc>
                  <a:txBody>
                    <a:bodyPr/>
                    <a:lstStyle/>
                    <a:p>
                      <a:pPr>
                        <a:buNone/>
                      </a:pPr>
                      <a:r>
                        <a:rPr lang="en-US"/>
                        <a:t>Tasks</a:t>
                      </a:r>
                    </a:p>
                  </a:txBody>
                  <a:tcPr/>
                </a:tc>
                <a:extLst>
                  <a:ext uri="{0D108BD9-81ED-4DB2-BD59-A6C34878D82A}">
                    <a16:rowId xmlns:a16="http://schemas.microsoft.com/office/drawing/2014/main" val="10001"/>
                  </a:ext>
                </a:extLst>
              </a:tr>
              <a:tr h="381000">
                <a:tc>
                  <a:txBody>
                    <a:bodyPr/>
                    <a:lstStyle/>
                    <a:p>
                      <a:pPr>
                        <a:buNone/>
                      </a:pPr>
                      <a:r>
                        <a:rPr lang="en-US"/>
                        <a:t>Assume no dependencies between stories</a:t>
                      </a:r>
                    </a:p>
                  </a:txBody>
                  <a:tcPr/>
                </a:tc>
                <a:tc>
                  <a:txBody>
                    <a:bodyPr/>
                    <a:lstStyle/>
                    <a:p>
                      <a:pPr>
                        <a:buNone/>
                      </a:pPr>
                      <a:r>
                        <a:rPr lang="en-US"/>
                        <a:t>Explicity analyze dependencies between tasks</a:t>
                      </a:r>
                    </a:p>
                  </a:txBody>
                  <a:tcPr/>
                </a:tc>
                <a:extLst>
                  <a:ext uri="{0D108BD9-81ED-4DB2-BD59-A6C34878D82A}">
                    <a16:rowId xmlns:a16="http://schemas.microsoft.com/office/drawing/2014/main" val="10002"/>
                  </a:ext>
                </a:extLst>
              </a:tr>
              <a:tr h="381000">
                <a:tc>
                  <a:txBody>
                    <a:bodyPr/>
                    <a:lstStyle/>
                    <a:p>
                      <a:pPr>
                        <a:buNone/>
                      </a:pPr>
                      <a:r>
                        <a:rPr lang="en-US"/>
                        <a:t>Fixed length sprints</a:t>
                      </a:r>
                    </a:p>
                  </a:txBody>
                  <a:tcPr/>
                </a:tc>
                <a:tc>
                  <a:txBody>
                    <a:bodyPr/>
                    <a:lstStyle/>
                    <a:p>
                      <a:pPr>
                        <a:buNone/>
                      </a:pPr>
                      <a:r>
                        <a:rPr lang="en-US"/>
                        <a:t>Variable iteration durations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89E3-429E-9F2C-5DE7-86717B460163}"/>
              </a:ext>
            </a:extLst>
          </p:cNvPr>
          <p:cNvSpPr>
            <a:spLocks noGrp="1"/>
          </p:cNvSpPr>
          <p:nvPr>
            <p:ph type="title"/>
          </p:nvPr>
        </p:nvSpPr>
        <p:spPr/>
        <p:txBody>
          <a:bodyPr/>
          <a:lstStyle/>
          <a:p>
            <a:r>
              <a:rPr lang="en-US" dirty="0">
                <a:sym typeface="+mn-ea"/>
              </a:rPr>
              <a:t>Techniques</a:t>
            </a:r>
            <a:endParaRPr lang="en-US" dirty="0"/>
          </a:p>
        </p:txBody>
      </p:sp>
      <p:sp>
        <p:nvSpPr>
          <p:cNvPr id="4" name="Content Placeholder 3">
            <a:extLst>
              <a:ext uri="{FF2B5EF4-FFF2-40B4-BE49-F238E27FC236}">
                <a16:creationId xmlns:a16="http://schemas.microsoft.com/office/drawing/2014/main" id="{1312C650-E0EC-1A04-8985-EBD8A456FCFF}"/>
              </a:ext>
            </a:extLst>
          </p:cNvPr>
          <p:cNvSpPr>
            <a:spLocks noGrp="1"/>
          </p:cNvSpPr>
          <p:nvPr>
            <p:ph idx="1"/>
          </p:nvPr>
        </p:nvSpPr>
        <p:spPr>
          <a:xfrm>
            <a:off x="644771" y="1222218"/>
            <a:ext cx="10709031" cy="4859929"/>
          </a:xfrm>
        </p:spPr>
        <p:txBody>
          <a:bodyPr>
            <a:normAutofit lnSpcReduction="10000"/>
          </a:bodyPr>
          <a:lstStyle/>
          <a:p>
            <a:r>
              <a:rPr lang="en-US" b="1" dirty="0">
                <a:latin typeface="Arial" panose="020B0604020202020204" pitchFamily="34" charset="0"/>
                <a:cs typeface="Arial" panose="020B0604020202020204" pitchFamily="34" charset="0"/>
              </a:rPr>
              <a:t>Blitz Planning</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Planning Jam Sessions</a:t>
            </a:r>
            <a:r>
              <a:rPr lang="en-US" dirty="0">
                <a:latin typeface="Arial" panose="020B0604020202020204" pitchFamily="34" charset="0"/>
                <a:cs typeface="Arial" panose="020B0604020202020204" pitchFamily="34" charset="0"/>
              </a:rPr>
              <a:t>) is a technique in </a:t>
            </a:r>
            <a:r>
              <a:rPr lang="en-US" b="1" dirty="0">
                <a:latin typeface="Arial" panose="020B0604020202020204" pitchFamily="34" charset="0"/>
                <a:cs typeface="Arial" panose="020B0604020202020204" pitchFamily="34" charset="0"/>
              </a:rPr>
              <a:t>Crystal Methods</a:t>
            </a:r>
            <a:r>
              <a:rPr lang="en-US" dirty="0">
                <a:latin typeface="Arial" panose="020B0604020202020204" pitchFamily="34" charset="0"/>
                <a:cs typeface="Arial" panose="020B0604020202020204" pitchFamily="34" charset="0"/>
              </a:rPr>
              <a:t> (an agile methodology) designed to quickly and collaboratively plan a project or a feature. </a:t>
            </a:r>
          </a:p>
          <a:p>
            <a:r>
              <a:rPr lang="en-US" dirty="0">
                <a:latin typeface="Arial" panose="020B0604020202020204" pitchFamily="34" charset="0"/>
                <a:cs typeface="Arial" panose="020B0604020202020204" pitchFamily="34" charset="0"/>
              </a:rPr>
              <a:t>It’s a fast, time-boxed approach that encourages input from the entire team, enabling rapid decision-making and alignment.</a:t>
            </a:r>
          </a:p>
          <a:p>
            <a:pPr>
              <a:buNone/>
            </a:pPr>
            <a:endParaRPr lang="en-US" b="1" dirty="0"/>
          </a:p>
          <a:p>
            <a:pPr>
              <a:buNone/>
            </a:pPr>
            <a:r>
              <a:rPr lang="en-US" b="1" dirty="0">
                <a:solidFill>
                  <a:schemeClr val="tx1">
                    <a:lumMod val="50000"/>
                  </a:schemeClr>
                </a:solidFill>
                <a:latin typeface="Arial" panose="020B0604020202020204" pitchFamily="34" charset="0"/>
                <a:cs typeface="Arial" panose="020B0604020202020204" pitchFamily="34" charset="0"/>
              </a:rPr>
              <a:t>Blitz Planning / Planning Jam Session in Crystal Methods:</a:t>
            </a:r>
          </a:p>
          <a:p>
            <a:pPr>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Time-Boxed Sessions:</a:t>
            </a:r>
            <a:endParaRPr lang="en-US" dirty="0">
              <a:solidFill>
                <a:schemeClr val="tx1">
                  <a:lumMod val="50000"/>
                </a:schemeClr>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Blitz Planning is a quick, focused meeting where the team plans a project or feature in a short, set period (usually a few hours to a day).</a:t>
            </a:r>
          </a:p>
          <a:p>
            <a:pPr marL="742950" lvl="1" indent="-285750">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It emphasizes speed and efficiency while ensuring all necessary elements of planning are covered.</a:t>
            </a:r>
          </a:p>
          <a:p>
            <a:pPr marL="457200" lvl="1" indent="0">
              <a:buNone/>
            </a:pPr>
            <a:endParaRPr lang="en-US" dirty="0">
              <a:solidFill>
                <a:schemeClr val="tx1">
                  <a:lumMod val="50000"/>
                </a:schemeClr>
              </a:solidFill>
              <a:latin typeface="Arial" panose="020B0604020202020204" pitchFamily="34" charset="0"/>
              <a:cs typeface="Arial" panose="020B0604020202020204" pitchFamily="34" charset="0"/>
            </a:endParaRPr>
          </a:p>
          <a:p>
            <a:r>
              <a:rPr lang="en-US" b="1" dirty="0">
                <a:solidFill>
                  <a:schemeClr val="tx1">
                    <a:lumMod val="50000"/>
                  </a:schemeClr>
                </a:solidFill>
                <a:latin typeface="Arial" panose="020B0604020202020204" pitchFamily="34" charset="0"/>
                <a:cs typeface="Arial" panose="020B0604020202020204" pitchFamily="34" charset="0"/>
              </a:rPr>
              <a:t>Collaborative and Inclusive:</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The entire team, including developers, testers, product owners, and other stakeholders, participate in the planning session.</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Diverse perspectives from all involved roles help build a shared understanding and approach.</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F80ECA8-7E31-949A-931D-D03733B4AD45}"/>
              </a:ext>
            </a:extLst>
          </p:cNvPr>
          <p:cNvSpPr>
            <a:spLocks noGrp="1"/>
          </p:cNvSpPr>
          <p:nvPr>
            <p:ph type="sldNum" sz="quarter" idx="12"/>
          </p:nvPr>
        </p:nvSpPr>
        <p:spPr/>
        <p:txBody>
          <a:bodyPr/>
          <a:lstStyle/>
          <a:p>
            <a:fld id="{4267CD5E-26CF-4249-8540-BB1D07FD4227}" type="slidenum">
              <a:rPr lang="en-US" smtClean="0"/>
              <a:t>35</a:t>
            </a:fld>
            <a:endParaRPr lang="en-US"/>
          </a:p>
        </p:txBody>
      </p:sp>
    </p:spTree>
    <p:extLst>
      <p:ext uri="{BB962C8B-B14F-4D97-AF65-F5344CB8AC3E}">
        <p14:creationId xmlns:p14="http://schemas.microsoft.com/office/powerpoint/2010/main" val="1754087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3C-8458-F119-1046-72F05600B4F2}"/>
              </a:ext>
            </a:extLst>
          </p:cNvPr>
          <p:cNvSpPr>
            <a:spLocks noGrp="1"/>
          </p:cNvSpPr>
          <p:nvPr>
            <p:ph type="title"/>
          </p:nvPr>
        </p:nvSpPr>
        <p:spPr/>
        <p:txBody>
          <a:bodyPr/>
          <a:lstStyle/>
          <a:p>
            <a:r>
              <a:rPr lang="en-US" dirty="0">
                <a:sym typeface="+mn-ea"/>
              </a:rPr>
              <a:t>Techniques</a:t>
            </a:r>
            <a:endParaRPr lang="en-US" dirty="0"/>
          </a:p>
        </p:txBody>
      </p:sp>
      <p:sp>
        <p:nvSpPr>
          <p:cNvPr id="4" name="Content Placeholder 3">
            <a:extLst>
              <a:ext uri="{FF2B5EF4-FFF2-40B4-BE49-F238E27FC236}">
                <a16:creationId xmlns:a16="http://schemas.microsoft.com/office/drawing/2014/main" id="{60BA46A2-4E25-8309-3C87-667ECE474248}"/>
              </a:ext>
            </a:extLst>
          </p:cNvPr>
          <p:cNvSpPr>
            <a:spLocks noGrp="1"/>
          </p:cNvSpPr>
          <p:nvPr>
            <p:ph idx="1"/>
          </p:nvPr>
        </p:nvSpPr>
        <p:spPr>
          <a:xfrm>
            <a:off x="644771" y="1099748"/>
            <a:ext cx="10709031" cy="4982399"/>
          </a:xfrm>
        </p:spPr>
        <p:txBody>
          <a:bodyPr/>
          <a:lstStyle/>
          <a:p>
            <a:pPr marL="0" indent="0">
              <a:buNone/>
            </a:pPr>
            <a:r>
              <a:rPr lang="en-US" b="1" dirty="0">
                <a:solidFill>
                  <a:schemeClr val="tx1">
                    <a:lumMod val="50000"/>
                  </a:schemeClr>
                </a:solidFill>
                <a:latin typeface="Arial" panose="020B0604020202020204" pitchFamily="34" charset="0"/>
                <a:cs typeface="Arial" panose="020B0604020202020204" pitchFamily="34" charset="0"/>
              </a:rPr>
              <a:t>Blitz Planning / Planning Jam Session in Crystal Methods:</a:t>
            </a:r>
          </a:p>
          <a:p>
            <a:pPr>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Focused on the High-Level Plan:</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The goal is to develop a high-level plan for the project or feature, without getting bogged down in minute details.</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It typically covers key elements like goals, milestones, deliverables, timelines, and major risks.</a:t>
            </a:r>
          </a:p>
          <a:p>
            <a:pPr marL="0" indent="0">
              <a:buNone/>
            </a:pPr>
            <a:endParaRPr lang="en-US" dirty="0">
              <a:solidFill>
                <a:schemeClr val="tx1">
                  <a:lumMod val="50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Shared Understanding of Goals and Requirements:</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The team works together to clarify requirements, priorities, and expectations from the project.</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Ensures everyone is on the same page about the desired outcomes and what success looks like.</a:t>
            </a:r>
          </a:p>
          <a:p>
            <a:pPr marL="0" indent="0">
              <a:buNone/>
            </a:pPr>
            <a:endParaRPr lang="en-US" dirty="0">
              <a:solidFill>
                <a:schemeClr val="tx1">
                  <a:lumMod val="50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b="1" dirty="0">
                <a:solidFill>
                  <a:schemeClr val="tx1">
                    <a:lumMod val="50000"/>
                  </a:schemeClr>
                </a:solidFill>
                <a:latin typeface="Arial" panose="020B0604020202020204" pitchFamily="34" charset="0"/>
                <a:cs typeface="Arial" panose="020B0604020202020204" pitchFamily="34" charset="0"/>
              </a:rPr>
              <a:t>Rapid Decision-Making:</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Blitz Planning encourages fast decision-making to avoid delays and keep the project moving forward.</a:t>
            </a:r>
          </a:p>
          <a:p>
            <a:pPr lvl="1">
              <a:buFont typeface="Arial" panose="020B0604020202020204" pitchFamily="34" charset="0"/>
              <a:buChar char="•"/>
            </a:pPr>
            <a:r>
              <a:rPr lang="en-US" dirty="0">
                <a:solidFill>
                  <a:schemeClr val="tx1">
                    <a:lumMod val="50000"/>
                  </a:schemeClr>
                </a:solidFill>
                <a:latin typeface="Arial" panose="020B0604020202020204" pitchFamily="34" charset="0"/>
                <a:cs typeface="Arial" panose="020B0604020202020204" pitchFamily="34" charset="0"/>
              </a:rPr>
              <a:t>There’s a focus on making quick but informed choices, rather than lengthy discussions.</a:t>
            </a:r>
          </a:p>
          <a:p>
            <a:pPr marL="0" indent="0">
              <a:buNone/>
            </a:pPr>
            <a:endParaRPr lang="en-US" b="1" dirty="0">
              <a:solidFill>
                <a:schemeClr val="tx1">
                  <a:lumMod val="50000"/>
                </a:schemeClr>
              </a:solidFill>
              <a:latin typeface="Arial" panose="020B0604020202020204" pitchFamily="34" charset="0"/>
              <a:cs typeface="Arial" panose="020B0604020202020204" pitchFamily="34" charset="0"/>
            </a:endParaRPr>
          </a:p>
          <a:p>
            <a:pPr marL="0" indent="0">
              <a:buNone/>
            </a:pPr>
            <a:endParaRPr lang="en-US" b="1" dirty="0">
              <a:solidFill>
                <a:schemeClr val="tx1">
                  <a:lumMod val="5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64E8EEA2-39BC-2326-9A80-2097313A220B}"/>
              </a:ext>
            </a:extLst>
          </p:cNvPr>
          <p:cNvSpPr>
            <a:spLocks noGrp="1"/>
          </p:cNvSpPr>
          <p:nvPr>
            <p:ph type="sldNum" sz="quarter" idx="12"/>
          </p:nvPr>
        </p:nvSpPr>
        <p:spPr/>
        <p:txBody>
          <a:bodyPr/>
          <a:lstStyle/>
          <a:p>
            <a:fld id="{4267CD5E-26CF-4249-8540-BB1D07FD4227}" type="slidenum">
              <a:rPr lang="en-US" smtClean="0"/>
              <a:t>36</a:t>
            </a:fld>
            <a:endParaRPr lang="en-US"/>
          </a:p>
        </p:txBody>
      </p:sp>
    </p:spTree>
    <p:extLst>
      <p:ext uri="{BB962C8B-B14F-4D97-AF65-F5344CB8AC3E}">
        <p14:creationId xmlns:p14="http://schemas.microsoft.com/office/powerpoint/2010/main" val="560409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1E6B-A470-6B3A-0DD6-49E100B992B2}"/>
              </a:ext>
            </a:extLst>
          </p:cNvPr>
          <p:cNvSpPr>
            <a:spLocks noGrp="1"/>
          </p:cNvSpPr>
          <p:nvPr>
            <p:ph type="title"/>
          </p:nvPr>
        </p:nvSpPr>
        <p:spPr/>
        <p:txBody>
          <a:bodyPr/>
          <a:lstStyle/>
          <a:p>
            <a:r>
              <a:rPr lang="en-US" dirty="0">
                <a:sym typeface="+mn-ea"/>
              </a:rPr>
              <a:t>Techniques</a:t>
            </a:r>
            <a:endParaRPr lang="en-US" dirty="0"/>
          </a:p>
        </p:txBody>
      </p:sp>
      <p:sp>
        <p:nvSpPr>
          <p:cNvPr id="4" name="Content Placeholder 3">
            <a:extLst>
              <a:ext uri="{FF2B5EF4-FFF2-40B4-BE49-F238E27FC236}">
                <a16:creationId xmlns:a16="http://schemas.microsoft.com/office/drawing/2014/main" id="{ADC54A89-1377-B7E2-9B72-CDDCAB5551F9}"/>
              </a:ext>
            </a:extLst>
          </p:cNvPr>
          <p:cNvSpPr>
            <a:spLocks noGrp="1"/>
          </p:cNvSpPr>
          <p:nvPr>
            <p:ph idx="1"/>
          </p:nvPr>
        </p:nvSpPr>
        <p:spPr>
          <a:xfrm>
            <a:off x="644771" y="1240326"/>
            <a:ext cx="10709031" cy="4841822"/>
          </a:xfrm>
        </p:spPr>
        <p:txBody>
          <a:bodyPr>
            <a:normAutofit/>
          </a:bodyPr>
          <a:lstStyle/>
          <a:p>
            <a:pPr marL="0" indent="0">
              <a:buNone/>
            </a:pPr>
            <a:r>
              <a:rPr lang="en-US" sz="2000" b="1" dirty="0">
                <a:solidFill>
                  <a:schemeClr val="tx1">
                    <a:lumMod val="50000"/>
                  </a:schemeClr>
                </a:solidFill>
                <a:latin typeface="Arial" panose="020B0604020202020204" pitchFamily="34" charset="0"/>
                <a:cs typeface="Arial" panose="020B0604020202020204" pitchFamily="34" charset="0"/>
              </a:rPr>
              <a:t>Blitz Planning / Planning Jam Session in Crystal Methods:</a:t>
            </a:r>
          </a:p>
          <a:p>
            <a:r>
              <a:rPr kumimoji="0" lang="en-US" altLang="en-US" sz="2000" b="1" i="0" u="none" strike="noStrike" cap="none" normalizeH="0" baseline="0" dirty="0">
                <a:ln>
                  <a:noFill/>
                </a:ln>
                <a:solidFill>
                  <a:schemeClr val="tx1">
                    <a:lumMod val="50000"/>
                  </a:schemeClr>
                </a:solidFill>
                <a:effectLst/>
                <a:latin typeface="Arial" panose="020B0604020202020204" pitchFamily="34" charset="0"/>
              </a:rPr>
              <a:t>Adjustments as Needed:</a:t>
            </a:r>
            <a:endParaRPr lang="en-US" altLang="en-US" sz="2000" dirty="0">
              <a:solidFill>
                <a:schemeClr val="tx1">
                  <a:lumMod val="50000"/>
                </a:schemeClr>
              </a:solidFill>
              <a:latin typeface="Arial" panose="020B0604020202020204" pitchFamily="34" charset="0"/>
            </a:endParaRPr>
          </a:p>
          <a:p>
            <a:pPr lvl="1">
              <a:buFont typeface="Arial" panose="020B0604020202020204" pitchFamily="34" charset="0"/>
              <a:buChar char="•"/>
            </a:pPr>
            <a:r>
              <a:rPr kumimoji="0" lang="en-US" altLang="en-US" sz="2000" b="0" i="0" u="none" strike="noStrike" cap="none" normalizeH="0" baseline="0" dirty="0">
                <a:ln>
                  <a:noFill/>
                </a:ln>
                <a:solidFill>
                  <a:schemeClr val="tx1">
                    <a:lumMod val="50000"/>
                  </a:schemeClr>
                </a:solidFill>
                <a:effectLst/>
                <a:latin typeface="Arial" panose="020B0604020202020204" pitchFamily="34" charset="0"/>
              </a:rPr>
              <a:t>It’s flexible, with room for adjustments during the process. The goal is to adapt as more information becomes available, rather than locking in rigid plans early on.</a:t>
            </a:r>
          </a:p>
          <a:p>
            <a:r>
              <a:rPr kumimoji="0" lang="en-US" altLang="en-US" sz="2000" b="1" i="0" u="none" strike="noStrike" cap="none" normalizeH="0" baseline="0" dirty="0">
                <a:ln>
                  <a:noFill/>
                </a:ln>
                <a:solidFill>
                  <a:schemeClr val="tx1">
                    <a:lumMod val="50000"/>
                  </a:schemeClr>
                </a:solidFill>
                <a:effectLst/>
                <a:latin typeface="Arial" panose="020B0604020202020204" pitchFamily="34" charset="0"/>
              </a:rPr>
              <a:t>Creates Immediate Actionable Items:</a:t>
            </a:r>
            <a:endParaRPr lang="en-US" altLang="en-US" sz="2000" dirty="0">
              <a:solidFill>
                <a:schemeClr val="tx1">
                  <a:lumMod val="50000"/>
                </a:schemeClr>
              </a:solidFill>
              <a:latin typeface="Arial" panose="020B0604020202020204" pitchFamily="34" charset="0"/>
            </a:endParaRPr>
          </a:p>
          <a:p>
            <a:pPr lvl="1">
              <a:buFont typeface="Arial" panose="020B0604020202020204" pitchFamily="34" charset="0"/>
              <a:buChar char="•"/>
            </a:pPr>
            <a:r>
              <a:rPr kumimoji="0" lang="en-US" altLang="en-US" sz="2000" b="0" i="0" u="none" strike="noStrike" cap="none" normalizeH="0" baseline="0" dirty="0">
                <a:ln>
                  <a:noFill/>
                </a:ln>
                <a:solidFill>
                  <a:schemeClr val="tx1">
                    <a:lumMod val="50000"/>
                  </a:schemeClr>
                </a:solidFill>
                <a:effectLst/>
                <a:latin typeface="Arial" panose="020B0604020202020204" pitchFamily="34" charset="0"/>
              </a:rPr>
              <a:t>At the end of a Blitz Planning session, the team has a clear roadmap for immediate actions, with tasks and responsibilities assigned.</a:t>
            </a:r>
          </a:p>
          <a:p>
            <a:r>
              <a:rPr kumimoji="0" lang="en-US" altLang="en-US" sz="2000" b="1" i="0" u="none" strike="noStrike" cap="none" normalizeH="0" baseline="0" dirty="0">
                <a:ln>
                  <a:noFill/>
                </a:ln>
                <a:solidFill>
                  <a:schemeClr val="tx1">
                    <a:lumMod val="50000"/>
                  </a:schemeClr>
                </a:solidFill>
                <a:effectLst/>
                <a:latin typeface="Arial" panose="020B0604020202020204" pitchFamily="34" charset="0"/>
              </a:rPr>
              <a:t>Fosters Team Alignment:</a:t>
            </a:r>
            <a:endParaRPr lang="en-US" altLang="en-US" sz="2000" dirty="0">
              <a:solidFill>
                <a:schemeClr val="tx1">
                  <a:lumMod val="50000"/>
                </a:schemeClr>
              </a:solidFill>
              <a:latin typeface="Arial" panose="020B0604020202020204" pitchFamily="34" charset="0"/>
            </a:endParaRPr>
          </a:p>
          <a:p>
            <a:pPr lvl="1">
              <a:buFont typeface="Arial" panose="020B0604020202020204" pitchFamily="34" charset="0"/>
              <a:buChar char="•"/>
            </a:pPr>
            <a:r>
              <a:rPr kumimoji="0" lang="en-US" altLang="en-US" sz="2000" b="0" i="0" u="none" strike="noStrike" cap="none" normalizeH="0" baseline="0" dirty="0">
                <a:ln>
                  <a:noFill/>
                </a:ln>
                <a:solidFill>
                  <a:schemeClr val="tx1">
                    <a:lumMod val="50000"/>
                  </a:schemeClr>
                </a:solidFill>
                <a:effectLst/>
                <a:latin typeface="Arial" panose="020B0604020202020204" pitchFamily="34" charset="0"/>
              </a:rPr>
              <a:t>Everyone leaves the session with a unified vision and understanding of the project, which promotes strong team alignment and reduces ambiguity.</a:t>
            </a:r>
          </a:p>
          <a:p>
            <a:endParaRPr lang="en-US" sz="2000" b="1" dirty="0">
              <a:solidFill>
                <a:schemeClr val="tx1">
                  <a:lumMod val="50000"/>
                </a:schemeClr>
              </a:solidFill>
              <a:latin typeface="Arial" panose="020B0604020202020204" pitchFamily="34" charset="0"/>
              <a:cs typeface="Arial" panose="020B0604020202020204" pitchFamily="34" charset="0"/>
            </a:endParaRPr>
          </a:p>
          <a:p>
            <a:endParaRPr lang="en-US" sz="2000" dirty="0"/>
          </a:p>
        </p:txBody>
      </p:sp>
      <p:sp>
        <p:nvSpPr>
          <p:cNvPr id="5" name="Slide Number Placeholder 4">
            <a:extLst>
              <a:ext uri="{FF2B5EF4-FFF2-40B4-BE49-F238E27FC236}">
                <a16:creationId xmlns:a16="http://schemas.microsoft.com/office/drawing/2014/main" id="{7E997FE5-46C7-9CBF-9E07-80B11B1CC6F5}"/>
              </a:ext>
            </a:extLst>
          </p:cNvPr>
          <p:cNvSpPr>
            <a:spLocks noGrp="1"/>
          </p:cNvSpPr>
          <p:nvPr>
            <p:ph type="sldNum" sz="quarter" idx="12"/>
          </p:nvPr>
        </p:nvSpPr>
        <p:spPr/>
        <p:txBody>
          <a:bodyPr/>
          <a:lstStyle/>
          <a:p>
            <a:fld id="{4267CD5E-26CF-4249-8540-BB1D07FD4227}" type="slidenum">
              <a:rPr lang="en-US" smtClean="0"/>
              <a:t>37</a:t>
            </a:fld>
            <a:endParaRPr lang="en-US"/>
          </a:p>
        </p:txBody>
      </p:sp>
    </p:spTree>
    <p:extLst>
      <p:ext uri="{BB962C8B-B14F-4D97-AF65-F5344CB8AC3E}">
        <p14:creationId xmlns:p14="http://schemas.microsoft.com/office/powerpoint/2010/main" val="20738427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E281-3EB1-8A89-59EB-3C4754B5678C}"/>
              </a:ext>
            </a:extLst>
          </p:cNvPr>
          <p:cNvSpPr>
            <a:spLocks noGrp="1"/>
          </p:cNvSpPr>
          <p:nvPr>
            <p:ph type="title"/>
          </p:nvPr>
        </p:nvSpPr>
        <p:spPr/>
        <p:txBody>
          <a:bodyPr/>
          <a:lstStyle/>
          <a:p>
            <a:r>
              <a:rPr lang="en-US" dirty="0">
                <a:sym typeface="+mn-ea"/>
              </a:rPr>
              <a:t>Techniques</a:t>
            </a:r>
            <a:endParaRPr lang="en-US" dirty="0"/>
          </a:p>
        </p:txBody>
      </p:sp>
      <p:sp>
        <p:nvSpPr>
          <p:cNvPr id="4" name="Content Placeholder 3">
            <a:extLst>
              <a:ext uri="{FF2B5EF4-FFF2-40B4-BE49-F238E27FC236}">
                <a16:creationId xmlns:a16="http://schemas.microsoft.com/office/drawing/2014/main" id="{FCA687B7-D922-5148-F086-94363369BA38}"/>
              </a:ext>
            </a:extLst>
          </p:cNvPr>
          <p:cNvSpPr>
            <a:spLocks noGrp="1"/>
          </p:cNvSpPr>
          <p:nvPr>
            <p:ph idx="1"/>
          </p:nvPr>
        </p:nvSpPr>
        <p:spPr>
          <a:xfrm>
            <a:off x="644771" y="1195058"/>
            <a:ext cx="10709031" cy="4887090"/>
          </a:xfrm>
        </p:spPr>
        <p:txBody>
          <a:bodyPr>
            <a:normAutofit lnSpcReduction="10000"/>
          </a:bodyPr>
          <a:lstStyle/>
          <a:p>
            <a:pPr>
              <a:buNone/>
            </a:pPr>
            <a:endParaRPr lang="en-US" sz="2000" b="1" dirty="0">
              <a:solidFill>
                <a:schemeClr val="tx1">
                  <a:lumMod val="50000"/>
                </a:schemeClr>
              </a:solidFill>
              <a:latin typeface="Arial" panose="020B0604020202020204" pitchFamily="34" charset="0"/>
              <a:cs typeface="Arial" panose="020B0604020202020204" pitchFamily="34" charset="0"/>
            </a:endParaRPr>
          </a:p>
          <a:p>
            <a:pPr>
              <a:buNone/>
            </a:pPr>
            <a:r>
              <a:rPr lang="en-US" sz="2000" b="1" dirty="0">
                <a:solidFill>
                  <a:schemeClr val="tx1">
                    <a:lumMod val="50000"/>
                  </a:schemeClr>
                </a:solidFill>
                <a:latin typeface="Arial" panose="020B0604020202020204" pitchFamily="34" charset="0"/>
                <a:cs typeface="Arial" panose="020B0604020202020204" pitchFamily="34" charset="0"/>
              </a:rPr>
              <a:t>Blitz Planning / Planning Jam Session in Crystal Methods:</a:t>
            </a:r>
          </a:p>
          <a:p>
            <a:pPr>
              <a:buNone/>
            </a:pPr>
            <a:endParaRPr lang="en-US" sz="2000" b="1" dirty="0">
              <a:solidFill>
                <a:schemeClr val="tx1">
                  <a:lumMod val="50000"/>
                </a:schemeClr>
              </a:solidFill>
              <a:latin typeface="Arial" panose="020B0604020202020204" pitchFamily="34" charset="0"/>
              <a:cs typeface="Arial" panose="020B0604020202020204" pitchFamily="34" charset="0"/>
            </a:endParaRPr>
          </a:p>
          <a:p>
            <a:pPr>
              <a:buNone/>
            </a:pPr>
            <a:r>
              <a:rPr lang="en-US" sz="2000" b="1" dirty="0">
                <a:solidFill>
                  <a:schemeClr val="tx1">
                    <a:lumMod val="50000"/>
                  </a:schemeClr>
                </a:solidFill>
                <a:latin typeface="Arial" panose="020B0604020202020204" pitchFamily="34" charset="0"/>
                <a:cs typeface="Arial" panose="020B0604020202020204" pitchFamily="34" charset="0"/>
              </a:rPr>
              <a:t>Key Benefits:</a:t>
            </a:r>
          </a:p>
          <a:p>
            <a:pPr>
              <a:buNone/>
            </a:pPr>
            <a:endParaRPr lang="en-US" sz="2000" b="1" dirty="0">
              <a:solidFill>
                <a:schemeClr val="tx1">
                  <a:lumMod val="5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Speed:</a:t>
            </a:r>
            <a:r>
              <a:rPr lang="en-US" sz="2000" dirty="0">
                <a:solidFill>
                  <a:schemeClr val="tx1">
                    <a:lumMod val="50000"/>
                  </a:schemeClr>
                </a:solidFill>
                <a:latin typeface="Arial" panose="020B0604020202020204" pitchFamily="34" charset="0"/>
                <a:cs typeface="Arial" panose="020B0604020202020204" pitchFamily="34" charset="0"/>
              </a:rPr>
              <a:t> Quickly sets the direction for the project without overthinking details.</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Alignment:</a:t>
            </a:r>
            <a:r>
              <a:rPr lang="en-US" sz="2000" dirty="0">
                <a:solidFill>
                  <a:schemeClr val="tx1">
                    <a:lumMod val="50000"/>
                  </a:schemeClr>
                </a:solidFill>
                <a:latin typeface="Arial" panose="020B0604020202020204" pitchFamily="34" charset="0"/>
                <a:cs typeface="Arial" panose="020B0604020202020204" pitchFamily="34" charset="0"/>
              </a:rPr>
              <a:t> Helps the team agree on a shared vision and approach.</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Focus:</a:t>
            </a:r>
            <a:r>
              <a:rPr lang="en-US" sz="2000" dirty="0">
                <a:solidFill>
                  <a:schemeClr val="tx1">
                    <a:lumMod val="50000"/>
                  </a:schemeClr>
                </a:solidFill>
                <a:latin typeface="Arial" panose="020B0604020202020204" pitchFamily="34" charset="0"/>
                <a:cs typeface="Arial" panose="020B0604020202020204" pitchFamily="34" charset="0"/>
              </a:rPr>
              <a:t> Keeps everyone focused on the big picture, ensuring progress is made rapidly.</a:t>
            </a:r>
          </a:p>
          <a:p>
            <a:pPr lvl="1">
              <a:buFont typeface="Arial" panose="020B0604020202020204" pitchFamily="34" charset="0"/>
              <a:buChar char="•"/>
            </a:pPr>
            <a:r>
              <a:rPr lang="en-US" sz="2000" b="1" dirty="0">
                <a:solidFill>
                  <a:schemeClr val="tx1">
                    <a:lumMod val="50000"/>
                  </a:schemeClr>
                </a:solidFill>
                <a:latin typeface="Arial" panose="020B0604020202020204" pitchFamily="34" charset="0"/>
                <a:cs typeface="Arial" panose="020B0604020202020204" pitchFamily="34" charset="0"/>
              </a:rPr>
              <a:t>Engagement:</a:t>
            </a:r>
            <a:r>
              <a:rPr lang="en-US" sz="2000" dirty="0">
                <a:solidFill>
                  <a:schemeClr val="tx1">
                    <a:lumMod val="50000"/>
                  </a:schemeClr>
                </a:solidFill>
                <a:latin typeface="Arial" panose="020B0604020202020204" pitchFamily="34" charset="0"/>
                <a:cs typeface="Arial" panose="020B0604020202020204" pitchFamily="34" charset="0"/>
              </a:rPr>
              <a:t> Everyone involved has a chance to contribute their insights, leading to better buy-in and commitment.</a:t>
            </a:r>
          </a:p>
          <a:p>
            <a:pPr marL="0" indent="0">
              <a:buNone/>
            </a:pPr>
            <a:endParaRPr lang="en-US" sz="2000" dirty="0">
              <a:solidFill>
                <a:schemeClr val="tx1">
                  <a:lumMod val="50000"/>
                </a:schemeClr>
              </a:solidFill>
              <a:latin typeface="Arial" panose="020B0604020202020204" pitchFamily="34" charset="0"/>
              <a:cs typeface="Arial" panose="020B0604020202020204" pitchFamily="34" charset="0"/>
            </a:endParaRPr>
          </a:p>
          <a:p>
            <a:pPr marL="0" indent="0">
              <a:buNone/>
            </a:pPr>
            <a:r>
              <a:rPr lang="en-US" sz="2000" dirty="0">
                <a:solidFill>
                  <a:schemeClr val="tx1">
                    <a:lumMod val="50000"/>
                  </a:schemeClr>
                </a:solidFill>
                <a:latin typeface="Arial" panose="020B0604020202020204" pitchFamily="34" charset="0"/>
                <a:cs typeface="Arial" panose="020B0604020202020204" pitchFamily="34" charset="0"/>
              </a:rPr>
              <a:t>In summary, </a:t>
            </a:r>
            <a:r>
              <a:rPr lang="en-US" sz="2000" b="1" dirty="0">
                <a:solidFill>
                  <a:schemeClr val="tx1">
                    <a:lumMod val="50000"/>
                  </a:schemeClr>
                </a:solidFill>
                <a:latin typeface="Arial" panose="020B0604020202020204" pitchFamily="34" charset="0"/>
                <a:cs typeface="Arial" panose="020B0604020202020204" pitchFamily="34" charset="0"/>
              </a:rPr>
              <a:t>Blitz Planning</a:t>
            </a:r>
            <a:r>
              <a:rPr lang="en-US" sz="2000" dirty="0">
                <a:solidFill>
                  <a:schemeClr val="tx1">
                    <a:lumMod val="50000"/>
                  </a:schemeClr>
                </a:solidFill>
                <a:latin typeface="Arial" panose="020B0604020202020204" pitchFamily="34" charset="0"/>
                <a:cs typeface="Arial" panose="020B0604020202020204" pitchFamily="34" charset="0"/>
              </a:rPr>
              <a:t> in Crystal Methods is an effective technique for quick, collaborative, and high-level project planning that aligns the team, sets clear goals, and ensures swift action while remaining adaptable.</a:t>
            </a:r>
          </a:p>
          <a:p>
            <a:endParaRPr lang="en-US" sz="2000" dirty="0">
              <a:solidFill>
                <a:schemeClr val="tx1">
                  <a:lumMod val="50000"/>
                </a:schemeClr>
              </a:solidFill>
            </a:endParaRPr>
          </a:p>
        </p:txBody>
      </p:sp>
      <p:sp>
        <p:nvSpPr>
          <p:cNvPr id="5" name="Slide Number Placeholder 4">
            <a:extLst>
              <a:ext uri="{FF2B5EF4-FFF2-40B4-BE49-F238E27FC236}">
                <a16:creationId xmlns:a16="http://schemas.microsoft.com/office/drawing/2014/main" id="{282D5BF2-85CE-9652-1A2F-152ABC3BF8DA}"/>
              </a:ext>
            </a:extLst>
          </p:cNvPr>
          <p:cNvSpPr>
            <a:spLocks noGrp="1"/>
          </p:cNvSpPr>
          <p:nvPr>
            <p:ph type="sldNum" sz="quarter" idx="12"/>
          </p:nvPr>
        </p:nvSpPr>
        <p:spPr/>
        <p:txBody>
          <a:bodyPr/>
          <a:lstStyle/>
          <a:p>
            <a:fld id="{4267CD5E-26CF-4249-8540-BB1D07FD4227}" type="slidenum">
              <a:rPr lang="en-US" smtClean="0"/>
              <a:t>38</a:t>
            </a:fld>
            <a:endParaRPr lang="en-US"/>
          </a:p>
        </p:txBody>
      </p:sp>
    </p:spTree>
    <p:extLst>
      <p:ext uri="{BB962C8B-B14F-4D97-AF65-F5344CB8AC3E}">
        <p14:creationId xmlns:p14="http://schemas.microsoft.com/office/powerpoint/2010/main" val="3592157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A20CE-4C69-04B1-52C9-35FC1D221355}"/>
              </a:ext>
            </a:extLst>
          </p:cNvPr>
          <p:cNvSpPr>
            <a:spLocks noGrp="1"/>
          </p:cNvSpPr>
          <p:nvPr>
            <p:ph type="title"/>
          </p:nvPr>
        </p:nvSpPr>
        <p:spPr/>
        <p:txBody>
          <a:bodyPr/>
          <a:lstStyle/>
          <a:p>
            <a:r>
              <a:rPr lang="en-US" dirty="0">
                <a:solidFill>
                  <a:schemeClr val="tx1">
                    <a:alpha val="100000"/>
                  </a:schemeClr>
                </a:solidFill>
                <a:latin typeface="Arial" panose="020B0604020202090204"/>
                <a:ea typeface="Arial" panose="020B0604020202090204"/>
                <a:cs typeface="Arial" panose="020B0604020202090204"/>
                <a:sym typeface="+mn-ea"/>
              </a:rPr>
              <a:t>Blitz</a:t>
            </a:r>
            <a:r>
              <a:rPr lang="en-US" spc="330" dirty="0">
                <a:solidFill>
                  <a:schemeClr val="tx1">
                    <a:alpha val="100000"/>
                  </a:schemeClr>
                </a:solidFill>
                <a:latin typeface="Arial" panose="020B0604020202090204"/>
                <a:ea typeface="Arial" panose="020B0604020202090204"/>
                <a:cs typeface="Arial" panose="020B0604020202090204"/>
                <a:sym typeface="+mn-ea"/>
              </a:rPr>
              <a:t> </a:t>
            </a:r>
            <a:r>
              <a:rPr lang="en-US" dirty="0">
                <a:solidFill>
                  <a:schemeClr val="tx1">
                    <a:alpha val="100000"/>
                  </a:schemeClr>
                </a:solidFill>
                <a:latin typeface="Arial" panose="020B0604020202090204"/>
                <a:ea typeface="Arial" panose="020B0604020202090204"/>
                <a:cs typeface="Arial" panose="020B0604020202090204"/>
                <a:sym typeface="+mn-ea"/>
              </a:rPr>
              <a:t>Planning</a:t>
            </a:r>
            <a:r>
              <a:rPr lang="en-US" spc="310" dirty="0">
                <a:solidFill>
                  <a:schemeClr val="tx1">
                    <a:alpha val="100000"/>
                  </a:schemeClr>
                </a:solidFill>
                <a:latin typeface="Arial" panose="020B0604020202090204"/>
                <a:ea typeface="Arial" panose="020B0604020202090204"/>
                <a:cs typeface="Arial" panose="020B0604020202090204"/>
                <a:sym typeface="+mn-ea"/>
              </a:rPr>
              <a:t> </a:t>
            </a:r>
            <a:r>
              <a:rPr lang="en-US" dirty="0">
                <a:solidFill>
                  <a:schemeClr val="tx1">
                    <a:alpha val="100000"/>
                  </a:schemeClr>
                </a:solidFill>
                <a:latin typeface="Arial" panose="020B0604020202090204"/>
                <a:ea typeface="Arial" panose="020B0604020202090204"/>
                <a:cs typeface="Arial" panose="020B0604020202090204"/>
                <a:sym typeface="+mn-ea"/>
              </a:rPr>
              <a:t>Cards</a:t>
            </a:r>
            <a:endParaRPr lang="en-US" dirty="0"/>
          </a:p>
        </p:txBody>
      </p:sp>
      <p:sp>
        <p:nvSpPr>
          <p:cNvPr id="4" name="Content Placeholder 3">
            <a:extLst>
              <a:ext uri="{FF2B5EF4-FFF2-40B4-BE49-F238E27FC236}">
                <a16:creationId xmlns:a16="http://schemas.microsoft.com/office/drawing/2014/main" id="{7EEEEFE2-F227-7E3F-4F50-3250B42957A8}"/>
              </a:ext>
            </a:extLst>
          </p:cNvPr>
          <p:cNvSpPr>
            <a:spLocks noGrp="1"/>
          </p:cNvSpPr>
          <p:nvPr>
            <p:ph idx="1"/>
          </p:nvPr>
        </p:nvSpPr>
        <p:spPr>
          <a:xfrm>
            <a:off x="644771" y="1339913"/>
            <a:ext cx="10709031" cy="4742234"/>
          </a:xfrm>
        </p:spPr>
        <p:txBody>
          <a:bodyPr>
            <a:normAutofit lnSpcReduction="10000"/>
          </a:bodyPr>
          <a:lstStyle/>
          <a:p>
            <a:pPr>
              <a:buNone/>
            </a:pPr>
            <a:r>
              <a:rPr lang="en-US" b="1" dirty="0">
                <a:latin typeface="Arial" panose="020B0604020202020204" pitchFamily="34" charset="0"/>
                <a:cs typeface="Arial" panose="020B0604020202020204" pitchFamily="34" charset="0"/>
              </a:rPr>
              <a:t>Blitz Planning Cards</a:t>
            </a:r>
            <a:r>
              <a:rPr lang="en-US" dirty="0">
                <a:latin typeface="Arial" panose="020B0604020202020204" pitchFamily="34" charset="0"/>
                <a:cs typeface="Arial" panose="020B0604020202020204" pitchFamily="34" charset="0"/>
              </a:rPr>
              <a:t> are a tool used in </a:t>
            </a:r>
            <a:r>
              <a:rPr lang="en-US" b="1" dirty="0">
                <a:latin typeface="Arial" panose="020B0604020202020204" pitchFamily="34" charset="0"/>
                <a:cs typeface="Arial" panose="020B0604020202020204" pitchFamily="34" charset="0"/>
              </a:rPr>
              <a:t>Crystal Methods</a:t>
            </a:r>
            <a:r>
              <a:rPr lang="en-US" dirty="0">
                <a:latin typeface="Arial" panose="020B0604020202020204" pitchFamily="34" charset="0"/>
                <a:cs typeface="Arial" panose="020B0604020202020204" pitchFamily="34" charset="0"/>
              </a:rPr>
              <a:t> for fast, collaborative project planning. They help teams quickly cover key areas of a project, such as goals, risks, requirements, resources, and timelines. The cards are time-boxed and encourage input from all team members to create a shared, high-level plan.</a:t>
            </a:r>
          </a:p>
          <a:p>
            <a:pPr>
              <a:buNone/>
            </a:pPr>
            <a:endParaRPr lang="en-US" dirty="0">
              <a:latin typeface="Arial" panose="020B0604020202020204" pitchFamily="34" charset="0"/>
              <a:cs typeface="Arial" panose="020B0604020202020204" pitchFamily="34" charset="0"/>
            </a:endParaRPr>
          </a:p>
          <a:p>
            <a:pPr>
              <a:buNone/>
            </a:pPr>
            <a:r>
              <a:rPr lang="en-US" b="1" dirty="0">
                <a:latin typeface="Arial" panose="020B0604020202020204" pitchFamily="34" charset="0"/>
                <a:cs typeface="Arial" panose="020B0604020202020204" pitchFamily="34" charset="0"/>
              </a:rPr>
              <a:t>Key Points:</a:t>
            </a:r>
          </a:p>
          <a:p>
            <a:pPr>
              <a:buNone/>
            </a:pPr>
            <a:endParaRPr lang="en-US"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Time-boxed</a:t>
            </a:r>
            <a:r>
              <a:rPr lang="en-US" dirty="0">
                <a:latin typeface="Arial" panose="020B0604020202020204" pitchFamily="34" charset="0"/>
                <a:cs typeface="Arial" panose="020B0604020202020204" pitchFamily="34" charset="0"/>
              </a:rPr>
              <a:t>: Focuses on quick, efficient planning.</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Collaborative</a:t>
            </a:r>
            <a:r>
              <a:rPr lang="en-US" dirty="0">
                <a:latin typeface="Arial" panose="020B0604020202020204" pitchFamily="34" charset="0"/>
                <a:cs typeface="Arial" panose="020B0604020202020204" pitchFamily="34" charset="0"/>
              </a:rPr>
              <a:t>: Involves the entire team to ensure diverse input.</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Structured</a:t>
            </a:r>
            <a:r>
              <a:rPr lang="en-US" dirty="0">
                <a:latin typeface="Arial" panose="020B0604020202020204" pitchFamily="34" charset="0"/>
                <a:cs typeface="Arial" panose="020B0604020202020204" pitchFamily="34" charset="0"/>
              </a:rPr>
              <a:t>: Cards represent key planning areas (goals, risks, resources).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Flexible</a:t>
            </a:r>
            <a:r>
              <a:rPr lang="en-US" dirty="0">
                <a:latin typeface="Arial" panose="020B0604020202020204" pitchFamily="34" charset="0"/>
                <a:cs typeface="Arial" panose="020B0604020202020204" pitchFamily="34" charset="0"/>
              </a:rPr>
              <a:t>: Can be customized to fit the project’s needs.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Visual</a:t>
            </a:r>
            <a:r>
              <a:rPr lang="en-US" dirty="0">
                <a:latin typeface="Arial" panose="020B0604020202020204" pitchFamily="34" charset="0"/>
                <a:cs typeface="Arial" panose="020B0604020202020204" pitchFamily="34" charset="0"/>
              </a:rPr>
              <a:t>: Cards can be used visually to track progress and discussions.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This approach promotes alignment, clarity, and quick decision-making, allowing teams to start projects with a clear, shared plan.</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728199A9-278B-EF93-29AF-2BFDF60C28CA}"/>
              </a:ext>
            </a:extLst>
          </p:cNvPr>
          <p:cNvSpPr>
            <a:spLocks noGrp="1"/>
          </p:cNvSpPr>
          <p:nvPr>
            <p:ph type="sldNum" sz="quarter" idx="12"/>
          </p:nvPr>
        </p:nvSpPr>
        <p:spPr/>
        <p:txBody>
          <a:bodyPr/>
          <a:lstStyle/>
          <a:p>
            <a:fld id="{4267CD5E-26CF-4249-8540-BB1D07FD4227}" type="slidenum">
              <a:rPr lang="en-US" smtClean="0"/>
              <a:t>39</a:t>
            </a:fld>
            <a:endParaRPr lang="en-US"/>
          </a:p>
        </p:txBody>
      </p:sp>
    </p:spTree>
    <p:extLst>
      <p:ext uri="{BB962C8B-B14F-4D97-AF65-F5344CB8AC3E}">
        <p14:creationId xmlns:p14="http://schemas.microsoft.com/office/powerpoint/2010/main" val="3376815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6359" y="365127"/>
            <a:ext cx="10709031" cy="734621"/>
          </a:xfrm>
        </p:spPr>
        <p:txBody>
          <a:bodyPr/>
          <a:lstStyle/>
          <a:p>
            <a:r>
              <a:rPr dirty="0">
                <a:solidFill>
                  <a:schemeClr val="tx1">
                    <a:alpha val="100000"/>
                  </a:schemeClr>
                </a:solidFill>
                <a:latin typeface="Arial" panose="020B0604020202090204"/>
                <a:ea typeface="Arial" panose="020B0604020202090204"/>
                <a:cs typeface="Arial" panose="020B0604020202090204"/>
                <a:sym typeface="+mn-ea"/>
              </a:rPr>
              <a:t>Blitz</a:t>
            </a:r>
            <a:r>
              <a:rPr spc="33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Planning</a:t>
            </a:r>
            <a:r>
              <a:rPr spc="31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Cards</a:t>
            </a:r>
            <a:endParaRPr lang="en-US" dirty="0">
              <a:solidFill>
                <a:schemeClr val="tx1">
                  <a:alpha val="100000"/>
                </a:scheme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40</a:t>
            </a:fld>
            <a:endParaRPr lang="en-US"/>
          </a:p>
        </p:txBody>
      </p:sp>
      <p:pic>
        <p:nvPicPr>
          <p:cNvPr id="117" name="picture 117"/>
          <p:cNvPicPr>
            <a:picLocks noGrp="1" noChangeAspect="1"/>
          </p:cNvPicPr>
          <p:nvPr>
            <p:ph idx="1"/>
          </p:nvPr>
        </p:nvPicPr>
        <p:blipFill>
          <a:blip r:embed="rId2"/>
          <a:stretch>
            <a:fillRect/>
          </a:stretch>
        </p:blipFill>
        <p:spPr>
          <a:xfrm rot="21600000">
            <a:off x="3496945" y="1908810"/>
            <a:ext cx="4674235" cy="4173220"/>
          </a:xfrm>
          <a:prstGeom prst="rect">
            <a:avLst/>
          </a:prstGeom>
        </p:spPr>
      </p:pic>
      <p:sp>
        <p:nvSpPr>
          <p:cNvPr id="6" name="Text Box 5"/>
          <p:cNvSpPr txBox="1"/>
          <p:nvPr/>
        </p:nvSpPr>
        <p:spPr>
          <a:xfrm>
            <a:off x="3200944" y="3953947"/>
            <a:ext cx="4285615" cy="2128083"/>
          </a:xfrm>
          <a:prstGeom prst="rect">
            <a:avLst/>
          </a:prstGeom>
          <a:noFill/>
        </p:spPr>
        <p:txBody>
          <a:bodyPr wrap="square" rtlCol="0">
            <a:spAutoFit/>
          </a:bodyPr>
          <a:lstStyle/>
          <a:p>
            <a:pPr algn="l" rtl="0" eaLnBrk="0">
              <a:lnSpc>
                <a:spcPct val="83000"/>
              </a:lnSpc>
            </a:pPr>
            <a:endParaRPr lang="en-US" altLang="en-US" sz="1400" dirty="0"/>
          </a:p>
          <a:p>
            <a:pPr marL="12700" algn="l" rtl="0" eaLnBrk="0">
              <a:lnSpc>
                <a:spcPts val="3165"/>
              </a:lnSpc>
            </a:pPr>
            <a:r>
              <a:rPr sz="1400" spc="-70" dirty="0">
                <a:solidFill>
                  <a:srgbClr val="000000">
                    <a:alpha val="100000"/>
                  </a:srgbClr>
                </a:solidFill>
                <a:latin typeface="Arial" panose="020B0604020202090204"/>
                <a:ea typeface="Arial" panose="020B0604020202090204"/>
                <a:cs typeface="Arial" panose="020B0604020202090204"/>
                <a:sym typeface="+mn-ea"/>
              </a:rPr>
              <a:t>•   Identify task</a:t>
            </a:r>
            <a:r>
              <a:rPr sz="140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1400" dirty="0"/>
          </a:p>
          <a:p>
            <a:pPr marL="12700" algn="l" rtl="0" eaLnBrk="0">
              <a:lnSpc>
                <a:spcPts val="3160"/>
              </a:lnSpc>
              <a:spcBef>
                <a:spcPts val="20"/>
              </a:spcBef>
            </a:pPr>
            <a:r>
              <a:rPr sz="1400" spc="-80" dirty="0">
                <a:solidFill>
                  <a:srgbClr val="000000">
                    <a:alpha val="100000"/>
                  </a:srgbClr>
                </a:solidFill>
                <a:latin typeface="Arial" panose="020B0604020202090204"/>
                <a:ea typeface="Arial" panose="020B0604020202090204"/>
                <a:cs typeface="Arial" panose="020B0604020202090204"/>
                <a:sym typeface="+mn-ea"/>
              </a:rPr>
              <a:t>•   May identify task ow</a:t>
            </a:r>
            <a:r>
              <a:rPr sz="1400" spc="-40" dirty="0">
                <a:solidFill>
                  <a:srgbClr val="000000">
                    <a:alpha val="100000"/>
                  </a:srgbClr>
                </a:solidFill>
                <a:latin typeface="Arial" panose="020B0604020202090204"/>
                <a:ea typeface="Arial" panose="020B0604020202090204"/>
                <a:cs typeface="Arial" panose="020B0604020202090204"/>
                <a:sym typeface="+mn-ea"/>
              </a:rPr>
              <a:t>n</a:t>
            </a:r>
            <a:r>
              <a:rPr sz="1400" dirty="0">
                <a:solidFill>
                  <a:srgbClr val="000000">
                    <a:alpha val="100000"/>
                  </a:srgbClr>
                </a:solidFill>
                <a:latin typeface="Arial" panose="020B0604020202090204"/>
                <a:ea typeface="Arial" panose="020B0604020202090204"/>
                <a:cs typeface="Arial" panose="020B0604020202090204"/>
                <a:sym typeface="+mn-ea"/>
              </a:rPr>
              <a:t>er</a:t>
            </a:r>
            <a:endParaRPr lang="en-US" altLang="en-US" sz="1400" dirty="0"/>
          </a:p>
          <a:p>
            <a:pPr marL="12700" algn="l" rtl="0" eaLnBrk="0">
              <a:lnSpc>
                <a:spcPts val="3155"/>
              </a:lnSpc>
            </a:pPr>
            <a:r>
              <a:rPr sz="1400" spc="-60" dirty="0">
                <a:solidFill>
                  <a:srgbClr val="000000">
                    <a:alpha val="100000"/>
                  </a:srgbClr>
                </a:solidFill>
                <a:latin typeface="Arial" panose="020B0604020202090204"/>
                <a:ea typeface="Arial" panose="020B0604020202090204"/>
                <a:cs typeface="Arial" panose="020B0604020202090204"/>
                <a:sym typeface="+mn-ea"/>
              </a:rPr>
              <a:t>•   Identify task durat</a:t>
            </a:r>
            <a:r>
              <a:rPr sz="1400" spc="-50" dirty="0">
                <a:solidFill>
                  <a:srgbClr val="000000">
                    <a:alpha val="100000"/>
                  </a:srgbClr>
                </a:solidFill>
                <a:latin typeface="Arial" panose="020B0604020202090204"/>
                <a:ea typeface="Arial" panose="020B0604020202090204"/>
                <a:cs typeface="Arial" panose="020B0604020202090204"/>
                <a:sym typeface="+mn-ea"/>
              </a:rPr>
              <a:t>i</a:t>
            </a:r>
            <a:r>
              <a:rPr sz="1400" dirty="0">
                <a:solidFill>
                  <a:srgbClr val="000000">
                    <a:alpha val="100000"/>
                  </a:srgbClr>
                </a:solidFill>
                <a:latin typeface="Arial" panose="020B0604020202090204"/>
                <a:ea typeface="Arial" panose="020B0604020202090204"/>
                <a:cs typeface="Arial" panose="020B0604020202090204"/>
                <a:sym typeface="+mn-ea"/>
              </a:rPr>
              <a:t>on</a:t>
            </a:r>
            <a:endParaRPr lang="en-US" altLang="en-US" sz="1400" dirty="0"/>
          </a:p>
          <a:p>
            <a:pPr marL="12700" algn="l" rtl="0" eaLnBrk="0">
              <a:lnSpc>
                <a:spcPts val="3160"/>
              </a:lnSpc>
            </a:pPr>
            <a:r>
              <a:rPr sz="1400" spc="-50" dirty="0">
                <a:solidFill>
                  <a:srgbClr val="000000">
                    <a:alpha val="100000"/>
                  </a:srgbClr>
                </a:solidFill>
                <a:latin typeface="Arial" panose="020B0604020202090204"/>
                <a:ea typeface="Arial" panose="020B0604020202090204"/>
                <a:cs typeface="Arial" panose="020B0604020202090204"/>
                <a:sym typeface="+mn-ea"/>
              </a:rPr>
              <a:t>•   Identify task order and</a:t>
            </a:r>
            <a:r>
              <a:rPr lang="en-US" sz="1400" spc="-50" dirty="0">
                <a:solidFill>
                  <a:srgbClr val="000000">
                    <a:alpha val="100000"/>
                  </a:srgbClr>
                </a:solidFill>
                <a:latin typeface="Arial" panose="020B0604020202090204"/>
                <a:ea typeface="Arial" panose="020B0604020202090204"/>
                <a:cs typeface="Arial" panose="020B0604020202090204"/>
                <a:sym typeface="+mn-ea"/>
              </a:rPr>
              <a:t> </a:t>
            </a:r>
            <a:r>
              <a:rPr sz="1400" spc="-50" dirty="0">
                <a:solidFill>
                  <a:srgbClr val="000000">
                    <a:alpha val="100000"/>
                  </a:srgbClr>
                </a:solidFill>
                <a:latin typeface="Arial" panose="020B0604020202090204"/>
                <a:ea typeface="Arial" panose="020B0604020202090204"/>
                <a:cs typeface="Arial" panose="020B0604020202090204"/>
                <a:sym typeface="+mn-ea"/>
              </a:rPr>
              <a:t>depen</a:t>
            </a:r>
            <a:r>
              <a:rPr sz="1400" spc="-30" dirty="0">
                <a:solidFill>
                  <a:srgbClr val="000000">
                    <a:alpha val="100000"/>
                  </a:srgbClr>
                </a:solidFill>
                <a:latin typeface="Arial" panose="020B0604020202090204"/>
                <a:ea typeface="Arial" panose="020B0604020202090204"/>
                <a:cs typeface="Arial" panose="020B0604020202090204"/>
                <a:sym typeface="+mn-ea"/>
              </a:rPr>
              <a:t>d</a:t>
            </a:r>
            <a:r>
              <a:rPr sz="1400" dirty="0">
                <a:solidFill>
                  <a:srgbClr val="000000">
                    <a:alpha val="100000"/>
                  </a:srgbClr>
                </a:solidFill>
                <a:latin typeface="Arial" panose="020B0604020202090204"/>
                <a:ea typeface="Arial" panose="020B0604020202090204"/>
                <a:cs typeface="Arial" panose="020B0604020202090204"/>
                <a:sym typeface="+mn-ea"/>
              </a:rPr>
              <a:t>encies</a:t>
            </a:r>
            <a:endParaRPr lang="en-US" altLang="en-US" sz="1400" dirty="0"/>
          </a:p>
          <a:p>
            <a:endParaRPr lang="en-US" sz="1400" dirty="0"/>
          </a:p>
        </p:txBody>
      </p:sp>
      <p:pic>
        <p:nvPicPr>
          <p:cNvPr id="124" name="picture 124"/>
          <p:cNvPicPr>
            <a:picLocks noChangeAspect="1"/>
          </p:cNvPicPr>
          <p:nvPr/>
        </p:nvPicPr>
        <p:blipFill>
          <a:blip r:embed="rId3"/>
          <a:stretch>
            <a:fillRect/>
          </a:stretch>
        </p:blipFill>
        <p:spPr>
          <a:xfrm rot="21600000">
            <a:off x="3390900" y="1572895"/>
            <a:ext cx="5088255" cy="76200"/>
          </a:xfrm>
          <a:prstGeom prst="rect">
            <a:avLst/>
          </a:prstGeom>
        </p:spPr>
      </p:pic>
      <p:pic>
        <p:nvPicPr>
          <p:cNvPr id="126" name="picture 126"/>
          <p:cNvPicPr>
            <a:picLocks noChangeAspect="1"/>
          </p:cNvPicPr>
          <p:nvPr/>
        </p:nvPicPr>
        <p:blipFill>
          <a:blip r:embed="rId4"/>
          <a:stretch>
            <a:fillRect/>
          </a:stretch>
        </p:blipFill>
        <p:spPr>
          <a:xfrm rot="21600000">
            <a:off x="3159035" y="1815293"/>
            <a:ext cx="83820" cy="2749589"/>
          </a:xfrm>
          <a:prstGeom prst="rect">
            <a:avLst/>
          </a:prstGeom>
        </p:spPr>
      </p:pic>
      <p:sp>
        <p:nvSpPr>
          <p:cNvPr id="7" name="Text Box 6"/>
          <p:cNvSpPr txBox="1"/>
          <p:nvPr/>
        </p:nvSpPr>
        <p:spPr>
          <a:xfrm>
            <a:off x="2614930" y="1908810"/>
            <a:ext cx="406400" cy="2616200"/>
          </a:xfrm>
          <a:prstGeom prst="rect">
            <a:avLst/>
          </a:prstGeom>
          <a:noFill/>
        </p:spPr>
        <p:txBody>
          <a:bodyPr wrap="square" rtlCol="0" anchor="t">
            <a:spAutoFit/>
          </a:bodyPr>
          <a:lstStyle/>
          <a:p>
            <a:pPr algn="l" rtl="0" eaLnBrk="0">
              <a:lnSpc>
                <a:spcPct val="83000"/>
              </a:lnSpc>
            </a:pPr>
            <a:r>
              <a:rPr spc="30" dirty="0">
                <a:solidFill>
                  <a:srgbClr val="4F81BD">
                    <a:alpha val="100000"/>
                  </a:srgbClr>
                </a:solidFill>
                <a:latin typeface="Calibri"/>
                <a:ea typeface="Calibri"/>
                <a:cs typeface="Calibri"/>
                <a:sym typeface="+mn-ea"/>
              </a:rPr>
              <a:t>Dependenc</a:t>
            </a:r>
          </a:p>
          <a:p>
            <a:pPr algn="l" rtl="0" eaLnBrk="0">
              <a:lnSpc>
                <a:spcPct val="83000"/>
              </a:lnSpc>
            </a:pPr>
            <a:r>
              <a:rPr spc="30" dirty="0">
                <a:solidFill>
                  <a:srgbClr val="4F81BD">
                    <a:alpha val="100000"/>
                  </a:srgbClr>
                </a:solidFill>
                <a:latin typeface="Calibri"/>
                <a:ea typeface="Calibri"/>
                <a:cs typeface="Calibri"/>
                <a:sym typeface="+mn-ea"/>
              </a:rPr>
              <a:t>ie</a:t>
            </a:r>
            <a:r>
              <a:rPr spc="10" dirty="0">
                <a:solidFill>
                  <a:srgbClr val="4F81BD">
                    <a:alpha val="100000"/>
                  </a:srgbClr>
                </a:solidFill>
                <a:latin typeface="Calibri"/>
                <a:ea typeface="Calibri"/>
                <a:cs typeface="Calibri"/>
                <a:sym typeface="+mn-ea"/>
              </a:rPr>
              <a:t>s</a:t>
            </a:r>
            <a:endParaRPr lang="en-US"/>
          </a:p>
        </p:txBody>
      </p:sp>
      <p:sp>
        <p:nvSpPr>
          <p:cNvPr id="8" name="Text Box 7"/>
          <p:cNvSpPr txBox="1"/>
          <p:nvPr/>
        </p:nvSpPr>
        <p:spPr>
          <a:xfrm>
            <a:off x="1021080" y="1099820"/>
            <a:ext cx="4285615" cy="299085"/>
          </a:xfrm>
          <a:prstGeom prst="rect">
            <a:avLst/>
          </a:prstGeom>
          <a:noFill/>
        </p:spPr>
        <p:txBody>
          <a:bodyPr wrap="square" rtlCol="0" anchor="t">
            <a:spAutoFit/>
          </a:bodyPr>
          <a:lstStyle/>
          <a:p>
            <a:pPr marL="2240280" algn="l" rtl="0" eaLnBrk="0">
              <a:lnSpc>
                <a:spcPct val="75000"/>
              </a:lnSpc>
              <a:spcBef>
                <a:spcPts val="215"/>
              </a:spcBef>
            </a:pPr>
            <a:r>
              <a:rPr spc="140" dirty="0">
                <a:solidFill>
                  <a:srgbClr val="4F81BD">
                    <a:alpha val="100000"/>
                  </a:srgbClr>
                </a:solidFill>
                <a:latin typeface="Calibri"/>
                <a:ea typeface="Calibri"/>
                <a:cs typeface="Calibri"/>
                <a:sym typeface="+mn-ea"/>
              </a:rPr>
              <a:t>Tim</a:t>
            </a:r>
            <a:r>
              <a:rPr spc="120" dirty="0">
                <a:solidFill>
                  <a:srgbClr val="4F81BD">
                    <a:alpha val="100000"/>
                  </a:srgbClr>
                </a:solidFill>
                <a:latin typeface="Calibri"/>
                <a:ea typeface="Calibri"/>
                <a:cs typeface="Calibri"/>
                <a:sym typeface="+mn-ea"/>
              </a:rPr>
              <a:t>e</a:t>
            </a:r>
            <a:endParaRPr lang="en-US"/>
          </a:p>
        </p:txBody>
      </p:sp>
      <p:pic>
        <p:nvPicPr>
          <p:cNvPr id="123" name="picture 123"/>
          <p:cNvPicPr>
            <a:picLocks noChangeAspect="1"/>
          </p:cNvPicPr>
          <p:nvPr/>
        </p:nvPicPr>
        <p:blipFill>
          <a:blip r:embed="rId5"/>
          <a:stretch>
            <a:fillRect/>
          </a:stretch>
        </p:blipFill>
        <p:spPr>
          <a:xfrm rot="21600000">
            <a:off x="8702675" y="981075"/>
            <a:ext cx="2496820" cy="18821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4454" y="365127"/>
            <a:ext cx="10709031" cy="734621"/>
          </a:xfrm>
        </p:spPr>
        <p:txBody>
          <a:bodyPr>
            <a:normAutofit/>
          </a:bodyPr>
          <a:lstStyle/>
          <a:p>
            <a:r>
              <a:rPr spc="-80" dirty="0">
                <a:solidFill>
                  <a:schemeClr val="tx1">
                    <a:alpha val="100000"/>
                  </a:schemeClr>
                </a:solidFill>
                <a:latin typeface="Arial" panose="020B0604020202090204"/>
                <a:ea typeface="Arial" panose="020B0604020202090204"/>
                <a:cs typeface="Arial" panose="020B0604020202090204"/>
                <a:sym typeface="+mn-ea"/>
              </a:rPr>
              <a:t>Technique</a:t>
            </a:r>
            <a:r>
              <a:rPr spc="-50" dirty="0">
                <a:solidFill>
                  <a:schemeClr val="tx1">
                    <a:alpha val="100000"/>
                  </a:schemeClr>
                </a:solidFill>
                <a:latin typeface="Arial" panose="020B0604020202090204"/>
                <a:ea typeface="Arial" panose="020B0604020202090204"/>
                <a:cs typeface="Arial" panose="020B0604020202090204"/>
                <a:sym typeface="+mn-ea"/>
              </a:rPr>
              <a:t>s</a:t>
            </a:r>
            <a:endParaRPr lang="en-US"/>
          </a:p>
        </p:txBody>
      </p:sp>
      <p:sp>
        <p:nvSpPr>
          <p:cNvPr id="2" name="Content Placeholder 1"/>
          <p:cNvSpPr>
            <a:spLocks noGrp="1"/>
          </p:cNvSpPr>
          <p:nvPr>
            <p:ph idx="1"/>
          </p:nvPr>
        </p:nvSpPr>
        <p:spPr>
          <a:xfrm>
            <a:off x="644525" y="952500"/>
            <a:ext cx="10709275" cy="5129530"/>
          </a:xfrm>
        </p:spPr>
        <p:txBody>
          <a:bodyPr>
            <a:normAutofit/>
          </a:bodyPr>
          <a:lstStyle/>
          <a:p>
            <a:pPr algn="l" rtl="0" eaLnBrk="0">
              <a:lnSpc>
                <a:spcPct val="60000"/>
              </a:lnSpc>
            </a:pPr>
            <a:endParaRPr sz="2000" dirty="0">
              <a:solidFill>
                <a:srgbClr val="000000">
                  <a:alpha val="100000"/>
                </a:srgbClr>
              </a:solidFill>
              <a:latin typeface="Arial" panose="020B0604020202090204"/>
              <a:ea typeface="Arial" panose="020B0604020202090204"/>
              <a:cs typeface="Arial" panose="020B0604020202090204"/>
              <a:sym typeface="+mn-ea"/>
            </a:endParaRPr>
          </a:p>
          <a:p>
            <a:pPr marL="12700" indent="0" algn="l" rtl="0" eaLnBrk="0">
              <a:lnSpc>
                <a:spcPct val="116000"/>
              </a:lnSpc>
              <a:buNone/>
            </a:pPr>
            <a:r>
              <a:rPr sz="2000" spc="-70" dirty="0">
                <a:solidFill>
                  <a:srgbClr val="000000">
                    <a:alpha val="100000"/>
                  </a:srgbClr>
                </a:solidFill>
                <a:latin typeface="Arial" panose="020B0604020202090204"/>
                <a:ea typeface="Arial" panose="020B0604020202090204"/>
                <a:cs typeface="Arial" panose="020B0604020202090204"/>
                <a:sym typeface="+mn-ea"/>
              </a:rPr>
              <a:t> </a:t>
            </a:r>
          </a:p>
          <a:p>
            <a:pPr marL="12700" indent="0" algn="l" rtl="0" eaLnBrk="0">
              <a:lnSpc>
                <a:spcPct val="116000"/>
              </a:lnSpc>
              <a:buNone/>
            </a:pPr>
            <a:r>
              <a:rPr lang="en-US" sz="2000" spc="-70" dirty="0">
                <a:solidFill>
                  <a:srgbClr val="000000">
                    <a:alpha val="100000"/>
                  </a:srgbClr>
                </a:solidFill>
                <a:latin typeface="Arial" panose="020B0604020202090204"/>
                <a:ea typeface="Arial" panose="020B0604020202090204"/>
                <a:cs typeface="Arial" panose="020B0604020202090204"/>
                <a:sym typeface="+mn-ea"/>
              </a:rPr>
              <a:t>4   Delphi estimation</a:t>
            </a:r>
          </a:p>
          <a:p>
            <a:pPr marL="755650" lvl="1" indent="-285750" eaLnBrk="0">
              <a:lnSpc>
                <a:spcPct val="116000"/>
              </a:lnSpc>
            </a:pPr>
            <a:r>
              <a:rPr spc="-80" dirty="0">
                <a:solidFill>
                  <a:srgbClr val="000000">
                    <a:alpha val="100000"/>
                  </a:srgbClr>
                </a:solidFill>
                <a:latin typeface="Arial" panose="020B0604020202090204"/>
                <a:ea typeface="Arial" panose="020B0604020202090204"/>
                <a:cs typeface="Arial" panose="020B0604020202090204"/>
                <a:sym typeface="+mn-ea"/>
              </a:rPr>
              <a:t>Iterative estimation by gro</a:t>
            </a:r>
            <a:r>
              <a:rPr spc="-10" dirty="0">
                <a:solidFill>
                  <a:srgbClr val="000000">
                    <a:alpha val="100000"/>
                  </a:srgbClr>
                </a:solidFill>
                <a:latin typeface="Arial" panose="020B0604020202090204"/>
                <a:ea typeface="Arial" panose="020B0604020202090204"/>
                <a:cs typeface="Arial" panose="020B0604020202090204"/>
                <a:sym typeface="+mn-ea"/>
              </a:rPr>
              <a:t>u</a:t>
            </a:r>
            <a:r>
              <a:rPr dirty="0">
                <a:solidFill>
                  <a:srgbClr val="000000">
                    <a:alpha val="100000"/>
                  </a:srgbClr>
                </a:solidFill>
                <a:latin typeface="Arial" panose="020B0604020202090204"/>
                <a:ea typeface="Arial" panose="020B0604020202090204"/>
                <a:cs typeface="Arial" panose="020B0604020202090204"/>
                <a:sym typeface="+mn-ea"/>
              </a:rPr>
              <a:t>ps </a:t>
            </a:r>
          </a:p>
          <a:p>
            <a:pPr marL="755650" lvl="1" indent="-285750" eaLnBrk="0">
              <a:lnSpc>
                <a:spcPct val="116000"/>
              </a:lnSpc>
            </a:pPr>
            <a:r>
              <a:rPr spc="-100" dirty="0">
                <a:solidFill>
                  <a:srgbClr val="000000">
                    <a:alpha val="100000"/>
                  </a:srgbClr>
                </a:solidFill>
                <a:latin typeface="Arial" panose="020B0604020202090204"/>
                <a:ea typeface="Arial" panose="020B0604020202090204"/>
                <a:cs typeface="Arial" panose="020B0604020202090204"/>
                <a:sym typeface="+mn-ea"/>
              </a:rPr>
              <a:t>Achieve convergence through</a:t>
            </a:r>
          </a:p>
          <a:p>
            <a:pPr marL="755650" lvl="1" indent="-285750" eaLnBrk="0">
              <a:lnSpc>
                <a:spcPct val="116000"/>
              </a:lnSpc>
            </a:pPr>
            <a:r>
              <a:rPr spc="-60" dirty="0">
                <a:solidFill>
                  <a:srgbClr val="000000">
                    <a:alpha val="100000"/>
                  </a:srgbClr>
                </a:solidFill>
                <a:latin typeface="Arial" panose="020B0604020202090204"/>
                <a:ea typeface="Arial" panose="020B0604020202090204"/>
                <a:cs typeface="Arial" panose="020B0604020202090204"/>
                <a:sym typeface="+mn-ea"/>
              </a:rPr>
              <a:t>Planning Poke</a:t>
            </a:r>
            <a:r>
              <a:rPr dirty="0">
                <a:solidFill>
                  <a:srgbClr val="000000">
                    <a:alpha val="100000"/>
                  </a:srgbClr>
                </a:solidFill>
                <a:latin typeface="Arial" panose="020B0604020202090204"/>
                <a:ea typeface="Arial" panose="020B0604020202090204"/>
                <a:cs typeface="Arial" panose="020B0604020202090204"/>
                <a:sym typeface="+mn-ea"/>
              </a:rPr>
              <a:t>r</a:t>
            </a:r>
            <a:endParaRPr sz="2000" dirty="0">
              <a:solidFill>
                <a:srgbClr val="000000">
                  <a:alpha val="100000"/>
                </a:srgbClr>
              </a:solidFill>
              <a:latin typeface="Arial" panose="020B0604020202090204"/>
              <a:ea typeface="Arial" panose="020B0604020202090204"/>
              <a:cs typeface="Arial" panose="020B0604020202090204"/>
              <a:sym typeface="+mn-ea"/>
            </a:endParaRPr>
          </a:p>
          <a:p>
            <a:pPr marL="768350" lvl="1" indent="-298450" algn="l" rtl="0" eaLnBrk="0">
              <a:lnSpc>
                <a:spcPct val="116000"/>
              </a:lnSpc>
            </a:pPr>
            <a:endParaRPr sz="2000" dirty="0">
              <a:solidFill>
                <a:srgbClr val="000000">
                  <a:alpha val="100000"/>
                </a:srgbClr>
              </a:solidFill>
              <a:latin typeface="Arial" panose="020B0604020202090204"/>
              <a:ea typeface="Arial" panose="020B0604020202090204"/>
              <a:cs typeface="Arial" panose="020B0604020202090204"/>
              <a:sym typeface="+mn-ea"/>
            </a:endParaRPr>
          </a:p>
          <a:p>
            <a:pPr marL="12700" indent="0" algn="l" rtl="0" eaLnBrk="0">
              <a:lnSpc>
                <a:spcPct val="116000"/>
              </a:lnSpc>
              <a:buNone/>
            </a:pPr>
            <a:r>
              <a:rPr sz="2000" spc="-70" dirty="0">
                <a:solidFill>
                  <a:srgbClr val="000000">
                    <a:alpha val="100000"/>
                  </a:srgbClr>
                </a:solidFill>
                <a:latin typeface="Arial" panose="020B0604020202090204"/>
                <a:ea typeface="Arial" panose="020B0604020202090204"/>
                <a:cs typeface="Arial" panose="020B0604020202090204"/>
                <a:sym typeface="+mn-ea"/>
              </a:rPr>
              <a:t> 5   Daily stand-</a:t>
            </a:r>
            <a:r>
              <a:rPr sz="2000" spc="-50" dirty="0">
                <a:solidFill>
                  <a:srgbClr val="000000">
                    <a:alpha val="100000"/>
                  </a:srgbClr>
                </a:solidFill>
                <a:latin typeface="Arial" panose="020B0604020202090204"/>
                <a:ea typeface="Arial" panose="020B0604020202090204"/>
                <a:cs typeface="Arial" panose="020B0604020202090204"/>
                <a:sym typeface="+mn-ea"/>
              </a:rPr>
              <a:t>u</a:t>
            </a:r>
            <a:r>
              <a:rPr sz="2000" dirty="0">
                <a:solidFill>
                  <a:srgbClr val="000000">
                    <a:alpha val="100000"/>
                  </a:srgbClr>
                </a:solidFill>
                <a:latin typeface="Arial" panose="020B0604020202090204"/>
                <a:ea typeface="Arial" panose="020B0604020202090204"/>
                <a:cs typeface="Arial" panose="020B0604020202090204"/>
                <a:sym typeface="+mn-ea"/>
              </a:rPr>
              <a:t>ps</a:t>
            </a:r>
          </a:p>
          <a:p>
            <a:pPr marL="768350" lvl="1" indent="-298450" algn="l" rtl="0" eaLnBrk="0">
              <a:lnSpc>
                <a:spcPct val="116000"/>
              </a:lnSpc>
            </a:pPr>
            <a:r>
              <a:rPr spc="-60" dirty="0">
                <a:solidFill>
                  <a:srgbClr val="000000">
                    <a:alpha val="100000"/>
                  </a:srgbClr>
                </a:solidFill>
                <a:latin typeface="Arial" panose="020B0604020202090204"/>
                <a:ea typeface="Arial" panose="020B0604020202090204"/>
                <a:cs typeface="Arial" panose="020B0604020202090204"/>
                <a:sym typeface="+mn-ea"/>
              </a:rPr>
              <a:t>Borrowed from Scrum</a:t>
            </a:r>
          </a:p>
          <a:p>
            <a:pPr marL="768350" lvl="1" indent="-298450" algn="l" rtl="0" eaLnBrk="0">
              <a:lnSpc>
                <a:spcPct val="116000"/>
              </a:lnSpc>
            </a:pPr>
            <a:r>
              <a:rPr spc="-50" dirty="0">
                <a:solidFill>
                  <a:srgbClr val="000000">
                    <a:alpha val="100000"/>
                  </a:srgbClr>
                </a:solidFill>
                <a:latin typeface="Arial" panose="020B0604020202090204"/>
                <a:ea typeface="Arial" panose="020B0604020202090204"/>
                <a:cs typeface="Arial" panose="020B0604020202090204"/>
                <a:sym typeface="+mn-ea"/>
              </a:rPr>
              <a:t>What did I accomplish since las</a:t>
            </a:r>
            <a:r>
              <a:rPr spc="-40" dirty="0">
                <a:solidFill>
                  <a:srgbClr val="000000">
                    <a:alpha val="100000"/>
                  </a:srgbClr>
                </a:solidFill>
                <a:latin typeface="Arial" panose="020B0604020202090204"/>
                <a:ea typeface="Arial" panose="020B0604020202090204"/>
                <a:cs typeface="Arial" panose="020B0604020202090204"/>
                <a:sym typeface="+mn-ea"/>
              </a:rPr>
              <a:t>t</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time</a:t>
            </a:r>
            <a:r>
              <a:rPr spc="-50" dirty="0">
                <a:solidFill>
                  <a:srgbClr val="000000">
                    <a:alpha val="100000"/>
                  </a:srgbClr>
                </a:solidFill>
                <a:latin typeface="Arial" panose="020B0604020202090204"/>
                <a:ea typeface="Arial" panose="020B0604020202090204"/>
                <a:cs typeface="Arial" panose="020B0604020202090204"/>
                <a:sym typeface="+mn-ea"/>
              </a:rPr>
              <a:t>?</a:t>
            </a:r>
          </a:p>
          <a:p>
            <a:pPr marL="768350" lvl="1" indent="-298450" algn="l" rtl="0" eaLnBrk="0">
              <a:lnSpc>
                <a:spcPct val="116000"/>
              </a:lnSpc>
            </a:pPr>
            <a:r>
              <a:rPr spc="-80" dirty="0">
                <a:solidFill>
                  <a:srgbClr val="000000">
                    <a:alpha val="100000"/>
                  </a:srgbClr>
                </a:solidFill>
                <a:latin typeface="Arial" panose="020B0604020202090204"/>
                <a:ea typeface="Arial" panose="020B0604020202090204"/>
                <a:cs typeface="Arial" panose="020B0604020202090204"/>
                <a:sym typeface="+mn-ea"/>
              </a:rPr>
              <a:t>What’s my goal for tod</a:t>
            </a:r>
            <a:r>
              <a:rPr spc="-4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y</a:t>
            </a:r>
            <a:r>
              <a:rPr spc="-80" dirty="0">
                <a:solidFill>
                  <a:srgbClr val="000000">
                    <a:alpha val="100000"/>
                  </a:srgbClr>
                </a:solidFill>
                <a:latin typeface="Arial" panose="020B0604020202090204"/>
                <a:ea typeface="Arial" panose="020B0604020202090204"/>
                <a:cs typeface="Arial" panose="020B0604020202090204"/>
                <a:sym typeface="+mn-ea"/>
              </a:rPr>
              <a:t>?</a:t>
            </a:r>
          </a:p>
          <a:p>
            <a:pPr marL="768350" lvl="1" indent="-298450" algn="l" rtl="0" eaLnBrk="0">
              <a:lnSpc>
                <a:spcPct val="116000"/>
              </a:lnSpc>
            </a:pPr>
            <a:r>
              <a:rPr spc="-80" dirty="0">
                <a:solidFill>
                  <a:srgbClr val="000000">
                    <a:alpha val="100000"/>
                  </a:srgbClr>
                </a:solidFill>
                <a:latin typeface="Arial" panose="020B0604020202090204"/>
                <a:ea typeface="Arial" panose="020B0604020202090204"/>
                <a:cs typeface="Arial" panose="020B0604020202090204"/>
                <a:sym typeface="+mn-ea"/>
              </a:rPr>
              <a:t>What problems do I ha</a:t>
            </a:r>
            <a:r>
              <a:rPr dirty="0">
                <a:solidFill>
                  <a:srgbClr val="000000">
                    <a:alpha val="100000"/>
                  </a:srgbClr>
                </a:solidFill>
                <a:latin typeface="Arial" panose="020B0604020202090204"/>
                <a:ea typeface="Arial" panose="020B0604020202090204"/>
                <a:cs typeface="Arial" panose="020B0604020202090204"/>
                <a:sym typeface="+mn-ea"/>
              </a:rPr>
              <a:t>ve</a:t>
            </a:r>
            <a:r>
              <a:rPr spc="-80" dirty="0">
                <a:solidFill>
                  <a:srgbClr val="000000">
                    <a:alpha val="100000"/>
                  </a:srgbClr>
                </a:solidFill>
                <a:latin typeface="Arial" panose="020B0604020202090204"/>
                <a:ea typeface="Arial" panose="020B0604020202090204"/>
                <a:cs typeface="Arial" panose="020B0604020202090204"/>
                <a:sym typeface="+mn-ea"/>
              </a:rPr>
              <a:t>?</a:t>
            </a:r>
            <a:endParaRPr dirty="0">
              <a:solidFill>
                <a:srgbClr val="000000">
                  <a:alpha val="100000"/>
                </a:srgbClr>
              </a:solidFill>
              <a:latin typeface="Arial" panose="020B0604020202090204"/>
              <a:ea typeface="Arial" panose="020B0604020202090204"/>
              <a:cs typeface="Arial" panose="020B0604020202090204"/>
              <a:sym typeface="+mn-ea"/>
            </a:endParaRPr>
          </a:p>
          <a:p>
            <a:pPr marL="485140" lvl="1" algn="l" rtl="0" eaLnBrk="0">
              <a:lnSpc>
                <a:spcPts val="3695"/>
              </a:lnSpc>
              <a:spcBef>
                <a:spcPts val="0"/>
              </a:spcBef>
            </a:pPr>
            <a:endParaRPr spc="-80" dirty="0">
              <a:solidFill>
                <a:srgbClr val="000000">
                  <a:alpha val="100000"/>
                </a:srgbClr>
              </a:solidFill>
              <a:latin typeface="Arial" panose="020B0604020202090204"/>
              <a:ea typeface="Arial" panose="020B0604020202090204"/>
              <a:cs typeface="Arial" panose="020B0604020202090204"/>
              <a:sym typeface="+mn-ea"/>
            </a:endParaRPr>
          </a:p>
          <a:p>
            <a:pPr marL="485140" lvl="1" algn="l" rtl="0" eaLnBrk="0">
              <a:lnSpc>
                <a:spcPts val="3695"/>
              </a:lnSpc>
              <a:spcBef>
                <a:spcPts val="0"/>
              </a:spcBef>
            </a:pPr>
            <a:endParaRPr lang="en-US" altLang="en-US" dirty="0"/>
          </a:p>
          <a:p>
            <a:pPr marL="485140" lvl="1" algn="l" rtl="0" eaLnBrk="0">
              <a:lnSpc>
                <a:spcPts val="3695"/>
              </a:lnSpc>
              <a:spcBef>
                <a:spcPts val="0"/>
              </a:spcBef>
            </a:pPr>
            <a:endParaRPr lang="en-US" altLang="en-US" dirty="0"/>
          </a:p>
          <a:p>
            <a:pPr marL="27940" algn="l" rtl="0" eaLnBrk="0">
              <a:lnSpc>
                <a:spcPts val="3695"/>
              </a:lnSpc>
              <a:spcBef>
                <a:spcPts val="0"/>
              </a:spcBef>
            </a:pP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41</a:t>
            </a:fld>
            <a:endParaRPr lang="en-US"/>
          </a:p>
        </p:txBody>
      </p:sp>
      <p:pic>
        <p:nvPicPr>
          <p:cNvPr id="134" name="picture 134"/>
          <p:cNvPicPr>
            <a:picLocks noChangeAspect="1"/>
          </p:cNvPicPr>
          <p:nvPr/>
        </p:nvPicPr>
        <p:blipFill>
          <a:blip r:embed="rId2"/>
          <a:stretch>
            <a:fillRect/>
          </a:stretch>
        </p:blipFill>
        <p:spPr>
          <a:xfrm rot="21600000">
            <a:off x="7600139" y="2519199"/>
            <a:ext cx="2514318" cy="1819701"/>
          </a:xfrm>
          <a:prstGeom prst="rect">
            <a:avLst/>
          </a:prstGeom>
        </p:spPr>
      </p:pic>
      <p:pic>
        <p:nvPicPr>
          <p:cNvPr id="133" name="picture 133"/>
          <p:cNvPicPr>
            <a:picLocks noChangeAspect="1"/>
          </p:cNvPicPr>
          <p:nvPr/>
        </p:nvPicPr>
        <p:blipFill>
          <a:blip r:embed="rId3"/>
          <a:stretch>
            <a:fillRect/>
          </a:stretch>
        </p:blipFill>
        <p:spPr>
          <a:xfrm rot="21600000">
            <a:off x="7268759" y="4488760"/>
            <a:ext cx="3176169" cy="1788264"/>
          </a:xfrm>
          <a:prstGeom prst="rect">
            <a:avLst/>
          </a:prstGeom>
        </p:spPr>
      </p:pic>
      <p:pic>
        <p:nvPicPr>
          <p:cNvPr id="123" name="picture 123"/>
          <p:cNvPicPr>
            <a:picLocks noChangeAspect="1"/>
          </p:cNvPicPr>
          <p:nvPr/>
        </p:nvPicPr>
        <p:blipFill>
          <a:blip r:embed="rId4"/>
          <a:stretch>
            <a:fillRect/>
          </a:stretch>
        </p:blipFill>
        <p:spPr>
          <a:xfrm rot="21600000">
            <a:off x="7762875" y="365125"/>
            <a:ext cx="2496820" cy="18821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fld id="{12342C3A-DD85-7843-B416-BD52AB030D59}" type="slidenum">
              <a:rPr lang="en-US" smtClean="0"/>
              <a:pPr/>
              <a:t>42</a:t>
            </a:fld>
            <a:endParaRPr lang="en-US" dirty="0"/>
          </a:p>
        </p:txBody>
      </p:sp>
      <p:sp>
        <p:nvSpPr>
          <p:cNvPr id="3" name="Text Placeholder 2"/>
          <p:cNvSpPr>
            <a:spLocks noGrp="1"/>
          </p:cNvSpPr>
          <p:nvPr>
            <p:ph type="body" sz="quarter" idx="12"/>
          </p:nvPr>
        </p:nvSpPr>
        <p:spPr/>
        <p:txBody>
          <a:bodyPr/>
          <a:lstStyle/>
          <a:p>
            <a:r>
              <a:rPr lang="en-US" sz="2200" dirty="0"/>
              <a:t>Creative ways to limit the length of the daily standup</a:t>
            </a:r>
          </a:p>
        </p:txBody>
      </p:sp>
      <p:sp>
        <p:nvSpPr>
          <p:cNvPr id="4" name="Title 3"/>
          <p:cNvSpPr>
            <a:spLocks noGrp="1"/>
          </p:cNvSpPr>
          <p:nvPr>
            <p:ph type="title"/>
          </p:nvPr>
        </p:nvSpPr>
        <p:spPr/>
        <p:txBody>
          <a:bodyPr/>
          <a:lstStyle/>
          <a:p>
            <a:r>
              <a:rPr lang="en-US" dirty="0"/>
              <a:t>Daily Standup Meeting</a:t>
            </a:r>
          </a:p>
        </p:txBody>
      </p:sp>
      <p:pic>
        <p:nvPicPr>
          <p:cNvPr id="5" name="Picture 4"/>
          <p:cNvPicPr>
            <a:picLocks noChangeAspect="1"/>
          </p:cNvPicPr>
          <p:nvPr/>
        </p:nvPicPr>
        <p:blipFill>
          <a:blip r:embed="rId2"/>
          <a:stretch>
            <a:fillRect/>
          </a:stretch>
        </p:blipFill>
        <p:spPr>
          <a:xfrm>
            <a:off x="2286794" y="1564043"/>
            <a:ext cx="7620001" cy="4362961"/>
          </a:xfrm>
          <a:prstGeom prst="rect">
            <a:avLst/>
          </a:prstGeom>
        </p:spPr>
      </p:pic>
      <p:sp>
        <p:nvSpPr>
          <p:cNvPr id="6" name="Rectangle 5"/>
          <p:cNvSpPr/>
          <p:nvPr/>
        </p:nvSpPr>
        <p:spPr>
          <a:xfrm>
            <a:off x="2286794" y="5969641"/>
            <a:ext cx="7620001" cy="261610"/>
          </a:xfrm>
          <a:prstGeom prst="rect">
            <a:avLst/>
          </a:prstGeom>
        </p:spPr>
        <p:txBody>
          <a:bodyPr wrap="square">
            <a:spAutoFit/>
          </a:bodyPr>
          <a:lstStyle/>
          <a:p>
            <a:pPr algn="ctr"/>
            <a:r>
              <a:rPr lang="en-US" sz="1100" dirty="0">
                <a:latin typeface="Calibri" panose="020F0502020204030204" pitchFamily="34" charset="0"/>
              </a:rPr>
              <a:t>https://www.linkedin.com/pulse/daily-plank-meeting-going-agile-literally-jeyaraj-nagarajan</a:t>
            </a:r>
            <a:endParaRPr lang="en-US" sz="1100" dirty="0"/>
          </a:p>
        </p:txBody>
      </p:sp>
    </p:spTree>
    <p:extLst>
      <p:ext uri="{BB962C8B-B14F-4D97-AF65-F5344CB8AC3E}">
        <p14:creationId xmlns:p14="http://schemas.microsoft.com/office/powerpoint/2010/main" val="347937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pc="-80" dirty="0">
                <a:solidFill>
                  <a:schemeClr val="tx1">
                    <a:alpha val="100000"/>
                  </a:schemeClr>
                </a:solidFill>
                <a:latin typeface="Arial" panose="020B0604020202090204"/>
                <a:ea typeface="Arial" panose="020B0604020202090204"/>
                <a:cs typeface="Arial" panose="020B0604020202090204"/>
                <a:sym typeface="+mn-ea"/>
              </a:rPr>
              <a:t>Technique</a:t>
            </a:r>
            <a:r>
              <a:rPr spc="-50" dirty="0">
                <a:solidFill>
                  <a:schemeClr val="tx1">
                    <a:alpha val="100000"/>
                  </a:schemeClr>
                </a:solidFill>
                <a:latin typeface="Arial" panose="020B0604020202090204"/>
                <a:ea typeface="Arial" panose="020B0604020202090204"/>
                <a:cs typeface="Arial" panose="020B0604020202090204"/>
                <a:sym typeface="+mn-ea"/>
              </a:rPr>
              <a:t>s</a:t>
            </a:r>
            <a:endParaRPr lang="en-US"/>
          </a:p>
        </p:txBody>
      </p:sp>
      <p:sp>
        <p:nvSpPr>
          <p:cNvPr id="2" name="Content Placeholder 1"/>
          <p:cNvSpPr>
            <a:spLocks noGrp="1"/>
          </p:cNvSpPr>
          <p:nvPr>
            <p:ph idx="1"/>
          </p:nvPr>
        </p:nvSpPr>
        <p:spPr>
          <a:xfrm>
            <a:off x="646676" y="1328479"/>
            <a:ext cx="10709031" cy="3879273"/>
          </a:xfrm>
        </p:spPr>
        <p:txBody>
          <a:bodyPr>
            <a:normAutofit/>
          </a:bodyPr>
          <a:lstStyle/>
          <a:p>
            <a:pPr marL="0" indent="0" algn="l" rtl="0" eaLnBrk="0">
              <a:lnSpc>
                <a:spcPct val="83000"/>
              </a:lnSpc>
              <a:buNone/>
            </a:pPr>
            <a:r>
              <a:rPr sz="2000" spc="-60" dirty="0">
                <a:solidFill>
                  <a:srgbClr val="000000">
                    <a:alpha val="100000"/>
                  </a:srgbClr>
                </a:solidFill>
                <a:latin typeface="Arial" panose="020B0604020202090204"/>
                <a:ea typeface="Arial" panose="020B0604020202090204"/>
                <a:cs typeface="Arial" panose="020B0604020202090204"/>
                <a:sym typeface="+mn-ea"/>
              </a:rPr>
              <a:t>6  Agile interaction desig</a:t>
            </a:r>
            <a:r>
              <a:rPr sz="2000" spc="-50" dirty="0">
                <a:solidFill>
                  <a:srgbClr val="000000">
                    <a:alpha val="100000"/>
                  </a:srgbClr>
                </a:solidFill>
                <a:latin typeface="Arial" panose="020B0604020202090204"/>
                <a:ea typeface="Arial" panose="020B0604020202090204"/>
                <a:cs typeface="Arial" panose="020B0604020202090204"/>
                <a:sym typeface="+mn-ea"/>
              </a:rPr>
              <a:t>n</a:t>
            </a:r>
            <a:endParaRPr lang="en-US" altLang="en-US" sz="2000" dirty="0"/>
          </a:p>
          <a:p>
            <a:pPr algn="l" rtl="0" eaLnBrk="0">
              <a:lnSpc>
                <a:spcPct val="83000"/>
              </a:lnSpc>
            </a:pPr>
            <a:endParaRPr spc="-70" dirty="0">
              <a:solidFill>
                <a:srgbClr val="000000">
                  <a:alpha val="100000"/>
                </a:srgbClr>
              </a:solidFill>
              <a:latin typeface="Arial" panose="020B0604020202090204"/>
              <a:ea typeface="Arial" panose="020B0604020202090204"/>
              <a:cs typeface="Arial" panose="020B0604020202090204"/>
              <a:sym typeface="+mn-ea"/>
            </a:endParaRPr>
          </a:p>
          <a:p>
            <a:pPr lvl="1" algn="l" rtl="0" eaLnBrk="0">
              <a:lnSpc>
                <a:spcPct val="83000"/>
              </a:lnSpc>
            </a:pPr>
            <a:r>
              <a:rPr spc="-70" dirty="0">
                <a:solidFill>
                  <a:srgbClr val="000000">
                    <a:alpha val="100000"/>
                  </a:srgbClr>
                </a:solidFill>
                <a:latin typeface="Arial" panose="020B0604020202090204"/>
                <a:ea typeface="Arial" panose="020B0604020202090204"/>
                <a:cs typeface="Arial" panose="020B0604020202090204"/>
                <a:sym typeface="+mn-ea"/>
              </a:rPr>
              <a:t>User-centered des</a:t>
            </a:r>
            <a:r>
              <a:rPr spc="-40" dirty="0">
                <a:solidFill>
                  <a:srgbClr val="000000">
                    <a:alpha val="100000"/>
                  </a:srgbClr>
                </a:solidFill>
                <a:latin typeface="Arial" panose="020B0604020202090204"/>
                <a:ea typeface="Arial" panose="020B0604020202090204"/>
                <a:cs typeface="Arial" panose="020B0604020202090204"/>
                <a:sym typeface="+mn-ea"/>
              </a:rPr>
              <a:t>i</a:t>
            </a:r>
            <a:r>
              <a:rPr dirty="0">
                <a:solidFill>
                  <a:srgbClr val="000000">
                    <a:alpha val="100000"/>
                  </a:srgbClr>
                </a:solidFill>
                <a:latin typeface="Arial" panose="020B0604020202090204"/>
                <a:ea typeface="Arial" panose="020B0604020202090204"/>
                <a:cs typeface="Arial" panose="020B0604020202090204"/>
                <a:sym typeface="+mn-ea"/>
              </a:rPr>
              <a:t>gn</a:t>
            </a:r>
            <a:endParaRPr lang="en-US" altLang="en-US" dirty="0"/>
          </a:p>
          <a:p>
            <a:pPr marL="952500" lvl="1" algn="l" rtl="0" eaLnBrk="0">
              <a:lnSpc>
                <a:spcPts val="2900"/>
              </a:lnSpc>
            </a:pPr>
            <a:r>
              <a:rPr spc="-50" dirty="0">
                <a:solidFill>
                  <a:srgbClr val="000000">
                    <a:alpha val="100000"/>
                  </a:srgbClr>
                </a:solidFill>
                <a:latin typeface="Arial" panose="020B0604020202090204"/>
                <a:ea typeface="Arial" panose="020B0604020202090204"/>
                <a:cs typeface="Arial" panose="020B0604020202090204"/>
                <a:sym typeface="+mn-ea"/>
              </a:rPr>
              <a:t>What would the user w</a:t>
            </a:r>
            <a:r>
              <a:rPr spc="-1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nt</a:t>
            </a:r>
            <a:r>
              <a:rPr spc="-5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975360" lvl="1" algn="l" rtl="0" eaLnBrk="0">
              <a:lnSpc>
                <a:spcPts val="2970"/>
              </a:lnSpc>
            </a:pPr>
            <a:r>
              <a:rPr spc="-70" dirty="0">
                <a:solidFill>
                  <a:srgbClr val="000000">
                    <a:alpha val="100000"/>
                  </a:srgbClr>
                </a:solidFill>
                <a:latin typeface="Arial" panose="020B0604020202090204"/>
                <a:ea typeface="Arial" panose="020B0604020202090204"/>
                <a:cs typeface="Arial" panose="020B0604020202090204"/>
                <a:sym typeface="+mn-ea"/>
              </a:rPr>
              <a:t>How will the user use the syste</a:t>
            </a:r>
            <a:r>
              <a:rPr dirty="0">
                <a:solidFill>
                  <a:srgbClr val="000000">
                    <a:alpha val="100000"/>
                  </a:srgbClr>
                </a:solidFill>
                <a:latin typeface="Arial" panose="020B0604020202090204"/>
                <a:ea typeface="Arial" panose="020B0604020202090204"/>
                <a:cs typeface="Arial" panose="020B0604020202090204"/>
                <a:sym typeface="+mn-ea"/>
              </a:rPr>
              <a:t>m</a:t>
            </a:r>
            <a:r>
              <a:rPr spc="-7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474980" lvl="1" algn="l" rtl="0" eaLnBrk="0">
              <a:lnSpc>
                <a:spcPts val="3165"/>
              </a:lnSpc>
              <a:spcBef>
                <a:spcPts val="1260"/>
              </a:spcBef>
            </a:pPr>
            <a:r>
              <a:rPr spc="-50" dirty="0">
                <a:solidFill>
                  <a:srgbClr val="000000">
                    <a:alpha val="100000"/>
                  </a:srgbClr>
                </a:solidFill>
                <a:latin typeface="Arial" panose="020B0604020202090204"/>
                <a:ea typeface="Arial" panose="020B0604020202090204"/>
                <a:cs typeface="Arial" panose="020B0604020202090204"/>
                <a:sym typeface="+mn-ea"/>
              </a:rPr>
              <a:t>Focus on roles of u</a:t>
            </a:r>
            <a:r>
              <a:rPr spc="-30" dirty="0">
                <a:solidFill>
                  <a:srgbClr val="000000">
                    <a:alpha val="100000"/>
                  </a:srgbClr>
                </a:solidFill>
                <a:latin typeface="Arial" panose="020B0604020202090204"/>
                <a:ea typeface="Arial" panose="020B0604020202090204"/>
                <a:cs typeface="Arial" panose="020B0604020202090204"/>
                <a:sym typeface="+mn-ea"/>
              </a:rPr>
              <a:t>s</a:t>
            </a:r>
            <a:r>
              <a:rPr dirty="0">
                <a:solidFill>
                  <a:srgbClr val="000000">
                    <a:alpha val="100000"/>
                  </a:srgbClr>
                </a:solidFill>
                <a:latin typeface="Arial" panose="020B0604020202090204"/>
                <a:ea typeface="Arial" panose="020B0604020202090204"/>
                <a:cs typeface="Arial" panose="020B0604020202090204"/>
                <a:sym typeface="+mn-ea"/>
              </a:rPr>
              <a:t>ers</a:t>
            </a:r>
            <a:endParaRPr lang="en-US" altLang="en-US" dirty="0"/>
          </a:p>
          <a:p>
            <a:pPr marL="474345" lvl="1" algn="l" rtl="0" eaLnBrk="0">
              <a:lnSpc>
                <a:spcPct val="80000"/>
              </a:lnSpc>
              <a:spcBef>
                <a:spcPts val="1910"/>
              </a:spcBef>
            </a:pPr>
            <a:r>
              <a:rPr spc="-70" dirty="0">
                <a:solidFill>
                  <a:srgbClr val="000000">
                    <a:alpha val="100000"/>
                  </a:srgbClr>
                </a:solidFill>
                <a:latin typeface="Arial" panose="020B0604020202090204"/>
                <a:ea typeface="Arial" panose="020B0604020202090204"/>
                <a:cs typeface="Arial" panose="020B0604020202090204"/>
                <a:sym typeface="+mn-ea"/>
              </a:rPr>
              <a:t>Human Computer Interaction (</a:t>
            </a:r>
            <a:r>
              <a:rPr spc="-50" dirty="0">
                <a:solidFill>
                  <a:srgbClr val="000000">
                    <a:alpha val="100000"/>
                  </a:srgbClr>
                </a:solidFill>
                <a:latin typeface="Arial" panose="020B0604020202090204"/>
                <a:ea typeface="Arial" panose="020B0604020202090204"/>
                <a:cs typeface="Arial" panose="020B0604020202090204"/>
                <a:sym typeface="+mn-ea"/>
              </a:rPr>
              <a:t>C</a:t>
            </a:r>
            <a:r>
              <a:rPr dirty="0">
                <a:solidFill>
                  <a:srgbClr val="000000">
                    <a:alpha val="100000"/>
                  </a:srgbClr>
                </a:solidFill>
                <a:latin typeface="Arial" panose="020B0604020202090204"/>
                <a:ea typeface="Arial" panose="020B0604020202090204"/>
                <a:cs typeface="Arial" panose="020B0604020202090204"/>
                <a:sym typeface="+mn-ea"/>
              </a:rPr>
              <a:t>S</a:t>
            </a:r>
            <a:r>
              <a:rPr spc="-70" dirty="0">
                <a:solidFill>
                  <a:srgbClr val="000000">
                    <a:alpha val="100000"/>
                  </a:srgbClr>
                </a:solidFill>
                <a:latin typeface="Arial" panose="020B0604020202090204"/>
                <a:ea typeface="Arial" panose="020B0604020202090204"/>
                <a:cs typeface="Arial" panose="020B0604020202090204"/>
                <a:sym typeface="+mn-ea"/>
              </a:rPr>
              <a:t> 545)</a:t>
            </a:r>
            <a:endParaRPr lang="en-US" altLang="en-US" dirty="0"/>
          </a:p>
          <a:p>
            <a:pPr algn="l" rtl="0" eaLnBrk="0">
              <a:lnSpc>
                <a:spcPct val="106000"/>
              </a:lnSpc>
            </a:pPr>
            <a:endParaRPr lang="en-US" altLang="en-US" dirty="0"/>
          </a:p>
          <a:p>
            <a:pPr lvl="1" algn="l" rtl="0" eaLnBrk="0">
              <a:lnSpc>
                <a:spcPct val="7000"/>
              </a:lnSpc>
            </a:pPr>
            <a:r>
              <a:rPr spc="-80" dirty="0">
                <a:solidFill>
                  <a:srgbClr val="000000">
                    <a:alpha val="100000"/>
                  </a:srgbClr>
                </a:solidFill>
                <a:latin typeface="Arial" panose="020B0604020202090204"/>
                <a:ea typeface="Arial" panose="020B0604020202090204"/>
                <a:cs typeface="Arial" panose="020B0604020202090204"/>
                <a:sym typeface="+mn-ea"/>
              </a:rPr>
              <a:t>Usability testi</a:t>
            </a:r>
            <a:r>
              <a:rPr spc="-50" dirty="0">
                <a:solidFill>
                  <a:srgbClr val="000000">
                    <a:alpha val="100000"/>
                  </a:srgbClr>
                </a:solidFill>
                <a:latin typeface="Arial" panose="020B0604020202090204"/>
                <a:ea typeface="Arial" panose="020B0604020202090204"/>
                <a:cs typeface="Arial" panose="020B0604020202090204"/>
                <a:sym typeface="+mn-ea"/>
              </a:rPr>
              <a:t>n</a:t>
            </a:r>
            <a:r>
              <a:rPr dirty="0">
                <a:solidFill>
                  <a:srgbClr val="000000">
                    <a:alpha val="100000"/>
                  </a:srgbClr>
                </a:solidFill>
                <a:latin typeface="Arial" panose="020B0604020202090204"/>
                <a:ea typeface="Arial" panose="020B0604020202090204"/>
                <a:cs typeface="Arial" panose="020B0604020202090204"/>
                <a:sym typeface="+mn-ea"/>
              </a:rPr>
              <a:t>g</a:t>
            </a:r>
            <a:endParaRPr lang="en-US" altLang="en-US" dirty="0"/>
          </a:p>
          <a:p>
            <a:pPr marL="318135" algn="l" rtl="0" eaLnBrk="0">
              <a:lnSpc>
                <a:spcPts val="4460"/>
              </a:lnSpc>
            </a:pP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43</a:t>
            </a:fld>
            <a:endParaRPr lang="en-US"/>
          </a:p>
        </p:txBody>
      </p:sp>
      <p:pic>
        <p:nvPicPr>
          <p:cNvPr id="136" name="picture 136"/>
          <p:cNvPicPr>
            <a:picLocks noChangeAspect="1"/>
          </p:cNvPicPr>
          <p:nvPr/>
        </p:nvPicPr>
        <p:blipFill>
          <a:blip r:embed="rId2"/>
          <a:stretch>
            <a:fillRect/>
          </a:stretch>
        </p:blipFill>
        <p:spPr>
          <a:xfrm rot="21600000">
            <a:off x="5372735" y="3063571"/>
            <a:ext cx="5168900" cy="3213100"/>
          </a:xfrm>
          <a:prstGeom prst="rect">
            <a:avLst/>
          </a:prstGeom>
        </p:spPr>
      </p:pic>
      <p:pic>
        <p:nvPicPr>
          <p:cNvPr id="123" name="picture 123"/>
          <p:cNvPicPr>
            <a:picLocks noChangeAspect="1"/>
          </p:cNvPicPr>
          <p:nvPr/>
        </p:nvPicPr>
        <p:blipFill>
          <a:blip r:embed="rId3"/>
          <a:stretch>
            <a:fillRect/>
          </a:stretch>
        </p:blipFill>
        <p:spPr>
          <a:xfrm rot="21600000">
            <a:off x="6708775" y="999490"/>
            <a:ext cx="2496820" cy="18821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Techniques</a:t>
            </a:r>
          </a:p>
        </p:txBody>
      </p:sp>
      <p:sp>
        <p:nvSpPr>
          <p:cNvPr id="2" name="Content Placeholder 1"/>
          <p:cNvSpPr>
            <a:spLocks noGrp="1"/>
          </p:cNvSpPr>
          <p:nvPr>
            <p:ph idx="1"/>
          </p:nvPr>
        </p:nvSpPr>
        <p:spPr>
          <a:xfrm>
            <a:off x="644771" y="1235769"/>
            <a:ext cx="10709031" cy="3879273"/>
          </a:xfrm>
        </p:spPr>
        <p:txBody>
          <a:bodyPr/>
          <a:lstStyle/>
          <a:p>
            <a:pPr algn="l" rtl="0" eaLnBrk="0">
              <a:lnSpc>
                <a:spcPct val="83000"/>
              </a:lnSpc>
            </a:pPr>
            <a:endParaRPr lang="en-US" altLang="en-US" dirty="0"/>
          </a:p>
          <a:p>
            <a:pPr marL="0" indent="0" algn="l" rtl="0" eaLnBrk="0">
              <a:lnSpc>
                <a:spcPts val="3695"/>
              </a:lnSpc>
              <a:buNone/>
            </a:pPr>
            <a:r>
              <a:rPr sz="2000" spc="-60" dirty="0">
                <a:solidFill>
                  <a:srgbClr val="000000">
                    <a:alpha val="100000"/>
                  </a:srgbClr>
                </a:solidFill>
                <a:latin typeface="Arial" panose="020B0604020202090204"/>
                <a:ea typeface="Arial" panose="020B0604020202090204"/>
                <a:cs typeface="Arial" panose="020B0604020202090204"/>
                <a:sym typeface="+mn-ea"/>
              </a:rPr>
              <a:t>7   Process miniatu</a:t>
            </a:r>
            <a:r>
              <a:rPr sz="2000" spc="-40" dirty="0">
                <a:solidFill>
                  <a:srgbClr val="000000">
                    <a:alpha val="100000"/>
                  </a:srgbClr>
                </a:solidFill>
                <a:latin typeface="Arial" panose="020B0604020202090204"/>
                <a:ea typeface="Arial" panose="020B0604020202090204"/>
                <a:cs typeface="Arial" panose="020B0604020202090204"/>
                <a:sym typeface="+mn-ea"/>
              </a:rPr>
              <a:t>r</a:t>
            </a:r>
            <a:r>
              <a:rPr sz="2000" dirty="0">
                <a:solidFill>
                  <a:srgbClr val="000000">
                    <a:alpha val="100000"/>
                  </a:srgbClr>
                </a:solidFill>
                <a:latin typeface="Arial" panose="020B0604020202090204"/>
                <a:ea typeface="Arial" panose="020B0604020202090204"/>
                <a:cs typeface="Arial" panose="020B0604020202090204"/>
                <a:sym typeface="+mn-ea"/>
              </a:rPr>
              <a:t>e</a:t>
            </a:r>
          </a:p>
          <a:p>
            <a:pPr marL="469900" lvl="1" algn="l" rtl="0" eaLnBrk="0">
              <a:lnSpc>
                <a:spcPts val="3695"/>
              </a:lnSpc>
            </a:pPr>
            <a:r>
              <a:rPr spc="-80" dirty="0">
                <a:solidFill>
                  <a:srgbClr val="000000">
                    <a:alpha val="100000"/>
                  </a:srgbClr>
                </a:solidFill>
                <a:latin typeface="Arial" panose="020B0604020202090204"/>
                <a:ea typeface="Arial" panose="020B0604020202090204"/>
                <a:cs typeface="Arial" panose="020B0604020202090204"/>
                <a:sym typeface="+mn-ea"/>
              </a:rPr>
              <a:t>Train participants on processes with short exercise</a:t>
            </a:r>
            <a:r>
              <a:rPr spc="-40" dirty="0">
                <a:solidFill>
                  <a:srgbClr val="000000">
                    <a:alpha val="100000"/>
                  </a:srgbClr>
                </a:solidFill>
                <a:latin typeface="Arial" panose="020B0604020202090204"/>
                <a:ea typeface="Arial" panose="020B0604020202090204"/>
                <a:cs typeface="Arial" panose="020B0604020202090204"/>
                <a:sym typeface="+mn-ea"/>
              </a:rPr>
              <a:t>s</a:t>
            </a:r>
            <a:endParaRPr lang="en-US" altLang="en-US" dirty="0"/>
          </a:p>
          <a:p>
            <a:pPr marL="469900" lvl="1" algn="l" rtl="0" eaLnBrk="0">
              <a:lnSpc>
                <a:spcPts val="3165"/>
              </a:lnSpc>
            </a:pPr>
            <a:r>
              <a:rPr spc="-50" dirty="0">
                <a:solidFill>
                  <a:srgbClr val="000000">
                    <a:alpha val="100000"/>
                  </a:srgbClr>
                </a:solidFill>
                <a:latin typeface="Arial" panose="020B0604020202090204"/>
                <a:ea typeface="Arial" panose="020B0604020202090204"/>
                <a:cs typeface="Arial" panose="020B0604020202090204"/>
                <a:sym typeface="+mn-ea"/>
              </a:rPr>
              <a:t>Peter Merel’s “Extreme Hour” to lea</a:t>
            </a:r>
            <a:r>
              <a:rPr spc="-30" dirty="0">
                <a:solidFill>
                  <a:srgbClr val="000000">
                    <a:alpha val="100000"/>
                  </a:srgbClr>
                </a:solidFill>
                <a:latin typeface="Arial" panose="020B0604020202090204"/>
                <a:ea typeface="Arial" panose="020B0604020202090204"/>
                <a:cs typeface="Arial" panose="020B0604020202090204"/>
                <a:sym typeface="+mn-ea"/>
              </a:rPr>
              <a:t>r</a:t>
            </a:r>
            <a:r>
              <a:rPr dirty="0">
                <a:solidFill>
                  <a:srgbClr val="000000">
                    <a:alpha val="100000"/>
                  </a:srgbClr>
                </a:solidFill>
                <a:latin typeface="Arial" panose="020B0604020202090204"/>
                <a:ea typeface="Arial" panose="020B0604020202090204"/>
                <a:cs typeface="Arial" panose="020B0604020202090204"/>
                <a:sym typeface="+mn-ea"/>
              </a:rPr>
              <a:t>n</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XP</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a:lnSpc>
                <a:spcPts val="3165"/>
              </a:lnSpc>
            </a:pPr>
            <a:r>
              <a:rPr spc="-70" dirty="0">
                <a:solidFill>
                  <a:srgbClr val="000000">
                    <a:alpha val="100000"/>
                  </a:srgbClr>
                </a:solidFill>
                <a:latin typeface="Arial" panose="020B0604020202090204"/>
                <a:ea typeface="Arial" panose="020B0604020202090204"/>
                <a:cs typeface="Arial" panose="020B0604020202090204"/>
                <a:sym typeface="+mn-ea"/>
              </a:rPr>
              <a:t>Walk through all aspects of XP on simple project i</a:t>
            </a:r>
            <a:r>
              <a:rPr spc="-40" dirty="0">
                <a:solidFill>
                  <a:srgbClr val="000000">
                    <a:alpha val="100000"/>
                  </a:srgbClr>
                </a:solidFill>
                <a:latin typeface="Arial" panose="020B0604020202090204"/>
                <a:ea typeface="Arial" panose="020B0604020202090204"/>
                <a:cs typeface="Arial" panose="020B0604020202090204"/>
                <a:sym typeface="+mn-ea"/>
              </a:rPr>
              <a:t>n</a:t>
            </a:r>
            <a:r>
              <a:rPr spc="-70" dirty="0">
                <a:solidFill>
                  <a:srgbClr val="000000">
                    <a:alpha val="100000"/>
                  </a:srgbClr>
                </a:solidFill>
                <a:latin typeface="Arial" panose="020B0604020202090204"/>
                <a:ea typeface="Arial" panose="020B0604020202090204"/>
                <a:cs typeface="Arial" panose="020B0604020202090204"/>
                <a:sym typeface="+mn-ea"/>
              </a:rPr>
              <a:t> 60</a:t>
            </a:r>
            <a:r>
              <a:rPr dirty="0">
                <a:solidFill>
                  <a:srgbClr val="000000">
                    <a:alpha val="100000"/>
                  </a:srgbClr>
                </a:solidFill>
                <a:latin typeface="Arial" panose="020B0604020202090204"/>
                <a:ea typeface="Arial" panose="020B0604020202090204"/>
                <a:cs typeface="Arial" panose="020B0604020202090204"/>
                <a:sym typeface="+mn-ea"/>
              </a:rPr>
              <a:t> </a:t>
            </a:r>
            <a:r>
              <a:rPr spc="-90" dirty="0">
                <a:solidFill>
                  <a:srgbClr val="000000">
                    <a:alpha val="100000"/>
                  </a:srgbClr>
                </a:solidFill>
                <a:latin typeface="Arial" panose="020B0604020202090204"/>
                <a:ea typeface="Arial" panose="020B0604020202090204"/>
                <a:cs typeface="Arial" panose="020B0604020202090204"/>
                <a:sym typeface="+mn-ea"/>
              </a:rPr>
              <a:t>minute</a:t>
            </a:r>
            <a:r>
              <a:rPr spc="-50" dirty="0">
                <a:solidFill>
                  <a:srgbClr val="000000">
                    <a:alpha val="100000"/>
                  </a:srgbClr>
                </a:solidFill>
                <a:latin typeface="Arial" panose="020B0604020202090204"/>
                <a:ea typeface="Arial" panose="020B0604020202090204"/>
                <a:cs typeface="Arial" panose="020B0604020202090204"/>
                <a:sym typeface="+mn-ea"/>
              </a:rPr>
              <a:t>s</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a:lnSpc>
                <a:spcPts val="3165"/>
              </a:lnSpc>
            </a:pPr>
            <a:endParaRPr lang="en-US" altLang="en-US" dirty="0"/>
          </a:p>
          <a:p>
            <a:pPr lvl="1" algn="l" rtl="0" eaLnBrk="0">
              <a:lnSpc>
                <a:spcPct val="100000"/>
              </a:lnSpc>
            </a:pPr>
            <a:endParaRPr lang="en-US" altLang="en-US" dirty="0"/>
          </a:p>
          <a:p>
            <a:pPr marL="12700" algn="l" rtl="0" eaLnBrk="0">
              <a:lnSpc>
                <a:spcPts val="3695"/>
              </a:lnSpc>
            </a:pPr>
            <a:endParaRPr spc="-40"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a:lnSpc>
                <a:spcPts val="3695"/>
              </a:lnSpc>
            </a:pP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44</a:t>
            </a:fld>
            <a:endParaRPr lang="en-US"/>
          </a:p>
        </p:txBody>
      </p:sp>
      <p:pic>
        <p:nvPicPr>
          <p:cNvPr id="155" name="picture 155"/>
          <p:cNvPicPr>
            <a:picLocks noChangeAspect="1"/>
          </p:cNvPicPr>
          <p:nvPr/>
        </p:nvPicPr>
        <p:blipFill>
          <a:blip r:embed="rId2"/>
          <a:stretch>
            <a:fillRect/>
          </a:stretch>
        </p:blipFill>
        <p:spPr>
          <a:xfrm rot="21600000">
            <a:off x="5082719" y="4068125"/>
            <a:ext cx="1833134" cy="1833134"/>
          </a:xfrm>
          <a:prstGeom prst="rect">
            <a:avLst/>
          </a:prstGeom>
        </p:spPr>
      </p:pic>
      <p:pic>
        <p:nvPicPr>
          <p:cNvPr id="156" name="picture 156"/>
          <p:cNvPicPr>
            <a:picLocks noChangeAspect="1"/>
          </p:cNvPicPr>
          <p:nvPr/>
        </p:nvPicPr>
        <p:blipFill>
          <a:blip r:embed="rId3"/>
          <a:stretch>
            <a:fillRect/>
          </a:stretch>
        </p:blipFill>
        <p:spPr>
          <a:xfrm rot="21600000">
            <a:off x="8382635" y="943610"/>
            <a:ext cx="2559050" cy="192913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Techniques</a:t>
            </a:r>
          </a:p>
        </p:txBody>
      </p:sp>
      <p:sp>
        <p:nvSpPr>
          <p:cNvPr id="2" name="Content Placeholder 1"/>
          <p:cNvSpPr>
            <a:spLocks noGrp="1"/>
          </p:cNvSpPr>
          <p:nvPr>
            <p:ph idx="1"/>
          </p:nvPr>
        </p:nvSpPr>
        <p:spPr>
          <a:xfrm>
            <a:off x="531184" y="1356583"/>
            <a:ext cx="10709275" cy="4450715"/>
          </a:xfrm>
        </p:spPr>
        <p:txBody>
          <a:bodyPr/>
          <a:lstStyle/>
          <a:p>
            <a:pPr marL="0" indent="0" algn="l" rtl="0" eaLnBrk="0">
              <a:lnSpc>
                <a:spcPct val="83000"/>
              </a:lnSpc>
              <a:buNone/>
            </a:pPr>
            <a:r>
              <a:rPr sz="2000" spc="-50" dirty="0">
                <a:solidFill>
                  <a:srgbClr val="000000">
                    <a:alpha val="100000"/>
                  </a:srgbClr>
                </a:solidFill>
                <a:latin typeface="Arial" panose="020B0604020202090204"/>
                <a:ea typeface="Arial" panose="020B0604020202090204"/>
                <a:cs typeface="Arial" panose="020B0604020202090204"/>
                <a:sym typeface="+mn-ea"/>
              </a:rPr>
              <a:t>8  Side-by-side progra</a:t>
            </a:r>
            <a:r>
              <a:rPr sz="2000" spc="-30" dirty="0">
                <a:solidFill>
                  <a:srgbClr val="000000">
                    <a:alpha val="100000"/>
                  </a:srgbClr>
                </a:solidFill>
                <a:latin typeface="Arial" panose="020B0604020202090204"/>
                <a:ea typeface="Arial" panose="020B0604020202090204"/>
                <a:cs typeface="Arial" panose="020B0604020202090204"/>
                <a:sym typeface="+mn-ea"/>
              </a:rPr>
              <a:t>m</a:t>
            </a:r>
            <a:r>
              <a:rPr sz="2000" dirty="0">
                <a:solidFill>
                  <a:srgbClr val="000000">
                    <a:alpha val="100000"/>
                  </a:srgbClr>
                </a:solidFill>
                <a:latin typeface="Arial" panose="020B0604020202090204"/>
                <a:ea typeface="Arial" panose="020B0604020202090204"/>
                <a:cs typeface="Arial" panose="020B0604020202090204"/>
                <a:sym typeface="+mn-ea"/>
              </a:rPr>
              <a:t>ming</a:t>
            </a:r>
            <a:endParaRPr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a:lnSpc>
                <a:spcPts val="3695"/>
              </a:lnSpc>
            </a:pPr>
            <a:r>
              <a:rPr spc="-60" dirty="0">
                <a:solidFill>
                  <a:srgbClr val="000000">
                    <a:alpha val="100000"/>
                  </a:srgbClr>
                </a:solidFill>
                <a:latin typeface="Arial" panose="020B0604020202090204"/>
                <a:ea typeface="Arial" panose="020B0604020202090204"/>
                <a:cs typeface="Arial" panose="020B0604020202090204"/>
                <a:sym typeface="+mn-ea"/>
              </a:rPr>
              <a:t>Sit close enough to see </a:t>
            </a:r>
            <a:r>
              <a:rPr spc="-10" dirty="0">
                <a:solidFill>
                  <a:srgbClr val="000000">
                    <a:alpha val="100000"/>
                  </a:srgbClr>
                </a:solidFill>
                <a:latin typeface="Arial" panose="020B0604020202090204"/>
                <a:ea typeface="Arial" panose="020B0604020202090204"/>
                <a:cs typeface="Arial" panose="020B0604020202090204"/>
                <a:sym typeface="+mn-ea"/>
              </a:rPr>
              <a:t>o</a:t>
            </a:r>
            <a:r>
              <a:rPr dirty="0">
                <a:solidFill>
                  <a:srgbClr val="000000">
                    <a:alpha val="100000"/>
                  </a:srgbClr>
                </a:solidFill>
                <a:latin typeface="Arial" panose="020B0604020202090204"/>
                <a:ea typeface="Arial" panose="020B0604020202090204"/>
                <a:cs typeface="Arial" panose="020B0604020202090204"/>
                <a:sym typeface="+mn-ea"/>
              </a:rPr>
              <a:t>ne </a:t>
            </a:r>
            <a:r>
              <a:rPr spc="-100" dirty="0">
                <a:solidFill>
                  <a:srgbClr val="000000">
                    <a:alpha val="100000"/>
                  </a:srgbClr>
                </a:solidFill>
                <a:latin typeface="Arial" panose="020B0604020202090204"/>
                <a:ea typeface="Arial" panose="020B0604020202090204"/>
                <a:cs typeface="Arial" panose="020B0604020202090204"/>
                <a:sym typeface="+mn-ea"/>
              </a:rPr>
              <a:t>another's screen</a:t>
            </a:r>
            <a:r>
              <a:rPr spc="-40" dirty="0">
                <a:solidFill>
                  <a:srgbClr val="000000">
                    <a:alpha val="100000"/>
                  </a:srgbClr>
                </a:solidFill>
                <a:latin typeface="Arial" panose="020B0604020202090204"/>
                <a:ea typeface="Arial" panose="020B0604020202090204"/>
                <a:cs typeface="Arial" panose="020B0604020202090204"/>
                <a:sym typeface="+mn-ea"/>
              </a:rPr>
              <a:t>s</a:t>
            </a:r>
          </a:p>
          <a:p>
            <a:pPr marL="469900" lvl="1" algn="l" rtl="0" eaLnBrk="0">
              <a:lnSpc>
                <a:spcPts val="3695"/>
              </a:lnSpc>
            </a:pPr>
            <a:r>
              <a:rPr spc="-70" dirty="0">
                <a:solidFill>
                  <a:srgbClr val="000000">
                    <a:alpha val="100000"/>
                  </a:srgbClr>
                </a:solidFill>
                <a:latin typeface="Arial" panose="020B0604020202090204"/>
                <a:ea typeface="Arial" panose="020B0604020202090204"/>
                <a:cs typeface="Arial" panose="020B0604020202090204"/>
                <a:sym typeface="+mn-ea"/>
              </a:rPr>
              <a:t>Not quite pair programm</a:t>
            </a:r>
            <a:r>
              <a:rPr spc="-10" dirty="0">
                <a:solidFill>
                  <a:srgbClr val="000000">
                    <a:alpha val="100000"/>
                  </a:srgbClr>
                </a:solidFill>
                <a:latin typeface="Arial" panose="020B0604020202090204"/>
                <a:ea typeface="Arial" panose="020B0604020202090204"/>
                <a:cs typeface="Arial" panose="020B0604020202090204"/>
                <a:sym typeface="+mn-ea"/>
              </a:rPr>
              <a:t>i</a:t>
            </a:r>
            <a:r>
              <a:rPr dirty="0">
                <a:solidFill>
                  <a:srgbClr val="000000">
                    <a:alpha val="100000"/>
                  </a:srgbClr>
                </a:solidFill>
                <a:latin typeface="Arial" panose="020B0604020202090204"/>
                <a:ea typeface="Arial" panose="020B0604020202090204"/>
                <a:cs typeface="Arial" panose="020B0604020202090204"/>
                <a:sym typeface="+mn-ea"/>
              </a:rPr>
              <a:t>ng</a:t>
            </a:r>
            <a:r>
              <a:rPr spc="-7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  </a:t>
            </a:r>
            <a:r>
              <a:rPr spc="-80" dirty="0">
                <a:solidFill>
                  <a:srgbClr val="000000">
                    <a:alpha val="100000"/>
                  </a:srgbClr>
                </a:solidFill>
                <a:latin typeface="Arial" panose="020B0604020202090204"/>
                <a:ea typeface="Arial" panose="020B0604020202090204"/>
                <a:cs typeface="Arial" panose="020B0604020202090204"/>
                <a:sym typeface="+mn-ea"/>
              </a:rPr>
              <a:t>Help is available when need</a:t>
            </a:r>
            <a:r>
              <a:rPr spc="-2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d</a:t>
            </a:r>
            <a:r>
              <a:rPr spc="-80" dirty="0">
                <a:solidFill>
                  <a:srgbClr val="000000">
                    <a:alpha val="100000"/>
                  </a:srgbClr>
                </a:solidFill>
                <a:latin typeface="Arial" panose="020B0604020202090204"/>
                <a:ea typeface="Arial" panose="020B0604020202090204"/>
                <a:cs typeface="Arial" panose="020B0604020202090204"/>
                <a:sym typeface="+mn-ea"/>
              </a:rPr>
              <a:t>, </a:t>
            </a:r>
            <a:r>
              <a:rPr spc="-60" dirty="0">
                <a:solidFill>
                  <a:srgbClr val="000000">
                    <a:alpha val="100000"/>
                  </a:srgbClr>
                </a:solidFill>
                <a:latin typeface="Arial" panose="020B0604020202090204"/>
                <a:ea typeface="Arial" panose="020B0604020202090204"/>
                <a:cs typeface="Arial" panose="020B0604020202090204"/>
                <a:sym typeface="+mn-ea"/>
              </a:rPr>
              <a:t>but not consta</a:t>
            </a:r>
            <a:r>
              <a:rPr spc="-30" dirty="0">
                <a:solidFill>
                  <a:srgbClr val="000000">
                    <a:alpha val="100000"/>
                  </a:srgbClr>
                </a:solidFill>
                <a:latin typeface="Arial" panose="020B0604020202090204"/>
                <a:ea typeface="Arial" panose="020B0604020202090204"/>
                <a:cs typeface="Arial" panose="020B0604020202090204"/>
                <a:sym typeface="+mn-ea"/>
              </a:rPr>
              <a:t>n</a:t>
            </a:r>
            <a:r>
              <a:rPr dirty="0">
                <a:solidFill>
                  <a:srgbClr val="000000">
                    <a:alpha val="100000"/>
                  </a:srgbClr>
                </a:solidFill>
                <a:latin typeface="Arial" panose="020B0604020202090204"/>
                <a:ea typeface="Arial" panose="020B0604020202090204"/>
                <a:cs typeface="Arial" panose="020B0604020202090204"/>
                <a:sym typeface="+mn-ea"/>
              </a:rPr>
              <a:t>t</a:t>
            </a:r>
          </a:p>
          <a:p>
            <a:pPr marL="469900" lvl="1" algn="l" rtl="0" eaLnBrk="0">
              <a:lnSpc>
                <a:spcPts val="3695"/>
              </a:lnSpc>
            </a:pPr>
            <a:r>
              <a:rPr spc="-70" dirty="0">
                <a:solidFill>
                  <a:srgbClr val="000000">
                    <a:alpha val="100000"/>
                  </a:srgbClr>
                </a:solidFill>
                <a:latin typeface="Arial" panose="020B0604020202090204"/>
                <a:ea typeface="Arial" panose="020B0604020202090204"/>
                <a:cs typeface="Arial" panose="020B0604020202090204"/>
                <a:sym typeface="+mn-ea"/>
              </a:rPr>
              <a:t>Osmotic communicat</a:t>
            </a:r>
            <a:r>
              <a:rPr spc="-60" dirty="0">
                <a:solidFill>
                  <a:srgbClr val="000000">
                    <a:alpha val="100000"/>
                  </a:srgbClr>
                </a:solidFill>
                <a:latin typeface="Arial" panose="020B0604020202090204"/>
                <a:ea typeface="Arial" panose="020B0604020202090204"/>
                <a:cs typeface="Arial" panose="020B0604020202090204"/>
                <a:sym typeface="+mn-ea"/>
              </a:rPr>
              <a:t>i</a:t>
            </a:r>
            <a:r>
              <a:rPr dirty="0">
                <a:solidFill>
                  <a:srgbClr val="000000">
                    <a:alpha val="100000"/>
                  </a:srgbClr>
                </a:solidFill>
                <a:latin typeface="Arial" panose="020B0604020202090204"/>
                <a:ea typeface="Arial" panose="020B0604020202090204"/>
                <a:cs typeface="Arial" panose="020B0604020202090204"/>
                <a:sym typeface="+mn-ea"/>
              </a:rPr>
              <a:t>on</a:t>
            </a:r>
            <a:endParaRPr lang="en-US"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45</a:t>
            </a:fld>
            <a:endParaRPr lang="en-US"/>
          </a:p>
        </p:txBody>
      </p:sp>
      <p:pic>
        <p:nvPicPr>
          <p:cNvPr id="158" name="picture 158"/>
          <p:cNvPicPr>
            <a:picLocks noChangeAspect="1"/>
          </p:cNvPicPr>
          <p:nvPr/>
        </p:nvPicPr>
        <p:blipFill>
          <a:blip r:embed="rId2"/>
          <a:stretch>
            <a:fillRect/>
          </a:stretch>
        </p:blipFill>
        <p:spPr>
          <a:xfrm rot="21600000">
            <a:off x="6306179" y="3264676"/>
            <a:ext cx="4011948" cy="2817354"/>
          </a:xfrm>
          <a:prstGeom prst="rect">
            <a:avLst/>
          </a:prstGeom>
        </p:spPr>
      </p:pic>
      <p:pic>
        <p:nvPicPr>
          <p:cNvPr id="156" name="picture 156"/>
          <p:cNvPicPr>
            <a:picLocks noChangeAspect="1"/>
          </p:cNvPicPr>
          <p:nvPr/>
        </p:nvPicPr>
        <p:blipFill>
          <a:blip r:embed="rId3"/>
          <a:stretch>
            <a:fillRect/>
          </a:stretch>
        </p:blipFill>
        <p:spPr>
          <a:xfrm rot="21600000">
            <a:off x="8471535" y="918210"/>
            <a:ext cx="2559050" cy="192913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Techniques</a:t>
            </a:r>
          </a:p>
        </p:txBody>
      </p:sp>
      <p:sp>
        <p:nvSpPr>
          <p:cNvPr id="2" name="Content Placeholder 1"/>
          <p:cNvSpPr>
            <a:spLocks noGrp="1"/>
          </p:cNvSpPr>
          <p:nvPr>
            <p:ph idx="1"/>
          </p:nvPr>
        </p:nvSpPr>
        <p:spPr>
          <a:xfrm>
            <a:off x="605249" y="1212532"/>
            <a:ext cx="10709275" cy="4432935"/>
          </a:xfrm>
        </p:spPr>
        <p:txBody>
          <a:bodyPr/>
          <a:lstStyle/>
          <a:p>
            <a:pPr marL="0" indent="0" algn="l" rtl="0" eaLnBrk="0">
              <a:lnSpc>
                <a:spcPts val="3695"/>
              </a:lnSpc>
              <a:buNone/>
            </a:pPr>
            <a:r>
              <a:rPr sz="2000" spc="-20" dirty="0">
                <a:solidFill>
                  <a:srgbClr val="000000">
                    <a:alpha val="100000"/>
                  </a:srgbClr>
                </a:solidFill>
                <a:latin typeface="Arial" panose="020B0604020202090204"/>
                <a:ea typeface="Arial" panose="020B0604020202090204"/>
                <a:cs typeface="Arial" panose="020B0604020202090204"/>
                <a:sym typeface="+mn-ea"/>
              </a:rPr>
              <a:t>9  Burn char</a:t>
            </a:r>
            <a:r>
              <a:rPr sz="2000" dirty="0">
                <a:solidFill>
                  <a:srgbClr val="000000">
                    <a:alpha val="100000"/>
                  </a:srgbClr>
                </a:solidFill>
                <a:latin typeface="Arial" panose="020B0604020202090204"/>
                <a:ea typeface="Arial" panose="020B0604020202090204"/>
                <a:cs typeface="Arial" panose="020B0604020202090204"/>
                <a:sym typeface="+mn-ea"/>
              </a:rPr>
              <a:t>ts</a:t>
            </a:r>
          </a:p>
          <a:p>
            <a:pPr marL="469900" lvl="1" algn="l" rtl="0" eaLnBrk="0">
              <a:lnSpc>
                <a:spcPts val="3695"/>
              </a:lnSpc>
            </a:pPr>
            <a:r>
              <a:rPr spc="-50" dirty="0">
                <a:solidFill>
                  <a:srgbClr val="000000">
                    <a:alpha val="100000"/>
                  </a:srgbClr>
                </a:solidFill>
                <a:latin typeface="Arial" panose="020B0604020202090204"/>
                <a:ea typeface="Arial" panose="020B0604020202090204"/>
                <a:cs typeface="Arial" panose="020B0604020202090204"/>
                <a:sym typeface="+mn-ea"/>
              </a:rPr>
              <a:t>Display progress against goa</a:t>
            </a:r>
            <a:r>
              <a:rPr spc="-20" dirty="0">
                <a:solidFill>
                  <a:srgbClr val="000000">
                    <a:alpha val="100000"/>
                  </a:srgbClr>
                </a:solidFill>
                <a:latin typeface="Arial" panose="020B0604020202090204"/>
                <a:ea typeface="Arial" panose="020B0604020202090204"/>
                <a:cs typeface="Arial" panose="020B0604020202090204"/>
                <a:sym typeface="+mn-ea"/>
              </a:rPr>
              <a:t>l</a:t>
            </a:r>
            <a:r>
              <a:rPr dirty="0">
                <a:solidFill>
                  <a:srgbClr val="000000">
                    <a:alpha val="100000"/>
                  </a:srgbClr>
                </a:solidFill>
                <a:latin typeface="Arial" panose="020B0604020202090204"/>
                <a:ea typeface="Arial" panose="020B0604020202090204"/>
                <a:cs typeface="Arial" panose="020B0604020202090204"/>
                <a:sym typeface="+mn-ea"/>
              </a:rPr>
              <a:t>s </a:t>
            </a:r>
            <a:r>
              <a:rPr spc="-60" dirty="0">
                <a:solidFill>
                  <a:srgbClr val="000000">
                    <a:alpha val="100000"/>
                  </a:srgbClr>
                </a:solidFill>
                <a:latin typeface="Arial" panose="020B0604020202090204"/>
                <a:ea typeface="Arial" panose="020B0604020202090204"/>
                <a:cs typeface="Arial" panose="020B0604020202090204"/>
                <a:sym typeface="+mn-ea"/>
              </a:rPr>
              <a:t>Borrowed from Scrum</a:t>
            </a:r>
            <a:endParaRPr lang="en-US" altLang="en-US"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46</a:t>
            </a:fld>
            <a:endParaRPr lang="en-US"/>
          </a:p>
        </p:txBody>
      </p:sp>
      <p:pic>
        <p:nvPicPr>
          <p:cNvPr id="164" name="picture 164"/>
          <p:cNvPicPr>
            <a:picLocks noChangeAspect="1"/>
          </p:cNvPicPr>
          <p:nvPr/>
        </p:nvPicPr>
        <p:blipFill>
          <a:blip r:embed="rId2"/>
          <a:stretch>
            <a:fillRect/>
          </a:stretch>
        </p:blipFill>
        <p:spPr>
          <a:xfrm rot="21600000">
            <a:off x="1744837" y="2509626"/>
            <a:ext cx="4919185" cy="3451528"/>
          </a:xfrm>
          <a:prstGeom prst="rect">
            <a:avLst/>
          </a:prstGeom>
        </p:spPr>
      </p:pic>
      <p:pic>
        <p:nvPicPr>
          <p:cNvPr id="170" name="picture 170"/>
          <p:cNvPicPr>
            <a:picLocks noChangeAspect="1"/>
          </p:cNvPicPr>
          <p:nvPr/>
        </p:nvPicPr>
        <p:blipFill>
          <a:blip r:embed="rId3"/>
          <a:stretch>
            <a:fillRect/>
          </a:stretch>
        </p:blipFill>
        <p:spPr>
          <a:xfrm rot="21600000">
            <a:off x="8131810" y="701040"/>
            <a:ext cx="2230120" cy="168148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pc="-100" dirty="0">
                <a:solidFill>
                  <a:schemeClr val="tx1">
                    <a:alpha val="100000"/>
                  </a:schemeClr>
                </a:solidFill>
                <a:latin typeface="Arial" panose="020B0604020202090204"/>
                <a:ea typeface="Arial" panose="020B0604020202090204"/>
                <a:cs typeface="Arial" panose="020B0604020202090204"/>
                <a:sym typeface="+mn-ea"/>
              </a:rPr>
              <a:t>Role modeling sessio</a:t>
            </a:r>
            <a:r>
              <a:rPr dirty="0">
                <a:solidFill>
                  <a:schemeClr val="tx1">
                    <a:alpha val="100000"/>
                  </a:schemeClr>
                </a:solidFill>
                <a:latin typeface="Arial" panose="020B0604020202090204"/>
                <a:ea typeface="Arial" panose="020B0604020202090204"/>
                <a:cs typeface="Arial" panose="020B0604020202090204"/>
                <a:sym typeface="+mn-ea"/>
              </a:rPr>
              <a:t>n</a:t>
            </a:r>
            <a:endParaRPr lang="en-US" dirty="0">
              <a:solidFill>
                <a:schemeClr val="tx1">
                  <a:alpha val="100000"/>
                </a:scheme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47</a:t>
            </a:fld>
            <a:endParaRPr lang="en-US"/>
          </a:p>
        </p:txBody>
      </p:sp>
      <p:pic>
        <p:nvPicPr>
          <p:cNvPr id="147" name="picture 147"/>
          <p:cNvPicPr>
            <a:picLocks noGrp="1" noChangeAspect="1"/>
          </p:cNvPicPr>
          <p:nvPr>
            <p:ph idx="1"/>
          </p:nvPr>
        </p:nvPicPr>
        <p:blipFill>
          <a:blip r:embed="rId2"/>
          <a:stretch>
            <a:fillRect/>
          </a:stretch>
        </p:blipFill>
        <p:spPr>
          <a:xfrm rot="21600000">
            <a:off x="3337560" y="1099820"/>
            <a:ext cx="4843780" cy="3879215"/>
          </a:xfrm>
          <a:prstGeom prst="rect">
            <a:avLst/>
          </a:prstGeom>
        </p:spPr>
      </p:pic>
      <p:pic>
        <p:nvPicPr>
          <p:cNvPr id="123" name="picture 123"/>
          <p:cNvPicPr>
            <a:picLocks noChangeAspect="1"/>
          </p:cNvPicPr>
          <p:nvPr/>
        </p:nvPicPr>
        <p:blipFill>
          <a:blip r:embed="rId3"/>
          <a:stretch>
            <a:fillRect/>
          </a:stretch>
        </p:blipFill>
        <p:spPr>
          <a:xfrm rot="21600000">
            <a:off x="9070975" y="491490"/>
            <a:ext cx="2496820" cy="1882140"/>
          </a:xfrm>
          <a:prstGeom prst="rect">
            <a:avLst/>
          </a:prstGeom>
        </p:spPr>
      </p:pic>
      <p:sp>
        <p:nvSpPr>
          <p:cNvPr id="5" name="TextBox 4">
            <a:extLst>
              <a:ext uri="{FF2B5EF4-FFF2-40B4-BE49-F238E27FC236}">
                <a16:creationId xmlns:a16="http://schemas.microsoft.com/office/drawing/2014/main" id="{9B1BAFF3-5A33-A425-A7D6-A984FA039473}"/>
              </a:ext>
            </a:extLst>
          </p:cNvPr>
          <p:cNvSpPr txBox="1"/>
          <p:nvPr/>
        </p:nvSpPr>
        <p:spPr>
          <a:xfrm>
            <a:off x="1705384" y="5118874"/>
            <a:ext cx="6989809" cy="1126590"/>
          </a:xfrm>
          <a:prstGeom prst="rect">
            <a:avLst/>
          </a:prstGeom>
          <a:noFill/>
        </p:spPr>
        <p:txBody>
          <a:bodyPr wrap="square">
            <a:spAutoFit/>
          </a:bodyPr>
          <a:lstStyle/>
          <a:p>
            <a:pPr marL="1581785" indent="-285750" algn="l" rtl="0" eaLnBrk="0">
              <a:lnSpc>
                <a:spcPct val="128000"/>
              </a:lnSpc>
              <a:buFont typeface="System Font Regular"/>
              <a:buChar char="-"/>
            </a:pPr>
            <a:r>
              <a:rPr lang="en-US" sz="1800" spc="-40" dirty="0">
                <a:solidFill>
                  <a:srgbClr val="000000">
                    <a:alpha val="100000"/>
                  </a:srgbClr>
                </a:solidFill>
                <a:latin typeface="Arial" panose="020B0604020202090204"/>
                <a:ea typeface="Arial" panose="020B0604020202090204"/>
                <a:cs typeface="Arial" panose="020B0604020202090204"/>
              </a:rPr>
              <a:t>Each card represents a feature or user stor</a:t>
            </a:r>
            <a:r>
              <a:rPr lang="en-US" sz="1800" spc="-10" dirty="0">
                <a:solidFill>
                  <a:srgbClr val="000000">
                    <a:alpha val="100000"/>
                  </a:srgbClr>
                </a:solidFill>
                <a:latin typeface="Arial" panose="020B0604020202090204"/>
                <a:ea typeface="Arial" panose="020B0604020202090204"/>
                <a:cs typeface="Arial" panose="020B0604020202090204"/>
              </a:rPr>
              <a:t>y</a:t>
            </a:r>
            <a:endParaRPr lang="en-US" sz="1800" spc="0" dirty="0">
              <a:solidFill>
                <a:srgbClr val="000000">
                  <a:alpha val="100000"/>
                </a:srgbClr>
              </a:solidFill>
              <a:latin typeface="Arial" panose="020B0604020202090204"/>
              <a:ea typeface="Arial" panose="020B0604020202090204"/>
              <a:cs typeface="Arial" panose="020B0604020202090204"/>
            </a:endParaRPr>
          </a:p>
          <a:p>
            <a:pPr marL="1581785" indent="-285750" algn="l" rtl="0" eaLnBrk="0">
              <a:lnSpc>
                <a:spcPct val="128000"/>
              </a:lnSpc>
              <a:buFont typeface="System Font Regular"/>
              <a:buChar char="-"/>
            </a:pPr>
            <a:r>
              <a:rPr lang="en-US" sz="1800" spc="-50" dirty="0">
                <a:solidFill>
                  <a:srgbClr val="000000">
                    <a:alpha val="100000"/>
                  </a:srgbClr>
                </a:solidFill>
                <a:latin typeface="Arial" panose="020B0604020202090204"/>
                <a:ea typeface="Arial" panose="020B0604020202090204"/>
                <a:cs typeface="Arial" panose="020B0604020202090204"/>
              </a:rPr>
              <a:t>Specify the goal on the car</a:t>
            </a:r>
            <a:r>
              <a:rPr lang="en-US" sz="1800" spc="-20" dirty="0">
                <a:solidFill>
                  <a:srgbClr val="000000">
                    <a:alpha val="100000"/>
                  </a:srgbClr>
                </a:solidFill>
                <a:latin typeface="Arial" panose="020B0604020202090204"/>
                <a:ea typeface="Arial" panose="020B0604020202090204"/>
                <a:cs typeface="Arial" panose="020B0604020202090204"/>
              </a:rPr>
              <a:t>d</a:t>
            </a:r>
            <a:endParaRPr lang="en-US" sz="1800" spc="0" dirty="0">
              <a:solidFill>
                <a:schemeClr val="tx1"/>
              </a:solidFill>
              <a:latin typeface="+mn-lt"/>
              <a:ea typeface="+mn-ea"/>
              <a:cs typeface="+mn-cs"/>
            </a:endParaRPr>
          </a:p>
          <a:p>
            <a:pPr marL="1581785" indent="-285750" algn="l" rtl="0" eaLnBrk="0">
              <a:lnSpc>
                <a:spcPct val="128000"/>
              </a:lnSpc>
              <a:buFont typeface="System Font Regular"/>
              <a:buChar char="-"/>
            </a:pPr>
            <a:r>
              <a:rPr lang="en-US" sz="1800" spc="-80" dirty="0">
                <a:solidFill>
                  <a:srgbClr val="000000">
                    <a:alpha val="100000"/>
                  </a:srgbClr>
                </a:solidFill>
                <a:latin typeface="Arial" panose="020B0604020202090204"/>
                <a:ea typeface="Arial" panose="020B0604020202090204"/>
                <a:cs typeface="Arial" panose="020B0604020202090204"/>
              </a:rPr>
              <a:t>Work through a scenario of a user accomplishi</a:t>
            </a:r>
            <a:r>
              <a:rPr lang="en-US" sz="1800" spc="0" dirty="0">
                <a:solidFill>
                  <a:srgbClr val="000000">
                    <a:alpha val="100000"/>
                  </a:srgbClr>
                </a:solidFill>
                <a:latin typeface="Arial" panose="020B0604020202090204"/>
                <a:ea typeface="Arial" panose="020B0604020202090204"/>
                <a:cs typeface="Arial" panose="020B0604020202090204"/>
              </a:rPr>
              <a:t>ng a task</a:t>
            </a:r>
            <a:endParaRPr lang="en-US" alt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40" dirty="0">
                <a:solidFill>
                  <a:schemeClr val="tx1">
                    <a:alpha val="100000"/>
                  </a:schemeClr>
                </a:solidFill>
                <a:latin typeface="Arial" panose="020B0604020202090204"/>
                <a:ea typeface="Arial" panose="020B0604020202090204"/>
                <a:cs typeface="Arial" panose="020B0604020202090204"/>
                <a:sym typeface="+mn-ea"/>
              </a:rPr>
              <a:t>Roles and Work Prod</a:t>
            </a:r>
            <a:r>
              <a:rPr spc="-20" dirty="0">
                <a:solidFill>
                  <a:schemeClr val="tx1">
                    <a:alpha val="100000"/>
                  </a:schemeClr>
                </a:solidFill>
                <a:latin typeface="Arial" panose="020B0604020202090204"/>
                <a:ea typeface="Arial" panose="020B0604020202090204"/>
                <a:cs typeface="Arial" panose="020B0604020202090204"/>
                <a:sym typeface="+mn-ea"/>
              </a:rPr>
              <a:t>u</a:t>
            </a:r>
            <a:r>
              <a:rPr dirty="0">
                <a:solidFill>
                  <a:schemeClr val="tx1">
                    <a:alpha val="100000"/>
                  </a:schemeClr>
                </a:solidFill>
                <a:latin typeface="Arial" panose="020B0604020202090204"/>
                <a:ea typeface="Arial" panose="020B0604020202090204"/>
                <a:cs typeface="Arial" panose="020B0604020202090204"/>
                <a:sym typeface="+mn-ea"/>
              </a:rPr>
              <a:t>cts</a:t>
            </a:r>
            <a:endParaRPr lang="en-US" altLang="en-US" dirty="0">
              <a:solidFill>
                <a:schemeClr val="tx1"/>
              </a:solidFill>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48</a:t>
            </a:fld>
            <a:endParaRPr lang="en-US"/>
          </a:p>
        </p:txBody>
      </p:sp>
      <p:sp>
        <p:nvSpPr>
          <p:cNvPr id="2" name="Text Box 1"/>
          <p:cNvSpPr txBox="1"/>
          <p:nvPr/>
        </p:nvSpPr>
        <p:spPr>
          <a:xfrm>
            <a:off x="2012315" y="1526540"/>
            <a:ext cx="7929880" cy="583565"/>
          </a:xfrm>
          <a:prstGeom prst="rect">
            <a:avLst/>
          </a:prstGeom>
          <a:noFill/>
        </p:spPr>
        <p:txBody>
          <a:bodyPr wrap="square" rtlCol="0">
            <a:spAutoFit/>
          </a:bodyPr>
          <a:lstStyle/>
          <a:p>
            <a:r>
              <a:rPr lang="en-US" sz="3200" dirty="0">
                <a:solidFill>
                  <a:srgbClr val="C00000"/>
                </a:solidFill>
              </a:rPr>
              <a:t>Smaller projects require fewer roles:</a:t>
            </a:r>
          </a:p>
        </p:txBody>
      </p:sp>
      <p:sp>
        <p:nvSpPr>
          <p:cNvPr id="5" name="Text Box 4"/>
          <p:cNvSpPr txBox="1"/>
          <p:nvPr/>
        </p:nvSpPr>
        <p:spPr>
          <a:xfrm>
            <a:off x="2012315" y="2773680"/>
            <a:ext cx="3742055" cy="2214880"/>
          </a:xfrm>
          <a:prstGeom prst="rect">
            <a:avLst/>
          </a:prstGeom>
          <a:noFill/>
        </p:spPr>
        <p:txBody>
          <a:bodyPr wrap="square" rtlCol="0">
            <a:spAutoFit/>
          </a:bodyPr>
          <a:lstStyle/>
          <a:p>
            <a:r>
              <a:rPr lang="en-US" sz="2400"/>
              <a:t>Executive Sponsor:</a:t>
            </a:r>
            <a:endParaRPr lang="en-US"/>
          </a:p>
          <a:p>
            <a:r>
              <a:rPr lang="en-US"/>
              <a:t>Mission statement</a:t>
            </a:r>
          </a:p>
          <a:p>
            <a:endParaRPr lang="en-US"/>
          </a:p>
          <a:p>
            <a:r>
              <a:rPr lang="en-US" sz="2400"/>
              <a:t>Team:</a:t>
            </a:r>
            <a:endParaRPr lang="en-US"/>
          </a:p>
          <a:p>
            <a:r>
              <a:rPr lang="en-US"/>
              <a:t>Team structure and conventions</a:t>
            </a:r>
          </a:p>
          <a:p>
            <a:r>
              <a:rPr lang="en-US"/>
              <a:t>Reflection workshop results</a:t>
            </a:r>
          </a:p>
          <a:p>
            <a:endParaRPr lang="en-US"/>
          </a:p>
        </p:txBody>
      </p:sp>
      <p:sp>
        <p:nvSpPr>
          <p:cNvPr id="7" name="Text Box 6"/>
          <p:cNvSpPr txBox="1"/>
          <p:nvPr/>
        </p:nvSpPr>
        <p:spPr>
          <a:xfrm>
            <a:off x="7045325" y="2773680"/>
            <a:ext cx="3260725" cy="2122805"/>
          </a:xfrm>
          <a:prstGeom prst="rect">
            <a:avLst/>
          </a:prstGeom>
          <a:noFill/>
        </p:spPr>
        <p:txBody>
          <a:bodyPr wrap="square" rtlCol="0">
            <a:spAutoFit/>
          </a:bodyPr>
          <a:lstStyle/>
          <a:p>
            <a:r>
              <a:rPr lang="en-US" sz="2400"/>
              <a:t>Coordinator/Manager:</a:t>
            </a:r>
            <a:endParaRPr lang="en-US"/>
          </a:p>
          <a:p>
            <a:r>
              <a:rPr lang="en-US"/>
              <a:t>Project map</a:t>
            </a:r>
          </a:p>
          <a:p>
            <a:r>
              <a:rPr lang="en-US"/>
              <a:t>Release plan</a:t>
            </a:r>
          </a:p>
          <a:p>
            <a:r>
              <a:rPr lang="en-US"/>
              <a:t>Project status</a:t>
            </a:r>
          </a:p>
          <a:p>
            <a:r>
              <a:rPr lang="en-US"/>
              <a:t>Risk list </a:t>
            </a:r>
          </a:p>
          <a:p>
            <a:r>
              <a:rPr lang="en-US"/>
              <a:t>Iteration plan and status</a:t>
            </a:r>
          </a:p>
          <a:p>
            <a:r>
              <a:rPr lang="en-US"/>
              <a:t>Viewing schedule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9059" y="365127"/>
            <a:ext cx="10709031" cy="734621"/>
          </a:xfrm>
        </p:spPr>
        <p:txBody>
          <a:bodyPr>
            <a:normAutofit/>
          </a:bodyPr>
          <a:lstStyle/>
          <a:p>
            <a:r>
              <a:rPr spc="-40" dirty="0">
                <a:solidFill>
                  <a:schemeClr val="tx1">
                    <a:alpha val="100000"/>
                  </a:schemeClr>
                </a:solidFill>
                <a:latin typeface="Arial" panose="020B0604020202090204"/>
                <a:ea typeface="Arial" panose="020B0604020202090204"/>
                <a:cs typeface="Arial" panose="020B0604020202090204"/>
                <a:sym typeface="+mn-ea"/>
              </a:rPr>
              <a:t>Roles and Work Prod</a:t>
            </a:r>
            <a:r>
              <a:rPr spc="-20" dirty="0">
                <a:solidFill>
                  <a:schemeClr val="tx1">
                    <a:alpha val="100000"/>
                  </a:schemeClr>
                </a:solidFill>
                <a:latin typeface="Arial" panose="020B0604020202090204"/>
                <a:ea typeface="Arial" panose="020B0604020202090204"/>
                <a:cs typeface="Arial" panose="020B0604020202090204"/>
                <a:sym typeface="+mn-ea"/>
              </a:rPr>
              <a:t>u</a:t>
            </a:r>
            <a:r>
              <a:rPr dirty="0">
                <a:solidFill>
                  <a:schemeClr val="tx1">
                    <a:alpha val="100000"/>
                  </a:schemeClr>
                </a:solidFill>
                <a:latin typeface="Arial" panose="020B0604020202090204"/>
                <a:ea typeface="Arial" panose="020B0604020202090204"/>
                <a:cs typeface="Arial" panose="020B0604020202090204"/>
                <a:sym typeface="+mn-ea"/>
              </a:rPr>
              <a:t>cts</a:t>
            </a:r>
            <a:endParaRPr lang="en-US" altLang="en-US" dirty="0">
              <a:solidFill>
                <a:schemeClr val="tx1"/>
              </a:solidFill>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49</a:t>
            </a:fld>
            <a:endParaRPr lang="en-US"/>
          </a:p>
        </p:txBody>
      </p:sp>
      <p:sp>
        <p:nvSpPr>
          <p:cNvPr id="5" name="Text Box 4"/>
          <p:cNvSpPr txBox="1"/>
          <p:nvPr/>
        </p:nvSpPr>
        <p:spPr>
          <a:xfrm>
            <a:off x="2012315" y="1526540"/>
            <a:ext cx="7929880" cy="583565"/>
          </a:xfrm>
          <a:prstGeom prst="rect">
            <a:avLst/>
          </a:prstGeom>
          <a:noFill/>
        </p:spPr>
        <p:txBody>
          <a:bodyPr wrap="square" rtlCol="0">
            <a:spAutoFit/>
          </a:bodyPr>
          <a:lstStyle/>
          <a:p>
            <a:r>
              <a:rPr lang="en-US" sz="3200" dirty="0">
                <a:solidFill>
                  <a:srgbClr val="C00000"/>
                </a:solidFill>
              </a:rPr>
              <a:t>Larger projects require additional roles:</a:t>
            </a:r>
          </a:p>
        </p:txBody>
      </p:sp>
      <p:sp>
        <p:nvSpPr>
          <p:cNvPr id="8" name="Text Box 7"/>
          <p:cNvSpPr txBox="1"/>
          <p:nvPr/>
        </p:nvSpPr>
        <p:spPr>
          <a:xfrm>
            <a:off x="2457450" y="2279015"/>
            <a:ext cx="3001010" cy="3784600"/>
          </a:xfrm>
          <a:prstGeom prst="rect">
            <a:avLst/>
          </a:prstGeom>
          <a:noFill/>
        </p:spPr>
        <p:txBody>
          <a:bodyPr wrap="square" rtlCol="0">
            <a:spAutoFit/>
          </a:bodyPr>
          <a:lstStyle/>
          <a:p>
            <a:r>
              <a:rPr lang="en-US" sz="2400"/>
              <a:t>Business expert and expert user:</a:t>
            </a:r>
            <a:endParaRPr lang="en-US"/>
          </a:p>
          <a:p>
            <a:r>
              <a:rPr lang="en-US"/>
              <a:t>Actor-goal list</a:t>
            </a:r>
          </a:p>
          <a:p>
            <a:r>
              <a:rPr lang="en-US"/>
              <a:t>Use cases and requirements file</a:t>
            </a:r>
          </a:p>
          <a:p>
            <a:r>
              <a:rPr lang="en-US"/>
              <a:t>User role model</a:t>
            </a:r>
          </a:p>
          <a:p>
            <a:endParaRPr lang="en-US"/>
          </a:p>
          <a:p>
            <a:r>
              <a:rPr lang="en-US" sz="2400"/>
              <a:t>Lead designer:</a:t>
            </a:r>
            <a:endParaRPr lang="en-US"/>
          </a:p>
          <a:p>
            <a:r>
              <a:rPr lang="en-US"/>
              <a:t>Architecture description</a:t>
            </a:r>
          </a:p>
          <a:p>
            <a:endParaRPr lang="en-US"/>
          </a:p>
          <a:p>
            <a:r>
              <a:rPr lang="en-US" sz="2400"/>
              <a:t>Tester:</a:t>
            </a:r>
            <a:endParaRPr lang="en-US"/>
          </a:p>
          <a:p>
            <a:r>
              <a:rPr lang="en-US"/>
              <a:t>Bug reports</a:t>
            </a:r>
          </a:p>
        </p:txBody>
      </p:sp>
      <p:sp>
        <p:nvSpPr>
          <p:cNvPr id="9" name="Text Box 8"/>
          <p:cNvSpPr txBox="1"/>
          <p:nvPr/>
        </p:nvSpPr>
        <p:spPr>
          <a:xfrm>
            <a:off x="6657340" y="2279015"/>
            <a:ext cx="3009265" cy="3692525"/>
          </a:xfrm>
          <a:prstGeom prst="rect">
            <a:avLst/>
          </a:prstGeom>
          <a:noFill/>
        </p:spPr>
        <p:txBody>
          <a:bodyPr wrap="square" rtlCol="0">
            <a:spAutoFit/>
          </a:bodyPr>
          <a:lstStyle/>
          <a:p>
            <a:r>
              <a:rPr lang="en-US" sz="2400"/>
              <a:t>Designer-programmer:</a:t>
            </a:r>
            <a:endParaRPr lang="en-US"/>
          </a:p>
          <a:p>
            <a:r>
              <a:rPr lang="en-US"/>
              <a:t>Screen drafts</a:t>
            </a:r>
          </a:p>
          <a:p>
            <a:r>
              <a:rPr lang="en-US"/>
              <a:t>Common domain model</a:t>
            </a:r>
          </a:p>
          <a:p>
            <a:r>
              <a:rPr lang="en-US"/>
              <a:t>Design sketches and notes</a:t>
            </a:r>
          </a:p>
          <a:p>
            <a:r>
              <a:rPr lang="en-US"/>
              <a:t>Source code</a:t>
            </a:r>
          </a:p>
          <a:p>
            <a:r>
              <a:rPr lang="en-US"/>
              <a:t>Migration code</a:t>
            </a:r>
          </a:p>
          <a:p>
            <a:r>
              <a:rPr lang="en-US"/>
              <a:t>Tests</a:t>
            </a:r>
          </a:p>
          <a:p>
            <a:r>
              <a:rPr lang="en-US"/>
              <a:t>Packaged system</a:t>
            </a:r>
          </a:p>
          <a:p>
            <a:endParaRPr lang="en-US"/>
          </a:p>
          <a:p>
            <a:r>
              <a:rPr lang="en-US" sz="2400"/>
              <a:t>Writer:</a:t>
            </a:r>
            <a:endParaRPr lang="en-US"/>
          </a:p>
          <a:p>
            <a:r>
              <a:rPr lang="en-US"/>
              <a:t>User help text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dirty="0">
                <a:solidFill>
                  <a:schemeClr val="tx1">
                    <a:alpha val="100000"/>
                  </a:schemeClr>
                </a:solidFill>
                <a:latin typeface="Arial" panose="020B0604020202090204"/>
                <a:ea typeface="Arial" panose="020B0604020202090204"/>
                <a:cs typeface="Arial" panose="020B0604020202090204"/>
                <a:sym typeface="+mn-ea"/>
              </a:rPr>
              <a:t>Crystal</a:t>
            </a:r>
            <a:r>
              <a:rPr spc="16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Clear</a:t>
            </a:r>
            <a:r>
              <a:rPr spc="16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vs</a:t>
            </a:r>
            <a:r>
              <a:rPr spc="16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eXtreme</a:t>
            </a:r>
            <a:r>
              <a:rPr spc="11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Programming</a:t>
            </a:r>
            <a:br>
              <a:rPr lang="en-US" altLang="en-US" dirty="0">
                <a:solidFill>
                  <a:schemeClr val="tx1"/>
                </a:solidFill>
              </a:rPr>
            </a:br>
            <a:endParaRPr lang="en-US" altLang="en-US" dirty="0">
              <a:solidFill>
                <a:schemeClr val="tx1"/>
              </a:solidFill>
            </a:endParaRPr>
          </a:p>
        </p:txBody>
      </p:sp>
      <p:sp>
        <p:nvSpPr>
          <p:cNvPr id="2" name="Content Placeholder 1"/>
          <p:cNvSpPr>
            <a:spLocks noGrp="1"/>
          </p:cNvSpPr>
          <p:nvPr>
            <p:ph idx="1"/>
          </p:nvPr>
        </p:nvSpPr>
        <p:spPr>
          <a:xfrm>
            <a:off x="644525" y="983615"/>
            <a:ext cx="4961546" cy="5098415"/>
          </a:xfrm>
        </p:spPr>
        <p:txBody>
          <a:bodyPr>
            <a:normAutofit fontScale="92500" lnSpcReduction="10000"/>
          </a:bodyPr>
          <a:lstStyle/>
          <a:p>
            <a:pPr algn="l" rtl="0" eaLnBrk="0">
              <a:lnSpc>
                <a:spcPct val="83000"/>
              </a:lnSpc>
            </a:pPr>
            <a:endParaRPr lang="en-US" altLang="en-US" dirty="0"/>
          </a:p>
          <a:p>
            <a:pPr marL="0" indent="0" algn="l" rtl="0" eaLnBrk="0">
              <a:lnSpc>
                <a:spcPct val="83000"/>
              </a:lnSpc>
              <a:buNone/>
            </a:pPr>
            <a:r>
              <a:rPr spc="-130" dirty="0">
                <a:solidFill>
                  <a:srgbClr val="000000">
                    <a:alpha val="100000"/>
                  </a:srgbClr>
                </a:solidFill>
                <a:latin typeface="Arial" panose="020B0604020202090204"/>
                <a:ea typeface="Arial" panose="020B0604020202090204"/>
                <a:cs typeface="Arial" panose="020B0604020202090204"/>
                <a:sym typeface="+mn-ea"/>
              </a:rPr>
              <a:t>Many similarities, bu</a:t>
            </a:r>
            <a:r>
              <a:rPr spc="-110" dirty="0">
                <a:solidFill>
                  <a:srgbClr val="000000">
                    <a:alpha val="100000"/>
                  </a:srgbClr>
                </a:solidFill>
                <a:latin typeface="Arial" panose="020B0604020202090204"/>
                <a:ea typeface="Arial" panose="020B0604020202090204"/>
                <a:cs typeface="Arial" panose="020B0604020202090204"/>
                <a:sym typeface="+mn-ea"/>
              </a:rPr>
              <a:t>t</a:t>
            </a:r>
            <a:r>
              <a:rPr spc="-130" dirty="0">
                <a:solidFill>
                  <a:srgbClr val="000000">
                    <a:alpha val="100000"/>
                  </a:srgbClr>
                </a:solidFill>
                <a:latin typeface="Arial" panose="020B0604020202090204"/>
                <a:ea typeface="Arial" panose="020B0604020202090204"/>
                <a:cs typeface="Arial" panose="020B0604020202090204"/>
                <a:sym typeface="+mn-ea"/>
              </a:rPr>
              <a:t> …</a:t>
            </a:r>
            <a:endParaRPr lang="en-US" spc="-130"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a:lnSpc>
                <a:spcPct val="83000"/>
              </a:lnSpc>
              <a:buNone/>
            </a:pPr>
            <a:r>
              <a:rPr spc="-70" dirty="0">
                <a:solidFill>
                  <a:srgbClr val="000000">
                    <a:alpha val="100000"/>
                  </a:srgbClr>
                </a:solidFill>
                <a:latin typeface="Arial" panose="020B0604020202090204"/>
                <a:ea typeface="Arial" panose="020B0604020202090204"/>
                <a:cs typeface="Arial" panose="020B0604020202090204"/>
                <a:sym typeface="+mn-ea"/>
              </a:rPr>
              <a:t>Cockburn claims tha</a:t>
            </a:r>
            <a:r>
              <a:rPr spc="-20" dirty="0">
                <a:solidFill>
                  <a:srgbClr val="000000">
                    <a:alpha val="100000"/>
                  </a:srgbClr>
                </a:solidFill>
                <a:latin typeface="Arial" panose="020B0604020202090204"/>
                <a:ea typeface="Arial" panose="020B0604020202090204"/>
                <a:cs typeface="Arial" panose="020B0604020202090204"/>
                <a:sym typeface="+mn-ea"/>
              </a:rPr>
              <a:t>t</a:t>
            </a:r>
            <a:r>
              <a:rPr spc="-70" dirty="0">
                <a:solidFill>
                  <a:srgbClr val="000000">
                    <a:alpha val="100000"/>
                  </a:srgbClr>
                </a:solidFill>
                <a:latin typeface="Arial" panose="020B0604020202090204"/>
                <a:ea typeface="Arial" panose="020B0604020202090204"/>
                <a:cs typeface="Arial" panose="020B0604020202090204"/>
                <a:sym typeface="+mn-ea"/>
              </a:rPr>
              <a:t>:</a:t>
            </a:r>
          </a:p>
          <a:p>
            <a:pPr marL="12700" algn="l" rtl="0" eaLnBrk="0">
              <a:lnSpc>
                <a:spcPts val="3150"/>
              </a:lnSpc>
            </a:pPr>
            <a:r>
              <a:rPr spc="-70" dirty="0">
                <a:solidFill>
                  <a:srgbClr val="000000">
                    <a:alpha val="100000"/>
                  </a:srgbClr>
                </a:solidFill>
                <a:latin typeface="Arial" panose="020B0604020202090204"/>
                <a:ea typeface="Arial" panose="020B0604020202090204"/>
                <a:cs typeface="Arial" panose="020B0604020202090204"/>
                <a:sym typeface="+mn-ea"/>
              </a:rPr>
              <a:t>XP requires more discipline than Crystal Cl</a:t>
            </a:r>
            <a:r>
              <a:rPr dirty="0">
                <a:solidFill>
                  <a:srgbClr val="000000">
                    <a:alpha val="100000"/>
                  </a:srgbClr>
                </a:solidFill>
                <a:latin typeface="Arial" panose="020B0604020202090204"/>
                <a:ea typeface="Arial" panose="020B0604020202090204"/>
                <a:cs typeface="Arial" panose="020B0604020202090204"/>
                <a:sym typeface="+mn-ea"/>
              </a:rPr>
              <a:t>ear</a:t>
            </a:r>
            <a:endParaRPr lang="en-US" dirty="0">
              <a:solidFill>
                <a:srgbClr val="000000">
                  <a:alpha val="100000"/>
                </a:srgbClr>
              </a:solidFill>
              <a:latin typeface="Arial" panose="020B0604020202090204"/>
              <a:ea typeface="Arial" panose="020B0604020202090204"/>
              <a:cs typeface="Arial" panose="020B0604020202090204"/>
              <a:sym typeface="+mn-ea"/>
            </a:endParaRPr>
          </a:p>
          <a:p>
            <a:pPr marL="618490" lvl="2" indent="-285750" eaLnBrk="0">
              <a:lnSpc>
                <a:spcPts val="3150"/>
              </a:lnSpc>
            </a:pPr>
            <a:r>
              <a:rPr spc="-60" dirty="0">
                <a:solidFill>
                  <a:srgbClr val="000000">
                    <a:alpha val="100000"/>
                  </a:srgbClr>
                </a:solidFill>
                <a:latin typeface="Arial" panose="020B0604020202090204"/>
                <a:ea typeface="Arial" panose="020B0604020202090204"/>
                <a:cs typeface="Arial" panose="020B0604020202090204"/>
                <a:sym typeface="+mn-ea"/>
              </a:rPr>
              <a:t>XP has 12 mandatory practices</a:t>
            </a:r>
            <a:r>
              <a:rPr lang="en-US" spc="-60" dirty="0">
                <a:solidFill>
                  <a:srgbClr val="000000">
                    <a:alpha val="100000"/>
                  </a:srgbClr>
                </a:solidFill>
                <a:latin typeface="Arial" panose="020B0604020202090204"/>
                <a:ea typeface="Arial" panose="020B0604020202090204"/>
                <a:cs typeface="Arial" panose="020B0604020202090204"/>
                <a:sym typeface="+mn-ea"/>
              </a:rPr>
              <a:t>                                 </a:t>
            </a:r>
            <a:r>
              <a:rPr spc="-60" dirty="0">
                <a:solidFill>
                  <a:srgbClr val="000000">
                    <a:alpha val="100000"/>
                  </a:srgbClr>
                </a:solidFill>
                <a:latin typeface="Arial" panose="020B0604020202090204"/>
                <a:ea typeface="Arial" panose="020B0604020202090204"/>
                <a:cs typeface="Arial" panose="020B0604020202090204"/>
                <a:sym typeface="+mn-ea"/>
              </a:rPr>
              <a:t>e.g.</a:t>
            </a:r>
            <a:r>
              <a:rPr lang="en-US" spc="-60" dirty="0">
                <a:solidFill>
                  <a:srgbClr val="000000">
                    <a:alpha val="100000"/>
                  </a:srgbClr>
                </a:solidFill>
                <a:latin typeface="Arial" panose="020B0604020202090204"/>
                <a:ea typeface="Arial" panose="020B0604020202090204"/>
                <a:cs typeface="Arial" panose="020B0604020202090204"/>
                <a:sym typeface="+mn-ea"/>
              </a:rPr>
              <a:t>,</a:t>
            </a:r>
            <a:r>
              <a:rPr spc="-60" dirty="0">
                <a:solidFill>
                  <a:srgbClr val="000000">
                    <a:alpha val="100000"/>
                  </a:srgbClr>
                </a:solidFill>
                <a:latin typeface="Arial" panose="020B0604020202090204"/>
                <a:ea typeface="Arial" panose="020B0604020202090204"/>
                <a:cs typeface="Arial" panose="020B0604020202090204"/>
                <a:sym typeface="+mn-ea"/>
              </a:rPr>
              <a:t> Pair Programming,T</a:t>
            </a:r>
            <a:r>
              <a:rPr spc="-30" dirty="0">
                <a:solidFill>
                  <a:srgbClr val="000000">
                    <a:alpha val="100000"/>
                  </a:srgbClr>
                </a:solidFill>
                <a:latin typeface="Arial" panose="020B0604020202090204"/>
                <a:ea typeface="Arial" panose="020B0604020202090204"/>
                <a:cs typeface="Arial" panose="020B0604020202090204"/>
                <a:sym typeface="+mn-ea"/>
              </a:rPr>
              <a:t>D</a:t>
            </a:r>
            <a:r>
              <a:rPr dirty="0">
                <a:solidFill>
                  <a:srgbClr val="000000">
                    <a:alpha val="100000"/>
                  </a:srgbClr>
                </a:solidFill>
                <a:latin typeface="Arial" panose="020B0604020202090204"/>
                <a:ea typeface="Arial" panose="020B0604020202090204"/>
                <a:cs typeface="Arial" panose="020B0604020202090204"/>
                <a:sym typeface="+mn-ea"/>
              </a:rPr>
              <a:t>D</a:t>
            </a:r>
            <a:r>
              <a:rPr spc="-60" dirty="0">
                <a:solidFill>
                  <a:srgbClr val="000000">
                    <a:alpha val="100000"/>
                  </a:srgbClr>
                </a:solidFill>
                <a:latin typeface="Arial" panose="020B0604020202090204"/>
                <a:ea typeface="Arial" panose="020B0604020202090204"/>
                <a:cs typeface="Arial" panose="020B0604020202090204"/>
                <a:sym typeface="+mn-ea"/>
              </a:rPr>
              <a:t>, …</a:t>
            </a:r>
            <a:endParaRPr lang="en-US" altLang="en-US" dirty="0"/>
          </a:p>
          <a:p>
            <a:pPr marL="12700" algn="l" rtl="0" eaLnBrk="0">
              <a:lnSpc>
                <a:spcPts val="4490"/>
              </a:lnSpc>
            </a:pPr>
            <a:r>
              <a:rPr spc="-70" dirty="0">
                <a:solidFill>
                  <a:srgbClr val="000000">
                    <a:alpha val="100000"/>
                  </a:srgbClr>
                </a:solidFill>
                <a:latin typeface="Arial" panose="020B0604020202090204"/>
                <a:ea typeface="Arial" panose="020B0604020202090204"/>
                <a:cs typeface="Arial" panose="020B0604020202090204"/>
                <a:sym typeface="+mn-ea"/>
              </a:rPr>
              <a:t>XP can be more productive than Crystal Cle</a:t>
            </a:r>
            <a:r>
              <a:rPr spc="-2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r</a:t>
            </a:r>
            <a:endParaRPr lang="en-US" altLang="en-US" dirty="0"/>
          </a:p>
          <a:p>
            <a:pPr marL="37465" algn="l" rtl="0" eaLnBrk="0">
              <a:lnSpc>
                <a:spcPts val="3150"/>
              </a:lnSpc>
              <a:spcBef>
                <a:spcPts val="1340"/>
              </a:spcBef>
            </a:pPr>
            <a:r>
              <a:rPr spc="-60" dirty="0">
                <a:solidFill>
                  <a:srgbClr val="000000">
                    <a:alpha val="100000"/>
                  </a:srgbClr>
                </a:solidFill>
                <a:latin typeface="Arial" panose="020B0604020202090204"/>
                <a:ea typeface="Arial" panose="020B0604020202090204"/>
                <a:cs typeface="Arial" panose="020B0604020202090204"/>
                <a:sym typeface="+mn-ea"/>
              </a:rPr>
              <a:t>It is easier to start using Crystal Clear</a:t>
            </a:r>
            <a:endParaRPr lang="en-US" altLang="en-US" dirty="0"/>
          </a:p>
          <a:p>
            <a:pPr marL="594995" indent="-285750" eaLnBrk="0">
              <a:lnSpc>
                <a:spcPts val="2885"/>
              </a:lnSpc>
              <a:buFont typeface="System Font Regular"/>
              <a:buChar char="-"/>
            </a:pPr>
            <a:r>
              <a:rPr sz="1600" spc="-60" dirty="0">
                <a:solidFill>
                  <a:srgbClr val="000000">
                    <a:alpha val="100000"/>
                  </a:srgbClr>
                </a:solidFill>
                <a:latin typeface="Arial" panose="020B0604020202090204"/>
                <a:ea typeface="Arial" panose="020B0604020202090204"/>
                <a:cs typeface="Arial" panose="020B0604020202090204"/>
                <a:sym typeface="+mn-ea"/>
              </a:rPr>
              <a:t>Especially for Plan Driven t</a:t>
            </a:r>
            <a:r>
              <a:rPr sz="1600" spc="-30" dirty="0">
                <a:solidFill>
                  <a:srgbClr val="000000">
                    <a:alpha val="100000"/>
                  </a:srgbClr>
                </a:solidFill>
                <a:latin typeface="Arial" panose="020B0604020202090204"/>
                <a:ea typeface="Arial" panose="020B0604020202090204"/>
                <a:cs typeface="Arial" panose="020B0604020202090204"/>
                <a:sym typeface="+mn-ea"/>
              </a:rPr>
              <a:t>e</a:t>
            </a:r>
            <a:r>
              <a:rPr sz="1600" dirty="0">
                <a:solidFill>
                  <a:srgbClr val="000000">
                    <a:alpha val="100000"/>
                  </a:srgbClr>
                </a:solidFill>
                <a:latin typeface="Arial" panose="020B0604020202090204"/>
                <a:ea typeface="Arial" panose="020B0604020202090204"/>
                <a:cs typeface="Arial" panose="020B0604020202090204"/>
                <a:sym typeface="+mn-ea"/>
              </a:rPr>
              <a:t>ams</a:t>
            </a:r>
            <a:endParaRPr lang="en-US" altLang="en-US" sz="1600" dirty="0"/>
          </a:p>
          <a:p>
            <a:pPr marL="37465" algn="l" rtl="0" eaLnBrk="0">
              <a:lnSpc>
                <a:spcPts val="3165"/>
              </a:lnSpc>
              <a:spcBef>
                <a:spcPts val="1330"/>
              </a:spcBef>
            </a:pPr>
            <a:r>
              <a:rPr spc="-60" dirty="0">
                <a:solidFill>
                  <a:srgbClr val="000000">
                    <a:alpha val="100000"/>
                  </a:srgbClr>
                </a:solidFill>
                <a:latin typeface="Arial" panose="020B0604020202090204"/>
                <a:ea typeface="Arial" panose="020B0604020202090204"/>
                <a:cs typeface="Arial" panose="020B0604020202090204"/>
                <a:sym typeface="+mn-ea"/>
              </a:rPr>
              <a:t>It is easy to fall back from XP to Crystal Clea</a:t>
            </a:r>
            <a:r>
              <a:rPr spc="-10" dirty="0">
                <a:solidFill>
                  <a:srgbClr val="000000">
                    <a:alpha val="100000"/>
                  </a:srgbClr>
                </a:solidFill>
                <a:latin typeface="Arial" panose="020B0604020202090204"/>
                <a:ea typeface="Arial" panose="020B0604020202090204"/>
                <a:cs typeface="Arial" panose="020B0604020202090204"/>
                <a:sym typeface="+mn-ea"/>
              </a:rPr>
              <a:t>r</a:t>
            </a:r>
            <a:endParaRPr lang="en-US" altLang="en-US" dirty="0"/>
          </a:p>
          <a:p>
            <a:pPr marL="590550" indent="-285750" algn="l" rtl="0" eaLnBrk="0">
              <a:lnSpc>
                <a:spcPts val="2975"/>
              </a:lnSpc>
              <a:spcBef>
                <a:spcPts val="5"/>
              </a:spcBef>
              <a:buFont typeface="System Font Regular"/>
              <a:buChar char="-"/>
            </a:pPr>
            <a:r>
              <a:rPr sz="1600" spc="-50" dirty="0">
                <a:solidFill>
                  <a:srgbClr val="000000">
                    <a:alpha val="100000"/>
                  </a:srgbClr>
                </a:solidFill>
                <a:latin typeface="Arial" panose="020B0604020202090204"/>
                <a:ea typeface="Arial" panose="020B0604020202090204"/>
                <a:cs typeface="Arial" panose="020B0604020202090204"/>
                <a:sym typeface="+mn-ea"/>
              </a:rPr>
              <a:t>Use only the XP practices that work for your pro</a:t>
            </a:r>
            <a:r>
              <a:rPr sz="1600" spc="-20" dirty="0">
                <a:solidFill>
                  <a:srgbClr val="000000">
                    <a:alpha val="100000"/>
                  </a:srgbClr>
                </a:solidFill>
                <a:latin typeface="Arial" panose="020B0604020202090204"/>
                <a:ea typeface="Arial" panose="020B0604020202090204"/>
                <a:cs typeface="Arial" panose="020B0604020202090204"/>
                <a:sym typeface="+mn-ea"/>
              </a:rPr>
              <a:t>j</a:t>
            </a:r>
            <a:r>
              <a:rPr sz="1600" dirty="0">
                <a:solidFill>
                  <a:srgbClr val="000000">
                    <a:alpha val="100000"/>
                  </a:srgbClr>
                </a:solidFill>
                <a:latin typeface="Arial" panose="020B0604020202090204"/>
                <a:ea typeface="Arial" panose="020B0604020202090204"/>
                <a:cs typeface="Arial" panose="020B0604020202090204"/>
                <a:sym typeface="+mn-ea"/>
              </a:rPr>
              <a:t>ect</a:t>
            </a:r>
            <a:endParaRPr lang="en-US" altLang="en-US" sz="1600" dirty="0"/>
          </a:p>
          <a:p>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50</a:t>
            </a:fld>
            <a:endParaRPr lang="en-US"/>
          </a:p>
        </p:txBody>
      </p:sp>
      <p:pic>
        <p:nvPicPr>
          <p:cNvPr id="191" name="picture 191"/>
          <p:cNvPicPr>
            <a:picLocks noChangeAspect="1"/>
          </p:cNvPicPr>
          <p:nvPr/>
        </p:nvPicPr>
        <p:blipFill>
          <a:blip r:embed="rId2"/>
          <a:stretch>
            <a:fillRect/>
          </a:stretch>
        </p:blipFill>
        <p:spPr>
          <a:xfrm rot="21600000">
            <a:off x="9619331" y="2206730"/>
            <a:ext cx="1737901" cy="2549208"/>
          </a:xfrm>
          <a:prstGeom prst="rect">
            <a:avLst/>
          </a:prstGeom>
        </p:spPr>
      </p:pic>
      <p:pic>
        <p:nvPicPr>
          <p:cNvPr id="192" name="picture 192"/>
          <p:cNvPicPr>
            <a:picLocks noChangeAspect="1"/>
          </p:cNvPicPr>
          <p:nvPr/>
        </p:nvPicPr>
        <p:blipFill>
          <a:blip r:embed="rId3"/>
          <a:stretch>
            <a:fillRect/>
          </a:stretch>
        </p:blipFill>
        <p:spPr>
          <a:xfrm rot="21600000">
            <a:off x="8973793" y="3106230"/>
            <a:ext cx="645538" cy="645539"/>
          </a:xfrm>
          <a:prstGeom prst="rect">
            <a:avLst/>
          </a:prstGeom>
        </p:spPr>
      </p:pic>
      <p:pic>
        <p:nvPicPr>
          <p:cNvPr id="8" name="Picture 7" descr="Table&#10;&#10;Description automatically generated">
            <a:extLst>
              <a:ext uri="{FF2B5EF4-FFF2-40B4-BE49-F238E27FC236}">
                <a16:creationId xmlns:a16="http://schemas.microsoft.com/office/drawing/2014/main" id="{DAE575F4-9883-6219-783F-E7D8B5A181F2}"/>
              </a:ext>
            </a:extLst>
          </p:cNvPr>
          <p:cNvPicPr>
            <a:picLocks noChangeAspect="1"/>
          </p:cNvPicPr>
          <p:nvPr/>
        </p:nvPicPr>
        <p:blipFill>
          <a:blip r:embed="rId4"/>
          <a:stretch>
            <a:fillRect/>
          </a:stretch>
        </p:blipFill>
        <p:spPr>
          <a:xfrm>
            <a:off x="5353624" y="2292263"/>
            <a:ext cx="3620169" cy="237814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chemeClr val="tx1">
                    <a:alpha val="100000"/>
                  </a:schemeClr>
                </a:solidFill>
                <a:latin typeface="Arial" panose="020B0604020202090204"/>
                <a:ea typeface="Arial" panose="020B0604020202090204"/>
                <a:cs typeface="Arial" panose="020B0604020202090204"/>
                <a:sym typeface="+mn-ea"/>
              </a:rPr>
              <a:t>The</a:t>
            </a:r>
            <a:r>
              <a:rPr spc="7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family</a:t>
            </a:r>
            <a:r>
              <a:rPr spc="7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of</a:t>
            </a:r>
            <a:r>
              <a:rPr spc="7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Crystal</a:t>
            </a:r>
            <a:r>
              <a:rPr spc="6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Methods</a:t>
            </a:r>
            <a:endParaRPr lang="en-US" dirty="0">
              <a:solidFill>
                <a:schemeClr val="tx1">
                  <a:alpha val="100000"/>
                </a:schemeClr>
              </a:solidFill>
              <a:latin typeface="Arial" panose="020B0604020202090204"/>
              <a:ea typeface="Arial" panose="020B0604020202090204"/>
              <a:cs typeface="Arial" panose="020B0604020202090204"/>
              <a:sym typeface="+mn-ea"/>
            </a:endParaRPr>
          </a:p>
        </p:txBody>
      </p:sp>
      <p:sp>
        <p:nvSpPr>
          <p:cNvPr id="2" name="Content Placeholder 1"/>
          <p:cNvSpPr>
            <a:spLocks noGrp="1"/>
          </p:cNvSpPr>
          <p:nvPr>
            <p:ph idx="1"/>
          </p:nvPr>
        </p:nvSpPr>
        <p:spPr>
          <a:xfrm>
            <a:off x="519430" y="760095"/>
            <a:ext cx="8198685" cy="5224145"/>
          </a:xfrm>
        </p:spPr>
        <p:txBody>
          <a:bodyPr>
            <a:noAutofit/>
          </a:bodyPr>
          <a:lstStyle/>
          <a:p>
            <a:pPr marL="0" indent="0" algn="l" rtl="0" eaLnBrk="0">
              <a:lnSpc>
                <a:spcPct val="100000"/>
              </a:lnSpc>
              <a:buNone/>
            </a:pPr>
            <a:endParaRPr lang="en-US" altLang="en-US" dirty="0">
              <a:latin typeface="Arial" panose="020B0604020202020204" pitchFamily="34" charset="0"/>
              <a:cs typeface="Arial" panose="020B0604020202020204" pitchFamily="34" charset="0"/>
            </a:endParaRPr>
          </a:p>
          <a:p>
            <a:pPr eaLnBrk="0">
              <a:lnSpc>
                <a:spcPct val="100000"/>
              </a:lnSpc>
            </a:pPr>
            <a:r>
              <a:rPr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 single process is not likely to work for all projec</a:t>
            </a: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 </a:t>
            </a:r>
            <a:endPar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eaLnBrk="0">
              <a:lnSpc>
                <a:spcPct val="100000"/>
              </a:lnSpc>
            </a:pPr>
            <a:r>
              <a:rPr lang="en-US"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Adapt your method according </a:t>
            </a:r>
            <a:r>
              <a:rPr lang="en-US"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a:t>
            </a:r>
            <a:r>
              <a:rPr lang="en-US"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p>
          <a:p>
            <a:pPr marL="274320" lvl="1" indent="0" eaLnBrk="0">
              <a:lnSpc>
                <a:spcPct val="100000"/>
              </a:lnSpc>
              <a:buNone/>
            </a:pPr>
            <a:r>
              <a:rPr lang="en-US"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Size in st</a:t>
            </a:r>
            <a:r>
              <a:rPr lang="en-US"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a:t>
            </a:r>
            <a:r>
              <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ff: </a:t>
            </a:r>
          </a:p>
          <a:p>
            <a:pPr lvl="2" eaLnBrk="0">
              <a:lnSpc>
                <a:spcPct val="100000"/>
              </a:lnSpc>
            </a:pPr>
            <a:r>
              <a:rPr sz="18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1 – 6 (Crystal Cl</a:t>
            </a:r>
            <a:r>
              <a:rPr sz="1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a:t>
            </a:r>
            <a:r>
              <a:rPr sz="1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ar</a:t>
            </a:r>
            <a:r>
              <a:rPr sz="18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endParaRPr lang="en-US" sz="18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2" eaLnBrk="0">
              <a:lnSpc>
                <a:spcPct val="100000"/>
              </a:lnSpc>
            </a:pPr>
            <a:r>
              <a:rPr sz="18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7 – 20 (Crystal Yel</a:t>
            </a:r>
            <a:r>
              <a:rPr sz="1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l</a:t>
            </a:r>
            <a:r>
              <a:rPr sz="1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ow</a:t>
            </a:r>
            <a:r>
              <a:rPr sz="18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endParaRPr lang="en-US" sz="18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2" eaLnBrk="0">
              <a:lnSpc>
                <a:spcPct val="100000"/>
              </a:lnSpc>
            </a:pPr>
            <a:r>
              <a:rPr sz="1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21 – 40 (Crystal Orang</a:t>
            </a:r>
            <a:r>
              <a:rPr sz="1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a:t>
            </a:r>
            <a:r>
              <a:rPr sz="1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endParaRPr lang="en-US" sz="18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2" eaLnBrk="0">
              <a:lnSpc>
                <a:spcPct val="100000"/>
              </a:lnSpc>
            </a:pPr>
            <a:r>
              <a:rPr sz="18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41 – 80 (Crysta</a:t>
            </a:r>
            <a:r>
              <a:rPr sz="1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l</a:t>
            </a:r>
            <a:r>
              <a:rPr sz="18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18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Red</a:t>
            </a:r>
            <a:r>
              <a:rPr sz="18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p>
          <a:p>
            <a:pPr marL="0" indent="0" algn="l" rtl="0" eaLnBrk="0">
              <a:lnSpc>
                <a:spcPct val="100000"/>
              </a:lnSpc>
              <a:buNone/>
            </a:pPr>
            <a:r>
              <a:rPr lang="en-US"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Potential risks for causing dam</a:t>
            </a: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ge</a:t>
            </a:r>
            <a:endPar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1" eaLnBrk="0">
              <a:lnSpc>
                <a:spcPct val="100000"/>
              </a:lnSpc>
            </a:pP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Comfort</a:t>
            </a:r>
            <a:r>
              <a:rPr spc="1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a:t>
            </a:r>
            <a:r>
              <a:rPr spc="1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endParaRPr lang="en-US" spc="1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1" eaLnBrk="0">
              <a:lnSpc>
                <a:spcPct val="100000"/>
              </a:lnSpc>
            </a:pP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Discretionary money (D) – the company will surv</a:t>
            </a:r>
            <a:r>
              <a:rPr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ve</a:t>
            </a: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if</a:t>
            </a: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the</a:t>
            </a: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project</a:t>
            </a:r>
            <a:r>
              <a:rPr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fails</a:t>
            </a:r>
            <a:endPar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1" eaLnBrk="0">
              <a:lnSpc>
                <a:spcPct val="100000"/>
              </a:lnSpc>
            </a:pPr>
            <a:r>
              <a:rPr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Essential money (E) – the company may fail if the project fai</a:t>
            </a:r>
            <a:r>
              <a:rPr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l</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a:t>
            </a:r>
            <a:endParaRPr lang="en-US"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lvl="1" eaLnBrk="0">
              <a:lnSpc>
                <a:spcPct val="100000"/>
              </a:lnSpc>
            </a:pPr>
            <a:r>
              <a:rPr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Life (L) – safety cri</a:t>
            </a:r>
            <a:r>
              <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tical</a:t>
            </a:r>
          </a:p>
          <a:p>
            <a:pPr marL="0" indent="0" algn="l" rtl="0" eaLnBrk="0">
              <a:lnSpc>
                <a:spcPct val="100000"/>
              </a:lnSpc>
              <a:buNone/>
            </a:pPr>
            <a:r>
              <a:rPr lang="en-US"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C00000"/>
                </a:solidFill>
                <a:latin typeface="Arial" panose="020B0604020202020204" pitchFamily="34" charset="0"/>
                <a:ea typeface="Calibri"/>
                <a:cs typeface="Arial" panose="020B0604020202020204" pitchFamily="34" charset="0"/>
                <a:sym typeface="+mn-ea"/>
              </a:rPr>
              <a:t>Note</a:t>
            </a:r>
            <a:r>
              <a:rPr lang="en-US" dirty="0">
                <a:solidFill>
                  <a:srgbClr val="C00000"/>
                </a:solidFill>
                <a:latin typeface="Arial" panose="020B0604020202020204" pitchFamily="34" charset="0"/>
                <a:ea typeface="Calibri"/>
                <a:cs typeface="Arial" panose="020B0604020202020204" pitchFamily="34" charset="0"/>
                <a:sym typeface="+mn-ea"/>
              </a:rPr>
              <a:t>:</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Life</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safety</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critical</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projects</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should</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NOT</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use</a:t>
            </a:r>
            <a:r>
              <a:rPr spc="21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Crystal</a:t>
            </a:r>
            <a:r>
              <a:rPr spc="140" dirty="0">
                <a:solidFill>
                  <a:srgbClr val="000000">
                    <a:alpha val="100000"/>
                  </a:srgbClr>
                </a:solidFill>
                <a:latin typeface="Arial" panose="020B0604020202020204" pitchFamily="34" charset="0"/>
                <a:ea typeface="Calibri"/>
                <a:cs typeface="Arial" panose="020B0604020202020204" pitchFamily="34" charset="0"/>
                <a:sym typeface="+mn-ea"/>
              </a:rPr>
              <a:t> </a:t>
            </a:r>
            <a:r>
              <a:rPr dirty="0">
                <a:solidFill>
                  <a:srgbClr val="000000">
                    <a:alpha val="100000"/>
                  </a:srgbClr>
                </a:solidFill>
                <a:latin typeface="Arial" panose="020B0604020202020204" pitchFamily="34" charset="0"/>
                <a:ea typeface="Calibri"/>
                <a:cs typeface="Arial" panose="020B0604020202020204" pitchFamily="34" charset="0"/>
                <a:sym typeface="+mn-ea"/>
              </a:rPr>
              <a:t>Methods     </a:t>
            </a:r>
            <a:endParaRPr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810895" indent="0" algn="l" rtl="0" eaLnBrk="0">
              <a:lnSpc>
                <a:spcPct val="100000"/>
              </a:lnSpc>
              <a:buNone/>
            </a:pPr>
            <a:endParaRPr lang="en-US" altLang="en-US" dirty="0">
              <a:latin typeface="Arial" panose="020B0604020202020204" pitchFamily="34" charset="0"/>
              <a:cs typeface="Arial" panose="020B0604020202020204" pitchFamily="34" charset="0"/>
            </a:endParaRPr>
          </a:p>
          <a:p>
            <a:pPr marL="0" indent="0">
              <a:lnSpc>
                <a:spcPct val="100000"/>
              </a:lnSpc>
              <a:buNone/>
            </a:pPr>
            <a:endParaRPr lang="en-US"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51</a:t>
            </a:fld>
            <a:endParaRPr lang="en-US"/>
          </a:p>
        </p:txBody>
      </p:sp>
      <p:pic>
        <p:nvPicPr>
          <p:cNvPr id="6" name="Picture 5" descr="Table&#10;&#10;Description automatically generated">
            <a:extLst>
              <a:ext uri="{FF2B5EF4-FFF2-40B4-BE49-F238E27FC236}">
                <a16:creationId xmlns:a16="http://schemas.microsoft.com/office/drawing/2014/main" id="{C23A5C25-623D-766F-F7DE-E60FECD63C24}"/>
              </a:ext>
            </a:extLst>
          </p:cNvPr>
          <p:cNvPicPr>
            <a:picLocks noChangeAspect="1"/>
          </p:cNvPicPr>
          <p:nvPr/>
        </p:nvPicPr>
        <p:blipFill>
          <a:blip r:embed="rId3"/>
          <a:stretch>
            <a:fillRect/>
          </a:stretch>
        </p:blipFill>
        <p:spPr>
          <a:xfrm>
            <a:off x="6185983" y="1192236"/>
            <a:ext cx="4686609" cy="307870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chemeClr val="tx1">
                    <a:alpha val="100000"/>
                  </a:schemeClr>
                </a:solidFill>
                <a:latin typeface="Arial" panose="020B0604020202090204"/>
                <a:ea typeface="Arial" panose="020B0604020202090204"/>
                <a:cs typeface="Arial" panose="020B0604020202090204"/>
                <a:sym typeface="+mn-ea"/>
              </a:rPr>
              <a:t>Crystal</a:t>
            </a:r>
            <a:r>
              <a:rPr spc="230" dirty="0">
                <a:solidFill>
                  <a:schemeClr val="tx1">
                    <a:alpha val="100000"/>
                  </a:schemeClr>
                </a:solidFill>
                <a:latin typeface="Arial" panose="020B0604020202090204"/>
                <a:ea typeface="Arial" panose="020B0604020202090204"/>
                <a:cs typeface="Arial" panose="020B0604020202090204"/>
                <a:sym typeface="+mn-ea"/>
              </a:rPr>
              <a:t> </a:t>
            </a:r>
            <a:r>
              <a:rPr dirty="0">
                <a:solidFill>
                  <a:schemeClr val="tx1">
                    <a:alpha val="100000"/>
                  </a:schemeClr>
                </a:solidFill>
                <a:latin typeface="Arial" panose="020B0604020202090204"/>
                <a:ea typeface="Arial" panose="020B0604020202090204"/>
                <a:cs typeface="Arial" panose="020B0604020202090204"/>
                <a:sym typeface="+mn-ea"/>
              </a:rPr>
              <a:t>Orange</a:t>
            </a:r>
            <a:endParaRPr lang="en-US" dirty="0">
              <a:solidFill>
                <a:schemeClr val="tx1">
                  <a:alpha val="100000"/>
                </a:scheme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52</a:t>
            </a:fld>
            <a:endParaRPr lang="en-US"/>
          </a:p>
        </p:txBody>
      </p:sp>
      <p:sp>
        <p:nvSpPr>
          <p:cNvPr id="2" name="Text Box 1"/>
          <p:cNvSpPr txBox="1"/>
          <p:nvPr/>
        </p:nvSpPr>
        <p:spPr>
          <a:xfrm>
            <a:off x="1164618" y="1392805"/>
            <a:ext cx="2461895" cy="4615815"/>
          </a:xfrm>
          <a:prstGeom prst="rect">
            <a:avLst/>
          </a:prstGeom>
          <a:noFill/>
        </p:spPr>
        <p:txBody>
          <a:bodyPr wrap="square" rtlCol="0">
            <a:spAutoFit/>
          </a:bodyPr>
          <a:lstStyle/>
          <a:p>
            <a:r>
              <a:rPr lang="en-US" sz="2400" b="1" dirty="0">
                <a:solidFill>
                  <a:schemeClr val="bg2">
                    <a:lumMod val="10000"/>
                  </a:schemeClr>
                </a:solidFill>
              </a:rPr>
              <a:t>Roles:</a:t>
            </a:r>
            <a:endParaRPr lang="en-US" dirty="0"/>
          </a:p>
          <a:p>
            <a:endParaRPr lang="en-US" dirty="0"/>
          </a:p>
          <a:p>
            <a:r>
              <a:rPr lang="en-US" dirty="0"/>
              <a:t>Sponsor</a:t>
            </a:r>
          </a:p>
          <a:p>
            <a:r>
              <a:rPr lang="en-US" dirty="0"/>
              <a:t>Business expert</a:t>
            </a:r>
          </a:p>
          <a:p>
            <a:r>
              <a:rPr lang="en-US" dirty="0"/>
              <a:t>Usage expert</a:t>
            </a:r>
          </a:p>
          <a:p>
            <a:r>
              <a:rPr lang="en-US" dirty="0"/>
              <a:t>Technical facilitator</a:t>
            </a:r>
          </a:p>
          <a:p>
            <a:r>
              <a:rPr lang="en-US" dirty="0"/>
              <a:t>Business analyst/designer</a:t>
            </a:r>
          </a:p>
          <a:p>
            <a:r>
              <a:rPr lang="en-US" dirty="0"/>
              <a:t>Project manager</a:t>
            </a:r>
          </a:p>
          <a:p>
            <a:r>
              <a:rPr lang="en-US" dirty="0"/>
              <a:t>Architect</a:t>
            </a:r>
          </a:p>
          <a:p>
            <a:r>
              <a:rPr lang="en-US" dirty="0"/>
              <a:t>Design mentor</a:t>
            </a:r>
          </a:p>
          <a:p>
            <a:r>
              <a:rPr lang="en-US" dirty="0"/>
              <a:t>Lead designer</a:t>
            </a:r>
          </a:p>
          <a:p>
            <a:r>
              <a:rPr lang="en-US" dirty="0"/>
              <a:t>UI designer</a:t>
            </a:r>
          </a:p>
          <a:p>
            <a:r>
              <a:rPr lang="en-US" dirty="0"/>
              <a:t>Reuse point</a:t>
            </a:r>
          </a:p>
          <a:p>
            <a:r>
              <a:rPr lang="en-US" dirty="0"/>
              <a:t>Writer</a:t>
            </a:r>
          </a:p>
          <a:p>
            <a:r>
              <a:rPr lang="en-US" dirty="0"/>
              <a:t>Tester</a:t>
            </a:r>
          </a:p>
        </p:txBody>
      </p:sp>
      <p:sp>
        <p:nvSpPr>
          <p:cNvPr id="5" name="Text Box 4"/>
          <p:cNvSpPr txBox="1"/>
          <p:nvPr/>
        </p:nvSpPr>
        <p:spPr>
          <a:xfrm>
            <a:off x="4172185" y="1367968"/>
            <a:ext cx="2647315" cy="4338320"/>
          </a:xfrm>
          <a:prstGeom prst="rect">
            <a:avLst/>
          </a:prstGeom>
          <a:noFill/>
        </p:spPr>
        <p:txBody>
          <a:bodyPr wrap="square" rtlCol="0">
            <a:spAutoFit/>
          </a:bodyPr>
          <a:lstStyle/>
          <a:p>
            <a:r>
              <a:rPr lang="en-US" sz="2400" b="1" dirty="0">
                <a:solidFill>
                  <a:schemeClr val="bg2">
                    <a:lumMod val="10000"/>
                  </a:schemeClr>
                </a:solidFill>
              </a:rPr>
              <a:t>Work Products:</a:t>
            </a:r>
            <a:endParaRPr lang="en-US" dirty="0"/>
          </a:p>
          <a:p>
            <a:endParaRPr lang="en-US" dirty="0"/>
          </a:p>
          <a:p>
            <a:r>
              <a:rPr lang="en-US" dirty="0"/>
              <a:t>Requirements document</a:t>
            </a:r>
          </a:p>
          <a:p>
            <a:r>
              <a:rPr lang="en-US" dirty="0"/>
              <a:t>Release sequence</a:t>
            </a:r>
          </a:p>
          <a:p>
            <a:r>
              <a:rPr lang="en-US" dirty="0"/>
              <a:t>Schedule</a:t>
            </a:r>
          </a:p>
          <a:p>
            <a:r>
              <a:rPr lang="en-US" dirty="0"/>
              <a:t>Status reports</a:t>
            </a:r>
          </a:p>
          <a:p>
            <a:r>
              <a:rPr lang="en-US" dirty="0"/>
              <a:t>UI design document</a:t>
            </a:r>
          </a:p>
          <a:p>
            <a:r>
              <a:rPr lang="en-US" dirty="0"/>
              <a:t>Common object model</a:t>
            </a:r>
          </a:p>
          <a:p>
            <a:r>
              <a:rPr lang="en-US" dirty="0"/>
              <a:t>Inter-team specifications</a:t>
            </a:r>
          </a:p>
          <a:p>
            <a:r>
              <a:rPr lang="en-US" dirty="0"/>
              <a:t>User manual</a:t>
            </a:r>
          </a:p>
          <a:p>
            <a:r>
              <a:rPr lang="en-US" dirty="0"/>
              <a:t>Source code</a:t>
            </a:r>
          </a:p>
          <a:p>
            <a:r>
              <a:rPr lang="en-US" dirty="0"/>
              <a:t>Test cases</a:t>
            </a:r>
          </a:p>
          <a:p>
            <a:r>
              <a:rPr lang="en-US" dirty="0"/>
              <a:t>Migration code</a:t>
            </a:r>
          </a:p>
        </p:txBody>
      </p:sp>
      <p:sp>
        <p:nvSpPr>
          <p:cNvPr id="6" name="Text Box 1">
            <a:extLst>
              <a:ext uri="{FF2B5EF4-FFF2-40B4-BE49-F238E27FC236}">
                <a16:creationId xmlns:a16="http://schemas.microsoft.com/office/drawing/2014/main" id="{543A0919-147E-84E3-3D26-08FEFE7EB69B}"/>
              </a:ext>
            </a:extLst>
          </p:cNvPr>
          <p:cNvSpPr txBox="1"/>
          <p:nvPr/>
        </p:nvSpPr>
        <p:spPr>
          <a:xfrm>
            <a:off x="7654867" y="1367968"/>
            <a:ext cx="3442091" cy="3323987"/>
          </a:xfrm>
          <a:prstGeom prst="rect">
            <a:avLst/>
          </a:prstGeom>
          <a:noFill/>
        </p:spPr>
        <p:txBody>
          <a:bodyPr wrap="square" rtlCol="0">
            <a:spAutoFit/>
          </a:bodyPr>
          <a:lstStyle/>
          <a:p>
            <a:pPr fontAlgn="auto">
              <a:lnSpc>
                <a:spcPct val="100000"/>
              </a:lnSpc>
            </a:pPr>
            <a:r>
              <a:rPr lang="en-US" sz="2400" b="1" dirty="0">
                <a:solidFill>
                  <a:schemeClr val="bg2">
                    <a:lumMod val="10000"/>
                  </a:schemeClr>
                </a:solidFill>
                <a:sym typeface="+mn-ea"/>
              </a:rPr>
              <a:t>Team and sub-team:</a:t>
            </a:r>
          </a:p>
          <a:p>
            <a:pPr fontAlgn="auto">
              <a:lnSpc>
                <a:spcPct val="100000"/>
              </a:lnSpc>
            </a:pPr>
            <a:endParaRPr lang="en-US" dirty="0">
              <a:sym typeface="+mn-ea"/>
            </a:endParaRPr>
          </a:p>
          <a:p>
            <a:r>
              <a:rPr lang="en-US" dirty="0">
                <a:sym typeface="+mn-ea"/>
              </a:rPr>
              <a:t>System planning</a:t>
            </a:r>
          </a:p>
          <a:p>
            <a:pPr fontAlgn="auto">
              <a:lnSpc>
                <a:spcPct val="100000"/>
              </a:lnSpc>
            </a:pPr>
            <a:r>
              <a:rPr dirty="0">
                <a:sym typeface="+mn-ea"/>
              </a:rPr>
              <a:t>Project Monitoring</a:t>
            </a:r>
          </a:p>
          <a:p>
            <a:pPr fontAlgn="auto">
              <a:lnSpc>
                <a:spcPct val="100000"/>
              </a:lnSpc>
            </a:pPr>
            <a:r>
              <a:rPr dirty="0">
                <a:sym typeface="+mn-ea"/>
              </a:rPr>
              <a:t>Architecture</a:t>
            </a:r>
          </a:p>
          <a:p>
            <a:pPr fontAlgn="auto">
              <a:lnSpc>
                <a:spcPct val="100000"/>
              </a:lnSpc>
            </a:pPr>
            <a:r>
              <a:rPr dirty="0">
                <a:sym typeface="+mn-ea"/>
              </a:rPr>
              <a:t>Technology</a:t>
            </a:r>
          </a:p>
          <a:p>
            <a:pPr fontAlgn="auto">
              <a:lnSpc>
                <a:spcPct val="100000"/>
              </a:lnSpc>
            </a:pPr>
            <a:r>
              <a:rPr dirty="0">
                <a:sym typeface="+mn-ea"/>
              </a:rPr>
              <a:t>Functions (divided into cross-functional groups)</a:t>
            </a:r>
          </a:p>
          <a:p>
            <a:pPr fontAlgn="auto">
              <a:lnSpc>
                <a:spcPct val="100000"/>
              </a:lnSpc>
            </a:pPr>
            <a:r>
              <a:rPr dirty="0">
                <a:sym typeface="+mn-ea"/>
              </a:rPr>
              <a:t>Infrastructure</a:t>
            </a:r>
          </a:p>
          <a:p>
            <a:pPr fontAlgn="auto">
              <a:lnSpc>
                <a:spcPct val="100000"/>
              </a:lnSpc>
            </a:pPr>
            <a:r>
              <a:rPr dirty="0">
                <a:sym typeface="+mn-ea"/>
              </a:rPr>
              <a:t>External test</a:t>
            </a:r>
            <a:endParaRPr lang="en-US" dirty="0"/>
          </a:p>
          <a:p>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D53E-AB99-FF7B-28D6-52DDE303000C}"/>
              </a:ext>
            </a:extLst>
          </p:cNvPr>
          <p:cNvSpPr>
            <a:spLocks noGrp="1"/>
          </p:cNvSpPr>
          <p:nvPr>
            <p:ph type="title"/>
          </p:nvPr>
        </p:nvSpPr>
        <p:spPr/>
        <p:txBody>
          <a:bodyPr/>
          <a:lstStyle/>
          <a:p>
            <a:r>
              <a:rPr lang="en-US" dirty="0"/>
              <a:t>Katie's sessions</a:t>
            </a:r>
          </a:p>
        </p:txBody>
      </p:sp>
      <p:sp>
        <p:nvSpPr>
          <p:cNvPr id="4" name="Content Placeholder 3">
            <a:extLst>
              <a:ext uri="{FF2B5EF4-FFF2-40B4-BE49-F238E27FC236}">
                <a16:creationId xmlns:a16="http://schemas.microsoft.com/office/drawing/2014/main" id="{B3A825FA-16D0-FFF4-35FF-53E3BC1E1D64}"/>
              </a:ext>
            </a:extLst>
          </p:cNvPr>
          <p:cNvSpPr>
            <a:spLocks noGrp="1"/>
          </p:cNvSpPr>
          <p:nvPr>
            <p:ph idx="1"/>
          </p:nvPr>
        </p:nvSpPr>
        <p:spPr>
          <a:xfrm>
            <a:off x="644771" y="1222218"/>
            <a:ext cx="10709031" cy="4859929"/>
          </a:xfrm>
        </p:spPr>
        <p:txBody>
          <a:bodyPr>
            <a:normAutofit/>
          </a:bodyPr>
          <a:lstStyle/>
          <a:p>
            <a:r>
              <a:rPr lang="en-US" sz="2000" spc="-50" dirty="0">
                <a:solidFill>
                  <a:srgbClr val="000000">
                    <a:alpha val="100000"/>
                  </a:srgbClr>
                </a:solidFill>
                <a:latin typeface="Arial" panose="020B0604020202020204" pitchFamily="34" charset="0"/>
                <a:cs typeface="Arial" panose="020B0604020202020204" pitchFamily="34" charset="0"/>
              </a:rPr>
              <a:t>"</a:t>
            </a:r>
            <a:r>
              <a:rPr lang="en-US" sz="2000" b="1" spc="-50" dirty="0">
                <a:solidFill>
                  <a:srgbClr val="000000">
                    <a:alpha val="100000"/>
                  </a:srgbClr>
                </a:solidFill>
                <a:latin typeface="Arial" panose="020B0604020202020204" pitchFamily="34" charset="0"/>
                <a:cs typeface="Arial" panose="020B0604020202020204" pitchFamily="34" charset="0"/>
              </a:rPr>
              <a:t>Katie's sessions</a:t>
            </a:r>
            <a:r>
              <a:rPr lang="en-US" sz="2000" spc="-50" dirty="0">
                <a:solidFill>
                  <a:srgbClr val="000000">
                    <a:alpha val="100000"/>
                  </a:srgbClr>
                </a:solidFill>
                <a:latin typeface="Arial" panose="020B0604020202020204" pitchFamily="34" charset="0"/>
                <a:cs typeface="Arial" panose="020B0604020202020204" pitchFamily="34" charset="0"/>
              </a:rPr>
              <a:t>" could refer to a series of technical meetings, workshops, or training sessions led by a software engineer or industry expert named Katie. </a:t>
            </a:r>
          </a:p>
          <a:p>
            <a:r>
              <a:rPr lang="en-US" sz="2000" spc="-50" dirty="0">
                <a:solidFill>
                  <a:srgbClr val="000000">
                    <a:alpha val="100000"/>
                  </a:srgbClr>
                </a:solidFill>
                <a:latin typeface="Arial" panose="020B0604020202020204" pitchFamily="34" charset="0"/>
                <a:cs typeface="Arial" panose="020B0604020202020204" pitchFamily="34" charset="0"/>
              </a:rPr>
              <a:t>These sessions could cover a range of topics in software development, such as:</a:t>
            </a:r>
          </a:p>
          <a:p>
            <a:pPr lvl="1">
              <a:buFont typeface="+mj-lt"/>
              <a:buAutoNum type="arabicPeriod"/>
            </a:pPr>
            <a:r>
              <a:rPr lang="en-US" b="1" spc="-50" dirty="0">
                <a:solidFill>
                  <a:srgbClr val="000000">
                    <a:alpha val="100000"/>
                  </a:srgbClr>
                </a:solidFill>
                <a:latin typeface="Arial" panose="020B0604020202020204" pitchFamily="34" charset="0"/>
                <a:cs typeface="Arial" panose="020B0604020202020204" pitchFamily="34" charset="0"/>
              </a:rPr>
              <a:t>Code Review Sessions</a:t>
            </a:r>
            <a:r>
              <a:rPr lang="en-US" spc="-50" dirty="0">
                <a:solidFill>
                  <a:srgbClr val="000000">
                    <a:alpha val="100000"/>
                  </a:srgbClr>
                </a:solidFill>
                <a:latin typeface="Arial" panose="020B0604020202020204" pitchFamily="34" charset="0"/>
                <a:cs typeface="Arial" panose="020B0604020202020204" pitchFamily="34" charset="0"/>
              </a:rPr>
              <a:t>: If "Katie" is leading code review sessions, these would be meetings where developers present their code to others for feedback and suggestions on improving quality, performance, or maintainability.</a:t>
            </a:r>
          </a:p>
          <a:p>
            <a:pPr lvl="1">
              <a:buFont typeface="+mj-lt"/>
              <a:buAutoNum type="arabicPeriod"/>
            </a:pPr>
            <a:r>
              <a:rPr lang="en-US" b="1" spc="-50" dirty="0">
                <a:solidFill>
                  <a:srgbClr val="000000">
                    <a:alpha val="100000"/>
                  </a:srgbClr>
                </a:solidFill>
                <a:latin typeface="Arial" panose="020B0604020202020204" pitchFamily="34" charset="0"/>
                <a:cs typeface="Arial" panose="020B0604020202020204" pitchFamily="34" charset="0"/>
              </a:rPr>
              <a:t>Tech Talk or Workshops</a:t>
            </a:r>
            <a:r>
              <a:rPr lang="en-US" spc="-50" dirty="0">
                <a:solidFill>
                  <a:srgbClr val="000000">
                    <a:alpha val="100000"/>
                  </a:srgbClr>
                </a:solidFill>
                <a:latin typeface="Arial" panose="020B0604020202020204" pitchFamily="34" charset="0"/>
                <a:cs typeface="Arial" panose="020B0604020202020204" pitchFamily="34" charset="0"/>
              </a:rPr>
              <a:t>: Katie could be hosting learning sessions or workshops on specific technologies, tools, or programming languages. These sessions might be aimed at improving the team's skills, exploring new tech trends, or solving specific engineering challenges.</a:t>
            </a:r>
          </a:p>
          <a:p>
            <a:pPr lvl="1">
              <a:buFont typeface="+mj-lt"/>
              <a:buAutoNum type="arabicPeriod"/>
            </a:pPr>
            <a:r>
              <a:rPr lang="en-US" b="1" spc="-50" dirty="0">
                <a:solidFill>
                  <a:srgbClr val="000000">
                    <a:alpha val="100000"/>
                  </a:srgbClr>
                </a:solidFill>
                <a:latin typeface="Arial" panose="020B0604020202020204" pitchFamily="34" charset="0"/>
                <a:cs typeface="Arial" panose="020B0604020202020204" pitchFamily="34" charset="0"/>
              </a:rPr>
              <a:t>Onboarding Sessions</a:t>
            </a:r>
            <a:r>
              <a:rPr lang="en-US" spc="-50" dirty="0">
                <a:solidFill>
                  <a:srgbClr val="000000">
                    <a:alpha val="100000"/>
                  </a:srgbClr>
                </a:solidFill>
                <a:latin typeface="Arial" panose="020B0604020202020204" pitchFamily="34" charset="0"/>
                <a:cs typeface="Arial" panose="020B0604020202020204" pitchFamily="34" charset="0"/>
              </a:rPr>
              <a:t>: If Katie is a lead or senior engineer, she might run onboarding sessions for new team members, helping them get acquainted with the development environment, processes, and best practices.</a:t>
            </a:r>
          </a:p>
          <a:p>
            <a:pPr lvl="1">
              <a:buFont typeface="+mj-lt"/>
              <a:buAutoNum type="arabicPeriod"/>
            </a:pPr>
            <a:r>
              <a:rPr lang="en-US" b="1" spc="-50" dirty="0">
                <a:solidFill>
                  <a:srgbClr val="000000">
                    <a:alpha val="100000"/>
                  </a:srgbClr>
                </a:solidFill>
                <a:latin typeface="Arial" panose="020B0604020202020204" pitchFamily="34" charset="0"/>
                <a:cs typeface="Arial" panose="020B0604020202020204" pitchFamily="34" charset="0"/>
              </a:rPr>
              <a:t>Pair Programming or Collaboration Sessions</a:t>
            </a:r>
            <a:r>
              <a:rPr lang="en-US" spc="-50" dirty="0">
                <a:solidFill>
                  <a:srgbClr val="000000">
                    <a:alpha val="100000"/>
                  </a:srgbClr>
                </a:solidFill>
                <a:latin typeface="Arial" panose="020B0604020202020204" pitchFamily="34" charset="0"/>
                <a:cs typeface="Arial" panose="020B0604020202020204" pitchFamily="34" charset="0"/>
              </a:rPr>
              <a:t>: In software engineering, "Katie's sessions" could also refer to pair programming or collaborative work sessions where developers work together to solve coding problems or build features.</a:t>
            </a:r>
          </a:p>
          <a:p>
            <a:pPr lvl="1"/>
            <a:endParaRPr lang="en-US" sz="2000" dirty="0"/>
          </a:p>
        </p:txBody>
      </p:sp>
      <p:sp>
        <p:nvSpPr>
          <p:cNvPr id="5" name="Slide Number Placeholder 4">
            <a:extLst>
              <a:ext uri="{FF2B5EF4-FFF2-40B4-BE49-F238E27FC236}">
                <a16:creationId xmlns:a16="http://schemas.microsoft.com/office/drawing/2014/main" id="{DD8667B0-9659-2850-7EF3-5592F0214092}"/>
              </a:ext>
            </a:extLst>
          </p:cNvPr>
          <p:cNvSpPr>
            <a:spLocks noGrp="1"/>
          </p:cNvSpPr>
          <p:nvPr>
            <p:ph type="sldNum" sz="quarter" idx="12"/>
          </p:nvPr>
        </p:nvSpPr>
        <p:spPr/>
        <p:txBody>
          <a:bodyPr/>
          <a:lstStyle/>
          <a:p>
            <a:fld id="{4267CD5E-26CF-4249-8540-BB1D07FD4227}" type="slidenum">
              <a:rPr lang="en-US" smtClean="0"/>
              <a:t>53</a:t>
            </a:fld>
            <a:endParaRPr lang="en-US"/>
          </a:p>
        </p:txBody>
      </p:sp>
    </p:spTree>
    <p:extLst>
      <p:ext uri="{BB962C8B-B14F-4D97-AF65-F5344CB8AC3E}">
        <p14:creationId xmlns:p14="http://schemas.microsoft.com/office/powerpoint/2010/main" val="32203797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ab53003d-ca5f-45e6-91de-1d518f82ff8b}"/>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bdbca4e-5ded-4b54-929f-aaea780d6ab9}"/>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1a80efaf-b56d-4ceb-bf26-e954bd319d31}"/>
</p:tagLst>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4038</TotalTime>
  <Words>4053</Words>
  <Application>Microsoft Office PowerPoint</Application>
  <PresentationFormat>Widescreen</PresentationFormat>
  <Paragraphs>607</Paragraphs>
  <Slides>54</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Today's topic</vt:lpstr>
      <vt:lpstr>Acknowledgements</vt:lpstr>
      <vt:lpstr>Alistair Cockburn on process and plans </vt:lpstr>
      <vt:lpstr>Agile Manifesto (2001)</vt:lpstr>
      <vt:lpstr>FDD’s view on the Agile Manifesto </vt:lpstr>
      <vt:lpstr>Alistair Cockburn on process and plans</vt:lpstr>
      <vt:lpstr>Alistair Cockburn on process and plans</vt:lpstr>
      <vt:lpstr>Crystal (1992)</vt:lpstr>
      <vt:lpstr>Crystal Clear</vt:lpstr>
      <vt:lpstr>Crystal: criticality of the project</vt:lpstr>
      <vt:lpstr>Crystal: criticality of the project</vt:lpstr>
      <vt:lpstr>Crystal: criticality of the project</vt:lpstr>
      <vt:lpstr>Crystal: criticality of the project</vt:lpstr>
      <vt:lpstr>Crystal: criticality of the project</vt:lpstr>
      <vt:lpstr>Crystal Methodologies: How Colors Relate to These Concepts</vt:lpstr>
      <vt:lpstr>Crystal Methodologies: How Colors Relate to These Concepts</vt:lpstr>
      <vt:lpstr>Crystal Methodologies: How Colors Relate to These Concepts</vt:lpstr>
      <vt:lpstr>Crystal Methodologies: How Colors Relate to These Concepts</vt:lpstr>
      <vt:lpstr>Crystal Methodologies: How Colors Relate to These Concepts</vt:lpstr>
      <vt:lpstr>Properties, Strategies,Techniques</vt:lpstr>
      <vt:lpstr>Properties</vt:lpstr>
      <vt:lpstr>Properties across all Crystal Methods </vt:lpstr>
      <vt:lpstr>Properties across all Crystal Methods </vt:lpstr>
      <vt:lpstr>Properties across all Crystal Methods </vt:lpstr>
      <vt:lpstr>Properties across all Crystal Methods </vt:lpstr>
      <vt:lpstr>Properties across all Crystal Methods </vt:lpstr>
      <vt:lpstr>Strategies</vt:lpstr>
      <vt:lpstr>Strategies</vt:lpstr>
      <vt:lpstr>Strategies</vt:lpstr>
      <vt:lpstr>Strategies</vt:lpstr>
      <vt:lpstr>Techniques</vt:lpstr>
      <vt:lpstr>Techniques</vt:lpstr>
      <vt:lpstr>Techniques</vt:lpstr>
      <vt:lpstr>Techniques</vt:lpstr>
      <vt:lpstr>Techniques</vt:lpstr>
      <vt:lpstr>Techniques</vt:lpstr>
      <vt:lpstr>Techniques</vt:lpstr>
      <vt:lpstr>Blitz Planning Cards</vt:lpstr>
      <vt:lpstr>Blitz Planning Cards</vt:lpstr>
      <vt:lpstr>Techniques</vt:lpstr>
      <vt:lpstr>Daily Standup Meeting</vt:lpstr>
      <vt:lpstr>Techniques</vt:lpstr>
      <vt:lpstr>Techniques</vt:lpstr>
      <vt:lpstr>Techniques</vt:lpstr>
      <vt:lpstr>Techniques</vt:lpstr>
      <vt:lpstr>Role modeling session</vt:lpstr>
      <vt:lpstr>Roles and Work Products</vt:lpstr>
      <vt:lpstr>Roles and Work Products</vt:lpstr>
      <vt:lpstr>Crystal Clear vs eXtreme Programming </vt:lpstr>
      <vt:lpstr>The family of Crystal Methods</vt:lpstr>
      <vt:lpstr>Crystal Orange</vt:lpstr>
      <vt:lpstr>Katie's sessions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269</cp:revision>
  <dcterms:created xsi:type="dcterms:W3CDTF">2022-11-18T02:10:57Z</dcterms:created>
  <dcterms:modified xsi:type="dcterms:W3CDTF">2026-04-09T20:36:52Z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2023-03-25T18:36:36Z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480dd350-a522-4f2a-a0ff-2d1d6965ccb6</vt:lpwstr>
  </property>
  <property fmtid="{D5CDD505-2E9C-101B-9397-08002B2CF9AE}" pid="9" name="MSIP_Label_a73fd474-4f3c-44ed-88fb-5cc4bd2471bf_ContentBits">
    <vt:lpwstr>0</vt:lpwstr>
  </property>
</Properties>
</file>