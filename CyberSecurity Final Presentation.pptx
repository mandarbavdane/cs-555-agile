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8229600" cx="14630400"/>
  <p:notesSz cx="8229600" cy="14630400"/>
  <p:embeddedFontLst>
    <p:embeddedFont>
      <p:font typeface="Gelasi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Gelasio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Gelasio-italic.fntdata"/><Relationship Id="rId23" Type="http://schemas.openxmlformats.org/officeDocument/2006/relationships/slide" Target="slides/slide19.xml"/><Relationship Id="rId45" Type="http://schemas.openxmlformats.org/officeDocument/2006/relationships/font" Target="fonts/Gelasi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Gelasi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65335ec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e65335ec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65335ec5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65335ec51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e65335ec51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                                     </a:t>
            </a:r>
            <a:endParaRPr/>
          </a:p>
        </p:txBody>
      </p:sp>
      <p:sp>
        <p:nvSpPr>
          <p:cNvPr id="296" name="Google Shape;296;g3e65335ec51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65335ec51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e65335ec51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65335ec51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65335ec51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65335ec51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65335ec51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65335ec51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e65335ec51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65335ec51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65335ec51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e65335ec51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65335ec51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65335ec51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e65335ec51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e65335ec51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65335ec51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e65335ec51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e65335ec51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65335ec51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e65335ec51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e65335ec51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65335ec51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e65335ec51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e65335ec51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65335ec51_0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e65335ec51_0_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e65335ec51_0_3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e65335ec51_0_3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e65335ec51_0_3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e65335ec51_0_3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65335ec51_0_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e65335ec51_0_3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e65335ec51_0_3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65335ec51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e65335ec51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e65335ec51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65335ec51_0_3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e65335ec51_0_3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e65335ec51_0_3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65335ec51_0_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e65335ec51_0_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e65335ec51_0_4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e65335ec51_0_4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3e65335ec51_0_4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e65335ec51_0_4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e65335ec51_0_5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e65335ec51_0_5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e65335ec51_0_5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e65335ec51_0_5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3e65335ec51_0_5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3e65335ec51_0_5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e65335ec51_0_5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g3e65335ec51_0_5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e65335ec51_0_5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e65335ec51_0_6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e65335ec51_0_6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e65335ec51_0_6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e65335ec51_0_6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g3e65335ec51_0_6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e65335ec51_0_6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e65335ec51_0_6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g3e65335ec51_0_6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e65335ec51_0_6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e65335ec51_0_6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g3e65335ec51_0_6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g3e65335ec51_0_6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e65335ec51_0_7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3e65335ec51_0_7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e65335ec51_0_7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e65335ec51_0_7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g3e65335ec51_0_7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g3e65335ec51_0_7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e65335ec51_0_7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g3e65335ec51_0_7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e65335ec51_0_7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e65335ec51_0_7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g3e65335ec51_0_7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e65335ec51_0_7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e65335ec51_0_7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" name="Google Shape;1005;g3e65335ec51_0_7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g3e65335ec51_0_7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9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Relationship Id="rId5" Type="http://schemas.openxmlformats.org/officeDocument/2006/relationships/image" Target="../media/image60.png"/><Relationship Id="rId6" Type="http://schemas.openxmlformats.org/officeDocument/2006/relationships/image" Target="../media/image43.png"/><Relationship Id="rId7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1.png"/><Relationship Id="rId13" Type="http://schemas.openxmlformats.org/officeDocument/2006/relationships/image" Target="../media/image47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9.png"/><Relationship Id="rId9" Type="http://schemas.openxmlformats.org/officeDocument/2006/relationships/image" Target="../media/image55.png"/><Relationship Id="rId15" Type="http://schemas.openxmlformats.org/officeDocument/2006/relationships/image" Target="../media/image46.png"/><Relationship Id="rId14" Type="http://schemas.openxmlformats.org/officeDocument/2006/relationships/image" Target="../media/image63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69.png"/><Relationship Id="rId13" Type="http://schemas.openxmlformats.org/officeDocument/2006/relationships/image" Target="../media/image84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64.png"/><Relationship Id="rId9" Type="http://schemas.openxmlformats.org/officeDocument/2006/relationships/image" Target="../media/image62.png"/><Relationship Id="rId15" Type="http://schemas.openxmlformats.org/officeDocument/2006/relationships/image" Target="../media/image121.png"/><Relationship Id="rId14" Type="http://schemas.openxmlformats.org/officeDocument/2006/relationships/image" Target="../media/image83.png"/><Relationship Id="rId16" Type="http://schemas.openxmlformats.org/officeDocument/2006/relationships/image" Target="../media/image80.png"/><Relationship Id="rId5" Type="http://schemas.openxmlformats.org/officeDocument/2006/relationships/image" Target="../media/image48.png"/><Relationship Id="rId6" Type="http://schemas.openxmlformats.org/officeDocument/2006/relationships/image" Target="../media/image67.png"/><Relationship Id="rId7" Type="http://schemas.openxmlformats.org/officeDocument/2006/relationships/image" Target="../media/image59.png"/><Relationship Id="rId8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0.png"/><Relationship Id="rId4" Type="http://schemas.openxmlformats.org/officeDocument/2006/relationships/image" Target="../media/image89.png"/><Relationship Id="rId9" Type="http://schemas.openxmlformats.org/officeDocument/2006/relationships/image" Target="../media/image68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76.png"/><Relationship Id="rId8" Type="http://schemas.openxmlformats.org/officeDocument/2006/relationships/image" Target="../media/image7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2.png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5.png"/><Relationship Id="rId4" Type="http://schemas.openxmlformats.org/officeDocument/2006/relationships/image" Target="../media/image81.png"/><Relationship Id="rId9" Type="http://schemas.openxmlformats.org/officeDocument/2006/relationships/image" Target="../media/image87.png"/><Relationship Id="rId5" Type="http://schemas.openxmlformats.org/officeDocument/2006/relationships/image" Target="../media/image79.png"/><Relationship Id="rId6" Type="http://schemas.openxmlformats.org/officeDocument/2006/relationships/image" Target="../media/image109.png"/><Relationship Id="rId7" Type="http://schemas.openxmlformats.org/officeDocument/2006/relationships/image" Target="../media/image78.png"/><Relationship Id="rId8" Type="http://schemas.openxmlformats.org/officeDocument/2006/relationships/image" Target="../media/image1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6.png"/><Relationship Id="rId4" Type="http://schemas.openxmlformats.org/officeDocument/2006/relationships/image" Target="../media/image86.png"/><Relationship Id="rId5" Type="http://schemas.openxmlformats.org/officeDocument/2006/relationships/image" Target="../media/image88.png"/><Relationship Id="rId6" Type="http://schemas.openxmlformats.org/officeDocument/2006/relationships/image" Target="../media/image93.png"/><Relationship Id="rId7" Type="http://schemas.openxmlformats.org/officeDocument/2006/relationships/image" Target="../media/image99.png"/><Relationship Id="rId8" Type="http://schemas.openxmlformats.org/officeDocument/2006/relationships/image" Target="../media/image10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5.png"/><Relationship Id="rId4" Type="http://schemas.openxmlformats.org/officeDocument/2006/relationships/image" Target="../media/image97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0.png"/><Relationship Id="rId8" Type="http://schemas.openxmlformats.org/officeDocument/2006/relationships/image" Target="../media/image10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101.png"/><Relationship Id="rId6" Type="http://schemas.openxmlformats.org/officeDocument/2006/relationships/image" Target="../media/image103.png"/><Relationship Id="rId7" Type="http://schemas.openxmlformats.org/officeDocument/2006/relationships/image" Target="../media/image10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0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04.png"/><Relationship Id="rId7" Type="http://schemas.openxmlformats.org/officeDocument/2006/relationships/image" Target="../media/image137.png"/><Relationship Id="rId8" Type="http://schemas.openxmlformats.org/officeDocument/2006/relationships/image" Target="../media/image110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7.png"/><Relationship Id="rId10" Type="http://schemas.openxmlformats.org/officeDocument/2006/relationships/image" Target="../media/image126.png"/><Relationship Id="rId13" Type="http://schemas.openxmlformats.org/officeDocument/2006/relationships/image" Target="../media/image128.png"/><Relationship Id="rId1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3.png"/><Relationship Id="rId4" Type="http://schemas.openxmlformats.org/officeDocument/2006/relationships/image" Target="../media/image111.png"/><Relationship Id="rId9" Type="http://schemas.openxmlformats.org/officeDocument/2006/relationships/image" Target="../media/image124.png"/><Relationship Id="rId1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22.png"/><Relationship Id="rId7" Type="http://schemas.openxmlformats.org/officeDocument/2006/relationships/image" Target="../media/image116.png"/><Relationship Id="rId8" Type="http://schemas.openxmlformats.org/officeDocument/2006/relationships/image" Target="../media/image1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5.png"/><Relationship Id="rId4" Type="http://schemas.openxmlformats.org/officeDocument/2006/relationships/image" Target="../media/image131.png"/><Relationship Id="rId5" Type="http://schemas.openxmlformats.org/officeDocument/2006/relationships/image" Target="../media/image142.png"/><Relationship Id="rId6" Type="http://schemas.openxmlformats.org/officeDocument/2006/relationships/image" Target="../media/image139.png"/><Relationship Id="rId7" Type="http://schemas.openxmlformats.org/officeDocument/2006/relationships/image" Target="../media/image1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3.png"/><Relationship Id="rId4" Type="http://schemas.openxmlformats.org/officeDocument/2006/relationships/image" Target="../media/image141.png"/><Relationship Id="rId5" Type="http://schemas.openxmlformats.org/officeDocument/2006/relationships/image" Target="../media/image134.png"/><Relationship Id="rId6" Type="http://schemas.openxmlformats.org/officeDocument/2006/relationships/image" Target="../media/image1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0.png"/><Relationship Id="rId4" Type="http://schemas.openxmlformats.org/officeDocument/2006/relationships/image" Target="../media/image138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45.png"/><Relationship Id="rId8" Type="http://schemas.openxmlformats.org/officeDocument/2006/relationships/image" Target="../media/image1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584725" y="2443800"/>
            <a:ext cx="7556400" cy="3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AI-Driven Phishing Detection and Prevention in Online Retail Pharmaceutical Businesses</a:t>
            </a:r>
            <a:endParaRPr b="0" i="0" sz="4450" u="none" cap="none" strike="noStrike"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11686" r="13211" t="0"/>
          <a:stretch/>
        </p:blipFill>
        <p:spPr>
          <a:xfrm>
            <a:off x="8631050" y="0"/>
            <a:ext cx="599935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93790" y="144125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Executive Summary</a:t>
            </a:r>
            <a:endParaRPr b="0" i="0" sz="445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793790" y="2603659"/>
            <a:ext cx="6407944" cy="1669852"/>
          </a:xfrm>
          <a:prstGeom prst="roundRect">
            <a:avLst>
              <a:gd fmla="val 2038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1020604" y="283047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High-Value Data</a:t>
            </a:r>
            <a:endParaRPr b="0" i="0" sz="22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1020604" y="3320891"/>
            <a:ext cx="59543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Online retail pharmacies process prescription, payment, identity, and health data—creating lucrative targets</a:t>
            </a:r>
            <a:endParaRPr b="0" i="0" sz="17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428548" y="2603659"/>
            <a:ext cx="6408063" cy="1669852"/>
          </a:xfrm>
          <a:prstGeom prst="roundRect">
            <a:avLst>
              <a:gd fmla="val 2038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7655362" y="2830473"/>
            <a:ext cx="349924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Multi-Vector Attack Surface</a:t>
            </a:r>
            <a:endParaRPr b="0" i="0" sz="22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7655362" y="3320891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Phishing exploits customers and employees through email, SMS, voice, portals, and vendor channels</a:t>
            </a:r>
            <a:endParaRPr b="0" i="0" sz="175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793790" y="4500324"/>
            <a:ext cx="6407944" cy="1669852"/>
          </a:xfrm>
          <a:prstGeom prst="roundRect">
            <a:avLst>
              <a:gd fmla="val 2038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020604" y="4727138"/>
            <a:ext cx="320301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Detection Opportunity</a:t>
            </a:r>
            <a:endParaRPr b="0" i="0" sz="22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1020604" y="5217557"/>
            <a:ext cx="59543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Generative AI improves semantic phishing detection, multilingual analysis, and analyst explanation</a:t>
            </a:r>
            <a:endParaRPr b="0" i="0" sz="17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428548" y="4500324"/>
            <a:ext cx="6408063" cy="1669852"/>
          </a:xfrm>
          <a:prstGeom prst="roundRect">
            <a:avLst>
              <a:gd fmla="val 2038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7655362" y="4727138"/>
            <a:ext cx="306347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Bounded AI Governance</a:t>
            </a:r>
            <a:endParaRPr b="0" i="0" sz="22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655362" y="5217557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Agentic AI should support triage and workflow orchestration—not fully autonomous security decisions</a:t>
            </a:r>
            <a:endParaRPr b="0" i="0" sz="17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93790" y="7230257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HHS, 2026; Verizon, 2025; FBI, 2024; NIST, 2025</a:t>
            </a:r>
            <a:endParaRPr b="0" i="0" sz="175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12638400" y="7660637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793790" y="101834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Research Objectives</a:t>
            </a:r>
            <a:endParaRPr b="0" i="0" sz="44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793790" y="218074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01</a:t>
            </a:r>
            <a:endParaRPr b="0" i="0" sz="17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93790" y="2535793"/>
            <a:ext cx="4196358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793790" y="2710101"/>
            <a:ext cx="4196358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Examine Sector</a:t>
            </a:r>
            <a:r>
              <a:rPr lang="en-US" sz="22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Specific Phishing Risks</a:t>
            </a:r>
            <a:endParaRPr b="0" i="0" sz="220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793790" y="3554849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Identify vulnerabilities unique to online retail pharmaceutical operations</a:t>
            </a:r>
            <a:endParaRPr b="0" i="0" sz="17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5216962" y="218074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02</a:t>
            </a:r>
            <a:endParaRPr b="0" i="0" sz="17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5216962" y="2535793"/>
            <a:ext cx="4196358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216962" y="2710101"/>
            <a:ext cx="406729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Analyze Generative AI Detection</a:t>
            </a:r>
            <a:endParaRPr b="0" i="0" sz="22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5216962" y="3200519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Evaluate semantic analysis and deceptive message identification</a:t>
            </a:r>
            <a:endParaRPr b="0" i="0" sz="17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9640133" y="218074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03</a:t>
            </a:r>
            <a:endParaRPr b="0" i="0" sz="17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9640133" y="2535793"/>
            <a:ext cx="4196358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9640133" y="2710101"/>
            <a:ext cx="401978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Evaluate Agentic AI Capabilities</a:t>
            </a:r>
            <a:endParaRPr b="0" i="0" sz="220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9640133" y="3200519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Assess triage, evidence gathering and incident response automation</a:t>
            </a:r>
            <a:endParaRPr b="0" i="0" sz="17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793790" y="467748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04</a:t>
            </a:r>
            <a:endParaRPr b="0" i="0" sz="175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793790" y="5032534"/>
            <a:ext cx="6407944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793790" y="5206841"/>
            <a:ext cx="396930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Identify Implementation Limits</a:t>
            </a:r>
            <a:endParaRPr b="0" i="0" sz="220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793790" y="5697260"/>
            <a:ext cx="640794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False positives, privacy risks, adversarial attacks, compliance issues</a:t>
            </a:r>
            <a:endParaRPr b="0" i="0" sz="175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7428548" y="467748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05</a:t>
            </a:r>
            <a:endParaRPr b="0" i="0" sz="175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7428548" y="5032534"/>
            <a:ext cx="6407944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428548" y="5206841"/>
            <a:ext cx="381345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Propose Auditable Framework</a:t>
            </a:r>
            <a:endParaRPr b="0" i="0" sz="220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7428548" y="5697260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Practical, compliant AI</a:t>
            </a:r>
            <a:r>
              <a:rPr lang="en-US" sz="17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driven cybersecurity implementation</a:t>
            </a:r>
            <a:endParaRPr b="0" i="0" sz="175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793790" y="7036054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Research synthesis based on HHS, NIST, OWASP, Verizon, IBM, and FBI guidance</a:t>
            </a:r>
            <a:endParaRPr b="0" i="0" sz="17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12638400" y="7660637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793790" y="764500"/>
            <a:ext cx="9418439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300"/>
              <a:buFont typeface="Gelasio"/>
              <a:buNone/>
            </a:pPr>
            <a:r>
              <a:rPr b="0" i="0" lang="en-US" sz="33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Why Online Retail Pharmacy Is Uniquely Exposed</a:t>
            </a:r>
            <a:endParaRPr b="0" i="0" sz="330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9548932" y="1630918"/>
            <a:ext cx="4295180" cy="1255276"/>
          </a:xfrm>
          <a:prstGeom prst="roundRect">
            <a:avLst>
              <a:gd fmla="val 2033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9741813" y="1823799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Healthcare Data</a:t>
            </a:r>
            <a:endParaRPr b="0" i="0" sz="200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9741813" y="2217063"/>
            <a:ext cx="390941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Prescriptions, diagnosis-related history, patient identifiers</a:t>
            </a:r>
            <a:endParaRPr b="0" i="0" sz="150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9548932" y="3013710"/>
            <a:ext cx="4295180" cy="1017151"/>
          </a:xfrm>
          <a:prstGeom prst="roundRect">
            <a:avLst>
              <a:gd fmla="val 2509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9741813" y="3206591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Retail Data</a:t>
            </a:r>
            <a:endParaRPr b="0" i="0" sz="2000" u="none" cap="none" strike="noStrike"/>
          </a:p>
        </p:txBody>
      </p:sp>
      <p:sp>
        <p:nvSpPr>
          <p:cNvPr id="117" name="Google Shape;117;p16"/>
          <p:cNvSpPr/>
          <p:nvPr/>
        </p:nvSpPr>
        <p:spPr>
          <a:xfrm>
            <a:off x="9741813" y="3599855"/>
            <a:ext cx="390941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Payments, order history, shipping addresses</a:t>
            </a:r>
            <a:endParaRPr b="0" i="0" sz="150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9548925" y="4158375"/>
            <a:ext cx="4295100" cy="1255200"/>
          </a:xfrm>
          <a:prstGeom prst="roundRect">
            <a:avLst>
              <a:gd fmla="val 2509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9741832" y="4351250"/>
            <a:ext cx="38253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Trusted Communications</a:t>
            </a:r>
            <a:endParaRPr b="0" i="0" sz="200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9741826" y="4744525"/>
            <a:ext cx="4094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Refill reminders, delivery alerts, insurance updates</a:t>
            </a:r>
            <a:endParaRPr b="0" i="0" sz="15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9548982" y="5501807"/>
            <a:ext cx="4295100" cy="1255200"/>
          </a:xfrm>
          <a:prstGeom prst="roundRect">
            <a:avLst>
              <a:gd fmla="val 2033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9741881" y="5694688"/>
            <a:ext cx="32757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Vendor Dependency</a:t>
            </a:r>
            <a:endParaRPr b="0" i="0" sz="20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9741863" y="6087950"/>
            <a:ext cx="3909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PBMs, couriers, payment processors, email providers, telehealth partners</a:t>
            </a:r>
            <a:endParaRPr b="0" i="0" sz="150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793790" y="6845260"/>
            <a:ext cx="130428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49F8C"/>
              </a:buClr>
              <a:buSzPts val="1300"/>
              <a:buFont typeface="Gelasio"/>
              <a:buNone/>
            </a:pPr>
            <a:r>
              <a:rPr b="1" i="0" lang="en-US" sz="1300" u="none" cap="none" strike="noStrike">
                <a:solidFill>
                  <a:srgbClr val="C49F8C"/>
                </a:solidFill>
                <a:latin typeface="Gelasio"/>
                <a:ea typeface="Gelasio"/>
                <a:cs typeface="Gelasio"/>
                <a:sym typeface="Gelasio"/>
              </a:rPr>
              <a:t>High-Value Phishing Target</a:t>
            </a:r>
            <a:endParaRPr b="0" i="0" sz="130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793790" y="7226856"/>
            <a:ext cx="130428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1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HHS, 2026; Mohammed et al., 2024</a:t>
            </a:r>
            <a:endParaRPr b="0" i="0" sz="130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65" y="1606975"/>
            <a:ext cx="7404589" cy="49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781407" y="682228"/>
            <a:ext cx="4186476" cy="52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250"/>
              <a:buFont typeface="Gelasio"/>
              <a:buNone/>
            </a:pPr>
            <a:r>
              <a:rPr b="0" i="0" lang="en-US" sz="32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Sensitive Data Map</a:t>
            </a:r>
            <a:endParaRPr b="0" i="0" sz="325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781407" y="1452682"/>
            <a:ext cx="13067586" cy="232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What attackers target in online retail pharmacy systems</a:t>
            </a:r>
            <a:endParaRPr b="0" i="0" sz="1300" u="none" cap="none" strike="noStrike"/>
          </a:p>
        </p:txBody>
      </p:sp>
      <p:pic>
        <p:nvPicPr>
          <p:cNvPr descr="preencoded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07" y="1824633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781407" y="2397800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Prescription Data</a:t>
            </a:r>
            <a:endParaRPr b="0" i="0" sz="16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781407" y="2733556"/>
            <a:ext cx="4252793" cy="465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Medication lists, dosages, refill history, controlled substances</a:t>
            </a:r>
            <a:endParaRPr b="0" i="0" sz="1300" u="none" cap="none" strike="noStrike"/>
          </a:p>
        </p:txBody>
      </p:sp>
      <p:pic>
        <p:nvPicPr>
          <p:cNvPr descr="preencoded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8744" y="1824633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5188744" y="2397800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Account Credentials</a:t>
            </a:r>
            <a:endParaRPr b="0" i="0" sz="1600" u="none" cap="none" strike="noStrike"/>
          </a:p>
        </p:txBody>
      </p:sp>
      <p:sp>
        <p:nvSpPr>
          <p:cNvPr id="140" name="Google Shape;140;p17"/>
          <p:cNvSpPr/>
          <p:nvPr/>
        </p:nvSpPr>
        <p:spPr>
          <a:xfrm>
            <a:off x="5188744" y="2733556"/>
            <a:ext cx="4252793" cy="465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Username, password, session tokens, authentication methods</a:t>
            </a:r>
            <a:endParaRPr b="0" i="0" sz="1300" u="none" cap="none" strike="noStrike"/>
          </a:p>
        </p:txBody>
      </p:sp>
      <p:pic>
        <p:nvPicPr>
          <p:cNvPr descr="preencoded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6080" y="1824633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9596080" y="2397800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Payment Credentials</a:t>
            </a:r>
            <a:endParaRPr b="0" i="0" sz="16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9596080" y="2733556"/>
            <a:ext cx="4252913" cy="465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Card numbers, CVV, billing addresses, payment method preferences</a:t>
            </a:r>
            <a:endParaRPr b="0" i="0" sz="1300" u="none" cap="none" strike="noStrike"/>
          </a:p>
        </p:txBody>
      </p:sp>
      <p:pic>
        <p:nvPicPr>
          <p:cNvPr descr="preencoded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407" y="3446502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781407" y="4019669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Insurance Details</a:t>
            </a:r>
            <a:endParaRPr b="0" i="0" sz="1600" u="none" cap="none" strike="noStrike"/>
          </a:p>
        </p:txBody>
      </p:sp>
      <p:sp>
        <p:nvSpPr>
          <p:cNvPr id="146" name="Google Shape;146;p17"/>
          <p:cNvSpPr/>
          <p:nvPr/>
        </p:nvSpPr>
        <p:spPr>
          <a:xfrm>
            <a:off x="781407" y="4355425"/>
            <a:ext cx="4252793" cy="232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Policy numbers, coverage information, claims history</a:t>
            </a:r>
            <a:endParaRPr b="0" i="0" sz="1300" u="none" cap="none" strike="noStrike"/>
          </a:p>
        </p:txBody>
      </p:sp>
      <p:pic>
        <p:nvPicPr>
          <p:cNvPr descr="preencoded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8744" y="3446502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5188744" y="4019669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Address Information</a:t>
            </a:r>
            <a:endParaRPr b="0" i="0" sz="16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5188744" y="4355425"/>
            <a:ext cx="4252793" cy="232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Shipping addresses, delivery preferences, contact details</a:t>
            </a:r>
            <a:endParaRPr b="0" i="0" sz="1300" u="none" cap="none" strike="noStrike"/>
          </a:p>
        </p:txBody>
      </p:sp>
      <p:pic>
        <p:nvPicPr>
          <p:cNvPr descr="preencoded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96080" y="3446502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9596080" y="4019669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Support Transcripts</a:t>
            </a:r>
            <a:endParaRPr b="0" i="0" sz="160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9596080" y="4355425"/>
            <a:ext cx="4252913" cy="465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Customer service interactions, complaint history, resolution details</a:t>
            </a:r>
            <a:endParaRPr b="0" i="0" sz="1300" u="none" cap="none" strike="noStrike"/>
          </a:p>
        </p:txBody>
      </p:sp>
      <p:pic>
        <p:nvPicPr>
          <p:cNvPr descr="preencoded.png" id="153" name="Google Shape;15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407" y="5068372"/>
            <a:ext cx="418624" cy="41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781407" y="5641538"/>
            <a:ext cx="2093238" cy="261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Health History</a:t>
            </a:r>
            <a:endParaRPr b="0" i="0" sz="160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781407" y="5977295"/>
            <a:ext cx="4252793" cy="465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Diagnosis codes, treatment plans, refill patterns, medical conditions</a:t>
            </a:r>
            <a:endParaRPr b="0" i="0" sz="1300" u="none" cap="none" strike="noStrike"/>
          </a:p>
        </p:txBody>
      </p:sp>
      <p:sp>
        <p:nvSpPr>
          <p:cNvPr id="156" name="Google Shape;156;p17"/>
          <p:cNvSpPr/>
          <p:nvPr/>
        </p:nvSpPr>
        <p:spPr>
          <a:xfrm>
            <a:off x="781407" y="6582132"/>
            <a:ext cx="13067586" cy="593169"/>
          </a:xfrm>
          <a:prstGeom prst="roundRect">
            <a:avLst>
              <a:gd fmla="val 4235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4048949" y="6762325"/>
            <a:ext cx="6532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lasi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PHI + PII + Payment Data</a:t>
            </a:r>
            <a:r>
              <a:rPr b="0" i="0" lang="en-US" sz="13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= Maximum regulatory exposure and black</a:t>
            </a:r>
            <a:r>
              <a:rPr lang="en-US" sz="1300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market value</a:t>
            </a:r>
            <a:endParaRPr b="0" i="0" sz="1300" u="none" cap="none" strike="noStrike"/>
          </a:p>
        </p:txBody>
      </p:sp>
      <p:sp>
        <p:nvSpPr>
          <p:cNvPr id="158" name="Google Shape;158;p17"/>
          <p:cNvSpPr/>
          <p:nvPr/>
        </p:nvSpPr>
        <p:spPr>
          <a:xfrm>
            <a:off x="781407" y="7478591"/>
            <a:ext cx="13067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1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HHS, 2026; IBM, 2024</a:t>
            </a:r>
            <a:endParaRPr b="0" i="0" sz="1300" u="none" cap="none" strike="noStrike"/>
          </a:p>
        </p:txBody>
      </p:sp>
      <p:sp>
        <p:nvSpPr>
          <p:cNvPr id="159" name="Google Shape;159;p17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793790" y="999292"/>
            <a:ext cx="69557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Threat Landscape Snapshot</a:t>
            </a:r>
            <a:endParaRPr b="0" i="0" sz="445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793790" y="2275046"/>
            <a:ext cx="63796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850"/>
              <a:buFont typeface="Gelasio"/>
              <a:buNone/>
            </a:pPr>
            <a:r>
              <a:rPr b="0" i="0" lang="en-US" sz="5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22%</a:t>
            </a:r>
            <a:endParaRPr b="0" i="0" sz="58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2565916" y="33068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Credential Abuse</a:t>
            </a:r>
            <a:endParaRPr b="0" i="0" sz="220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793790" y="3797260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Breach initial access vector</a:t>
            </a:r>
            <a:endParaRPr b="0" i="0" sz="17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7456884" y="2275046"/>
            <a:ext cx="63797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850"/>
              <a:buFont typeface="Gelasio"/>
              <a:buNone/>
            </a:pPr>
            <a:r>
              <a:rPr b="0" i="0" lang="en-US" sz="5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15%</a:t>
            </a:r>
            <a:endParaRPr b="0" i="0" sz="585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9229130" y="33068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Phishing</a:t>
            </a:r>
            <a:r>
              <a:rPr lang="en-US" sz="22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Driven</a:t>
            </a:r>
            <a:endParaRPr b="0" i="0" sz="220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7456884" y="3797260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Percentage of breaches</a:t>
            </a:r>
            <a:endParaRPr b="0" i="0" sz="17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793790" y="4727138"/>
            <a:ext cx="63796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850"/>
              <a:buFont typeface="Gelasio"/>
              <a:buNone/>
            </a:pPr>
            <a:r>
              <a:rPr b="0" i="0" lang="en-US" sz="5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30%</a:t>
            </a:r>
            <a:endParaRPr b="0" i="0" sz="58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2419945" y="5758934"/>
            <a:ext cx="312729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Third</a:t>
            </a:r>
            <a:r>
              <a:rPr lang="en-US" sz="22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Party Involvement</a:t>
            </a:r>
            <a:endParaRPr b="0" i="0" sz="220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793790" y="6249353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Supply chain compromise</a:t>
            </a:r>
            <a:endParaRPr b="0" i="0" sz="1750" u="none" cap="none" strike="noStrike"/>
          </a:p>
        </p:txBody>
      </p:sp>
      <p:sp>
        <p:nvSpPr>
          <p:cNvPr id="175" name="Google Shape;175;p18"/>
          <p:cNvSpPr/>
          <p:nvPr/>
        </p:nvSpPr>
        <p:spPr>
          <a:xfrm>
            <a:off x="7456884" y="4727138"/>
            <a:ext cx="63797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850"/>
              <a:buFont typeface="Gelasio"/>
              <a:buNone/>
            </a:pPr>
            <a:r>
              <a:rPr b="0" i="0" lang="en-US" sz="5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60%</a:t>
            </a:r>
            <a:endParaRPr b="0" i="0" sz="585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9229130" y="57589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Human Element</a:t>
            </a:r>
            <a:endParaRPr b="0" i="0" sz="2200" u="none" cap="none" strike="noStrike"/>
          </a:p>
        </p:txBody>
      </p:sp>
      <p:sp>
        <p:nvSpPr>
          <p:cNvPr id="177" name="Google Shape;177;p18"/>
          <p:cNvSpPr/>
          <p:nvPr/>
        </p:nvSpPr>
        <p:spPr>
          <a:xfrm>
            <a:off x="7456884" y="6249353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Personnel involvement</a:t>
            </a:r>
            <a:endParaRPr b="0" i="0" sz="1750" u="none" cap="none" strike="noStrike"/>
          </a:p>
        </p:txBody>
      </p:sp>
      <p:sp>
        <p:nvSpPr>
          <p:cNvPr id="178" name="Google Shape;178;p18"/>
          <p:cNvSpPr/>
          <p:nvPr/>
        </p:nvSpPr>
        <p:spPr>
          <a:xfrm>
            <a:off x="793790" y="7216209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Verizon, 2025</a:t>
            </a:r>
            <a:endParaRPr b="0" i="0" sz="175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793790" y="883682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Why Healthcare Breaches Are More Expensive</a:t>
            </a:r>
            <a:endParaRPr b="0" i="0" sz="4000" u="none" cap="none" strike="noStrike"/>
          </a:p>
        </p:txBody>
      </p:sp>
      <p:sp>
        <p:nvSpPr>
          <p:cNvPr id="186" name="Google Shape;186;p19"/>
          <p:cNvSpPr/>
          <p:nvPr/>
        </p:nvSpPr>
        <p:spPr>
          <a:xfrm>
            <a:off x="1171575" y="2537103"/>
            <a:ext cx="6800731" cy="673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300"/>
              <a:buFont typeface="Gelasio"/>
              <a:buNone/>
            </a:pPr>
            <a:r>
              <a:rPr b="0" i="0" lang="en-US" sz="5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$4.88M</a:t>
            </a:r>
            <a:endParaRPr b="0" i="0" sz="530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3296126" y="3450550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Global Average</a:t>
            </a:r>
            <a:endParaRPr b="0" i="0" sz="200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793790" y="3879533"/>
            <a:ext cx="7556421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Average breach cost across all industries</a:t>
            </a:r>
            <a:endParaRPr b="0" i="0" sz="160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1171575" y="4659273"/>
            <a:ext cx="6800731" cy="673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300"/>
              <a:buFont typeface="Gelasio"/>
              <a:buNone/>
            </a:pPr>
            <a:r>
              <a:rPr b="0" i="0" lang="en-US" sz="5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$10.93M</a:t>
            </a:r>
            <a:endParaRPr b="0" i="0" sz="530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3296126" y="5572720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Healthcare Average</a:t>
            </a:r>
            <a:endParaRPr b="0" i="0" sz="200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793790" y="6001703"/>
            <a:ext cx="7556421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Average breach cost in healthcare sector</a:t>
            </a:r>
            <a:endParaRPr b="0" i="0" sz="160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793790" y="6518672"/>
            <a:ext cx="7556421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and automation reduce breach lifecycle and cost when properly implemented</a:t>
            </a:r>
            <a:endParaRPr b="0" i="0" sz="160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793790" y="7035641"/>
            <a:ext cx="7556421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1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IBM, 2024</a:t>
            </a:r>
            <a:endParaRPr b="0" i="0" sz="1600" u="none" cap="none" strike="noStrike"/>
          </a:p>
        </p:txBody>
      </p:sp>
      <p:pic>
        <p:nvPicPr>
          <p:cNvPr id="194" name="Google Shape;1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6956" y="0"/>
            <a:ext cx="6243419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6280190" y="876776"/>
            <a:ext cx="7333655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550"/>
              <a:buFont typeface="Gelasio"/>
              <a:buNone/>
            </a:pPr>
            <a:r>
              <a:rPr b="0" i="0" lang="en-US" sz="35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Cautionary Case: Change Healthcare</a:t>
            </a:r>
            <a:endParaRPr b="0" i="0" sz="3550" u="none" cap="none" strike="noStrike"/>
          </a:p>
        </p:txBody>
      </p:sp>
      <p:sp>
        <p:nvSpPr>
          <p:cNvPr id="201" name="Google Shape;201;p20"/>
          <p:cNvSpPr/>
          <p:nvPr/>
        </p:nvSpPr>
        <p:spPr>
          <a:xfrm>
            <a:off x="6484263" y="1661398"/>
            <a:ext cx="22860" cy="3646884"/>
          </a:xfrm>
          <a:prstGeom prst="roundRect">
            <a:avLst>
              <a:gd fmla="val 119070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665535" y="1854041"/>
            <a:ext cx="544354" cy="22860"/>
          </a:xfrm>
          <a:prstGeom prst="roundRect">
            <a:avLst>
              <a:gd fmla="val 119070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6280130" y="166139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6348115" y="169539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</a:t>
            </a:r>
            <a:endParaRPr b="0" i="0" sz="2100" u="none" cap="none" strike="noStrike"/>
          </a:p>
        </p:txBody>
      </p:sp>
      <p:sp>
        <p:nvSpPr>
          <p:cNvPr id="205" name="Google Shape;205;p20"/>
          <p:cNvSpPr/>
          <p:nvPr/>
        </p:nvSpPr>
        <p:spPr>
          <a:xfrm>
            <a:off x="7391653" y="1723675"/>
            <a:ext cx="3055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Credential Compromise</a:t>
            </a:r>
            <a:endParaRPr b="0" i="0" sz="200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7391638" y="2094190"/>
            <a:ext cx="6444972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Stolen credentials enable initial access</a:t>
            </a:r>
            <a:endParaRPr b="0" i="0" sz="140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6665535" y="2838331"/>
            <a:ext cx="544354" cy="22860"/>
          </a:xfrm>
          <a:prstGeom prst="roundRect">
            <a:avLst>
              <a:gd fmla="val 119070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280130" y="264568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348115" y="267968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</a:t>
            </a:r>
            <a:endParaRPr b="0" i="0" sz="210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7391638" y="270795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Portal Access</a:t>
            </a:r>
            <a:endParaRPr b="0" i="0" sz="20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7391638" y="3078480"/>
            <a:ext cx="6444972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Single trusted portal exploited</a:t>
            </a:r>
            <a:endParaRPr b="0" i="0" sz="14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6665535" y="3822621"/>
            <a:ext cx="544354" cy="22860"/>
          </a:xfrm>
          <a:prstGeom prst="roundRect">
            <a:avLst>
              <a:gd fmla="val 119070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280130" y="362997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348115" y="366397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</a:t>
            </a:r>
            <a:endParaRPr b="0" i="0" sz="2100" u="none" cap="none" strike="noStrike"/>
          </a:p>
        </p:txBody>
      </p:sp>
      <p:sp>
        <p:nvSpPr>
          <p:cNvPr id="215" name="Google Shape;215;p20"/>
          <p:cNvSpPr/>
          <p:nvPr/>
        </p:nvSpPr>
        <p:spPr>
          <a:xfrm>
            <a:off x="7391638" y="3692247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Service Disruption</a:t>
            </a:r>
            <a:endParaRPr b="0" i="0" sz="2000" u="none" cap="none" strike="noStrike"/>
          </a:p>
        </p:txBody>
      </p:sp>
      <p:sp>
        <p:nvSpPr>
          <p:cNvPr id="216" name="Google Shape;216;p20"/>
          <p:cNvSpPr/>
          <p:nvPr/>
        </p:nvSpPr>
        <p:spPr>
          <a:xfrm>
            <a:off x="7391638" y="4062770"/>
            <a:ext cx="6444972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System</a:t>
            </a:r>
            <a:r>
              <a:rPr lang="en-US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wide compromise</a:t>
            </a:r>
            <a:endParaRPr b="0" i="0" sz="1400" u="none" cap="none" strike="noStrike"/>
          </a:p>
        </p:txBody>
      </p:sp>
      <p:sp>
        <p:nvSpPr>
          <p:cNvPr id="217" name="Google Shape;217;p20"/>
          <p:cNvSpPr/>
          <p:nvPr/>
        </p:nvSpPr>
        <p:spPr>
          <a:xfrm>
            <a:off x="6665535" y="4806910"/>
            <a:ext cx="544354" cy="22860"/>
          </a:xfrm>
          <a:prstGeom prst="roundRect">
            <a:avLst>
              <a:gd fmla="val 119070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6280130" y="4614267"/>
            <a:ext cx="408265" cy="408265"/>
          </a:xfrm>
          <a:prstGeom prst="roundRect">
            <a:avLst>
              <a:gd fmla="val 66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6348115" y="4648260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4</a:t>
            </a:r>
            <a:endParaRPr b="0" i="0" sz="2100" u="none" cap="none" strike="noStrike"/>
          </a:p>
        </p:txBody>
      </p:sp>
      <p:sp>
        <p:nvSpPr>
          <p:cNvPr id="220" name="Google Shape;220;p20"/>
          <p:cNvSpPr/>
          <p:nvPr/>
        </p:nvSpPr>
        <p:spPr>
          <a:xfrm>
            <a:off x="7391638" y="4683864"/>
            <a:ext cx="2268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Notification Burden</a:t>
            </a:r>
            <a:endParaRPr b="0" i="0" sz="2000" u="none" cap="none" strike="noStrike"/>
          </a:p>
        </p:txBody>
      </p:sp>
      <p:sp>
        <p:nvSpPr>
          <p:cNvPr id="221" name="Google Shape;221;p20"/>
          <p:cNvSpPr/>
          <p:nvPr/>
        </p:nvSpPr>
        <p:spPr>
          <a:xfrm>
            <a:off x="7391638" y="5047059"/>
            <a:ext cx="6444972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Operational, legal and notification consequences</a:t>
            </a:r>
            <a:endParaRPr b="0" i="0" sz="1400" u="none" cap="none" strike="noStrike"/>
          </a:p>
        </p:txBody>
      </p:sp>
      <p:sp>
        <p:nvSpPr>
          <p:cNvPr id="222" name="Google Shape;222;p20"/>
          <p:cNvSpPr/>
          <p:nvPr/>
        </p:nvSpPr>
        <p:spPr>
          <a:xfrm>
            <a:off x="6280190" y="5471517"/>
            <a:ext cx="7556421" cy="1456730"/>
          </a:xfrm>
          <a:prstGeom prst="roundRect">
            <a:avLst>
              <a:gd fmla="val 1869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641" y="5722382"/>
            <a:ext cx="226814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6869900" y="5662026"/>
            <a:ext cx="67851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lasio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Key Lessons:</a:t>
            </a: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Stolen credentials create system</a:t>
            </a:r>
            <a:r>
              <a:rPr lang="en-US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wide compromise. 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Lack of phishing</a:t>
            </a:r>
            <a:r>
              <a:rPr lang="en-US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resistant MFA increases exposure. 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Healthcare cyber incidents create operational, legal and notification burdens. 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One trusted portal can become a national</a:t>
            </a:r>
            <a:r>
              <a:rPr lang="en-US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scale breach vector</a:t>
            </a:r>
            <a:endParaRPr b="0" i="0" sz="1400" u="none" cap="none" strike="noStrike"/>
          </a:p>
        </p:txBody>
      </p:sp>
      <p:sp>
        <p:nvSpPr>
          <p:cNvPr id="225" name="Google Shape;225;p20"/>
          <p:cNvSpPr/>
          <p:nvPr/>
        </p:nvSpPr>
        <p:spPr>
          <a:xfrm>
            <a:off x="6280190" y="7195728"/>
            <a:ext cx="7556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1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 OCR, 2025; Reuters reporting</a:t>
            </a:r>
            <a:endParaRPr b="0" i="0" sz="1400" u="none" cap="none" strike="noStrike"/>
          </a:p>
        </p:txBody>
      </p:sp>
      <p:sp>
        <p:nvSpPr>
          <p:cNvPr id="226" name="Google Shape;226;p20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75" y="2035550"/>
            <a:ext cx="5751583" cy="48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793790" y="787956"/>
            <a:ext cx="5622369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300"/>
              <a:buFont typeface="Gelasio"/>
              <a:buNone/>
            </a:pPr>
            <a:r>
              <a:rPr b="0" i="0" lang="en-US" sz="33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Pharmacy Phishing Kill Chain</a:t>
            </a:r>
            <a:endParaRPr b="0" i="0" sz="3300" u="none" cap="none" strike="noStrike"/>
          </a:p>
        </p:txBody>
      </p:sp>
      <p:sp>
        <p:nvSpPr>
          <p:cNvPr id="234" name="Google Shape;234;p21"/>
          <p:cNvSpPr/>
          <p:nvPr/>
        </p:nvSpPr>
        <p:spPr>
          <a:xfrm>
            <a:off x="793790" y="1574721"/>
            <a:ext cx="130428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Five</a:t>
            </a: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-stage attack path from lure to exploitation</a:t>
            </a:r>
            <a:endParaRPr b="0" i="0" sz="1300" u="none" cap="none" strike="noStrike"/>
          </a:p>
        </p:txBody>
      </p:sp>
      <p:pic>
        <p:nvPicPr>
          <p:cNvPr descr="preencoded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56316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/>
          <p:nvPr/>
        </p:nvSpPr>
        <p:spPr>
          <a:xfrm>
            <a:off x="1771888" y="212633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Lure Creation</a:t>
            </a:r>
            <a:endParaRPr b="0" i="0" sz="1650" u="none" cap="none" strike="noStrike"/>
          </a:p>
        </p:txBody>
      </p:sp>
      <p:sp>
        <p:nvSpPr>
          <p:cNvPr id="237" name="Google Shape;237;p21"/>
          <p:cNvSpPr/>
          <p:nvPr/>
        </p:nvSpPr>
        <p:spPr>
          <a:xfrm>
            <a:off x="1771888" y="2468523"/>
            <a:ext cx="120647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Deceptive message crafted</a:t>
            </a:r>
            <a:endParaRPr b="0" i="0" sz="1300" u="none" cap="none" strike="noStrike"/>
          </a:p>
        </p:txBody>
      </p:sp>
      <p:pic>
        <p:nvPicPr>
          <p:cNvPr descr="preencoded.png"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977039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/>
          <p:nvPr/>
        </p:nvSpPr>
        <p:spPr>
          <a:xfrm>
            <a:off x="1771888" y="3147060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Message Delivery</a:t>
            </a:r>
            <a:endParaRPr b="0" i="0" sz="1650" u="none" cap="none" strike="noStrike"/>
          </a:p>
        </p:txBody>
      </p:sp>
      <p:sp>
        <p:nvSpPr>
          <p:cNvPr id="240" name="Google Shape;240;p21"/>
          <p:cNvSpPr/>
          <p:nvPr/>
        </p:nvSpPr>
        <p:spPr>
          <a:xfrm>
            <a:off x="1771888" y="3489246"/>
            <a:ext cx="120647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Email, SMS, or voice sent</a:t>
            </a:r>
            <a:endParaRPr b="0" i="0" sz="1300" u="none" cap="none" strike="noStrike"/>
          </a:p>
        </p:txBody>
      </p:sp>
      <p:pic>
        <p:nvPicPr>
          <p:cNvPr descr="preencoded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997762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/>
          <p:nvPr/>
        </p:nvSpPr>
        <p:spPr>
          <a:xfrm>
            <a:off x="1771888" y="4167783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User Response</a:t>
            </a:r>
            <a:endParaRPr b="0" i="0" sz="165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1771888" y="4509968"/>
            <a:ext cx="120647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Click or credential entry</a:t>
            </a:r>
            <a:endParaRPr b="0" i="0" sz="1300" u="none" cap="none" strike="noStrike"/>
          </a:p>
        </p:txBody>
      </p:sp>
      <p:pic>
        <p:nvPicPr>
          <p:cNvPr descr="preencoded.png" id="244" name="Google Shape;24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018484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/>
          <p:nvPr/>
        </p:nvSpPr>
        <p:spPr>
          <a:xfrm>
            <a:off x="1771888" y="5188506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Compromise</a:t>
            </a:r>
            <a:endParaRPr b="0" i="0" sz="1650" u="none" cap="none" strike="noStrike"/>
          </a:p>
        </p:txBody>
      </p:sp>
      <p:sp>
        <p:nvSpPr>
          <p:cNvPr id="246" name="Google Shape;246;p21"/>
          <p:cNvSpPr/>
          <p:nvPr/>
        </p:nvSpPr>
        <p:spPr>
          <a:xfrm>
            <a:off x="1771888" y="5530691"/>
            <a:ext cx="120647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Credential or session theft</a:t>
            </a:r>
            <a:endParaRPr b="0" i="0" sz="1300" u="none" cap="none" strike="noStrike"/>
          </a:p>
        </p:txBody>
      </p:sp>
      <p:pic>
        <p:nvPicPr>
          <p:cNvPr descr="preencoded.png" id="247" name="Google Shape;2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6039207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1771888" y="6209228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Exploitation</a:t>
            </a:r>
            <a:endParaRPr b="0" i="0" sz="1650" u="none" cap="none" strike="noStrike"/>
          </a:p>
        </p:txBody>
      </p:sp>
      <p:sp>
        <p:nvSpPr>
          <p:cNvPr id="249" name="Google Shape;249;p21"/>
          <p:cNvSpPr/>
          <p:nvPr/>
        </p:nvSpPr>
        <p:spPr>
          <a:xfrm>
            <a:off x="1771888" y="6551414"/>
            <a:ext cx="120647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Fraud, data theft, lateral movement</a:t>
            </a:r>
            <a:endParaRPr b="0" i="0" sz="1300" u="none" cap="none" strike="noStrike"/>
          </a:p>
        </p:txBody>
      </p:sp>
      <p:sp>
        <p:nvSpPr>
          <p:cNvPr id="250" name="Google Shape;250;p21"/>
          <p:cNvSpPr/>
          <p:nvPr/>
        </p:nvSpPr>
        <p:spPr>
          <a:xfrm>
            <a:off x="793790" y="7245422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1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FI, 2024; Verizon, 2025</a:t>
            </a:r>
            <a:endParaRPr b="0" i="0" sz="1300" u="none" cap="none" strike="noStrike"/>
          </a:p>
        </p:txBody>
      </p:sp>
      <p:sp>
        <p:nvSpPr>
          <p:cNvPr id="251" name="Google Shape;251;p21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0749" y="0"/>
            <a:ext cx="7099649" cy="8279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793790" y="705803"/>
            <a:ext cx="834235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200"/>
              <a:buFont typeface="Gelasio"/>
              <a:buNone/>
            </a:pP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Customer</a:t>
            </a:r>
            <a:r>
              <a:rPr lang="en-US" sz="42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Targeted Phishing Lures</a:t>
            </a:r>
            <a:endParaRPr b="0" i="0" sz="4200" u="none" cap="none" strike="noStrike"/>
          </a:p>
        </p:txBody>
      </p:sp>
      <p:sp>
        <p:nvSpPr>
          <p:cNvPr id="259" name="Google Shape;259;p22"/>
          <p:cNvSpPr/>
          <p:nvPr/>
        </p:nvSpPr>
        <p:spPr>
          <a:xfrm>
            <a:off x="793790" y="1788557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Common deceptive messages in online pharmacy operations</a:t>
            </a:r>
            <a:endParaRPr b="0" i="0" sz="1650" u="none" cap="none" strike="noStrike"/>
          </a:p>
        </p:txBody>
      </p:sp>
      <p:pic>
        <p:nvPicPr>
          <p:cNvPr descr="preencoded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54937"/>
            <a:ext cx="6419017" cy="1025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1009174" y="2570321"/>
            <a:ext cx="598824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"Your refill is delayed."</a:t>
            </a:r>
            <a:endParaRPr b="0" i="0" sz="1650" u="none" cap="none" strike="noStrike"/>
          </a:p>
        </p:txBody>
      </p:sp>
      <p:pic>
        <p:nvPicPr>
          <p:cNvPr descr="preencoded.png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7475" y="2354937"/>
            <a:ext cx="6419136" cy="1025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/>
          <p:nvPr/>
        </p:nvSpPr>
        <p:spPr>
          <a:xfrm>
            <a:off x="7632859" y="2570321"/>
            <a:ext cx="598836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"Payment failed for your prescription."</a:t>
            </a:r>
            <a:endParaRPr b="0" i="0" sz="1650" u="none" cap="none" strike="noStrike"/>
          </a:p>
        </p:txBody>
      </p:sp>
      <p:pic>
        <p:nvPicPr>
          <p:cNvPr descr="preencoded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585091"/>
            <a:ext cx="6419017" cy="1025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/>
          <p:nvPr/>
        </p:nvSpPr>
        <p:spPr>
          <a:xfrm>
            <a:off x="1009174" y="3800475"/>
            <a:ext cx="598824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"Verify insurance to continue order."</a:t>
            </a:r>
            <a:endParaRPr b="0" i="0" sz="1650" u="none" cap="none" strike="noStrike"/>
          </a:p>
        </p:txBody>
      </p:sp>
      <p:pic>
        <p:nvPicPr>
          <p:cNvPr descr="preencoded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7475" y="3585091"/>
            <a:ext cx="6419136" cy="1025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/>
          <p:nvPr/>
        </p:nvSpPr>
        <p:spPr>
          <a:xfrm>
            <a:off x="7632859" y="3800475"/>
            <a:ext cx="598836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"Controlled medication confirmation required."</a:t>
            </a:r>
            <a:endParaRPr b="0" i="0" sz="1650" u="none" cap="none" strike="noStrike"/>
          </a:p>
        </p:txBody>
      </p:sp>
      <p:pic>
        <p:nvPicPr>
          <p:cNvPr descr="preencoded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4815245"/>
            <a:ext cx="6419017" cy="1025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>
            <a:off x="1009174" y="5030629"/>
            <a:ext cx="598824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"Delivery address issue."</a:t>
            </a:r>
            <a:endParaRPr b="0" i="0" sz="1650" u="none" cap="none" strike="noStrike"/>
          </a:p>
        </p:txBody>
      </p:sp>
      <p:pic>
        <p:nvPicPr>
          <p:cNvPr descr="preencoded.png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7475" y="4815245"/>
            <a:ext cx="6419136" cy="102548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/>
          <p:nvPr/>
        </p:nvSpPr>
        <p:spPr>
          <a:xfrm>
            <a:off x="7632859" y="5030629"/>
            <a:ext cx="5988368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"Upload prescription again."</a:t>
            </a:r>
            <a:endParaRPr b="0" i="0" sz="1650" u="none" cap="none" strike="noStrike"/>
          </a:p>
        </p:txBody>
      </p:sp>
      <p:sp>
        <p:nvSpPr>
          <p:cNvPr id="272" name="Google Shape;272;p22"/>
          <p:cNvSpPr/>
          <p:nvPr/>
        </p:nvSpPr>
        <p:spPr>
          <a:xfrm>
            <a:off x="793790" y="6070997"/>
            <a:ext cx="13042821" cy="886420"/>
          </a:xfrm>
          <a:prstGeom prst="roundRect">
            <a:avLst>
              <a:gd fmla="val 3646" name="adj"/>
            </a:avLst>
          </a:prstGeom>
          <a:solidFill>
            <a:srgbClr val="3322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174" y="6380321"/>
            <a:ext cx="269319" cy="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/>
          <p:nvPr/>
        </p:nvSpPr>
        <p:spPr>
          <a:xfrm>
            <a:off x="1493877" y="6329482"/>
            <a:ext cx="12127349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Gelasio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Illustrative examples based on observed phishing patterns. Not actual messages.</a:t>
            </a:r>
            <a:endParaRPr b="0" i="0" sz="1650" u="none" cap="none" strike="noStrike"/>
          </a:p>
        </p:txBody>
      </p:sp>
      <p:sp>
        <p:nvSpPr>
          <p:cNvPr id="275" name="Google Shape;275;p22"/>
          <p:cNvSpPr/>
          <p:nvPr/>
        </p:nvSpPr>
        <p:spPr>
          <a:xfrm>
            <a:off x="793790" y="7187684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1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FBI, 2024; HHS, 2026</a:t>
            </a:r>
            <a:endParaRPr b="0" i="0" sz="1650" u="none" cap="none" strike="noStrike"/>
          </a:p>
        </p:txBody>
      </p:sp>
      <p:sp>
        <p:nvSpPr>
          <p:cNvPr id="276" name="Google Shape;276;p22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793790" y="666155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Employee</a:t>
            </a:r>
            <a:r>
              <a:rPr lang="en-US" sz="445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Targeted Phishing Lures</a:t>
            </a:r>
            <a:endParaRPr b="0" i="0" sz="4450" u="none" cap="none" strike="noStrike"/>
          </a:p>
        </p:txBody>
      </p:sp>
      <p:sp>
        <p:nvSpPr>
          <p:cNvPr id="285" name="Google Shape;285;p23"/>
          <p:cNvSpPr/>
          <p:nvPr/>
        </p:nvSpPr>
        <p:spPr>
          <a:xfrm>
            <a:off x="793790" y="2423874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Internal attack surfaces expanding across operational and corporate functions</a:t>
            </a:r>
            <a:endParaRPr b="0" i="0" sz="1750" u="none" cap="none" strike="noStrike"/>
          </a:p>
        </p:txBody>
      </p:sp>
      <p:sp>
        <p:nvSpPr>
          <p:cNvPr id="286" name="Google Shape;286;p23"/>
          <p:cNvSpPr/>
          <p:nvPr/>
        </p:nvSpPr>
        <p:spPr>
          <a:xfrm>
            <a:off x="793790" y="3631644"/>
            <a:ext cx="2892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Operational Staff Risks</a:t>
            </a:r>
            <a:endParaRPr b="0" i="0" sz="2200" u="none" cap="none" strike="noStrike"/>
          </a:p>
        </p:txBody>
      </p:sp>
      <p:sp>
        <p:nvSpPr>
          <p:cNvPr id="287" name="Google Shape;287;p23"/>
          <p:cNvSpPr/>
          <p:nvPr/>
        </p:nvSpPr>
        <p:spPr>
          <a:xfrm>
            <a:off x="793790" y="4212788"/>
            <a:ext cx="35016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Supplier invoice scams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IT password reset requests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Courier/vendor escalations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PBM portal updates</a:t>
            </a:r>
            <a:endParaRPr b="0" i="0" sz="1750" u="none" cap="none" strike="noStrike"/>
          </a:p>
        </p:txBody>
      </p:sp>
      <p:sp>
        <p:nvSpPr>
          <p:cNvPr id="288" name="Google Shape;288;p23"/>
          <p:cNvSpPr/>
          <p:nvPr/>
        </p:nvSpPr>
        <p:spPr>
          <a:xfrm>
            <a:off x="4856321" y="3631644"/>
            <a:ext cx="313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Corporate/Finance Risks</a:t>
            </a:r>
            <a:endParaRPr b="0" i="0" sz="2200" u="none" cap="none" strike="noStrike"/>
          </a:p>
        </p:txBody>
      </p:sp>
      <p:sp>
        <p:nvSpPr>
          <p:cNvPr id="289" name="Google Shape;289;p23"/>
          <p:cNvSpPr/>
          <p:nvPr/>
        </p:nvSpPr>
        <p:spPr>
          <a:xfrm>
            <a:off x="4856321" y="4212788"/>
            <a:ext cx="35016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HR document fraud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Executive payment requests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Compliance audit notices</a:t>
            </a:r>
            <a:endParaRPr b="0" i="0" sz="1750" u="none" cap="none" strike="noStrike"/>
          </a:p>
        </p:txBody>
      </p:sp>
      <p:sp>
        <p:nvSpPr>
          <p:cNvPr id="290" name="Google Shape;290;p23"/>
          <p:cNvSpPr/>
          <p:nvPr/>
        </p:nvSpPr>
        <p:spPr>
          <a:xfrm>
            <a:off x="793790" y="6236732"/>
            <a:ext cx="7556400" cy="1326600"/>
          </a:xfrm>
          <a:prstGeom prst="roundRect">
            <a:avLst>
              <a:gd fmla="val 2565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1069088" y="6520220"/>
            <a:ext cx="6592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FBI Internet Crime Report, 2024; Verizon Data Breach Investigations Report, 2025</a:t>
            </a:r>
            <a:endParaRPr b="0" i="0" sz="1750" u="none" cap="none" strike="noStrike"/>
          </a:p>
        </p:txBody>
      </p:sp>
      <p:pic>
        <p:nvPicPr>
          <p:cNvPr id="292" name="Google Shape;292;p23"/>
          <p:cNvPicPr preferRelativeResize="0"/>
          <p:nvPr/>
        </p:nvPicPr>
        <p:blipFill rotWithShape="1">
          <a:blip r:embed="rId4">
            <a:alphaModFix/>
          </a:blip>
          <a:srcRect b="0" l="25627" r="5053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/>
          <p:nvPr/>
        </p:nvSpPr>
        <p:spPr>
          <a:xfrm>
            <a:off x="781407" y="673775"/>
            <a:ext cx="113994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150"/>
              <a:buFont typeface="Gelasio"/>
              <a:buNone/>
            </a:pPr>
            <a:r>
              <a:rPr b="0" i="0" lang="en-US" sz="41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How Generative AI Changes Attacker Economics</a:t>
            </a:r>
            <a:endParaRPr b="0" i="0" sz="4150" u="none" cap="none" strike="noStrike"/>
          </a:p>
        </p:txBody>
      </p:sp>
      <p:sp>
        <p:nvSpPr>
          <p:cNvPr id="299" name="Google Shape;299;p24"/>
          <p:cNvSpPr/>
          <p:nvPr/>
        </p:nvSpPr>
        <p:spPr>
          <a:xfrm>
            <a:off x="781407" y="1733312"/>
            <a:ext cx="13067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enables criminals to produce polished, personalized attacks at scale</a:t>
            </a:r>
            <a:r>
              <a:rPr lang="en-US" sz="16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which </a:t>
            </a: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mak</a:t>
            </a:r>
            <a:r>
              <a:rPr lang="en-US" sz="16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es</a:t>
            </a: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traditional filters ineffective</a:t>
            </a:r>
            <a:endParaRPr b="0" i="0" sz="1650" u="none" cap="none" strike="noStrike"/>
          </a:p>
        </p:txBody>
      </p:sp>
      <p:sp>
        <p:nvSpPr>
          <p:cNvPr id="300" name="Google Shape;300;p24"/>
          <p:cNvSpPr/>
          <p:nvPr/>
        </p:nvSpPr>
        <p:spPr>
          <a:xfrm>
            <a:off x="781407" y="2284809"/>
            <a:ext cx="4223700" cy="2037300"/>
          </a:xfrm>
          <a:prstGeom prst="roundRect">
            <a:avLst>
              <a:gd fmla="val 156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993458" y="2496860"/>
            <a:ext cx="636300" cy="636300"/>
          </a:xfrm>
          <a:prstGeom prst="roundRect">
            <a:avLst>
              <a:gd fmla="val 14369820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360" y="2671763"/>
            <a:ext cx="286345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/>
          <p:nvPr/>
        </p:nvSpPr>
        <p:spPr>
          <a:xfrm>
            <a:off x="993458" y="3331488"/>
            <a:ext cx="2651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Polished Messages</a:t>
            </a:r>
            <a:endParaRPr b="0" i="0" sz="2050" u="none" cap="none" strike="noStrike"/>
          </a:p>
        </p:txBody>
      </p:sp>
      <p:sp>
        <p:nvSpPr>
          <p:cNvPr id="304" name="Google Shape;304;p24"/>
          <p:cNvSpPr/>
          <p:nvPr/>
        </p:nvSpPr>
        <p:spPr>
          <a:xfrm>
            <a:off x="993458" y="3781782"/>
            <a:ext cx="3799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 grammar errors, professional tone</a:t>
            </a:r>
            <a:endParaRPr b="0" i="0" sz="1650" u="none" cap="none" strike="noStrike"/>
          </a:p>
        </p:txBody>
      </p:sp>
      <p:sp>
        <p:nvSpPr>
          <p:cNvPr id="305" name="Google Shape;305;p24"/>
          <p:cNvSpPr/>
          <p:nvPr/>
        </p:nvSpPr>
        <p:spPr>
          <a:xfrm>
            <a:off x="5203388" y="2284809"/>
            <a:ext cx="4223700" cy="2037300"/>
          </a:xfrm>
          <a:prstGeom prst="roundRect">
            <a:avLst>
              <a:gd fmla="val 156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5415439" y="2496860"/>
            <a:ext cx="636300" cy="636300"/>
          </a:xfrm>
          <a:prstGeom prst="roundRect">
            <a:avLst>
              <a:gd fmla="val 14369820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0342" y="2671763"/>
            <a:ext cx="286345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/>
          <p:nvPr/>
        </p:nvSpPr>
        <p:spPr>
          <a:xfrm>
            <a:off x="5415439" y="3331488"/>
            <a:ext cx="2651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Personalized Lures</a:t>
            </a:r>
            <a:endParaRPr b="0" i="0" sz="2050" u="none" cap="none" strike="noStrike"/>
          </a:p>
        </p:txBody>
      </p:sp>
      <p:sp>
        <p:nvSpPr>
          <p:cNvPr id="309" name="Google Shape;309;p24"/>
          <p:cNvSpPr/>
          <p:nvPr/>
        </p:nvSpPr>
        <p:spPr>
          <a:xfrm>
            <a:off x="5415439" y="3781782"/>
            <a:ext cx="3799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Using public or breached data</a:t>
            </a:r>
            <a:endParaRPr b="0" i="0" sz="1650" u="none" cap="none" strike="noStrike"/>
          </a:p>
        </p:txBody>
      </p:sp>
      <p:sp>
        <p:nvSpPr>
          <p:cNvPr id="310" name="Google Shape;310;p24"/>
          <p:cNvSpPr/>
          <p:nvPr/>
        </p:nvSpPr>
        <p:spPr>
          <a:xfrm>
            <a:off x="9625370" y="2284809"/>
            <a:ext cx="4223700" cy="2037300"/>
          </a:xfrm>
          <a:prstGeom prst="roundRect">
            <a:avLst>
              <a:gd fmla="val 156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9837420" y="2496860"/>
            <a:ext cx="636300" cy="636300"/>
          </a:xfrm>
          <a:prstGeom prst="roundRect">
            <a:avLst>
              <a:gd fmla="val 14369820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2323" y="2671763"/>
            <a:ext cx="286345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/>
          <p:nvPr/>
        </p:nvSpPr>
        <p:spPr>
          <a:xfrm>
            <a:off x="9837420" y="3331488"/>
            <a:ext cx="2811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</a:t>
            </a:r>
            <a:r>
              <a:rPr lang="en-US" sz="20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Language Attacks</a:t>
            </a:r>
            <a:endParaRPr b="0" i="0" sz="2050" u="none" cap="none" strike="noStrike"/>
          </a:p>
        </p:txBody>
      </p:sp>
      <p:sp>
        <p:nvSpPr>
          <p:cNvPr id="314" name="Google Shape;314;p24"/>
          <p:cNvSpPr/>
          <p:nvPr/>
        </p:nvSpPr>
        <p:spPr>
          <a:xfrm>
            <a:off x="9837420" y="3781782"/>
            <a:ext cx="3799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Translated across regions instantly</a:t>
            </a:r>
            <a:endParaRPr b="0" i="0" sz="1650" u="none" cap="none" strike="noStrike"/>
          </a:p>
        </p:txBody>
      </p:sp>
      <p:sp>
        <p:nvSpPr>
          <p:cNvPr id="315" name="Google Shape;315;p24"/>
          <p:cNvSpPr/>
          <p:nvPr/>
        </p:nvSpPr>
        <p:spPr>
          <a:xfrm>
            <a:off x="781407" y="4520565"/>
            <a:ext cx="6434700" cy="2037300"/>
          </a:xfrm>
          <a:prstGeom prst="roundRect">
            <a:avLst>
              <a:gd fmla="val 156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993458" y="4732615"/>
            <a:ext cx="636300" cy="636300"/>
          </a:xfrm>
          <a:prstGeom prst="roundRect">
            <a:avLst>
              <a:gd fmla="val 14369820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8360" y="4907518"/>
            <a:ext cx="286345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/>
          <p:nvPr/>
        </p:nvSpPr>
        <p:spPr>
          <a:xfrm>
            <a:off x="993458" y="5567243"/>
            <a:ext cx="2651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Realistic Scripts</a:t>
            </a:r>
            <a:endParaRPr b="0" i="0" sz="2050" u="none" cap="none" strike="noStrike"/>
          </a:p>
        </p:txBody>
      </p:sp>
      <p:sp>
        <p:nvSpPr>
          <p:cNvPr id="319" name="Google Shape;319;p24"/>
          <p:cNvSpPr/>
          <p:nvPr/>
        </p:nvSpPr>
        <p:spPr>
          <a:xfrm>
            <a:off x="993458" y="6017538"/>
            <a:ext cx="601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Support scripts generated rapidly</a:t>
            </a:r>
            <a:endParaRPr b="0" i="0" sz="1650" u="none" cap="none" strike="noStrike"/>
          </a:p>
        </p:txBody>
      </p:sp>
      <p:sp>
        <p:nvSpPr>
          <p:cNvPr id="320" name="Google Shape;320;p24"/>
          <p:cNvSpPr/>
          <p:nvPr/>
        </p:nvSpPr>
        <p:spPr>
          <a:xfrm>
            <a:off x="7414379" y="4520565"/>
            <a:ext cx="6434700" cy="2037300"/>
          </a:xfrm>
          <a:prstGeom prst="roundRect">
            <a:avLst>
              <a:gd fmla="val 156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7626429" y="4732615"/>
            <a:ext cx="636300" cy="636300"/>
          </a:xfrm>
          <a:prstGeom prst="roundRect">
            <a:avLst>
              <a:gd fmla="val 14369820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01332" y="4907518"/>
            <a:ext cx="286345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/>
          <p:nvPr/>
        </p:nvSpPr>
        <p:spPr>
          <a:xfrm>
            <a:off x="7626429" y="5567243"/>
            <a:ext cx="2651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Filter Evasion</a:t>
            </a:r>
            <a:endParaRPr b="0" i="0" sz="2050" u="none" cap="none" strike="noStrike"/>
          </a:p>
        </p:txBody>
      </p:sp>
      <p:sp>
        <p:nvSpPr>
          <p:cNvPr id="324" name="Google Shape;324;p24"/>
          <p:cNvSpPr/>
          <p:nvPr/>
        </p:nvSpPr>
        <p:spPr>
          <a:xfrm>
            <a:off x="7626429" y="6017538"/>
            <a:ext cx="6010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Rapid variations to bypass filters</a:t>
            </a:r>
            <a:endParaRPr b="0" i="0" sz="1650" u="none" cap="none" strike="noStrike"/>
          </a:p>
        </p:txBody>
      </p:sp>
      <p:sp>
        <p:nvSpPr>
          <p:cNvPr id="325" name="Google Shape;325;p24"/>
          <p:cNvSpPr/>
          <p:nvPr/>
        </p:nvSpPr>
        <p:spPr>
          <a:xfrm>
            <a:off x="1099542" y="7004209"/>
            <a:ext cx="12749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"Criminals use generative artificial intelligence to facilitate financial fraud"</a:t>
            </a:r>
            <a:r>
              <a:rPr lang="en-US" sz="16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- </a:t>
            </a: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FBI, 2024</a:t>
            </a:r>
            <a:endParaRPr b="0" i="0" sz="1650" u="none" cap="none" strike="noStrike"/>
          </a:p>
        </p:txBody>
      </p:sp>
      <p:sp>
        <p:nvSpPr>
          <p:cNvPr id="326" name="Google Shape;326;p24"/>
          <p:cNvSpPr/>
          <p:nvPr/>
        </p:nvSpPr>
        <p:spPr>
          <a:xfrm>
            <a:off x="781407" y="6781086"/>
            <a:ext cx="22800" cy="7746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/>
          <p:nvPr/>
        </p:nvSpPr>
        <p:spPr>
          <a:xfrm>
            <a:off x="793790" y="789980"/>
            <a:ext cx="91995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Multichannel Phishing: The New Default</a:t>
            </a:r>
            <a:endParaRPr b="0" i="0" sz="4000" u="none" cap="none" strike="noStrike"/>
          </a:p>
        </p:txBody>
      </p:sp>
      <p:sp>
        <p:nvSpPr>
          <p:cNvPr id="334" name="Google Shape;334;p25"/>
          <p:cNvSpPr/>
          <p:nvPr/>
        </p:nvSpPr>
        <p:spPr>
          <a:xfrm>
            <a:off x="793790" y="1795343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Attackers no longer rely on email alone</a:t>
            </a:r>
            <a:r>
              <a:rPr lang="en-US" sz="16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: </a:t>
            </a: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threats span every communication channel</a:t>
            </a:r>
            <a:endParaRPr b="0" i="0" sz="1600" u="none" cap="none" strike="noStrike"/>
          </a:p>
        </p:txBody>
      </p:sp>
      <p:sp>
        <p:nvSpPr>
          <p:cNvPr id="335" name="Google Shape;335;p25"/>
          <p:cNvSpPr/>
          <p:nvPr/>
        </p:nvSpPr>
        <p:spPr>
          <a:xfrm>
            <a:off x="2505144" y="2657980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Email</a:t>
            </a:r>
            <a:endParaRPr b="0" i="0" sz="2000" u="none" cap="none" strike="noStrike"/>
          </a:p>
        </p:txBody>
      </p:sp>
      <p:pic>
        <p:nvPicPr>
          <p:cNvPr descr="preencoded.png" id="336" name="Google Shape;3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424" y="2968347"/>
            <a:ext cx="305395" cy="30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/>
          <p:nvPr/>
        </p:nvSpPr>
        <p:spPr>
          <a:xfrm>
            <a:off x="9573458" y="2735580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SMS</a:t>
            </a:r>
            <a:endParaRPr b="0" i="0" sz="2000" u="none" cap="none" strike="noStrike"/>
          </a:p>
        </p:txBody>
      </p:sp>
      <p:pic>
        <p:nvPicPr>
          <p:cNvPr descr="preencoded.png" id="339" name="Google Shape;33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342" y="2968347"/>
            <a:ext cx="305395" cy="30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5"/>
          <p:cNvSpPr/>
          <p:nvPr/>
        </p:nvSpPr>
        <p:spPr>
          <a:xfrm>
            <a:off x="9777651" y="4207073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Voice Calls</a:t>
            </a:r>
            <a:endParaRPr b="0" i="0" sz="2000" u="none" cap="none" strike="noStrike"/>
          </a:p>
        </p:txBody>
      </p:sp>
      <p:pic>
        <p:nvPicPr>
          <p:cNvPr descr="preencoded.png" id="342" name="Google Shape;34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00361" y="4213741"/>
            <a:ext cx="305395" cy="30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5"/>
          <p:cNvSpPr/>
          <p:nvPr/>
        </p:nvSpPr>
        <p:spPr>
          <a:xfrm>
            <a:off x="9573458" y="5678567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QR Codes</a:t>
            </a:r>
            <a:endParaRPr b="0" i="0" sz="2000" u="none" cap="none" strike="noStrike"/>
          </a:p>
        </p:txBody>
      </p:sp>
      <p:pic>
        <p:nvPicPr>
          <p:cNvPr descr="preencoded.png" id="345" name="Google Shape;34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81342" y="5459016"/>
            <a:ext cx="305395" cy="30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/>
          <p:nvPr/>
        </p:nvSpPr>
        <p:spPr>
          <a:xfrm>
            <a:off x="2505194" y="5678567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Web Chat</a:t>
            </a:r>
            <a:endParaRPr b="0" i="0" sz="2000" u="none" cap="none" strike="noStrike"/>
          </a:p>
        </p:txBody>
      </p:sp>
      <p:pic>
        <p:nvPicPr>
          <p:cNvPr descr="preencoded.png" id="348" name="Google Shape;34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3424" y="5459016"/>
            <a:ext cx="305395" cy="30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5"/>
          <p:cNvSpPr/>
          <p:nvPr/>
        </p:nvSpPr>
        <p:spPr>
          <a:xfrm>
            <a:off x="2301002" y="4207073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Spoofed Portals</a:t>
            </a:r>
            <a:endParaRPr b="0" i="0" sz="2000" u="none" cap="none" strike="noStrike"/>
          </a:p>
        </p:txBody>
      </p:sp>
      <p:pic>
        <p:nvPicPr>
          <p:cNvPr descr="preencoded.png" id="351" name="Google Shape;351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24406" y="4213741"/>
            <a:ext cx="305395" cy="30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5"/>
          <p:cNvSpPr/>
          <p:nvPr/>
        </p:nvSpPr>
        <p:spPr>
          <a:xfrm>
            <a:off x="793790" y="6888636"/>
            <a:ext cx="13042800" cy="812100"/>
          </a:xfrm>
          <a:prstGeom prst="roundRect">
            <a:avLst>
              <a:gd fmla="val 3770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97863" y="7178434"/>
            <a:ext cx="255151" cy="20407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/>
          <p:nvPr/>
        </p:nvSpPr>
        <p:spPr>
          <a:xfrm>
            <a:off x="1457087" y="7123308"/>
            <a:ext cx="12175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FBI Internet Crime Report, 2024; OWASP Top 10, 2025</a:t>
            </a:r>
            <a:endParaRPr b="0" i="0" sz="1600" u="none" cap="none" strike="noStrike"/>
          </a:p>
        </p:txBody>
      </p:sp>
      <p:sp>
        <p:nvSpPr>
          <p:cNvPr id="356" name="Google Shape;356;p25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/>
          <p:nvPr/>
        </p:nvSpPr>
        <p:spPr>
          <a:xfrm>
            <a:off x="793801" y="915125"/>
            <a:ext cx="86268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200"/>
              <a:buFont typeface="Gelasio"/>
              <a:buNone/>
            </a:pPr>
            <a:r>
              <a:rPr b="0" i="0" lang="en-US" sz="4200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Deep</a:t>
            </a:r>
            <a:r>
              <a:rPr lang="en-US" sz="42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-</a:t>
            </a:r>
            <a:r>
              <a:rPr b="0" i="0" lang="en-US" sz="4200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fake </a:t>
            </a: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and Voice</a:t>
            </a:r>
            <a:r>
              <a:rPr lang="en-US" sz="42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Cloning Risk</a:t>
            </a:r>
            <a:endParaRPr b="0" i="0" sz="4200" u="none" cap="none" strike="noStrike"/>
          </a:p>
        </p:txBody>
      </p:sp>
      <p:sp>
        <p:nvSpPr>
          <p:cNvPr id="363" name="Google Shape;363;p26"/>
          <p:cNvSpPr/>
          <p:nvPr/>
        </p:nvSpPr>
        <p:spPr>
          <a:xfrm>
            <a:off x="793790" y="1670328"/>
            <a:ext cx="54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350"/>
              <a:buFont typeface="Gelasio"/>
              <a:buNone/>
            </a:pPr>
            <a:r>
              <a:rPr b="0" i="0" lang="en-US" sz="33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Call Center Threat Scenarios</a:t>
            </a:r>
            <a:endParaRPr b="0" i="0" sz="3350" u="none" cap="none" strike="noStrike"/>
          </a:p>
        </p:txBody>
      </p:sp>
      <p:sp>
        <p:nvSpPr>
          <p:cNvPr id="364" name="Google Shape;364;p26"/>
          <p:cNvSpPr/>
          <p:nvPr/>
        </p:nvSpPr>
        <p:spPr>
          <a:xfrm>
            <a:off x="793790" y="2516148"/>
            <a:ext cx="13042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</a:t>
            </a:r>
            <a:r>
              <a:rPr lang="en-US" sz="16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generated voices enable sophisticated social engineering against helpdesk and customer support</a:t>
            </a:r>
            <a:endParaRPr b="0" i="0" sz="1650" u="none" cap="none" strike="noStrike"/>
          </a:p>
        </p:txBody>
      </p:sp>
      <p:sp>
        <p:nvSpPr>
          <p:cNvPr id="365" name="Google Shape;365;p26"/>
          <p:cNvSpPr/>
          <p:nvPr/>
        </p:nvSpPr>
        <p:spPr>
          <a:xfrm>
            <a:off x="793780" y="3082525"/>
            <a:ext cx="4211100" cy="1410600"/>
          </a:xfrm>
          <a:prstGeom prst="roundRect">
            <a:avLst>
              <a:gd fmla="val 9013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763300" y="3082525"/>
            <a:ext cx="121800" cy="1410600"/>
          </a:xfrm>
          <a:prstGeom prst="roundRect">
            <a:avLst>
              <a:gd fmla="val 26512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1131094" y="3328392"/>
            <a:ext cx="3589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Fake Executive Approval Calls</a:t>
            </a:r>
            <a:endParaRPr b="0" i="0" sz="2100" u="none" cap="none" strike="noStrike"/>
          </a:p>
        </p:txBody>
      </p:sp>
      <p:sp>
        <p:nvSpPr>
          <p:cNvPr id="368" name="Google Shape;368;p26"/>
          <p:cNvSpPr/>
          <p:nvPr/>
        </p:nvSpPr>
        <p:spPr>
          <a:xfrm>
            <a:off x="1131091" y="3695375"/>
            <a:ext cx="37752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Urgent payment authorization requests</a:t>
            </a:r>
            <a:endParaRPr b="0" i="0" sz="1650" u="none" cap="none" strike="noStrike"/>
          </a:p>
        </p:txBody>
      </p:sp>
      <p:sp>
        <p:nvSpPr>
          <p:cNvPr id="369" name="Google Shape;369;p26"/>
          <p:cNvSpPr/>
          <p:nvPr/>
        </p:nvSpPr>
        <p:spPr>
          <a:xfrm>
            <a:off x="5209575" y="3082525"/>
            <a:ext cx="4211100" cy="1410600"/>
          </a:xfrm>
          <a:prstGeom prst="roundRect">
            <a:avLst>
              <a:gd fmla="val 9013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5179095" y="3082525"/>
            <a:ext cx="121800" cy="1410600"/>
          </a:xfrm>
          <a:prstGeom prst="roundRect">
            <a:avLst>
              <a:gd fmla="val 26512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5546884" y="3328392"/>
            <a:ext cx="2857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Fake Pharmacy Support</a:t>
            </a:r>
            <a:endParaRPr b="0" i="0" sz="2100" u="none" cap="none" strike="noStrike"/>
          </a:p>
        </p:txBody>
      </p:sp>
      <p:sp>
        <p:nvSpPr>
          <p:cNvPr id="372" name="Google Shape;372;p26"/>
          <p:cNvSpPr/>
          <p:nvPr/>
        </p:nvSpPr>
        <p:spPr>
          <a:xfrm>
            <a:off x="5546884" y="3787735"/>
            <a:ext cx="3627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Medication or refill fraud</a:t>
            </a:r>
            <a:endParaRPr b="0" i="0" sz="1650" u="none" cap="none" strike="noStrike"/>
          </a:p>
        </p:txBody>
      </p:sp>
      <p:sp>
        <p:nvSpPr>
          <p:cNvPr id="373" name="Google Shape;373;p26"/>
          <p:cNvSpPr/>
          <p:nvPr/>
        </p:nvSpPr>
        <p:spPr>
          <a:xfrm>
            <a:off x="9625370" y="3082525"/>
            <a:ext cx="4211100" cy="1410600"/>
          </a:xfrm>
          <a:prstGeom prst="roundRect">
            <a:avLst>
              <a:gd fmla="val 9013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9594890" y="3082525"/>
            <a:ext cx="121800" cy="1410600"/>
          </a:xfrm>
          <a:prstGeom prst="roundRect">
            <a:avLst>
              <a:gd fmla="val 26512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9962674" y="3328392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Voice</a:t>
            </a:r>
            <a:r>
              <a:rPr lang="en-US" sz="21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Cloned Patients</a:t>
            </a:r>
            <a:endParaRPr b="0" i="0" sz="2100" u="none" cap="none" strike="noStrike"/>
          </a:p>
        </p:txBody>
      </p:sp>
      <p:sp>
        <p:nvSpPr>
          <p:cNvPr id="376" name="Google Shape;376;p26"/>
          <p:cNvSpPr/>
          <p:nvPr/>
        </p:nvSpPr>
        <p:spPr>
          <a:xfrm>
            <a:off x="9962674" y="3787735"/>
            <a:ext cx="3627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Impersonation of caregivers</a:t>
            </a:r>
            <a:endParaRPr b="0" i="0" sz="1650" u="none" cap="none" strike="noStrike"/>
          </a:p>
        </p:txBody>
      </p:sp>
      <p:sp>
        <p:nvSpPr>
          <p:cNvPr id="377" name="Google Shape;377;p26"/>
          <p:cNvSpPr/>
          <p:nvPr/>
        </p:nvSpPr>
        <p:spPr>
          <a:xfrm>
            <a:off x="793790" y="4910495"/>
            <a:ext cx="4211100" cy="1287300"/>
          </a:xfrm>
          <a:prstGeom prst="roundRect">
            <a:avLst>
              <a:gd fmla="val 11366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763310" y="4910495"/>
            <a:ext cx="121800" cy="1287300"/>
          </a:xfrm>
          <a:prstGeom prst="roundRect">
            <a:avLst>
              <a:gd fmla="val 26512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1131094" y="5156359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Callback Fraud</a:t>
            </a:r>
            <a:endParaRPr b="0" i="0" sz="2100" u="none" cap="none" strike="noStrike"/>
          </a:p>
        </p:txBody>
      </p:sp>
      <p:sp>
        <p:nvSpPr>
          <p:cNvPr id="380" name="Google Shape;380;p26"/>
          <p:cNvSpPr/>
          <p:nvPr/>
        </p:nvSpPr>
        <p:spPr>
          <a:xfrm>
            <a:off x="1131094" y="5615702"/>
            <a:ext cx="3627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Exploiting trust after initial contact</a:t>
            </a:r>
            <a:endParaRPr b="0" i="0" sz="1650" u="none" cap="none" strike="noStrike"/>
          </a:p>
        </p:txBody>
      </p:sp>
      <p:sp>
        <p:nvSpPr>
          <p:cNvPr id="381" name="Google Shape;381;p26"/>
          <p:cNvSpPr/>
          <p:nvPr/>
        </p:nvSpPr>
        <p:spPr>
          <a:xfrm>
            <a:off x="5209580" y="4910495"/>
            <a:ext cx="4211100" cy="1287300"/>
          </a:xfrm>
          <a:prstGeom prst="roundRect">
            <a:avLst>
              <a:gd fmla="val 11366" name="adj"/>
            </a:avLst>
          </a:prstGeom>
          <a:solidFill>
            <a:srgbClr val="464342"/>
          </a:solidFill>
          <a:ln cap="flat" cmpd="sng" w="30475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5179100" y="4910495"/>
            <a:ext cx="121800" cy="1287300"/>
          </a:xfrm>
          <a:prstGeom prst="roundRect">
            <a:avLst>
              <a:gd fmla="val 26512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5546884" y="5156359"/>
            <a:ext cx="3420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Helpdesk Social Engineering</a:t>
            </a:r>
            <a:endParaRPr b="0" i="0" sz="2100" u="none" cap="none" strike="noStrike"/>
          </a:p>
        </p:txBody>
      </p:sp>
      <p:sp>
        <p:nvSpPr>
          <p:cNvPr id="384" name="Google Shape;384;p26"/>
          <p:cNvSpPr/>
          <p:nvPr/>
        </p:nvSpPr>
        <p:spPr>
          <a:xfrm>
            <a:off x="5546884" y="5615702"/>
            <a:ext cx="3627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Tricking agents into account access</a:t>
            </a:r>
            <a:endParaRPr b="0" i="0" sz="1650" u="none" cap="none" strike="noStrike"/>
          </a:p>
        </p:txBody>
      </p:sp>
      <p:sp>
        <p:nvSpPr>
          <p:cNvPr id="385" name="Google Shape;385;p26"/>
          <p:cNvSpPr/>
          <p:nvPr/>
        </p:nvSpPr>
        <p:spPr>
          <a:xfrm>
            <a:off x="793790" y="6704033"/>
            <a:ext cx="13042800" cy="886500"/>
          </a:xfrm>
          <a:prstGeom prst="roundRect">
            <a:avLst>
              <a:gd fmla="val 3646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74" y="7013358"/>
            <a:ext cx="269319" cy="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6"/>
          <p:cNvSpPr/>
          <p:nvPr/>
        </p:nvSpPr>
        <p:spPr>
          <a:xfrm>
            <a:off x="1493877" y="6962518"/>
            <a:ext cx="12127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FBI Internet Crime Report, 2024</a:t>
            </a:r>
            <a:endParaRPr b="0" i="0" sz="1650" u="none" cap="none" strike="noStrike"/>
          </a:p>
        </p:txBody>
      </p:sp>
      <p:sp>
        <p:nvSpPr>
          <p:cNvPr id="388" name="Google Shape;388;p26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"/>
          <p:cNvSpPr/>
          <p:nvPr/>
        </p:nvSpPr>
        <p:spPr>
          <a:xfrm>
            <a:off x="781407" y="688538"/>
            <a:ext cx="123264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150"/>
              <a:buFont typeface="Gelasio"/>
              <a:buNone/>
            </a:pPr>
            <a:r>
              <a:rPr b="0" i="0" lang="en-US" sz="41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Business Email Compromise and Payment Diversion</a:t>
            </a:r>
            <a:endParaRPr b="0" i="0" sz="4150" u="none" cap="none" strike="noStrike"/>
          </a:p>
        </p:txBody>
      </p:sp>
      <p:sp>
        <p:nvSpPr>
          <p:cNvPr id="395" name="Google Shape;395;p27"/>
          <p:cNvSpPr/>
          <p:nvPr/>
        </p:nvSpPr>
        <p:spPr>
          <a:xfrm>
            <a:off x="781407" y="1748076"/>
            <a:ext cx="13067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Financial fraud through compromised accounts and manipulated invoices</a:t>
            </a:r>
            <a:endParaRPr b="0" i="0" sz="1650" u="none" cap="none" strike="noStrike"/>
          </a:p>
        </p:txBody>
      </p:sp>
      <p:pic>
        <p:nvPicPr>
          <p:cNvPr descr="preencoded.png" id="396" name="Google Shape;3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07" y="2299573"/>
            <a:ext cx="4355783" cy="84843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7"/>
          <p:cNvSpPr/>
          <p:nvPr/>
        </p:nvSpPr>
        <p:spPr>
          <a:xfrm>
            <a:off x="993458" y="3346371"/>
            <a:ext cx="3471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Compromised Supplier Email</a:t>
            </a:r>
            <a:endParaRPr b="0" i="0" sz="2050" u="none" cap="none" strike="noStrike"/>
          </a:p>
        </p:txBody>
      </p:sp>
      <p:sp>
        <p:nvSpPr>
          <p:cNvPr id="398" name="Google Shape;398;p27"/>
          <p:cNvSpPr/>
          <p:nvPr/>
        </p:nvSpPr>
        <p:spPr>
          <a:xfrm>
            <a:off x="993458" y="3796665"/>
            <a:ext cx="39318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Account takeover or credential theft</a:t>
            </a:r>
            <a:endParaRPr b="0" i="0" sz="1650" u="none" cap="none" strike="noStrike"/>
          </a:p>
        </p:txBody>
      </p:sp>
      <p:pic>
        <p:nvPicPr>
          <p:cNvPr descr="preencoded.png" id="399" name="Google Shape;3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7190" y="2299573"/>
            <a:ext cx="4355903" cy="84843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7"/>
          <p:cNvSpPr/>
          <p:nvPr/>
        </p:nvSpPr>
        <p:spPr>
          <a:xfrm>
            <a:off x="5349240" y="3346371"/>
            <a:ext cx="2651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Fake Invoice</a:t>
            </a:r>
            <a:endParaRPr b="0" i="0" sz="2050" u="none" cap="none" strike="noStrike"/>
          </a:p>
        </p:txBody>
      </p:sp>
      <p:sp>
        <p:nvSpPr>
          <p:cNvPr id="401" name="Google Shape;401;p27"/>
          <p:cNvSpPr/>
          <p:nvPr/>
        </p:nvSpPr>
        <p:spPr>
          <a:xfrm>
            <a:off x="5349240" y="3796665"/>
            <a:ext cx="39318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Altered payment details sent</a:t>
            </a:r>
            <a:endParaRPr b="0" i="0" sz="1650" u="none" cap="none" strike="noStrike"/>
          </a:p>
        </p:txBody>
      </p:sp>
      <p:pic>
        <p:nvPicPr>
          <p:cNvPr descr="preencoded.png" id="402" name="Google Shape;4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3091" y="2299573"/>
            <a:ext cx="4355783" cy="84843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7"/>
          <p:cNvSpPr/>
          <p:nvPr/>
        </p:nvSpPr>
        <p:spPr>
          <a:xfrm>
            <a:off x="9705142" y="3346371"/>
            <a:ext cx="2651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50"/>
              <a:buFont typeface="Gelasio"/>
              <a:buNone/>
            </a:pPr>
            <a:r>
              <a:rPr b="0" i="0" lang="en-US" sz="20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Payment Redirection</a:t>
            </a:r>
            <a:endParaRPr b="0" i="0" sz="2050" u="none" cap="none" strike="noStrike"/>
          </a:p>
        </p:txBody>
      </p:sp>
      <p:sp>
        <p:nvSpPr>
          <p:cNvPr id="404" name="Google Shape;404;p27"/>
          <p:cNvSpPr/>
          <p:nvPr/>
        </p:nvSpPr>
        <p:spPr>
          <a:xfrm>
            <a:off x="9705142" y="3796665"/>
            <a:ext cx="39318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Funds sent to attacker accounts</a:t>
            </a:r>
            <a:endParaRPr b="0" i="0" sz="1650" u="none" cap="none" strike="noStrike"/>
          </a:p>
        </p:txBody>
      </p:sp>
      <p:sp>
        <p:nvSpPr>
          <p:cNvPr id="405" name="Google Shape;405;p27"/>
          <p:cNvSpPr/>
          <p:nvPr/>
        </p:nvSpPr>
        <p:spPr>
          <a:xfrm>
            <a:off x="781397" y="4634625"/>
            <a:ext cx="7219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Additional B</a:t>
            </a:r>
            <a:r>
              <a:rPr lang="en-US" sz="25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usiness Email Compromise</a:t>
            </a:r>
            <a:r>
              <a:rPr b="0" i="0" lang="en-US" sz="25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Pathways</a:t>
            </a:r>
            <a:endParaRPr b="0" i="0" sz="2500" u="none" cap="none" strike="noStrike"/>
          </a:p>
        </p:txBody>
      </p:sp>
      <p:sp>
        <p:nvSpPr>
          <p:cNvPr id="406" name="Google Shape;406;p27"/>
          <p:cNvSpPr/>
          <p:nvPr/>
        </p:nvSpPr>
        <p:spPr>
          <a:xfrm>
            <a:off x="781407" y="5329833"/>
            <a:ext cx="130677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Char char="•"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Pharmacy procurement fraud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Char char="•"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Payroll manipulation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Char char="•"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Refund fraud schemes</a:t>
            </a:r>
            <a:endParaRPr b="0" i="0" sz="1650" u="none" cap="none" strike="noStrike"/>
          </a:p>
        </p:txBody>
      </p:sp>
      <p:sp>
        <p:nvSpPr>
          <p:cNvPr id="407" name="Google Shape;407;p27"/>
          <p:cNvSpPr/>
          <p:nvPr/>
        </p:nvSpPr>
        <p:spPr>
          <a:xfrm>
            <a:off x="781407" y="6676906"/>
            <a:ext cx="13067700" cy="864300"/>
          </a:xfrm>
          <a:prstGeom prst="roundRect">
            <a:avLst>
              <a:gd fmla="val 3682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1166552" y="6968779"/>
            <a:ext cx="121665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FBI Internet Crime Report, 2024</a:t>
            </a:r>
            <a:endParaRPr b="0" i="0" sz="1650" u="none" cap="none" strike="noStrike"/>
          </a:p>
        </p:txBody>
      </p:sp>
      <p:sp>
        <p:nvSpPr>
          <p:cNvPr id="409" name="Google Shape;409;p27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8"/>
          <p:cNvSpPr/>
          <p:nvPr/>
        </p:nvSpPr>
        <p:spPr>
          <a:xfrm>
            <a:off x="793790" y="789980"/>
            <a:ext cx="5868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Third</a:t>
            </a:r>
            <a:r>
              <a:rPr lang="en-US" sz="40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Party Amplification</a:t>
            </a:r>
            <a:endParaRPr b="0" i="0" sz="4000" u="none" cap="none" strike="noStrike"/>
          </a:p>
        </p:txBody>
      </p:sp>
      <p:sp>
        <p:nvSpPr>
          <p:cNvPr id="416" name="Google Shape;416;p28"/>
          <p:cNvSpPr/>
          <p:nvPr/>
        </p:nvSpPr>
        <p:spPr>
          <a:xfrm>
            <a:off x="793790" y="1795343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Supply chain partners expand phishing exposure across the entire ecosystem</a:t>
            </a:r>
            <a:endParaRPr b="0" i="0" sz="1600" u="none" cap="none" strike="noStrike"/>
          </a:p>
        </p:txBody>
      </p:sp>
      <p:sp>
        <p:nvSpPr>
          <p:cNvPr id="417" name="Google Shape;417;p28"/>
          <p:cNvSpPr/>
          <p:nvPr/>
        </p:nvSpPr>
        <p:spPr>
          <a:xfrm>
            <a:off x="2709267" y="2735461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Email Platforms</a:t>
            </a:r>
            <a:endParaRPr b="0" i="0" sz="2000" u="none" cap="none" strike="noStrike"/>
          </a:p>
        </p:txBody>
      </p:sp>
      <p:pic>
        <p:nvPicPr>
          <p:cNvPr descr="preencoded.png" id="418" name="Google Shape;4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9" name="Google Shape;41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5584" y="3348752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8"/>
          <p:cNvSpPr/>
          <p:nvPr/>
        </p:nvSpPr>
        <p:spPr>
          <a:xfrm>
            <a:off x="8717674" y="2551628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Payment Processors</a:t>
            </a:r>
            <a:endParaRPr b="0" i="0" sz="2000" u="none" cap="none" strike="noStrike"/>
          </a:p>
        </p:txBody>
      </p:sp>
      <p:pic>
        <p:nvPicPr>
          <p:cNvPr descr="preencoded.png" id="421" name="Google Shape;4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2" name="Google Shape;42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3316" y="3211949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8"/>
          <p:cNvSpPr/>
          <p:nvPr/>
        </p:nvSpPr>
        <p:spPr>
          <a:xfrm>
            <a:off x="9432050" y="3655100"/>
            <a:ext cx="32775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Pharmacy Ben</a:t>
            </a:r>
            <a:r>
              <a:rPr lang="en-US" sz="20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etit </a:t>
            </a: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</a:t>
            </a:r>
            <a:r>
              <a:rPr lang="en-US" sz="20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anagers</a:t>
            </a:r>
            <a:endParaRPr b="0" i="0" sz="2000" u="none" cap="none" strike="noStrike"/>
          </a:p>
        </p:txBody>
      </p:sp>
      <p:pic>
        <p:nvPicPr>
          <p:cNvPr descr="preencoded.png" id="424" name="Google Shape;42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56377" y="3836313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8"/>
          <p:cNvSpPr/>
          <p:nvPr/>
        </p:nvSpPr>
        <p:spPr>
          <a:xfrm>
            <a:off x="9381918" y="490908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Courier Networks</a:t>
            </a:r>
            <a:endParaRPr b="0" i="0" sz="2000" u="none" cap="none" strike="noStrike"/>
          </a:p>
        </p:txBody>
      </p:sp>
      <p:pic>
        <p:nvPicPr>
          <p:cNvPr descr="preencoded.png" id="427" name="Google Shape;427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8" name="Google Shape;42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87677" y="4751784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8"/>
          <p:cNvSpPr/>
          <p:nvPr/>
        </p:nvSpPr>
        <p:spPr>
          <a:xfrm>
            <a:off x="8642477" y="5862399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Telehealth Partners</a:t>
            </a:r>
            <a:endParaRPr b="0" i="0" sz="2000" u="none" cap="none" strike="noStrike"/>
          </a:p>
        </p:txBody>
      </p:sp>
      <p:pic>
        <p:nvPicPr>
          <p:cNvPr descr="preencoded.png" id="430" name="Google Shape;430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1" name="Google Shape;431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29249" y="5268992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8"/>
          <p:cNvSpPr/>
          <p:nvPr/>
        </p:nvSpPr>
        <p:spPr>
          <a:xfrm>
            <a:off x="2709267" y="5678448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Support Vendors</a:t>
            </a:r>
            <a:endParaRPr b="0" i="0" sz="2000" u="none" cap="none" strike="noStrike"/>
          </a:p>
        </p:txBody>
      </p:sp>
      <p:pic>
        <p:nvPicPr>
          <p:cNvPr descr="preencoded.png" id="433" name="Google Shape;433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51997" y="4998363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8"/>
          <p:cNvSpPr/>
          <p:nvPr/>
        </p:nvSpPr>
        <p:spPr>
          <a:xfrm>
            <a:off x="2621537" y="4206954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Marketing Tools</a:t>
            </a:r>
            <a:endParaRPr b="0" i="0" sz="2000" u="none" cap="none" strike="noStrike"/>
          </a:p>
        </p:txBody>
      </p:sp>
      <p:pic>
        <p:nvPicPr>
          <p:cNvPr descr="preencoded.png" id="436" name="Google Shape;436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61015" y="2312313"/>
            <a:ext cx="4108371" cy="4108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16598" y="4143851"/>
            <a:ext cx="287060" cy="28706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8"/>
          <p:cNvSpPr/>
          <p:nvPr/>
        </p:nvSpPr>
        <p:spPr>
          <a:xfrm>
            <a:off x="793790" y="6627376"/>
            <a:ext cx="13042800" cy="812100"/>
          </a:xfrm>
          <a:prstGeom prst="roundRect">
            <a:avLst>
              <a:gd fmla="val 3770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1457087" y="6862048"/>
            <a:ext cx="12175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Verizon Data Breach Investigations Report, 2025; HHS Cyber Gateway, 2026</a:t>
            </a:r>
            <a:endParaRPr b="0" i="0" sz="1600" u="none" cap="none" strike="noStrike"/>
          </a:p>
        </p:txBody>
      </p:sp>
      <p:sp>
        <p:nvSpPr>
          <p:cNvPr id="440" name="Google Shape;440;p28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/>
          <p:nvPr/>
        </p:nvSpPr>
        <p:spPr>
          <a:xfrm>
            <a:off x="793790" y="824508"/>
            <a:ext cx="36858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900"/>
              <a:buFont typeface="Gelasio"/>
              <a:buNone/>
            </a:pPr>
            <a:r>
              <a:rPr b="0" i="0" lang="en-US" sz="29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Defensive AI Stack</a:t>
            </a:r>
            <a:endParaRPr b="0" i="0" sz="2900" u="none" cap="none" strike="noStrike"/>
          </a:p>
        </p:txBody>
      </p:sp>
      <p:sp>
        <p:nvSpPr>
          <p:cNvPr id="447" name="Google Shape;447;p29"/>
          <p:cNvSpPr/>
          <p:nvPr/>
        </p:nvSpPr>
        <p:spPr>
          <a:xfrm>
            <a:off x="793790" y="1476851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Layered protection model combining traditional controls with modern AI and human oversight</a:t>
            </a:r>
            <a:endParaRPr b="0" i="0" sz="1150" u="none" cap="none" strike="noStrike"/>
          </a:p>
        </p:txBody>
      </p:sp>
      <p:sp>
        <p:nvSpPr>
          <p:cNvPr id="448" name="Google Shape;448;p29"/>
          <p:cNvSpPr/>
          <p:nvPr/>
        </p:nvSpPr>
        <p:spPr>
          <a:xfrm>
            <a:off x="793790" y="1779151"/>
            <a:ext cx="1086900" cy="777000"/>
          </a:xfrm>
          <a:prstGeom prst="roundRect">
            <a:avLst>
              <a:gd fmla="val 2846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488" y="2063948"/>
            <a:ext cx="207288" cy="207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9"/>
          <p:cNvSpPr/>
          <p:nvPr/>
        </p:nvSpPr>
        <p:spPr>
          <a:xfrm>
            <a:off x="2027992" y="1926550"/>
            <a:ext cx="18564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Deterministic Controls</a:t>
            </a:r>
            <a:endParaRPr b="0" i="0" sz="1450" u="none" cap="none" strike="noStrike"/>
          </a:p>
        </p:txBody>
      </p:sp>
      <p:sp>
        <p:nvSpPr>
          <p:cNvPr id="451" name="Google Shape;451;p29"/>
          <p:cNvSpPr/>
          <p:nvPr/>
        </p:nvSpPr>
        <p:spPr>
          <a:xfrm>
            <a:off x="2027992" y="2214324"/>
            <a:ext cx="209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Spam filters, blocklists, DMARC</a:t>
            </a:r>
            <a:endParaRPr b="0" i="0" sz="1150" u="none" cap="none" strike="noStrike"/>
          </a:p>
        </p:txBody>
      </p:sp>
      <p:sp>
        <p:nvSpPr>
          <p:cNvPr id="452" name="Google Shape;452;p29"/>
          <p:cNvSpPr/>
          <p:nvPr/>
        </p:nvSpPr>
        <p:spPr>
          <a:xfrm>
            <a:off x="1954292" y="2552462"/>
            <a:ext cx="11808600" cy="7500"/>
          </a:xfrm>
          <a:prstGeom prst="roundRect">
            <a:avLst>
              <a:gd fmla="val 290232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793790" y="2629972"/>
            <a:ext cx="2173800" cy="777000"/>
          </a:xfrm>
          <a:prstGeom prst="roundRect">
            <a:avLst>
              <a:gd fmla="val 2846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4" name="Google Shape;4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7008" y="2914769"/>
            <a:ext cx="207288" cy="207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9"/>
          <p:cNvSpPr/>
          <p:nvPr/>
        </p:nvSpPr>
        <p:spPr>
          <a:xfrm>
            <a:off x="3114913" y="2777371"/>
            <a:ext cx="18024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Rule-Based Filters</a:t>
            </a:r>
            <a:endParaRPr b="0" i="0" sz="1450" u="none" cap="none" strike="noStrike"/>
          </a:p>
        </p:txBody>
      </p:sp>
      <p:sp>
        <p:nvSpPr>
          <p:cNvPr id="456" name="Google Shape;456;p29"/>
          <p:cNvSpPr/>
          <p:nvPr/>
        </p:nvSpPr>
        <p:spPr>
          <a:xfrm>
            <a:off x="3114913" y="3065145"/>
            <a:ext cx="1802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Keyword and sender checks</a:t>
            </a:r>
            <a:endParaRPr b="0" i="0" sz="1150" u="none" cap="none" strike="noStrike"/>
          </a:p>
        </p:txBody>
      </p:sp>
      <p:sp>
        <p:nvSpPr>
          <p:cNvPr id="457" name="Google Shape;457;p29"/>
          <p:cNvSpPr/>
          <p:nvPr/>
        </p:nvSpPr>
        <p:spPr>
          <a:xfrm>
            <a:off x="3041213" y="3403283"/>
            <a:ext cx="10721700" cy="7500"/>
          </a:xfrm>
          <a:prstGeom prst="roundRect">
            <a:avLst>
              <a:gd fmla="val 290232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793790" y="3480792"/>
            <a:ext cx="3260700" cy="777000"/>
          </a:xfrm>
          <a:prstGeom prst="roundRect">
            <a:avLst>
              <a:gd fmla="val 2846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0409" y="3765590"/>
            <a:ext cx="207288" cy="207288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9"/>
          <p:cNvSpPr/>
          <p:nvPr/>
        </p:nvSpPr>
        <p:spPr>
          <a:xfrm>
            <a:off x="4201835" y="3628192"/>
            <a:ext cx="1797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Classic ML Classifiers</a:t>
            </a:r>
            <a:endParaRPr b="0" i="0" sz="1450" u="none" cap="none" strike="noStrike"/>
          </a:p>
        </p:txBody>
      </p:sp>
      <p:sp>
        <p:nvSpPr>
          <p:cNvPr id="461" name="Google Shape;461;p29"/>
          <p:cNvSpPr/>
          <p:nvPr/>
        </p:nvSpPr>
        <p:spPr>
          <a:xfrm>
            <a:off x="4201835" y="3915966"/>
            <a:ext cx="1797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Statistical pattern detection</a:t>
            </a:r>
            <a:endParaRPr b="0" i="0" sz="1150" u="none" cap="none" strike="noStrike"/>
          </a:p>
        </p:txBody>
      </p:sp>
      <p:sp>
        <p:nvSpPr>
          <p:cNvPr id="462" name="Google Shape;462;p29"/>
          <p:cNvSpPr/>
          <p:nvPr/>
        </p:nvSpPr>
        <p:spPr>
          <a:xfrm>
            <a:off x="4128135" y="4254103"/>
            <a:ext cx="9634800" cy="7500"/>
          </a:xfrm>
          <a:prstGeom prst="roundRect">
            <a:avLst>
              <a:gd fmla="val 290232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793790" y="4331613"/>
            <a:ext cx="4347600" cy="777000"/>
          </a:xfrm>
          <a:prstGeom prst="roundRect">
            <a:avLst>
              <a:gd fmla="val 2846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3929" y="4616410"/>
            <a:ext cx="207288" cy="20728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/>
          <p:nvPr/>
        </p:nvSpPr>
        <p:spPr>
          <a:xfrm>
            <a:off x="5288756" y="4479012"/>
            <a:ext cx="2237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Transformer/LLM Analysis</a:t>
            </a:r>
            <a:endParaRPr b="0" i="0" sz="1450" u="none" cap="none" strike="noStrike"/>
          </a:p>
        </p:txBody>
      </p:sp>
      <p:sp>
        <p:nvSpPr>
          <p:cNvPr id="466" name="Google Shape;466;p29"/>
          <p:cNvSpPr/>
          <p:nvPr/>
        </p:nvSpPr>
        <p:spPr>
          <a:xfrm>
            <a:off x="5288756" y="4766786"/>
            <a:ext cx="22377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Semantic understanding</a:t>
            </a:r>
            <a:endParaRPr b="0" i="0" sz="1150" u="none" cap="none" strike="noStrike"/>
          </a:p>
        </p:txBody>
      </p:sp>
      <p:sp>
        <p:nvSpPr>
          <p:cNvPr id="467" name="Google Shape;467;p29"/>
          <p:cNvSpPr/>
          <p:nvPr/>
        </p:nvSpPr>
        <p:spPr>
          <a:xfrm>
            <a:off x="5215057" y="5104924"/>
            <a:ext cx="8547900" cy="7500"/>
          </a:xfrm>
          <a:prstGeom prst="roundRect">
            <a:avLst>
              <a:gd fmla="val 290232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793790" y="5182433"/>
            <a:ext cx="5434500" cy="777000"/>
          </a:xfrm>
          <a:prstGeom prst="roundRect">
            <a:avLst>
              <a:gd fmla="val 2846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9" name="Google Shape;46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7331" y="5467231"/>
            <a:ext cx="207288" cy="207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9"/>
          <p:cNvSpPr/>
          <p:nvPr/>
        </p:nvSpPr>
        <p:spPr>
          <a:xfrm>
            <a:off x="6375678" y="5329833"/>
            <a:ext cx="17904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Agentic Orchestration</a:t>
            </a:r>
            <a:endParaRPr b="0" i="0" sz="1450" u="none" cap="none" strike="noStrike"/>
          </a:p>
        </p:txBody>
      </p:sp>
      <p:sp>
        <p:nvSpPr>
          <p:cNvPr id="471" name="Google Shape;471;p29"/>
          <p:cNvSpPr/>
          <p:nvPr/>
        </p:nvSpPr>
        <p:spPr>
          <a:xfrm>
            <a:off x="6375678" y="5617607"/>
            <a:ext cx="1790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Automated threat response</a:t>
            </a:r>
            <a:endParaRPr b="0" i="0" sz="1150" u="none" cap="none" strike="noStrike"/>
          </a:p>
        </p:txBody>
      </p:sp>
      <p:sp>
        <p:nvSpPr>
          <p:cNvPr id="472" name="Google Shape;472;p29"/>
          <p:cNvSpPr/>
          <p:nvPr/>
        </p:nvSpPr>
        <p:spPr>
          <a:xfrm>
            <a:off x="6301978" y="5955744"/>
            <a:ext cx="7461000" cy="7500"/>
          </a:xfrm>
          <a:prstGeom prst="roundRect">
            <a:avLst>
              <a:gd fmla="val 290232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793790" y="6033254"/>
            <a:ext cx="6521400" cy="777000"/>
          </a:xfrm>
          <a:prstGeom prst="roundRect">
            <a:avLst>
              <a:gd fmla="val 2846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0851" y="6318052"/>
            <a:ext cx="207288" cy="207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9"/>
          <p:cNvSpPr/>
          <p:nvPr/>
        </p:nvSpPr>
        <p:spPr>
          <a:xfrm>
            <a:off x="7462599" y="6180653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Human Governance</a:t>
            </a:r>
            <a:endParaRPr b="0" i="0" sz="1450" u="none" cap="none" strike="noStrike"/>
          </a:p>
        </p:txBody>
      </p:sp>
      <p:sp>
        <p:nvSpPr>
          <p:cNvPr id="476" name="Google Shape;476;p29"/>
          <p:cNvSpPr/>
          <p:nvPr/>
        </p:nvSpPr>
        <p:spPr>
          <a:xfrm>
            <a:off x="7462599" y="6468428"/>
            <a:ext cx="1855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Audit and decision oversight</a:t>
            </a:r>
            <a:endParaRPr b="0" i="0" sz="1150" u="none" cap="none" strike="noStrike"/>
          </a:p>
        </p:txBody>
      </p:sp>
      <p:sp>
        <p:nvSpPr>
          <p:cNvPr id="477" name="Google Shape;477;p29"/>
          <p:cNvSpPr/>
          <p:nvPr/>
        </p:nvSpPr>
        <p:spPr>
          <a:xfrm>
            <a:off x="793790" y="6918127"/>
            <a:ext cx="13042800" cy="486900"/>
          </a:xfrm>
          <a:prstGeom prst="roundRect">
            <a:avLst>
              <a:gd fmla="val 4542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189" y="7110413"/>
            <a:ext cx="184190" cy="1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9"/>
          <p:cNvSpPr/>
          <p:nvPr/>
        </p:nvSpPr>
        <p:spPr>
          <a:xfrm>
            <a:off x="1272778" y="7050643"/>
            <a:ext cx="12416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NIST AI Risk Management Framework, 2023; NIST Cybersecurity Framework, 2024; OWASP Top 10, 2025</a:t>
            </a:r>
            <a:endParaRPr b="0" i="0" sz="1150" u="none" cap="none" strike="noStrike"/>
          </a:p>
        </p:txBody>
      </p:sp>
      <p:sp>
        <p:nvSpPr>
          <p:cNvPr id="480" name="Google Shape;480;p29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847523" y="1056275"/>
            <a:ext cx="4202712" cy="537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7" name="Google Shape;4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0"/>
          <p:cNvSpPr/>
          <p:nvPr/>
        </p:nvSpPr>
        <p:spPr>
          <a:xfrm>
            <a:off x="793790" y="801529"/>
            <a:ext cx="59103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Why Transformers Matter</a:t>
            </a:r>
            <a:endParaRPr b="0" i="0" sz="4000" u="none" cap="none" strike="noStrike"/>
          </a:p>
        </p:txBody>
      </p:sp>
      <p:sp>
        <p:nvSpPr>
          <p:cNvPr id="489" name="Google Shape;489;p30"/>
          <p:cNvSpPr/>
          <p:nvPr/>
        </p:nvSpPr>
        <p:spPr>
          <a:xfrm>
            <a:off x="793790" y="1714976"/>
            <a:ext cx="7556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Traditional ML detects patterns</a:t>
            </a:r>
            <a:r>
              <a:rPr lang="en-US" sz="20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but </a:t>
            </a: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transformers detect context, intent, and deception</a:t>
            </a:r>
            <a:endParaRPr b="0" i="0" sz="2000" u="none" cap="none" strike="noStrike"/>
          </a:p>
        </p:txBody>
      </p:sp>
      <p:sp>
        <p:nvSpPr>
          <p:cNvPr id="490" name="Google Shape;490;p30"/>
          <p:cNvSpPr/>
          <p:nvPr/>
        </p:nvSpPr>
        <p:spPr>
          <a:xfrm>
            <a:off x="793790" y="2231946"/>
            <a:ext cx="22800" cy="4177200"/>
          </a:xfrm>
          <a:prstGeom prst="roundRect">
            <a:avLst>
              <a:gd fmla="val 133954" name="adj"/>
            </a:avLst>
          </a:prstGeom>
          <a:solidFill>
            <a:srgbClr val="504D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816650" y="2231946"/>
            <a:ext cx="7556400" cy="1147500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"/>
          <p:cNvSpPr/>
          <p:nvPr/>
        </p:nvSpPr>
        <p:spPr>
          <a:xfrm>
            <a:off x="1020723" y="2436019"/>
            <a:ext cx="2556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Rules-Based Detection</a:t>
            </a:r>
            <a:endParaRPr b="0" i="0" sz="2000" u="none" cap="none" strike="noStrike"/>
          </a:p>
        </p:txBody>
      </p:sp>
      <p:sp>
        <p:nvSpPr>
          <p:cNvPr id="493" name="Google Shape;493;p30"/>
          <p:cNvSpPr/>
          <p:nvPr/>
        </p:nvSpPr>
        <p:spPr>
          <a:xfrm>
            <a:off x="1020723" y="2865001"/>
            <a:ext cx="7148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Keyword and sender checks only</a:t>
            </a:r>
            <a:endParaRPr b="0" i="0" sz="1600" u="none" cap="none" strike="noStrike"/>
          </a:p>
        </p:txBody>
      </p:sp>
      <p:sp>
        <p:nvSpPr>
          <p:cNvPr id="494" name="Google Shape;494;p30"/>
          <p:cNvSpPr/>
          <p:nvPr/>
        </p:nvSpPr>
        <p:spPr>
          <a:xfrm>
            <a:off x="816650" y="3746778"/>
            <a:ext cx="7556400" cy="1147500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1020723" y="3950851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Classic ML Classifiers</a:t>
            </a:r>
            <a:endParaRPr b="0" i="0" sz="2000" u="none" cap="none" strike="noStrike"/>
          </a:p>
        </p:txBody>
      </p:sp>
      <p:sp>
        <p:nvSpPr>
          <p:cNvPr id="496" name="Google Shape;496;p30"/>
          <p:cNvSpPr/>
          <p:nvPr/>
        </p:nvSpPr>
        <p:spPr>
          <a:xfrm>
            <a:off x="1020723" y="4379833"/>
            <a:ext cx="7148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Statistical features and patterns</a:t>
            </a:r>
            <a:endParaRPr b="0" i="0" sz="1600" u="none" cap="none" strike="noStrike"/>
          </a:p>
        </p:txBody>
      </p:sp>
      <p:sp>
        <p:nvSpPr>
          <p:cNvPr id="497" name="Google Shape;497;p30"/>
          <p:cNvSpPr/>
          <p:nvPr/>
        </p:nvSpPr>
        <p:spPr>
          <a:xfrm>
            <a:off x="816650" y="5261610"/>
            <a:ext cx="7556400" cy="1147500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1020723" y="5465683"/>
            <a:ext cx="30981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Transformer/LLM Analysis</a:t>
            </a:r>
            <a:endParaRPr b="0" i="0" sz="2000" u="none" cap="none" strike="noStrike"/>
          </a:p>
        </p:txBody>
      </p:sp>
      <p:sp>
        <p:nvSpPr>
          <p:cNvPr id="499" name="Google Shape;499;p30"/>
          <p:cNvSpPr/>
          <p:nvPr/>
        </p:nvSpPr>
        <p:spPr>
          <a:xfrm>
            <a:off x="1020723" y="5894665"/>
            <a:ext cx="7148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Semantic intent, tone, impersonation, context mismatch</a:t>
            </a:r>
            <a:endParaRPr b="0" i="0" sz="1600" u="none" cap="none" strike="noStrike"/>
          </a:p>
        </p:txBody>
      </p:sp>
      <p:sp>
        <p:nvSpPr>
          <p:cNvPr id="500" name="Google Shape;500;p30"/>
          <p:cNvSpPr/>
          <p:nvPr/>
        </p:nvSpPr>
        <p:spPr>
          <a:xfrm>
            <a:off x="793790" y="6615708"/>
            <a:ext cx="7556400" cy="812100"/>
          </a:xfrm>
          <a:prstGeom prst="roundRect">
            <a:avLst>
              <a:gd fmla="val 3770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1" name="Google Shape;5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863" y="6905506"/>
            <a:ext cx="255151" cy="204073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0"/>
          <p:cNvSpPr/>
          <p:nvPr/>
        </p:nvSpPr>
        <p:spPr>
          <a:xfrm>
            <a:off x="1457087" y="6850380"/>
            <a:ext cx="6689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Comparative phishing email detection study, 2024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1"/>
          <p:cNvSpPr/>
          <p:nvPr/>
        </p:nvSpPr>
        <p:spPr>
          <a:xfrm>
            <a:off x="793804" y="865225"/>
            <a:ext cx="1304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550"/>
              <a:buFont typeface="Gelasio"/>
              <a:buNone/>
            </a:pPr>
            <a:r>
              <a:rPr b="0" i="0" lang="en-US" sz="35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Generative AI for Semantic(word based) Phishing Analysis</a:t>
            </a:r>
            <a:endParaRPr b="0" i="0" sz="3550" u="none" cap="none" strike="noStrike"/>
          </a:p>
        </p:txBody>
      </p:sp>
      <p:sp>
        <p:nvSpPr>
          <p:cNvPr id="509" name="Google Shape;509;p31"/>
          <p:cNvSpPr/>
          <p:nvPr/>
        </p:nvSpPr>
        <p:spPr>
          <a:xfrm>
            <a:off x="793790" y="1722477"/>
            <a:ext cx="13042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evaluates linguistic patterns to identify manipulation and deception</a:t>
            </a:r>
            <a:endParaRPr b="0" i="0" sz="2000" u="none" cap="none" strike="noStrike"/>
          </a:p>
        </p:txBody>
      </p:sp>
      <p:pic>
        <p:nvPicPr>
          <p:cNvPr descr="preencoded.png" id="510" name="Google Shape;5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46935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1"/>
          <p:cNvSpPr/>
          <p:nvPr/>
        </p:nvSpPr>
        <p:spPr>
          <a:xfrm>
            <a:off x="793790" y="2782014"/>
            <a:ext cx="2268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Urgency Detection</a:t>
            </a:r>
            <a:endParaRPr b="0" i="0" sz="2000" u="none" cap="none" strike="noStrike"/>
          </a:p>
        </p:txBody>
      </p:sp>
      <p:pic>
        <p:nvPicPr>
          <p:cNvPr descr="preencoded.png" id="512" name="Google Shape;5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926" y="2146935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1"/>
          <p:cNvSpPr/>
          <p:nvPr/>
        </p:nvSpPr>
        <p:spPr>
          <a:xfrm>
            <a:off x="7405925" y="2782025"/>
            <a:ext cx="2806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Impersonation Intent</a:t>
            </a:r>
            <a:endParaRPr b="0" i="0" sz="2000" u="none" cap="none" strike="noStrike"/>
          </a:p>
        </p:txBody>
      </p:sp>
      <p:pic>
        <p:nvPicPr>
          <p:cNvPr descr="preencoded.png" id="514" name="Google Shape;51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704034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1"/>
          <p:cNvSpPr/>
          <p:nvPr/>
        </p:nvSpPr>
        <p:spPr>
          <a:xfrm>
            <a:off x="793790" y="4339114"/>
            <a:ext cx="2268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Brand Mismatch</a:t>
            </a:r>
            <a:endParaRPr b="0" i="0" sz="2000" u="none" cap="none" strike="noStrike"/>
          </a:p>
        </p:txBody>
      </p:sp>
      <p:pic>
        <p:nvPicPr>
          <p:cNvPr descr="preencoded.png" id="516" name="Google Shape;51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05926" y="3704034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1"/>
          <p:cNvSpPr/>
          <p:nvPr/>
        </p:nvSpPr>
        <p:spPr>
          <a:xfrm>
            <a:off x="7405925" y="4339125"/>
            <a:ext cx="2806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Suspicious Requests</a:t>
            </a:r>
            <a:endParaRPr b="0" i="0" sz="2000" u="none" cap="none" strike="noStrike"/>
          </a:p>
        </p:txBody>
      </p:sp>
      <p:pic>
        <p:nvPicPr>
          <p:cNvPr descr="preencoded.png" id="518" name="Google Shape;51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5261134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/>
          <p:nvPr/>
        </p:nvSpPr>
        <p:spPr>
          <a:xfrm>
            <a:off x="793790" y="5896213"/>
            <a:ext cx="2268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Language Patterns</a:t>
            </a:r>
            <a:endParaRPr b="0" i="0" sz="2000" u="none" cap="none" strike="noStrike"/>
          </a:p>
        </p:txBody>
      </p:sp>
      <p:pic>
        <p:nvPicPr>
          <p:cNvPr descr="preencoded.png" id="520" name="Google Shape;52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05926" y="5261134"/>
            <a:ext cx="453628" cy="45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1"/>
          <p:cNvSpPr/>
          <p:nvPr/>
        </p:nvSpPr>
        <p:spPr>
          <a:xfrm>
            <a:off x="7405925" y="5896223"/>
            <a:ext cx="27234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Context Inconsistency</a:t>
            </a:r>
            <a:endParaRPr b="0" i="0" sz="2000" u="none" cap="none" strike="noStrike"/>
          </a:p>
        </p:txBody>
      </p:sp>
      <p:sp>
        <p:nvSpPr>
          <p:cNvPr id="522" name="Google Shape;522;p31"/>
          <p:cNvSpPr/>
          <p:nvPr/>
        </p:nvSpPr>
        <p:spPr>
          <a:xfrm>
            <a:off x="793790" y="6847341"/>
            <a:ext cx="13042800" cy="673200"/>
          </a:xfrm>
          <a:prstGeom prst="roundRect">
            <a:avLst>
              <a:gd fmla="val 4044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3" name="Google Shape;523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5241" y="7098206"/>
            <a:ext cx="226814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1"/>
          <p:cNvSpPr/>
          <p:nvPr/>
        </p:nvSpPr>
        <p:spPr>
          <a:xfrm>
            <a:off x="1383506" y="7037841"/>
            <a:ext cx="12271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Bellamkonda, 2022; comparative phishing email detection study, 2024</a:t>
            </a:r>
            <a:endParaRPr b="0" i="0" sz="1400" u="none" cap="none" strike="noStrike"/>
          </a:p>
        </p:txBody>
      </p:sp>
      <p:sp>
        <p:nvSpPr>
          <p:cNvPr id="525" name="Google Shape;525;p31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/>
          <p:nvPr/>
        </p:nvSpPr>
        <p:spPr>
          <a:xfrm>
            <a:off x="793801" y="672225"/>
            <a:ext cx="7078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900"/>
              <a:buFont typeface="Gelasio"/>
              <a:buNone/>
            </a:pPr>
            <a:r>
              <a:rPr b="0" i="0" lang="en-US" sz="29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URL</a:t>
            </a:r>
            <a:r>
              <a:rPr lang="en-US" sz="29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,</a:t>
            </a:r>
            <a:r>
              <a:rPr b="0" i="0" lang="en-US" sz="29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Domains and Behavioral Analytics</a:t>
            </a:r>
            <a:endParaRPr b="0" i="0" sz="2900" u="none" cap="none" strike="noStrike"/>
          </a:p>
        </p:txBody>
      </p:sp>
      <p:sp>
        <p:nvSpPr>
          <p:cNvPr id="532" name="Google Shape;532;p32"/>
          <p:cNvSpPr/>
          <p:nvPr/>
        </p:nvSpPr>
        <p:spPr>
          <a:xfrm>
            <a:off x="793790" y="1324570"/>
            <a:ext cx="13042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Technical detection combined with behavioral signals to identify account takeover</a:t>
            </a:r>
            <a:endParaRPr b="0" i="0" u="none" cap="none" strike="noStrike"/>
          </a:p>
        </p:txBody>
      </p:sp>
      <p:sp>
        <p:nvSpPr>
          <p:cNvPr id="533" name="Google Shape;533;p32"/>
          <p:cNvSpPr/>
          <p:nvPr/>
        </p:nvSpPr>
        <p:spPr>
          <a:xfrm>
            <a:off x="793790" y="1722596"/>
            <a:ext cx="2157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URL and Domain Analysis</a:t>
            </a:r>
            <a:endParaRPr b="0" i="0" sz="1450" u="none" cap="none" strike="noStrike"/>
          </a:p>
        </p:txBody>
      </p:sp>
      <p:sp>
        <p:nvSpPr>
          <p:cNvPr id="534" name="Google Shape;534;p32"/>
          <p:cNvSpPr/>
          <p:nvPr/>
        </p:nvSpPr>
        <p:spPr>
          <a:xfrm>
            <a:off x="793790" y="2139017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2"/>
          <p:cNvSpPr/>
          <p:nvPr/>
        </p:nvSpPr>
        <p:spPr>
          <a:xfrm>
            <a:off x="963216" y="2060734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Lookalike Domains</a:t>
            </a:r>
            <a:endParaRPr b="0" i="0" sz="1450" u="none" cap="none" strike="noStrike"/>
          </a:p>
        </p:txBody>
      </p:sp>
      <p:sp>
        <p:nvSpPr>
          <p:cNvPr id="536" name="Google Shape;536;p32"/>
          <p:cNvSpPr/>
          <p:nvPr/>
        </p:nvSpPr>
        <p:spPr>
          <a:xfrm>
            <a:off x="963216" y="2386846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Character substitution and homoglyphs</a:t>
            </a:r>
            <a:endParaRPr b="0" i="0" sz="1150" u="none" cap="none" strike="noStrike"/>
          </a:p>
        </p:txBody>
      </p:sp>
      <p:sp>
        <p:nvSpPr>
          <p:cNvPr id="537" name="Google Shape;537;p32"/>
          <p:cNvSpPr/>
          <p:nvPr/>
        </p:nvSpPr>
        <p:spPr>
          <a:xfrm>
            <a:off x="793790" y="2851249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2"/>
          <p:cNvSpPr/>
          <p:nvPr/>
        </p:nvSpPr>
        <p:spPr>
          <a:xfrm>
            <a:off x="963216" y="2772966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URL Redirection</a:t>
            </a:r>
            <a:endParaRPr b="0" i="0" sz="1450" u="none" cap="none" strike="noStrike"/>
          </a:p>
        </p:txBody>
      </p:sp>
      <p:sp>
        <p:nvSpPr>
          <p:cNvPr id="539" name="Google Shape;539;p32"/>
          <p:cNvSpPr/>
          <p:nvPr/>
        </p:nvSpPr>
        <p:spPr>
          <a:xfrm>
            <a:off x="963216" y="3099078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Multi-hop obfuscation chains</a:t>
            </a:r>
            <a:endParaRPr b="0" i="0" sz="1150" u="none" cap="none" strike="noStrike"/>
          </a:p>
        </p:txBody>
      </p:sp>
      <p:sp>
        <p:nvSpPr>
          <p:cNvPr id="540" name="Google Shape;540;p32"/>
          <p:cNvSpPr/>
          <p:nvPr/>
        </p:nvSpPr>
        <p:spPr>
          <a:xfrm>
            <a:off x="793790" y="3563481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2"/>
          <p:cNvSpPr/>
          <p:nvPr/>
        </p:nvSpPr>
        <p:spPr>
          <a:xfrm>
            <a:off x="963216" y="3485198"/>
            <a:ext cx="2116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TLS/Certificate Mismatch</a:t>
            </a:r>
            <a:endParaRPr b="0" i="0" sz="1450" u="none" cap="none" strike="noStrike"/>
          </a:p>
        </p:txBody>
      </p:sp>
      <p:sp>
        <p:nvSpPr>
          <p:cNvPr id="542" name="Google Shape;542;p32"/>
          <p:cNvSpPr/>
          <p:nvPr/>
        </p:nvSpPr>
        <p:spPr>
          <a:xfrm>
            <a:off x="963216" y="3811310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Invalid or self-signed certificates</a:t>
            </a:r>
            <a:endParaRPr b="0" i="0" sz="1150" u="none" cap="none" strike="noStrike"/>
          </a:p>
        </p:txBody>
      </p:sp>
      <p:sp>
        <p:nvSpPr>
          <p:cNvPr id="543" name="Google Shape;543;p32"/>
          <p:cNvSpPr/>
          <p:nvPr/>
        </p:nvSpPr>
        <p:spPr>
          <a:xfrm>
            <a:off x="793790" y="4275713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2"/>
          <p:cNvSpPr/>
          <p:nvPr/>
        </p:nvSpPr>
        <p:spPr>
          <a:xfrm>
            <a:off x="963216" y="4197429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Brand Impersonation</a:t>
            </a:r>
            <a:endParaRPr b="0" i="0" sz="1450" u="none" cap="none" strike="noStrike"/>
          </a:p>
        </p:txBody>
      </p:sp>
      <p:sp>
        <p:nvSpPr>
          <p:cNvPr id="545" name="Google Shape;545;p32"/>
          <p:cNvSpPr/>
          <p:nvPr/>
        </p:nvSpPr>
        <p:spPr>
          <a:xfrm>
            <a:off x="963216" y="4523542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Fake landing pages and portals</a:t>
            </a:r>
            <a:endParaRPr b="0" i="0" sz="1150" u="none" cap="none" strike="noStrike"/>
          </a:p>
        </p:txBody>
      </p:sp>
      <p:sp>
        <p:nvSpPr>
          <p:cNvPr id="546" name="Google Shape;546;p32"/>
          <p:cNvSpPr/>
          <p:nvPr/>
        </p:nvSpPr>
        <p:spPr>
          <a:xfrm>
            <a:off x="793790" y="4987945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2"/>
          <p:cNvSpPr/>
          <p:nvPr/>
        </p:nvSpPr>
        <p:spPr>
          <a:xfrm>
            <a:off x="963216" y="4909661"/>
            <a:ext cx="22017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Newly Registered Domains</a:t>
            </a:r>
            <a:endParaRPr b="0" i="0" sz="1450" u="none" cap="none" strike="noStrike"/>
          </a:p>
        </p:txBody>
      </p:sp>
      <p:sp>
        <p:nvSpPr>
          <p:cNvPr id="548" name="Google Shape;548;p32"/>
          <p:cNvSpPr/>
          <p:nvPr/>
        </p:nvSpPr>
        <p:spPr>
          <a:xfrm>
            <a:off x="963216" y="5235773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Recently created suspicious domains</a:t>
            </a:r>
            <a:endParaRPr b="0" i="0" sz="1150" u="none" cap="none" strike="noStrike"/>
          </a:p>
        </p:txBody>
      </p:sp>
      <p:sp>
        <p:nvSpPr>
          <p:cNvPr id="549" name="Google Shape;549;p32"/>
          <p:cNvSpPr/>
          <p:nvPr/>
        </p:nvSpPr>
        <p:spPr>
          <a:xfrm>
            <a:off x="793790" y="5700177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2"/>
          <p:cNvSpPr/>
          <p:nvPr/>
        </p:nvSpPr>
        <p:spPr>
          <a:xfrm>
            <a:off x="963216" y="5621893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QR Code Risk</a:t>
            </a:r>
            <a:endParaRPr b="0" i="0" sz="1450" u="none" cap="none" strike="noStrike"/>
          </a:p>
        </p:txBody>
      </p:sp>
      <p:sp>
        <p:nvSpPr>
          <p:cNvPr id="551" name="Google Shape;551;p32"/>
          <p:cNvSpPr/>
          <p:nvPr/>
        </p:nvSpPr>
        <p:spPr>
          <a:xfrm>
            <a:off x="963216" y="5948005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Hidden malicious destinations</a:t>
            </a:r>
            <a:endParaRPr b="0" i="0" sz="1150" u="none" cap="none" strike="noStrike"/>
          </a:p>
        </p:txBody>
      </p:sp>
      <p:sp>
        <p:nvSpPr>
          <p:cNvPr id="552" name="Google Shape;552;p32"/>
          <p:cNvSpPr/>
          <p:nvPr/>
        </p:nvSpPr>
        <p:spPr>
          <a:xfrm>
            <a:off x="7502604" y="1722596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Behavioral Analytics</a:t>
            </a:r>
            <a:endParaRPr b="0" i="0" sz="1450" u="none" cap="none" strike="noStrike"/>
          </a:p>
        </p:txBody>
      </p:sp>
      <p:sp>
        <p:nvSpPr>
          <p:cNvPr id="553" name="Google Shape;553;p32"/>
          <p:cNvSpPr/>
          <p:nvPr/>
        </p:nvSpPr>
        <p:spPr>
          <a:xfrm>
            <a:off x="7502604" y="2139017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2"/>
          <p:cNvSpPr/>
          <p:nvPr/>
        </p:nvSpPr>
        <p:spPr>
          <a:xfrm>
            <a:off x="7672030" y="2060734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Impossible Travel</a:t>
            </a:r>
            <a:endParaRPr b="0" i="0" sz="1450" u="none" cap="none" strike="noStrike"/>
          </a:p>
        </p:txBody>
      </p:sp>
      <p:sp>
        <p:nvSpPr>
          <p:cNvPr id="555" name="Google Shape;555;p32"/>
          <p:cNvSpPr/>
          <p:nvPr/>
        </p:nvSpPr>
        <p:spPr>
          <a:xfrm>
            <a:off x="7672030" y="2386846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Geographically impossible logins</a:t>
            </a:r>
            <a:endParaRPr b="0" i="0" sz="1150" u="none" cap="none" strike="noStrike"/>
          </a:p>
        </p:txBody>
      </p:sp>
      <p:sp>
        <p:nvSpPr>
          <p:cNvPr id="556" name="Google Shape;556;p32"/>
          <p:cNvSpPr/>
          <p:nvPr/>
        </p:nvSpPr>
        <p:spPr>
          <a:xfrm>
            <a:off x="7502604" y="2851249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7672030" y="2772966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New Device Login</a:t>
            </a:r>
            <a:endParaRPr b="0" i="0" sz="1450" u="none" cap="none" strike="noStrike"/>
          </a:p>
        </p:txBody>
      </p:sp>
      <p:sp>
        <p:nvSpPr>
          <p:cNvPr id="558" name="Google Shape;558;p32"/>
          <p:cNvSpPr/>
          <p:nvPr/>
        </p:nvSpPr>
        <p:spPr>
          <a:xfrm>
            <a:off x="7672030" y="3099078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Unfamiliar hardware detection</a:t>
            </a:r>
            <a:endParaRPr b="0" i="0" sz="1150" u="none" cap="none" strike="noStrike"/>
          </a:p>
        </p:txBody>
      </p:sp>
      <p:sp>
        <p:nvSpPr>
          <p:cNvPr id="559" name="Google Shape;559;p32"/>
          <p:cNvSpPr/>
          <p:nvPr/>
        </p:nvSpPr>
        <p:spPr>
          <a:xfrm>
            <a:off x="7502604" y="3563481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2"/>
          <p:cNvSpPr/>
          <p:nvPr/>
        </p:nvSpPr>
        <p:spPr>
          <a:xfrm>
            <a:off x="7672030" y="3485198"/>
            <a:ext cx="2163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Repeated Password Resets</a:t>
            </a:r>
            <a:endParaRPr b="0" i="0" sz="1450" u="none" cap="none" strike="noStrike"/>
          </a:p>
        </p:txBody>
      </p:sp>
      <p:sp>
        <p:nvSpPr>
          <p:cNvPr id="561" name="Google Shape;561;p32"/>
          <p:cNvSpPr/>
          <p:nvPr/>
        </p:nvSpPr>
        <p:spPr>
          <a:xfrm>
            <a:off x="7672030" y="3811310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Brute force credential testing</a:t>
            </a:r>
            <a:endParaRPr b="0" i="0" sz="1150" u="none" cap="none" strike="noStrike"/>
          </a:p>
        </p:txBody>
      </p:sp>
      <p:sp>
        <p:nvSpPr>
          <p:cNvPr id="562" name="Google Shape;562;p32"/>
          <p:cNvSpPr/>
          <p:nvPr/>
        </p:nvSpPr>
        <p:spPr>
          <a:xfrm>
            <a:off x="7502604" y="4275713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2"/>
          <p:cNvSpPr/>
          <p:nvPr/>
        </p:nvSpPr>
        <p:spPr>
          <a:xfrm>
            <a:off x="7672030" y="4197429"/>
            <a:ext cx="2269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Unusual Checkout Behavior</a:t>
            </a:r>
            <a:endParaRPr b="0" i="0" sz="1450" u="none" cap="none" strike="noStrike"/>
          </a:p>
        </p:txBody>
      </p:sp>
      <p:sp>
        <p:nvSpPr>
          <p:cNvPr id="564" name="Google Shape;564;p32"/>
          <p:cNvSpPr/>
          <p:nvPr/>
        </p:nvSpPr>
        <p:spPr>
          <a:xfrm>
            <a:off x="7672030" y="4523542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Abnormal transaction patterns</a:t>
            </a:r>
            <a:endParaRPr b="0" i="0" sz="1150" u="none" cap="none" strike="noStrike"/>
          </a:p>
        </p:txBody>
      </p:sp>
      <p:sp>
        <p:nvSpPr>
          <p:cNvPr id="565" name="Google Shape;565;p32"/>
          <p:cNvSpPr/>
          <p:nvPr/>
        </p:nvSpPr>
        <p:spPr>
          <a:xfrm>
            <a:off x="7502604" y="4987945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"/>
          <p:cNvSpPr/>
          <p:nvPr/>
        </p:nvSpPr>
        <p:spPr>
          <a:xfrm>
            <a:off x="7672030" y="4909661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Prescription Access</a:t>
            </a:r>
            <a:endParaRPr b="0" i="0" sz="1450" u="none" cap="none" strike="noStrike"/>
          </a:p>
        </p:txBody>
      </p:sp>
      <p:sp>
        <p:nvSpPr>
          <p:cNvPr id="567" name="Google Shape;567;p32"/>
          <p:cNvSpPr/>
          <p:nvPr/>
        </p:nvSpPr>
        <p:spPr>
          <a:xfrm>
            <a:off x="7672030" y="5235773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Abnormal medication requests</a:t>
            </a:r>
            <a:endParaRPr b="0" i="0" sz="1150" u="none" cap="none" strike="noStrike"/>
          </a:p>
        </p:txBody>
      </p:sp>
      <p:sp>
        <p:nvSpPr>
          <p:cNvPr id="568" name="Google Shape;568;p32"/>
          <p:cNvSpPr/>
          <p:nvPr/>
        </p:nvSpPr>
        <p:spPr>
          <a:xfrm>
            <a:off x="7502604" y="5700177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7672030" y="5621893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Address Changes</a:t>
            </a:r>
            <a:endParaRPr b="0" i="0" sz="1450" u="none" cap="none" strike="noStrike"/>
          </a:p>
        </p:txBody>
      </p:sp>
      <p:sp>
        <p:nvSpPr>
          <p:cNvPr id="570" name="Google Shape;570;p32"/>
          <p:cNvSpPr/>
          <p:nvPr/>
        </p:nvSpPr>
        <p:spPr>
          <a:xfrm>
            <a:off x="7672030" y="5948005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High</a:t>
            </a:r>
            <a:r>
              <a:rPr lang="en-US" sz="11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r</a:t>
            </a: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isk shipping modifications</a:t>
            </a:r>
            <a:endParaRPr b="0" i="0" sz="1150" u="none" cap="none" strike="noStrike"/>
          </a:p>
        </p:txBody>
      </p:sp>
      <p:sp>
        <p:nvSpPr>
          <p:cNvPr id="571" name="Google Shape;571;p32"/>
          <p:cNvSpPr/>
          <p:nvPr/>
        </p:nvSpPr>
        <p:spPr>
          <a:xfrm>
            <a:off x="7502604" y="6412409"/>
            <a:ext cx="73800" cy="73800"/>
          </a:xfrm>
          <a:prstGeom prst="roundRect">
            <a:avLst>
              <a:gd fmla="val 620353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7672030" y="6334125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50"/>
              <a:buFont typeface="Gelasio"/>
              <a:buNone/>
            </a:pPr>
            <a:r>
              <a:rPr b="0" i="0" lang="en-US" sz="1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Failed MFA Attempts</a:t>
            </a:r>
            <a:endParaRPr b="0" i="0" sz="1450" u="none" cap="none" strike="noStrike"/>
          </a:p>
        </p:txBody>
      </p:sp>
      <p:sp>
        <p:nvSpPr>
          <p:cNvPr id="573" name="Google Shape;573;p32"/>
          <p:cNvSpPr/>
          <p:nvPr/>
        </p:nvSpPr>
        <p:spPr>
          <a:xfrm>
            <a:off x="7672030" y="6660237"/>
            <a:ext cx="61722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Multifactor authentication bypass</a:t>
            </a:r>
            <a:endParaRPr b="0" i="0" sz="1150" u="none" cap="none" strike="noStrike"/>
          </a:p>
        </p:txBody>
      </p:sp>
      <p:sp>
        <p:nvSpPr>
          <p:cNvPr id="574" name="Google Shape;574;p32"/>
          <p:cNvSpPr/>
          <p:nvPr/>
        </p:nvSpPr>
        <p:spPr>
          <a:xfrm>
            <a:off x="793790" y="7070288"/>
            <a:ext cx="13042800" cy="486900"/>
          </a:xfrm>
          <a:prstGeom prst="roundRect">
            <a:avLst>
              <a:gd fmla="val 4542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189" y="7262574"/>
            <a:ext cx="184190" cy="1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2"/>
          <p:cNvSpPr/>
          <p:nvPr/>
        </p:nvSpPr>
        <p:spPr>
          <a:xfrm>
            <a:off x="1272778" y="7202805"/>
            <a:ext cx="12416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lasio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Source: PhishTransformer study, 2024; Verizon Data Breach Investigations Report, 2025; NIST Cybersecurity Framework, 2024</a:t>
            </a:r>
            <a:endParaRPr b="0" i="0" sz="1150" u="none" cap="none" strike="noStrike"/>
          </a:p>
        </p:txBody>
      </p:sp>
      <p:sp>
        <p:nvSpPr>
          <p:cNvPr id="577" name="Google Shape;577;p32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/>
          <p:nvPr/>
        </p:nvSpPr>
        <p:spPr>
          <a:xfrm>
            <a:off x="793790" y="1249442"/>
            <a:ext cx="7347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Customer</a:t>
            </a:r>
            <a:r>
              <a:rPr lang="en-US" sz="445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Facing AI Controls</a:t>
            </a:r>
            <a:endParaRPr b="0" i="0" sz="4450" u="none" cap="none" strike="noStrike"/>
          </a:p>
        </p:txBody>
      </p:sp>
      <p:sp>
        <p:nvSpPr>
          <p:cNvPr id="584" name="Google Shape;584;p33"/>
          <p:cNvSpPr/>
          <p:nvPr/>
        </p:nvSpPr>
        <p:spPr>
          <a:xfrm>
            <a:off x="793790" y="2619342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01</a:t>
            </a:r>
            <a:endParaRPr b="0" i="0" sz="2100" u="none" cap="none" strike="noStrike"/>
          </a:p>
        </p:txBody>
      </p:sp>
      <p:sp>
        <p:nvSpPr>
          <p:cNvPr id="585" name="Google Shape;585;p33"/>
          <p:cNvSpPr/>
          <p:nvPr/>
        </p:nvSpPr>
        <p:spPr>
          <a:xfrm>
            <a:off x="793790" y="2974387"/>
            <a:ext cx="4196400" cy="306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3"/>
          <p:cNvSpPr/>
          <p:nvPr/>
        </p:nvSpPr>
        <p:spPr>
          <a:xfrm>
            <a:off x="793790" y="314869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Login Security</a:t>
            </a:r>
            <a:endParaRPr b="0" i="0" sz="2200" u="none" cap="none" strike="noStrike"/>
          </a:p>
        </p:txBody>
      </p:sp>
      <p:sp>
        <p:nvSpPr>
          <p:cNvPr id="587" name="Google Shape;587;p33"/>
          <p:cNvSpPr/>
          <p:nvPr/>
        </p:nvSpPr>
        <p:spPr>
          <a:xfrm>
            <a:off x="793790" y="3639113"/>
            <a:ext cx="419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Risk scoring, step</a:t>
            </a:r>
            <a:r>
              <a:rPr lang="en-US" sz="17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up authentication</a:t>
            </a:r>
            <a:endParaRPr b="0" i="0" sz="1750" u="none" cap="none" strike="noStrike"/>
          </a:p>
        </p:txBody>
      </p:sp>
      <p:sp>
        <p:nvSpPr>
          <p:cNvPr id="588" name="Google Shape;588;p33"/>
          <p:cNvSpPr/>
          <p:nvPr/>
        </p:nvSpPr>
        <p:spPr>
          <a:xfrm>
            <a:off x="5216962" y="2619342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02</a:t>
            </a:r>
            <a:endParaRPr b="0" i="0" sz="2100" u="none" cap="none" strike="noStrike"/>
          </a:p>
        </p:txBody>
      </p:sp>
      <p:sp>
        <p:nvSpPr>
          <p:cNvPr id="589" name="Google Shape;589;p33"/>
          <p:cNvSpPr/>
          <p:nvPr/>
        </p:nvSpPr>
        <p:spPr>
          <a:xfrm>
            <a:off x="5216962" y="2974387"/>
            <a:ext cx="4196400" cy="306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3"/>
          <p:cNvSpPr/>
          <p:nvPr/>
        </p:nvSpPr>
        <p:spPr>
          <a:xfrm>
            <a:off x="5216962" y="314869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Refill Verification</a:t>
            </a:r>
            <a:endParaRPr b="0" i="0" sz="2200" u="none" cap="none" strike="noStrike"/>
          </a:p>
        </p:txBody>
      </p:sp>
      <p:sp>
        <p:nvSpPr>
          <p:cNvPr id="591" name="Google Shape;591;p33"/>
          <p:cNvSpPr/>
          <p:nvPr/>
        </p:nvSpPr>
        <p:spPr>
          <a:xfrm>
            <a:off x="5216962" y="3639113"/>
            <a:ext cx="419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Safe refill checks, warnings</a:t>
            </a:r>
            <a:endParaRPr b="0" i="0" sz="1750" u="none" cap="none" strike="noStrike"/>
          </a:p>
        </p:txBody>
      </p:sp>
      <p:sp>
        <p:nvSpPr>
          <p:cNvPr id="592" name="Google Shape;592;p33"/>
          <p:cNvSpPr/>
          <p:nvPr/>
        </p:nvSpPr>
        <p:spPr>
          <a:xfrm>
            <a:off x="9640133" y="2619342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03</a:t>
            </a:r>
            <a:endParaRPr b="0" i="0" sz="2100" u="none" cap="none" strike="noStrike"/>
          </a:p>
        </p:txBody>
      </p:sp>
      <p:sp>
        <p:nvSpPr>
          <p:cNvPr id="593" name="Google Shape;593;p33"/>
          <p:cNvSpPr/>
          <p:nvPr/>
        </p:nvSpPr>
        <p:spPr>
          <a:xfrm>
            <a:off x="9640133" y="2974387"/>
            <a:ext cx="4196400" cy="306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9640133" y="314869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Payment Protection</a:t>
            </a:r>
            <a:endParaRPr b="0" i="0" sz="2200" u="none" cap="none" strike="noStrike"/>
          </a:p>
        </p:txBody>
      </p:sp>
      <p:sp>
        <p:nvSpPr>
          <p:cNvPr id="595" name="Google Shape;595;p33"/>
          <p:cNvSpPr/>
          <p:nvPr/>
        </p:nvSpPr>
        <p:spPr>
          <a:xfrm>
            <a:off x="9640133" y="3639113"/>
            <a:ext cx="419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Confirmation safeguards, fraud detection</a:t>
            </a:r>
            <a:endParaRPr b="0" i="0" sz="1750" u="none" cap="none" strike="noStrike"/>
          </a:p>
        </p:txBody>
      </p:sp>
      <p:sp>
        <p:nvSpPr>
          <p:cNvPr id="596" name="Google Shape;596;p33"/>
          <p:cNvSpPr/>
          <p:nvPr/>
        </p:nvSpPr>
        <p:spPr>
          <a:xfrm>
            <a:off x="793790" y="4398851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04</a:t>
            </a:r>
            <a:endParaRPr b="0" i="0" sz="2100" u="none" cap="none" strike="noStrike"/>
          </a:p>
        </p:txBody>
      </p:sp>
      <p:sp>
        <p:nvSpPr>
          <p:cNvPr id="597" name="Google Shape;597;p33"/>
          <p:cNvSpPr/>
          <p:nvPr/>
        </p:nvSpPr>
        <p:spPr>
          <a:xfrm>
            <a:off x="793790" y="4753895"/>
            <a:ext cx="6408000" cy="306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3"/>
          <p:cNvSpPr/>
          <p:nvPr/>
        </p:nvSpPr>
        <p:spPr>
          <a:xfrm>
            <a:off x="793790" y="492820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Delivery Monitoring</a:t>
            </a:r>
            <a:endParaRPr b="0" i="0" sz="2200" u="none" cap="none" strike="noStrike"/>
          </a:p>
        </p:txBody>
      </p:sp>
      <p:sp>
        <p:nvSpPr>
          <p:cNvPr id="599" name="Google Shape;599;p33"/>
          <p:cNvSpPr/>
          <p:nvPr/>
        </p:nvSpPr>
        <p:spPr>
          <a:xfrm>
            <a:off x="793790" y="5418621"/>
            <a:ext cx="6408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Tracking alerts, verification</a:t>
            </a:r>
            <a:endParaRPr b="0" i="0" sz="1750" u="none" cap="none" strike="noStrike"/>
          </a:p>
        </p:txBody>
      </p:sp>
      <p:sp>
        <p:nvSpPr>
          <p:cNvPr id="600" name="Google Shape;600;p33"/>
          <p:cNvSpPr/>
          <p:nvPr/>
        </p:nvSpPr>
        <p:spPr>
          <a:xfrm>
            <a:off x="7428548" y="4398851"/>
            <a:ext cx="453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05</a:t>
            </a:r>
            <a:endParaRPr b="0" i="0" sz="2100" u="none" cap="none" strike="noStrike"/>
          </a:p>
        </p:txBody>
      </p:sp>
      <p:sp>
        <p:nvSpPr>
          <p:cNvPr id="601" name="Google Shape;601;p33"/>
          <p:cNvSpPr/>
          <p:nvPr/>
        </p:nvSpPr>
        <p:spPr>
          <a:xfrm>
            <a:off x="7428548" y="4753895"/>
            <a:ext cx="6408000" cy="306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3"/>
          <p:cNvSpPr/>
          <p:nvPr/>
        </p:nvSpPr>
        <p:spPr>
          <a:xfrm>
            <a:off x="7428548" y="492820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Support Channels</a:t>
            </a:r>
            <a:endParaRPr b="0" i="0" sz="2200" u="none" cap="none" strike="noStrike"/>
          </a:p>
        </p:txBody>
      </p:sp>
      <p:sp>
        <p:nvSpPr>
          <p:cNvPr id="603" name="Google Shape;603;p33"/>
          <p:cNvSpPr/>
          <p:nvPr/>
        </p:nvSpPr>
        <p:spPr>
          <a:xfrm>
            <a:off x="7428548" y="5418621"/>
            <a:ext cx="64080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Portal warnings, escalation paths</a:t>
            </a:r>
            <a:endParaRPr b="0" i="0" sz="1750" u="none" cap="none" strike="noStrike"/>
          </a:p>
        </p:txBody>
      </p:sp>
      <p:sp>
        <p:nvSpPr>
          <p:cNvPr id="604" name="Google Shape;604;p33"/>
          <p:cNvSpPr/>
          <p:nvPr/>
        </p:nvSpPr>
        <p:spPr>
          <a:xfrm>
            <a:off x="793790" y="6617256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CISA, 2023; HHS, 2026</a:t>
            </a:r>
            <a:endParaRPr b="0" i="0" sz="1750" u="none" cap="none" strike="noStrike"/>
          </a:p>
        </p:txBody>
      </p:sp>
      <p:sp>
        <p:nvSpPr>
          <p:cNvPr id="605" name="Google Shape;605;p33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4"/>
          <p:cNvSpPr/>
          <p:nvPr/>
        </p:nvSpPr>
        <p:spPr>
          <a:xfrm>
            <a:off x="793790" y="891064"/>
            <a:ext cx="7394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Employee</a:t>
            </a:r>
            <a:r>
              <a:rPr lang="en-US" sz="445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Facing AI Controls</a:t>
            </a:r>
            <a:endParaRPr b="0" i="0" sz="4450" u="none" cap="none" strike="noStrike"/>
          </a:p>
        </p:txBody>
      </p:sp>
      <p:sp>
        <p:nvSpPr>
          <p:cNvPr id="612" name="Google Shape;612;p34"/>
          <p:cNvSpPr/>
          <p:nvPr/>
        </p:nvSpPr>
        <p:spPr>
          <a:xfrm>
            <a:off x="793790" y="2053471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Internal workforce protection mechanisms</a:t>
            </a:r>
            <a:endParaRPr b="0" i="0" sz="2100" u="none" cap="none" strike="noStrike"/>
          </a:p>
        </p:txBody>
      </p:sp>
      <p:pic>
        <p:nvPicPr>
          <p:cNvPr descr="preencoded.png" id="613" name="Google Shape;6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926675"/>
            <a:ext cx="6244710" cy="3538657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4"/>
          <p:cNvSpPr/>
          <p:nvPr/>
        </p:nvSpPr>
        <p:spPr>
          <a:xfrm>
            <a:off x="7599521" y="319218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Key Controls</a:t>
            </a:r>
            <a:endParaRPr b="0" i="0" sz="2200" u="none" cap="none" strike="noStrike"/>
          </a:p>
        </p:txBody>
      </p:sp>
      <p:sp>
        <p:nvSpPr>
          <p:cNvPr id="615" name="Google Shape;615;p34"/>
          <p:cNvSpPr/>
          <p:nvPr/>
        </p:nvSpPr>
        <p:spPr>
          <a:xfrm>
            <a:off x="7599521" y="3773329"/>
            <a:ext cx="62448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Report-phish button with AI triage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Intelligent mailbox banners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AI-generated analyst summaries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High-risk sender warnings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Invoice anomaly detection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Helpdesk social-engineering alerts</a:t>
            </a:r>
            <a:endParaRPr b="0" i="0" sz="1750" u="none" cap="none" strike="noStrike"/>
          </a:p>
        </p:txBody>
      </p:sp>
      <p:sp>
        <p:nvSpPr>
          <p:cNvPr id="616" name="Google Shape;616;p34"/>
          <p:cNvSpPr/>
          <p:nvPr/>
        </p:nvSpPr>
        <p:spPr>
          <a:xfrm>
            <a:off x="793790" y="6975634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Microsoft, 2025; Microsoft, 2026</a:t>
            </a:r>
            <a:endParaRPr b="0" i="0" sz="1750" u="none" cap="none" strike="noStrike"/>
          </a:p>
        </p:txBody>
      </p:sp>
      <p:sp>
        <p:nvSpPr>
          <p:cNvPr id="617" name="Google Shape;617;p34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5"/>
          <p:cNvSpPr/>
          <p:nvPr/>
        </p:nvSpPr>
        <p:spPr>
          <a:xfrm>
            <a:off x="396835" y="311825"/>
            <a:ext cx="3484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Agentic AI Triage Workflow</a:t>
            </a:r>
            <a:endParaRPr b="0" i="0" sz="2200" u="none" cap="none" strike="noStrike"/>
          </a:p>
        </p:txBody>
      </p:sp>
      <p:sp>
        <p:nvSpPr>
          <p:cNvPr id="624" name="Google Shape;624;p35"/>
          <p:cNvSpPr/>
          <p:nvPr/>
        </p:nvSpPr>
        <p:spPr>
          <a:xfrm>
            <a:off x="396825" y="878030"/>
            <a:ext cx="13836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850"/>
              <a:buFont typeface="Gelasio"/>
              <a:buNone/>
            </a:pP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Automated evidence collection and human review</a:t>
            </a:r>
            <a:endParaRPr b="0" i="0" sz="1800" u="none" cap="none" strike="noStrike"/>
          </a:p>
        </p:txBody>
      </p:sp>
      <p:pic>
        <p:nvPicPr>
          <p:cNvPr descr="preencoded.png" id="625" name="Google Shape;6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708" y="979289"/>
            <a:ext cx="12818864" cy="78193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/>
          <p:nvPr/>
        </p:nvSpPr>
        <p:spPr>
          <a:xfrm>
            <a:off x="1214375" y="2507957"/>
            <a:ext cx="2921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50"/>
              <a:buFont typeface="Gelasio"/>
              <a:buNone/>
            </a:pPr>
            <a:r>
              <a:rPr b="0" i="0" lang="en-US" sz="2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Report</a:t>
            </a:r>
            <a:endParaRPr b="0" i="0" sz="2450" u="none" cap="none" strike="noStrike"/>
          </a:p>
        </p:txBody>
      </p:sp>
      <p:pic>
        <p:nvPicPr>
          <p:cNvPr descr="preencoded.png" id="627" name="Google Shape;62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7083" y="3675850"/>
            <a:ext cx="691828" cy="6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5"/>
          <p:cNvSpPr/>
          <p:nvPr/>
        </p:nvSpPr>
        <p:spPr>
          <a:xfrm>
            <a:off x="3260674" y="5974450"/>
            <a:ext cx="2921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50"/>
              <a:buFont typeface="Gelasio"/>
              <a:buNone/>
            </a:pPr>
            <a:r>
              <a:rPr b="0" i="0" lang="en-US" sz="2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Collect</a:t>
            </a:r>
            <a:endParaRPr b="0" i="0" sz="2450" u="none" cap="none" strike="noStrike"/>
          </a:p>
        </p:txBody>
      </p:sp>
      <p:pic>
        <p:nvPicPr>
          <p:cNvPr descr="preencoded.png" id="629" name="Google Shape;62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8343" y="4097648"/>
            <a:ext cx="691828" cy="6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5"/>
          <p:cNvSpPr/>
          <p:nvPr/>
        </p:nvSpPr>
        <p:spPr>
          <a:xfrm>
            <a:off x="5750176" y="2880895"/>
            <a:ext cx="3016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50"/>
              <a:buFont typeface="Gelasio"/>
              <a:buNone/>
            </a:pPr>
            <a:r>
              <a:rPr b="0" i="0" lang="en-US" sz="2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Analyze</a:t>
            </a:r>
            <a:endParaRPr b="0" i="0" sz="2450" u="none" cap="none" strike="noStrike"/>
          </a:p>
        </p:txBody>
      </p:sp>
      <p:pic>
        <p:nvPicPr>
          <p:cNvPr descr="preencoded.png" id="631" name="Google Shape;63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5386" y="4519448"/>
            <a:ext cx="691828" cy="6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5"/>
          <p:cNvSpPr/>
          <p:nvPr/>
        </p:nvSpPr>
        <p:spPr>
          <a:xfrm>
            <a:off x="7775287" y="6880529"/>
            <a:ext cx="2921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50"/>
              <a:buFont typeface="Gelasio"/>
              <a:buNone/>
            </a:pPr>
            <a:r>
              <a:rPr b="0" i="0" lang="en-US" sz="2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Review</a:t>
            </a:r>
            <a:endParaRPr b="0" i="0" sz="2450" u="none" cap="none" strike="noStrike"/>
          </a:p>
        </p:txBody>
      </p:sp>
      <p:pic>
        <p:nvPicPr>
          <p:cNvPr descr="preencoded.png" id="633" name="Google Shape;633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82213" y="4941247"/>
            <a:ext cx="691828" cy="6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5"/>
          <p:cNvSpPr/>
          <p:nvPr/>
        </p:nvSpPr>
        <p:spPr>
          <a:xfrm>
            <a:off x="10368348" y="3695307"/>
            <a:ext cx="2921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50"/>
              <a:buFont typeface="Gelasio"/>
              <a:buNone/>
            </a:pPr>
            <a:r>
              <a:rPr b="0" i="0" lang="en-US" sz="24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Log</a:t>
            </a:r>
            <a:endParaRPr b="0" i="0" sz="2450" u="none" cap="none" strike="noStrike"/>
          </a:p>
        </p:txBody>
      </p:sp>
      <p:pic>
        <p:nvPicPr>
          <p:cNvPr descr="preencoded.png" id="635" name="Google Shape;635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09784" y="5394179"/>
            <a:ext cx="691828" cy="6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5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2" name="Google Shape;6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6"/>
          <p:cNvSpPr/>
          <p:nvPr/>
        </p:nvSpPr>
        <p:spPr>
          <a:xfrm>
            <a:off x="6280190" y="1206222"/>
            <a:ext cx="6456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Agentic Response Actions</a:t>
            </a:r>
            <a:endParaRPr b="0" i="0" sz="4450" u="none" cap="none" strike="noStrike"/>
          </a:p>
        </p:txBody>
      </p:sp>
      <p:sp>
        <p:nvSpPr>
          <p:cNvPr id="644" name="Google Shape;644;p36"/>
          <p:cNvSpPr/>
          <p:nvPr/>
        </p:nvSpPr>
        <p:spPr>
          <a:xfrm>
            <a:off x="6280190" y="2255163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Separating automation from human approval requirements</a:t>
            </a:r>
            <a:endParaRPr b="0" i="0" sz="1750" u="none" cap="none" strike="noStrike"/>
          </a:p>
        </p:txBody>
      </p:sp>
      <p:sp>
        <p:nvSpPr>
          <p:cNvPr id="645" name="Google Shape;645;p36"/>
          <p:cNvSpPr/>
          <p:nvPr/>
        </p:nvSpPr>
        <p:spPr>
          <a:xfrm>
            <a:off x="6280190" y="3100030"/>
            <a:ext cx="3402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C49F8C"/>
              </a:buClr>
              <a:buSzPts val="2650"/>
              <a:buFont typeface="Gelasio"/>
              <a:buNone/>
            </a:pPr>
            <a:r>
              <a:rPr b="0" i="0" lang="en-US" sz="2650" u="none" cap="none" strike="noStrike">
                <a:solidFill>
                  <a:srgbClr val="C49F8C"/>
                </a:solidFill>
                <a:latin typeface="Gelasio"/>
                <a:ea typeface="Gelasio"/>
                <a:cs typeface="Gelasio"/>
                <a:sym typeface="Gelasio"/>
              </a:rPr>
              <a:t>✓ Automated Actions</a:t>
            </a:r>
            <a:endParaRPr b="0" i="0" sz="2650" u="none" cap="none" strike="noStrike"/>
          </a:p>
        </p:txBody>
      </p:sp>
      <p:sp>
        <p:nvSpPr>
          <p:cNvPr id="646" name="Google Shape;646;p36"/>
          <p:cNvSpPr/>
          <p:nvPr/>
        </p:nvSpPr>
        <p:spPr>
          <a:xfrm>
            <a:off x="6280190" y="3752136"/>
            <a:ext cx="35016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Cluster duplicate reports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Enrich with threat intelligence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Draft analyst summary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Recommend quarantine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Open ticket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Notify SOC queue</a:t>
            </a:r>
            <a:endParaRPr b="0" i="0" sz="1750" u="none" cap="none" strike="noStrike"/>
          </a:p>
        </p:txBody>
      </p:sp>
      <p:sp>
        <p:nvSpPr>
          <p:cNvPr id="647" name="Google Shape;647;p36"/>
          <p:cNvSpPr/>
          <p:nvPr/>
        </p:nvSpPr>
        <p:spPr>
          <a:xfrm>
            <a:off x="10342721" y="3100030"/>
            <a:ext cx="34023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Gelasio"/>
              <a:buNone/>
            </a:pPr>
            <a:r>
              <a:rPr lang="en-US" sz="2650">
                <a:solidFill>
                  <a:srgbClr val="C49F8C"/>
                </a:solidFill>
                <a:latin typeface="Gelasio"/>
                <a:ea typeface="Gelasio"/>
                <a:cs typeface="Gelasio"/>
                <a:sym typeface="Gelasio"/>
              </a:rPr>
              <a:t>⚠</a:t>
            </a:r>
            <a:r>
              <a:rPr b="0" i="0" lang="en-US" sz="2650" cap="none" strike="noStrike">
                <a:solidFill>
                  <a:srgbClr val="C49F8C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650" u="none" cap="none" strike="noStrike">
                <a:solidFill>
                  <a:srgbClr val="C49F8C"/>
                </a:solidFill>
                <a:latin typeface="Gelasio"/>
                <a:ea typeface="Gelasio"/>
                <a:cs typeface="Gelasio"/>
                <a:sym typeface="Gelasio"/>
              </a:rPr>
              <a:t>Approval Required</a:t>
            </a:r>
            <a:endParaRPr b="0" i="0" sz="2650" u="none" cap="none" strike="noStrike"/>
          </a:p>
        </p:txBody>
      </p:sp>
      <p:sp>
        <p:nvSpPr>
          <p:cNvPr id="648" name="Google Shape;648;p36"/>
          <p:cNvSpPr/>
          <p:nvPr/>
        </p:nvSpPr>
        <p:spPr>
          <a:xfrm>
            <a:off x="10342721" y="3767376"/>
            <a:ext cx="35016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Disable account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Freeze transaction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Notify customer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Escalate privacy incident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Block supplier domain globally</a:t>
            </a:r>
            <a:endParaRPr b="0" i="0" sz="1750" u="none" cap="none" strike="noStrike"/>
          </a:p>
        </p:txBody>
      </p:sp>
      <p:sp>
        <p:nvSpPr>
          <p:cNvPr id="649" name="Google Shape;649;p36"/>
          <p:cNvSpPr/>
          <p:nvPr/>
        </p:nvSpPr>
        <p:spPr>
          <a:xfrm>
            <a:off x="12638400" y="7636213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7"/>
          <p:cNvSpPr/>
          <p:nvPr/>
        </p:nvSpPr>
        <p:spPr>
          <a:xfrm>
            <a:off x="781407" y="662464"/>
            <a:ext cx="4537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500"/>
              <a:buFont typeface="Gelasio"/>
              <a:buNone/>
            </a:pPr>
            <a:r>
              <a:rPr b="0" i="0" lang="en-US" sz="35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Reference Architecture</a:t>
            </a:r>
            <a:endParaRPr b="0" i="0" sz="3500" u="none" cap="none" strike="noStrike"/>
          </a:p>
        </p:txBody>
      </p:sp>
      <p:sp>
        <p:nvSpPr>
          <p:cNvPr id="656" name="Google Shape;656;p37"/>
          <p:cNvSpPr/>
          <p:nvPr/>
        </p:nvSpPr>
        <p:spPr>
          <a:xfrm>
            <a:off x="781407" y="1501854"/>
            <a:ext cx="13067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End</a:t>
            </a:r>
            <a:r>
              <a:rPr lang="en-US" sz="18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to</a:t>
            </a:r>
            <a:r>
              <a:rPr lang="en-US" sz="18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8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end security infrastructure components</a:t>
            </a:r>
            <a:endParaRPr b="0" i="0" sz="1800" u="none" cap="none" strike="noStrike"/>
          </a:p>
        </p:txBody>
      </p:sp>
      <p:sp>
        <p:nvSpPr>
          <p:cNvPr id="657" name="Google Shape;657;p37"/>
          <p:cNvSpPr/>
          <p:nvPr/>
        </p:nvSpPr>
        <p:spPr>
          <a:xfrm>
            <a:off x="781407" y="1915478"/>
            <a:ext cx="6463500" cy="1652100"/>
          </a:xfrm>
          <a:prstGeom prst="roundRect">
            <a:avLst>
              <a:gd fmla="val 162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7"/>
          <p:cNvSpPr/>
          <p:nvPr/>
        </p:nvSpPr>
        <p:spPr>
          <a:xfrm>
            <a:off x="960001" y="2094071"/>
            <a:ext cx="535800" cy="535800"/>
          </a:xfrm>
          <a:prstGeom prst="roundRect">
            <a:avLst>
              <a:gd fmla="val 1706496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9" name="Google Shape;6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281" y="2241352"/>
            <a:ext cx="241102" cy="24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7"/>
          <p:cNvSpPr/>
          <p:nvPr/>
        </p:nvSpPr>
        <p:spPr>
          <a:xfrm>
            <a:off x="960001" y="2770465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Data Ingestion</a:t>
            </a:r>
            <a:endParaRPr b="0" i="0" sz="1750" u="none" cap="none" strike="noStrike"/>
          </a:p>
        </p:txBody>
      </p:sp>
      <p:sp>
        <p:nvSpPr>
          <p:cNvPr id="661" name="Google Shape;661;p37"/>
          <p:cNvSpPr/>
          <p:nvPr/>
        </p:nvSpPr>
        <p:spPr>
          <a:xfrm>
            <a:off x="960001" y="3133725"/>
            <a:ext cx="6106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Email, SMS, chat, login, checkout, support</a:t>
            </a:r>
            <a:endParaRPr b="0" i="0" sz="1400" u="none" cap="none" strike="noStrike"/>
          </a:p>
        </p:txBody>
      </p:sp>
      <p:sp>
        <p:nvSpPr>
          <p:cNvPr id="662" name="Google Shape;662;p37"/>
          <p:cNvSpPr/>
          <p:nvPr/>
        </p:nvSpPr>
        <p:spPr>
          <a:xfrm>
            <a:off x="7385447" y="1915478"/>
            <a:ext cx="6463500" cy="1652100"/>
          </a:xfrm>
          <a:prstGeom prst="roundRect">
            <a:avLst>
              <a:gd fmla="val 162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7"/>
          <p:cNvSpPr/>
          <p:nvPr/>
        </p:nvSpPr>
        <p:spPr>
          <a:xfrm>
            <a:off x="7564041" y="2094071"/>
            <a:ext cx="535800" cy="535800"/>
          </a:xfrm>
          <a:prstGeom prst="roundRect">
            <a:avLst>
              <a:gd fmla="val 1706496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1321" y="2241352"/>
            <a:ext cx="241102" cy="24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7"/>
          <p:cNvSpPr/>
          <p:nvPr/>
        </p:nvSpPr>
        <p:spPr>
          <a:xfrm>
            <a:off x="7564041" y="2770465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Preprocessing</a:t>
            </a:r>
            <a:endParaRPr b="0" i="0" sz="1750" u="none" cap="none" strike="noStrike"/>
          </a:p>
        </p:txBody>
      </p:sp>
      <p:sp>
        <p:nvSpPr>
          <p:cNvPr id="666" name="Google Shape;666;p37"/>
          <p:cNvSpPr/>
          <p:nvPr/>
        </p:nvSpPr>
        <p:spPr>
          <a:xfrm>
            <a:off x="7564041" y="3133725"/>
            <a:ext cx="61065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PHI minimization, masking, tokenization</a:t>
            </a:r>
            <a:endParaRPr b="0" i="0" sz="1400" u="none" cap="none" strike="noStrike"/>
          </a:p>
        </p:txBody>
      </p:sp>
      <p:sp>
        <p:nvSpPr>
          <p:cNvPr id="667" name="Google Shape;667;p37"/>
          <p:cNvSpPr/>
          <p:nvPr/>
        </p:nvSpPr>
        <p:spPr>
          <a:xfrm>
            <a:off x="781407" y="3708321"/>
            <a:ext cx="6463500" cy="1652100"/>
          </a:xfrm>
          <a:prstGeom prst="roundRect">
            <a:avLst>
              <a:gd fmla="val 162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7"/>
          <p:cNvSpPr/>
          <p:nvPr/>
        </p:nvSpPr>
        <p:spPr>
          <a:xfrm>
            <a:off x="960001" y="3886914"/>
            <a:ext cx="535800" cy="535800"/>
          </a:xfrm>
          <a:prstGeom prst="roundRect">
            <a:avLst>
              <a:gd fmla="val 1706496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9" name="Google Shape;66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281" y="4034195"/>
            <a:ext cx="241102" cy="24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7"/>
          <p:cNvSpPr/>
          <p:nvPr/>
        </p:nvSpPr>
        <p:spPr>
          <a:xfrm>
            <a:off x="960001" y="4563308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Detection Layer</a:t>
            </a:r>
            <a:endParaRPr b="0" i="0" sz="1750" u="none" cap="none" strike="noStrike"/>
          </a:p>
        </p:txBody>
      </p:sp>
      <p:sp>
        <p:nvSpPr>
          <p:cNvPr id="671" name="Google Shape;671;p37"/>
          <p:cNvSpPr/>
          <p:nvPr/>
        </p:nvSpPr>
        <p:spPr>
          <a:xfrm>
            <a:off x="960001" y="4926568"/>
            <a:ext cx="6106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Rules, ML, transformer/LLM models</a:t>
            </a:r>
            <a:endParaRPr b="0" i="0" sz="1400" u="none" cap="none" strike="noStrike"/>
          </a:p>
        </p:txBody>
      </p:sp>
      <p:sp>
        <p:nvSpPr>
          <p:cNvPr id="672" name="Google Shape;672;p37"/>
          <p:cNvSpPr/>
          <p:nvPr/>
        </p:nvSpPr>
        <p:spPr>
          <a:xfrm>
            <a:off x="7385447" y="3708321"/>
            <a:ext cx="6463500" cy="1652100"/>
          </a:xfrm>
          <a:prstGeom prst="roundRect">
            <a:avLst>
              <a:gd fmla="val 162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7"/>
          <p:cNvSpPr/>
          <p:nvPr/>
        </p:nvSpPr>
        <p:spPr>
          <a:xfrm>
            <a:off x="7564041" y="3886914"/>
            <a:ext cx="535800" cy="535800"/>
          </a:xfrm>
          <a:prstGeom prst="roundRect">
            <a:avLst>
              <a:gd fmla="val 1706496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4" name="Google Shape;67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1321" y="4034195"/>
            <a:ext cx="241102" cy="24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7"/>
          <p:cNvSpPr/>
          <p:nvPr/>
        </p:nvSpPr>
        <p:spPr>
          <a:xfrm>
            <a:off x="7564041" y="4563308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Policy Engine</a:t>
            </a:r>
            <a:endParaRPr b="0" i="0" sz="1750" u="none" cap="none" strike="noStrike"/>
          </a:p>
        </p:txBody>
      </p:sp>
      <p:sp>
        <p:nvSpPr>
          <p:cNvPr id="676" name="Google Shape;676;p37"/>
          <p:cNvSpPr/>
          <p:nvPr/>
        </p:nvSpPr>
        <p:spPr>
          <a:xfrm>
            <a:off x="7564041" y="4926568"/>
            <a:ext cx="61065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Risk thresholds, compliance rules</a:t>
            </a:r>
            <a:endParaRPr b="0" i="0" sz="1400" u="none" cap="none" strike="noStrike"/>
          </a:p>
        </p:txBody>
      </p:sp>
      <p:sp>
        <p:nvSpPr>
          <p:cNvPr id="677" name="Google Shape;677;p37"/>
          <p:cNvSpPr/>
          <p:nvPr/>
        </p:nvSpPr>
        <p:spPr>
          <a:xfrm>
            <a:off x="781407" y="5501164"/>
            <a:ext cx="6463500" cy="1652100"/>
          </a:xfrm>
          <a:prstGeom prst="roundRect">
            <a:avLst>
              <a:gd fmla="val 162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7"/>
          <p:cNvSpPr/>
          <p:nvPr/>
        </p:nvSpPr>
        <p:spPr>
          <a:xfrm>
            <a:off x="960001" y="5679758"/>
            <a:ext cx="535800" cy="535800"/>
          </a:xfrm>
          <a:prstGeom prst="roundRect">
            <a:avLst>
              <a:gd fmla="val 1706496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9" name="Google Shape;679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7281" y="5827038"/>
            <a:ext cx="241102" cy="24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7"/>
          <p:cNvSpPr/>
          <p:nvPr/>
        </p:nvSpPr>
        <p:spPr>
          <a:xfrm>
            <a:off x="960001" y="6356152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Agentic Orchestration</a:t>
            </a:r>
            <a:endParaRPr b="0" i="0" sz="1750" u="none" cap="none" strike="noStrike"/>
          </a:p>
        </p:txBody>
      </p:sp>
      <p:sp>
        <p:nvSpPr>
          <p:cNvPr id="681" name="Google Shape;681;p37"/>
          <p:cNvSpPr/>
          <p:nvPr/>
        </p:nvSpPr>
        <p:spPr>
          <a:xfrm>
            <a:off x="960001" y="6719411"/>
            <a:ext cx="6106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Evidence collection, </a:t>
            </a:r>
            <a:r>
              <a:rPr lang="en-US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triade</a:t>
            </a: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(CIA)</a:t>
            </a:r>
            <a:endParaRPr b="0" i="0" sz="1400" u="none" cap="none" strike="noStrike"/>
          </a:p>
        </p:txBody>
      </p:sp>
      <p:sp>
        <p:nvSpPr>
          <p:cNvPr id="682" name="Google Shape;682;p37"/>
          <p:cNvSpPr/>
          <p:nvPr/>
        </p:nvSpPr>
        <p:spPr>
          <a:xfrm>
            <a:off x="7385447" y="5501164"/>
            <a:ext cx="6463500" cy="1652100"/>
          </a:xfrm>
          <a:prstGeom prst="roundRect">
            <a:avLst>
              <a:gd fmla="val 1622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7"/>
          <p:cNvSpPr/>
          <p:nvPr/>
        </p:nvSpPr>
        <p:spPr>
          <a:xfrm>
            <a:off x="7564041" y="5679758"/>
            <a:ext cx="535800" cy="535800"/>
          </a:xfrm>
          <a:prstGeom prst="roundRect">
            <a:avLst>
              <a:gd fmla="val 1706496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4" name="Google Shape;68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1321" y="5827038"/>
            <a:ext cx="241102" cy="24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7"/>
          <p:cNvSpPr/>
          <p:nvPr/>
        </p:nvSpPr>
        <p:spPr>
          <a:xfrm>
            <a:off x="7564041" y="6356152"/>
            <a:ext cx="22329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Approval Gates</a:t>
            </a:r>
            <a:endParaRPr b="0" i="0" sz="1750" u="none" cap="none" strike="noStrike"/>
          </a:p>
        </p:txBody>
      </p:sp>
      <p:sp>
        <p:nvSpPr>
          <p:cNvPr id="686" name="Google Shape;686;p37"/>
          <p:cNvSpPr/>
          <p:nvPr/>
        </p:nvSpPr>
        <p:spPr>
          <a:xfrm>
            <a:off x="7564041" y="6719411"/>
            <a:ext cx="61065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400"/>
              <a:buFont typeface="Gelasio"/>
              <a:buNone/>
            </a:pPr>
            <a:r>
              <a:rPr b="0" i="0" lang="en-US" sz="14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Human review checkpoints</a:t>
            </a:r>
            <a:endParaRPr b="0" i="0" sz="1400" u="none" cap="none" strike="noStrike"/>
          </a:p>
        </p:txBody>
      </p:sp>
      <p:sp>
        <p:nvSpPr>
          <p:cNvPr id="687" name="Google Shape;687;p37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8"/>
          <p:cNvSpPr/>
          <p:nvPr/>
        </p:nvSpPr>
        <p:spPr>
          <a:xfrm>
            <a:off x="793790" y="866894"/>
            <a:ext cx="5103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Risk and Governance</a:t>
            </a:r>
            <a:endParaRPr b="0" i="0" sz="4000" u="none" cap="none" strike="noStrike"/>
          </a:p>
        </p:txBody>
      </p:sp>
      <p:sp>
        <p:nvSpPr>
          <p:cNvPr id="694" name="Google Shape;694;p38"/>
          <p:cNvSpPr/>
          <p:nvPr/>
        </p:nvSpPr>
        <p:spPr>
          <a:xfrm>
            <a:off x="793790" y="1578293"/>
            <a:ext cx="4083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200"/>
              <a:buFont typeface="Gelasio"/>
              <a:buNone/>
            </a:pPr>
            <a:r>
              <a:rPr b="0" i="0" lang="en-US" sz="3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False Positives</a:t>
            </a:r>
            <a:endParaRPr b="0" i="0" sz="3200" u="none" cap="none" strike="noStrike"/>
          </a:p>
        </p:txBody>
      </p:sp>
      <p:sp>
        <p:nvSpPr>
          <p:cNvPr id="695" name="Google Shape;695;p38"/>
          <p:cNvSpPr/>
          <p:nvPr/>
        </p:nvSpPr>
        <p:spPr>
          <a:xfrm>
            <a:off x="793790" y="2364105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Operational risks of over</a:t>
            </a:r>
            <a:r>
              <a:rPr lang="en-US" sz="16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detection</a:t>
            </a:r>
            <a:endParaRPr b="0" i="0" sz="1600" u="none" cap="none" strike="noStrike"/>
          </a:p>
        </p:txBody>
      </p:sp>
      <p:sp>
        <p:nvSpPr>
          <p:cNvPr id="696" name="Google Shape;696;p38"/>
          <p:cNvSpPr/>
          <p:nvPr/>
        </p:nvSpPr>
        <p:spPr>
          <a:xfrm>
            <a:off x="793790" y="2881074"/>
            <a:ext cx="4225200" cy="1193100"/>
          </a:xfrm>
          <a:prstGeom prst="roundRect">
            <a:avLst>
              <a:gd fmla="val 9197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8"/>
          <p:cNvSpPr/>
          <p:nvPr/>
        </p:nvSpPr>
        <p:spPr>
          <a:xfrm>
            <a:off x="770930" y="2881074"/>
            <a:ext cx="91500" cy="1193100"/>
          </a:xfrm>
          <a:prstGeom prst="roundRect">
            <a:avLst>
              <a:gd fmla="val 3348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8"/>
          <p:cNvSpPr/>
          <p:nvPr/>
        </p:nvSpPr>
        <p:spPr>
          <a:xfrm>
            <a:off x="1089303" y="3108008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Alert Fatigue</a:t>
            </a:r>
            <a:endParaRPr b="0" i="0" sz="2000" u="none" cap="none" strike="noStrike"/>
          </a:p>
        </p:txBody>
      </p:sp>
      <p:sp>
        <p:nvSpPr>
          <p:cNvPr id="699" name="Google Shape;699;p38"/>
          <p:cNvSpPr/>
          <p:nvPr/>
        </p:nvSpPr>
        <p:spPr>
          <a:xfrm>
            <a:off x="1089303" y="3536990"/>
            <a:ext cx="3702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SOC teams overwhelmed by volume</a:t>
            </a:r>
            <a:endParaRPr b="0" i="0" sz="1600" u="none" cap="none" strike="noStrike"/>
          </a:p>
        </p:txBody>
      </p:sp>
      <p:sp>
        <p:nvSpPr>
          <p:cNvPr id="700" name="Google Shape;700;p38"/>
          <p:cNvSpPr/>
          <p:nvPr/>
        </p:nvSpPr>
        <p:spPr>
          <a:xfrm>
            <a:off x="5202555" y="2881074"/>
            <a:ext cx="4225200" cy="1193100"/>
          </a:xfrm>
          <a:prstGeom prst="roundRect">
            <a:avLst>
              <a:gd fmla="val 9197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8"/>
          <p:cNvSpPr/>
          <p:nvPr/>
        </p:nvSpPr>
        <p:spPr>
          <a:xfrm>
            <a:off x="5179695" y="2881074"/>
            <a:ext cx="91500" cy="1193100"/>
          </a:xfrm>
          <a:prstGeom prst="roundRect">
            <a:avLst>
              <a:gd fmla="val 3348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8"/>
          <p:cNvSpPr/>
          <p:nvPr/>
        </p:nvSpPr>
        <p:spPr>
          <a:xfrm>
            <a:off x="5498068" y="3108008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Delayed Prescriptions</a:t>
            </a:r>
            <a:endParaRPr b="0" i="0" sz="2000" u="none" cap="none" strike="noStrike"/>
          </a:p>
        </p:txBody>
      </p:sp>
      <p:sp>
        <p:nvSpPr>
          <p:cNvPr id="703" name="Google Shape;703;p38"/>
          <p:cNvSpPr/>
          <p:nvPr/>
        </p:nvSpPr>
        <p:spPr>
          <a:xfrm>
            <a:off x="5498068" y="3536990"/>
            <a:ext cx="3702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Legitimate orders unnecessarily blocked</a:t>
            </a:r>
            <a:endParaRPr b="0" i="0" sz="1600" u="none" cap="none" strike="noStrike"/>
          </a:p>
        </p:txBody>
      </p:sp>
      <p:sp>
        <p:nvSpPr>
          <p:cNvPr id="704" name="Google Shape;704;p38"/>
          <p:cNvSpPr/>
          <p:nvPr/>
        </p:nvSpPr>
        <p:spPr>
          <a:xfrm>
            <a:off x="9611439" y="2881074"/>
            <a:ext cx="4225200" cy="1193100"/>
          </a:xfrm>
          <a:prstGeom prst="roundRect">
            <a:avLst>
              <a:gd fmla="val 9197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8"/>
          <p:cNvSpPr/>
          <p:nvPr/>
        </p:nvSpPr>
        <p:spPr>
          <a:xfrm>
            <a:off x="9588579" y="2881074"/>
            <a:ext cx="91500" cy="1193100"/>
          </a:xfrm>
          <a:prstGeom prst="roundRect">
            <a:avLst>
              <a:gd fmla="val 3348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8"/>
          <p:cNvSpPr/>
          <p:nvPr/>
        </p:nvSpPr>
        <p:spPr>
          <a:xfrm>
            <a:off x="9906953" y="3108008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Customer Frustration</a:t>
            </a:r>
            <a:endParaRPr b="0" i="0" sz="2000" u="none" cap="none" strike="noStrike"/>
          </a:p>
        </p:txBody>
      </p:sp>
      <p:sp>
        <p:nvSpPr>
          <p:cNvPr id="707" name="Google Shape;707;p38"/>
          <p:cNvSpPr/>
          <p:nvPr/>
        </p:nvSpPr>
        <p:spPr>
          <a:xfrm>
            <a:off x="9906953" y="3536990"/>
            <a:ext cx="3702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Lost trust, unnecessary step</a:t>
            </a:r>
            <a:r>
              <a:rPr lang="en-US" sz="16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ups</a:t>
            </a:r>
            <a:endParaRPr b="0" i="0" sz="1600" u="none" cap="none" strike="noStrike"/>
          </a:p>
        </p:txBody>
      </p:sp>
      <p:sp>
        <p:nvSpPr>
          <p:cNvPr id="708" name="Google Shape;708;p38"/>
          <p:cNvSpPr/>
          <p:nvPr/>
        </p:nvSpPr>
        <p:spPr>
          <a:xfrm>
            <a:off x="793790" y="4349710"/>
            <a:ext cx="51117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200"/>
              <a:buFont typeface="Gelasio"/>
              <a:buNone/>
            </a:pPr>
            <a:r>
              <a:rPr b="0" i="0" lang="en-US" sz="3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False Negatives and Evasion</a:t>
            </a:r>
            <a:endParaRPr b="0" i="0" sz="3200" u="none" cap="none" strike="noStrike"/>
          </a:p>
        </p:txBody>
      </p:sp>
      <p:sp>
        <p:nvSpPr>
          <p:cNvPr id="709" name="Google Shape;709;p38"/>
          <p:cNvSpPr/>
          <p:nvPr/>
        </p:nvSpPr>
        <p:spPr>
          <a:xfrm>
            <a:off x="793790" y="5135523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Why attackers still penetrate defenses</a:t>
            </a:r>
            <a:endParaRPr b="0" i="0" sz="1600" u="none" cap="none" strike="noStrike"/>
          </a:p>
        </p:txBody>
      </p:sp>
      <p:sp>
        <p:nvSpPr>
          <p:cNvPr id="710" name="Google Shape;710;p38"/>
          <p:cNvSpPr/>
          <p:nvPr/>
        </p:nvSpPr>
        <p:spPr>
          <a:xfrm>
            <a:off x="793790" y="5652492"/>
            <a:ext cx="4225200" cy="1193100"/>
          </a:xfrm>
          <a:prstGeom prst="roundRect">
            <a:avLst>
              <a:gd fmla="val 9197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8"/>
          <p:cNvSpPr/>
          <p:nvPr/>
        </p:nvSpPr>
        <p:spPr>
          <a:xfrm>
            <a:off x="770930" y="5652492"/>
            <a:ext cx="91500" cy="1193100"/>
          </a:xfrm>
          <a:prstGeom prst="roundRect">
            <a:avLst>
              <a:gd fmla="val 3348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8"/>
          <p:cNvSpPr/>
          <p:nvPr/>
        </p:nvSpPr>
        <p:spPr>
          <a:xfrm>
            <a:off x="1089303" y="587942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Paraphrased Lures</a:t>
            </a:r>
            <a:endParaRPr b="0" i="0" sz="2000" u="none" cap="none" strike="noStrike"/>
          </a:p>
        </p:txBody>
      </p:sp>
      <p:sp>
        <p:nvSpPr>
          <p:cNvPr id="713" name="Google Shape;713;p38"/>
          <p:cNvSpPr/>
          <p:nvPr/>
        </p:nvSpPr>
        <p:spPr>
          <a:xfrm>
            <a:off x="1089303" y="6308408"/>
            <a:ext cx="3702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Benign-looking sender chains</a:t>
            </a:r>
            <a:endParaRPr b="0" i="0" sz="1600" u="none" cap="none" strike="noStrike"/>
          </a:p>
        </p:txBody>
      </p:sp>
      <p:sp>
        <p:nvSpPr>
          <p:cNvPr id="714" name="Google Shape;714;p38"/>
          <p:cNvSpPr/>
          <p:nvPr/>
        </p:nvSpPr>
        <p:spPr>
          <a:xfrm>
            <a:off x="5202555" y="5652492"/>
            <a:ext cx="4225200" cy="1193100"/>
          </a:xfrm>
          <a:prstGeom prst="roundRect">
            <a:avLst>
              <a:gd fmla="val 9197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8"/>
          <p:cNvSpPr/>
          <p:nvPr/>
        </p:nvSpPr>
        <p:spPr>
          <a:xfrm>
            <a:off x="5179695" y="5652492"/>
            <a:ext cx="91500" cy="1193100"/>
          </a:xfrm>
          <a:prstGeom prst="roundRect">
            <a:avLst>
              <a:gd fmla="val 3348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8"/>
          <p:cNvSpPr/>
          <p:nvPr/>
        </p:nvSpPr>
        <p:spPr>
          <a:xfrm>
            <a:off x="5498068" y="587942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Multilingual Phrasing</a:t>
            </a:r>
            <a:endParaRPr b="0" i="0" sz="2000" u="none" cap="none" strike="noStrike"/>
          </a:p>
        </p:txBody>
      </p:sp>
      <p:sp>
        <p:nvSpPr>
          <p:cNvPr id="717" name="Google Shape;717;p38"/>
          <p:cNvSpPr/>
          <p:nvPr/>
        </p:nvSpPr>
        <p:spPr>
          <a:xfrm>
            <a:off x="5498068" y="6308408"/>
            <a:ext cx="3702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Timing attacks near delivery events</a:t>
            </a:r>
            <a:endParaRPr b="0" i="0" sz="1600" u="none" cap="none" strike="noStrike"/>
          </a:p>
        </p:txBody>
      </p:sp>
      <p:sp>
        <p:nvSpPr>
          <p:cNvPr id="718" name="Google Shape;718;p38"/>
          <p:cNvSpPr/>
          <p:nvPr/>
        </p:nvSpPr>
        <p:spPr>
          <a:xfrm>
            <a:off x="9611439" y="5652492"/>
            <a:ext cx="4225200" cy="1193100"/>
          </a:xfrm>
          <a:prstGeom prst="roundRect">
            <a:avLst>
              <a:gd fmla="val 9197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8"/>
          <p:cNvSpPr/>
          <p:nvPr/>
        </p:nvSpPr>
        <p:spPr>
          <a:xfrm>
            <a:off x="9588579" y="5652492"/>
            <a:ext cx="91500" cy="1193100"/>
          </a:xfrm>
          <a:prstGeom prst="roundRect">
            <a:avLst>
              <a:gd fmla="val 33488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8"/>
          <p:cNvSpPr/>
          <p:nvPr/>
        </p:nvSpPr>
        <p:spPr>
          <a:xfrm>
            <a:off x="9906953" y="5879425"/>
            <a:ext cx="26901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Compromised Accounts</a:t>
            </a:r>
            <a:endParaRPr b="0" i="0" sz="2000" u="none" cap="none" strike="noStrike"/>
          </a:p>
        </p:txBody>
      </p:sp>
      <p:sp>
        <p:nvSpPr>
          <p:cNvPr id="721" name="Google Shape;721;p38"/>
          <p:cNvSpPr/>
          <p:nvPr/>
        </p:nvSpPr>
        <p:spPr>
          <a:xfrm>
            <a:off x="9906953" y="6308408"/>
            <a:ext cx="3702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QR</a:t>
            </a:r>
            <a:r>
              <a:rPr lang="en-US" sz="16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code redirection, attachment pivots</a:t>
            </a:r>
            <a:endParaRPr b="0" i="0" sz="1600" u="none" cap="none" strike="noStrike"/>
          </a:p>
        </p:txBody>
      </p:sp>
      <p:sp>
        <p:nvSpPr>
          <p:cNvPr id="722" name="Google Shape;722;p38"/>
          <p:cNvSpPr/>
          <p:nvPr/>
        </p:nvSpPr>
        <p:spPr>
          <a:xfrm>
            <a:off x="793790" y="7052310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1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NIST, 2023; IBM, 2024; NIST, 2025; OWASP, 2025</a:t>
            </a:r>
            <a:endParaRPr b="0" i="0" sz="1600" u="none" cap="none" strike="noStrike"/>
          </a:p>
        </p:txBody>
      </p:sp>
      <p:sp>
        <p:nvSpPr>
          <p:cNvPr id="723" name="Google Shape;723;p38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9"/>
          <p:cNvSpPr/>
          <p:nvPr/>
        </p:nvSpPr>
        <p:spPr>
          <a:xfrm>
            <a:off x="6280190" y="792480"/>
            <a:ext cx="7556400" cy="12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Privacy Risks in Regulated Environments</a:t>
            </a:r>
            <a:endParaRPr b="0" i="0" sz="4000" u="none" cap="none" strike="noStrike"/>
          </a:p>
        </p:txBody>
      </p:sp>
      <p:sp>
        <p:nvSpPr>
          <p:cNvPr id="730" name="Google Shape;730;p39"/>
          <p:cNvSpPr/>
          <p:nvPr/>
        </p:nvSpPr>
        <p:spPr>
          <a:xfrm>
            <a:off x="6280190" y="2343864"/>
            <a:ext cx="7556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PHI exposure in AI workflows</a:t>
            </a:r>
            <a:endParaRPr b="0" i="0" sz="1600" u="none" cap="none" strike="noStrike"/>
          </a:p>
        </p:txBody>
      </p:sp>
      <p:pic>
        <p:nvPicPr>
          <p:cNvPr descr="preencoded.png" id="731" name="Google Shape;7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0190" y="2860834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39"/>
          <p:cNvSpPr/>
          <p:nvPr/>
        </p:nvSpPr>
        <p:spPr>
          <a:xfrm>
            <a:off x="7020044" y="2860834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PHI Leakage</a:t>
            </a:r>
            <a:endParaRPr b="0" i="0" sz="2000" u="none" cap="none" strike="noStrike"/>
          </a:p>
        </p:txBody>
      </p:sp>
      <p:sp>
        <p:nvSpPr>
          <p:cNvPr id="733" name="Google Shape;733;p39"/>
          <p:cNvSpPr/>
          <p:nvPr/>
        </p:nvSpPr>
        <p:spPr>
          <a:xfrm>
            <a:off x="7020044" y="3289816"/>
            <a:ext cx="6816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Sensitive health information entering model prompts during processing</a:t>
            </a:r>
            <a:endParaRPr b="0" i="0" sz="1600" u="none" cap="none" strike="noStrike"/>
          </a:p>
        </p:txBody>
      </p:sp>
      <p:pic>
        <p:nvPicPr>
          <p:cNvPr descr="preencoded.png" id="734" name="Google Shape;73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3967520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9"/>
          <p:cNvSpPr/>
          <p:nvPr/>
        </p:nvSpPr>
        <p:spPr>
          <a:xfrm>
            <a:off x="7020044" y="3967520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Over-Retention</a:t>
            </a:r>
            <a:endParaRPr b="0" i="0" sz="2000" u="none" cap="none" strike="noStrike"/>
          </a:p>
        </p:txBody>
      </p:sp>
      <p:sp>
        <p:nvSpPr>
          <p:cNvPr id="736" name="Google Shape;736;p39"/>
          <p:cNvSpPr/>
          <p:nvPr/>
        </p:nvSpPr>
        <p:spPr>
          <a:xfrm>
            <a:off x="7020044" y="4396502"/>
            <a:ext cx="6816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Extended storage of support transcripts without proper minimization</a:t>
            </a:r>
            <a:endParaRPr b="0" i="0" sz="1600" u="none" cap="none" strike="noStrike"/>
          </a:p>
        </p:txBody>
      </p:sp>
      <p:pic>
        <p:nvPicPr>
          <p:cNvPr descr="preencoded.png" id="737" name="Google Shape;73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5074206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9"/>
          <p:cNvSpPr/>
          <p:nvPr/>
        </p:nvSpPr>
        <p:spPr>
          <a:xfrm>
            <a:off x="7020044" y="5074206"/>
            <a:ext cx="26682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Vendor Processing Risk</a:t>
            </a:r>
            <a:endParaRPr b="0" i="0" sz="2000" u="none" cap="none" strike="noStrike"/>
          </a:p>
        </p:txBody>
      </p:sp>
      <p:sp>
        <p:nvSpPr>
          <p:cNvPr id="739" name="Google Shape;739;p39"/>
          <p:cNvSpPr/>
          <p:nvPr/>
        </p:nvSpPr>
        <p:spPr>
          <a:xfrm>
            <a:off x="7020044" y="5503188"/>
            <a:ext cx="6816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Third-party model providers accessing protected health information</a:t>
            </a:r>
            <a:endParaRPr b="0" i="0" sz="1600" u="none" cap="none" strike="noStrike"/>
          </a:p>
        </p:txBody>
      </p:sp>
      <p:pic>
        <p:nvPicPr>
          <p:cNvPr descr="preencoded.png" id="740" name="Google Shape;74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6180892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9"/>
          <p:cNvSpPr/>
          <p:nvPr/>
        </p:nvSpPr>
        <p:spPr>
          <a:xfrm>
            <a:off x="7020044" y="6180892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ReIdentification Risk</a:t>
            </a:r>
            <a:endParaRPr b="0" i="0" sz="2000" u="none" cap="none" strike="noStrike"/>
          </a:p>
        </p:txBody>
      </p:sp>
      <p:sp>
        <p:nvSpPr>
          <p:cNvPr id="742" name="Google Shape;742;p39"/>
          <p:cNvSpPr/>
          <p:nvPr/>
        </p:nvSpPr>
        <p:spPr>
          <a:xfrm>
            <a:off x="7020044" y="6609874"/>
            <a:ext cx="68166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Payment</a:t>
            </a:r>
            <a:r>
              <a:rPr lang="en-US" sz="16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linked health inference from transaction patterns</a:t>
            </a:r>
            <a:endParaRPr b="0" i="0" sz="1600" u="none" cap="none" strike="noStrike"/>
          </a:p>
        </p:txBody>
      </p:sp>
      <p:sp>
        <p:nvSpPr>
          <p:cNvPr id="743" name="Google Shape;743;p39"/>
          <p:cNvSpPr/>
          <p:nvPr/>
        </p:nvSpPr>
        <p:spPr>
          <a:xfrm>
            <a:off x="6280190" y="7126843"/>
            <a:ext cx="75564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1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HHS, 2026; NIST, 2023</a:t>
            </a:r>
            <a:endParaRPr b="0" i="0" sz="1600" u="none" cap="none" strike="noStrike"/>
          </a:p>
        </p:txBody>
      </p:sp>
      <p:sp>
        <p:nvSpPr>
          <p:cNvPr id="744" name="Google Shape;744;p39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52400"/>
            <a:ext cx="5761750" cy="79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/>
          <p:cNvSpPr/>
          <p:nvPr/>
        </p:nvSpPr>
        <p:spPr>
          <a:xfrm>
            <a:off x="793790" y="63174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Compliance Map</a:t>
            </a:r>
            <a:endParaRPr b="0" i="0" sz="4450" u="none" cap="none" strike="noStrike"/>
          </a:p>
        </p:txBody>
      </p:sp>
      <p:sp>
        <p:nvSpPr>
          <p:cNvPr id="752" name="Google Shape;752;p40"/>
          <p:cNvSpPr/>
          <p:nvPr/>
        </p:nvSpPr>
        <p:spPr>
          <a:xfrm>
            <a:off x="793790" y="1794153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Regulatory frameworks and security controls</a:t>
            </a:r>
            <a:endParaRPr b="0" i="0" sz="1750" u="none" cap="none" strike="noStrike"/>
          </a:p>
        </p:txBody>
      </p:sp>
      <p:sp>
        <p:nvSpPr>
          <p:cNvPr id="753" name="Google Shape;753;p40"/>
          <p:cNvSpPr/>
          <p:nvPr/>
        </p:nvSpPr>
        <p:spPr>
          <a:xfrm>
            <a:off x="793790" y="2412206"/>
            <a:ext cx="13042800" cy="4567500"/>
          </a:xfrm>
          <a:prstGeom prst="roundRect">
            <a:avLst>
              <a:gd fmla="val 745" name="adj"/>
            </a:avLst>
          </a:prstGeom>
          <a:noFill/>
          <a:ln cap="flat" cmpd="sng" w="9525">
            <a:solidFill>
              <a:srgbClr val="FFFFFF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0"/>
          <p:cNvSpPr/>
          <p:nvPr/>
        </p:nvSpPr>
        <p:spPr>
          <a:xfrm>
            <a:off x="801410" y="2419826"/>
            <a:ext cx="13027500" cy="6504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0"/>
          <p:cNvSpPr/>
          <p:nvPr/>
        </p:nvSpPr>
        <p:spPr>
          <a:xfrm>
            <a:off x="1028343" y="2563535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1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Framework</a:t>
            </a:r>
            <a:endParaRPr b="0" i="0" sz="1750" u="none" cap="none" strike="noStrike"/>
          </a:p>
        </p:txBody>
      </p:sp>
      <p:sp>
        <p:nvSpPr>
          <p:cNvPr id="756" name="Google Shape;756;p40"/>
          <p:cNvSpPr/>
          <p:nvPr/>
        </p:nvSpPr>
        <p:spPr>
          <a:xfrm>
            <a:off x="4940379" y="2563535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1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Security Control</a:t>
            </a:r>
            <a:endParaRPr b="0" i="0" sz="1750" u="none" cap="none" strike="noStrike"/>
          </a:p>
        </p:txBody>
      </p:sp>
      <p:sp>
        <p:nvSpPr>
          <p:cNvPr id="757" name="Google Shape;757;p40"/>
          <p:cNvSpPr/>
          <p:nvPr/>
        </p:nvSpPr>
        <p:spPr>
          <a:xfrm>
            <a:off x="801410" y="3070146"/>
            <a:ext cx="13027500" cy="6504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0"/>
          <p:cNvSpPr/>
          <p:nvPr/>
        </p:nvSpPr>
        <p:spPr>
          <a:xfrm>
            <a:off x="1028343" y="3213854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HIPAA Security Rule</a:t>
            </a:r>
            <a:endParaRPr b="0" i="0" sz="1750" u="none" cap="none" strike="noStrike"/>
          </a:p>
        </p:txBody>
      </p:sp>
      <p:sp>
        <p:nvSpPr>
          <p:cNvPr id="759" name="Google Shape;759;p40"/>
          <p:cNvSpPr/>
          <p:nvPr/>
        </p:nvSpPr>
        <p:spPr>
          <a:xfrm>
            <a:off x="4940379" y="3213854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MFA, Encryption, Logging, Incident Response</a:t>
            </a:r>
            <a:endParaRPr b="0" i="0" sz="1750" u="none" cap="none" strike="noStrike"/>
          </a:p>
        </p:txBody>
      </p:sp>
      <p:sp>
        <p:nvSpPr>
          <p:cNvPr id="760" name="Google Shape;760;p40"/>
          <p:cNvSpPr/>
          <p:nvPr/>
        </p:nvSpPr>
        <p:spPr>
          <a:xfrm>
            <a:off x="801410" y="3720465"/>
            <a:ext cx="13027500" cy="6504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0"/>
          <p:cNvSpPr/>
          <p:nvPr/>
        </p:nvSpPr>
        <p:spPr>
          <a:xfrm>
            <a:off x="1028343" y="3864173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HHS Cybersecurity Goals</a:t>
            </a:r>
            <a:endParaRPr b="0" i="0" sz="1750" u="none" cap="none" strike="noStrike"/>
          </a:p>
        </p:txBody>
      </p:sp>
      <p:sp>
        <p:nvSpPr>
          <p:cNvPr id="762" name="Google Shape;762;p40"/>
          <p:cNvSpPr/>
          <p:nvPr/>
        </p:nvSpPr>
        <p:spPr>
          <a:xfrm>
            <a:off x="4940379" y="3864173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Email Security, Third-Party Risk</a:t>
            </a:r>
            <a:endParaRPr b="0" i="0" sz="1750" u="none" cap="none" strike="noStrike"/>
          </a:p>
        </p:txBody>
      </p:sp>
      <p:sp>
        <p:nvSpPr>
          <p:cNvPr id="763" name="Google Shape;763;p40"/>
          <p:cNvSpPr/>
          <p:nvPr/>
        </p:nvSpPr>
        <p:spPr>
          <a:xfrm>
            <a:off x="801410" y="4370784"/>
            <a:ext cx="13027500" cy="6504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0"/>
          <p:cNvSpPr/>
          <p:nvPr/>
        </p:nvSpPr>
        <p:spPr>
          <a:xfrm>
            <a:off x="1028343" y="4514493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PCI DSS</a:t>
            </a:r>
            <a:endParaRPr b="0" i="0" sz="1750" u="none" cap="none" strike="noStrike"/>
          </a:p>
        </p:txBody>
      </p:sp>
      <p:sp>
        <p:nvSpPr>
          <p:cNvPr id="765" name="Google Shape;765;p40"/>
          <p:cNvSpPr/>
          <p:nvPr/>
        </p:nvSpPr>
        <p:spPr>
          <a:xfrm>
            <a:off x="4940379" y="4514493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MFA, Encryption, Logging</a:t>
            </a:r>
            <a:endParaRPr b="0" i="0" sz="1750" u="none" cap="none" strike="noStrike"/>
          </a:p>
        </p:txBody>
      </p:sp>
      <p:sp>
        <p:nvSpPr>
          <p:cNvPr id="766" name="Google Shape;766;p40"/>
          <p:cNvSpPr/>
          <p:nvPr/>
        </p:nvSpPr>
        <p:spPr>
          <a:xfrm>
            <a:off x="801410" y="5021104"/>
            <a:ext cx="13027500" cy="6504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0"/>
          <p:cNvSpPr/>
          <p:nvPr/>
        </p:nvSpPr>
        <p:spPr>
          <a:xfrm>
            <a:off x="1028343" y="5164812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NIST CSF 2.0</a:t>
            </a:r>
            <a:endParaRPr b="0" i="0" sz="1750" u="none" cap="none" strike="noStrike"/>
          </a:p>
        </p:txBody>
      </p:sp>
      <p:sp>
        <p:nvSpPr>
          <p:cNvPr id="768" name="Google Shape;768;p40"/>
          <p:cNvSpPr/>
          <p:nvPr/>
        </p:nvSpPr>
        <p:spPr>
          <a:xfrm>
            <a:off x="4940379" y="5164812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Governance, Human Review, Logging</a:t>
            </a:r>
            <a:endParaRPr b="0" i="0" sz="1750" u="none" cap="none" strike="noStrike"/>
          </a:p>
        </p:txBody>
      </p:sp>
      <p:sp>
        <p:nvSpPr>
          <p:cNvPr id="769" name="Google Shape;769;p40"/>
          <p:cNvSpPr/>
          <p:nvPr/>
        </p:nvSpPr>
        <p:spPr>
          <a:xfrm>
            <a:off x="801410" y="5671423"/>
            <a:ext cx="13027500" cy="650400"/>
          </a:xfrm>
          <a:prstGeom prst="rect">
            <a:avLst/>
          </a:pr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0"/>
          <p:cNvSpPr/>
          <p:nvPr/>
        </p:nvSpPr>
        <p:spPr>
          <a:xfrm>
            <a:off x="1028343" y="5815132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NIST AI RMF 1.0</a:t>
            </a:r>
            <a:endParaRPr b="0" i="0" sz="1750" u="none" cap="none" strike="noStrike"/>
          </a:p>
        </p:txBody>
      </p:sp>
      <p:sp>
        <p:nvSpPr>
          <p:cNvPr id="771" name="Google Shape;771;p40"/>
          <p:cNvSpPr/>
          <p:nvPr/>
        </p:nvSpPr>
        <p:spPr>
          <a:xfrm>
            <a:off x="4940379" y="5815132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Governance, Explainability, Human Review</a:t>
            </a:r>
            <a:endParaRPr b="0" i="0" sz="1750" u="none" cap="none" strike="noStrike"/>
          </a:p>
        </p:txBody>
      </p:sp>
      <p:sp>
        <p:nvSpPr>
          <p:cNvPr id="772" name="Google Shape;772;p40"/>
          <p:cNvSpPr/>
          <p:nvPr/>
        </p:nvSpPr>
        <p:spPr>
          <a:xfrm>
            <a:off x="801410" y="6321743"/>
            <a:ext cx="13027500" cy="650400"/>
          </a:xfrm>
          <a:prstGeom prst="rect">
            <a:avLst/>
          </a:prstGeom>
          <a:solidFill>
            <a:srgbClr val="FFFFFF">
              <a:alpha val="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0"/>
          <p:cNvSpPr/>
          <p:nvPr/>
        </p:nvSpPr>
        <p:spPr>
          <a:xfrm>
            <a:off x="1028343" y="6465451"/>
            <a:ext cx="345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OWASP LLM Top 10</a:t>
            </a:r>
            <a:endParaRPr b="0" i="0" sz="1750" u="none" cap="none" strike="noStrike"/>
          </a:p>
        </p:txBody>
      </p:sp>
      <p:sp>
        <p:nvSpPr>
          <p:cNvPr id="774" name="Google Shape;774;p40"/>
          <p:cNvSpPr/>
          <p:nvPr/>
        </p:nvSpPr>
        <p:spPr>
          <a:xfrm>
            <a:off x="4940379" y="6465451"/>
            <a:ext cx="866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Governance, Human Review</a:t>
            </a:r>
            <a:endParaRPr b="0" i="0" sz="1750" u="none" cap="none" strike="noStrike"/>
          </a:p>
        </p:txBody>
      </p:sp>
      <p:sp>
        <p:nvSpPr>
          <p:cNvPr id="775" name="Google Shape;775;p40"/>
          <p:cNvSpPr/>
          <p:nvPr/>
        </p:nvSpPr>
        <p:spPr>
          <a:xfrm>
            <a:off x="793790" y="7234833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HHS, 2026; NIST, 2023; NIST, 2024; OWASP, 2025; PCI SSC guidance</a:t>
            </a:r>
            <a:endParaRPr b="0" i="0" sz="1750" u="none" cap="none" strike="noStrike"/>
          </a:p>
        </p:txBody>
      </p:sp>
      <p:sp>
        <p:nvSpPr>
          <p:cNvPr id="776" name="Google Shape;776;p40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1"/>
          <p:cNvSpPr/>
          <p:nvPr/>
        </p:nvSpPr>
        <p:spPr>
          <a:xfrm>
            <a:off x="793790" y="647581"/>
            <a:ext cx="69198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Explainability and Auditability</a:t>
            </a:r>
            <a:endParaRPr b="0" i="0" sz="4000" u="none" cap="none" strike="noStrike"/>
          </a:p>
        </p:txBody>
      </p:sp>
      <p:sp>
        <p:nvSpPr>
          <p:cNvPr id="783" name="Google Shape;783;p41"/>
          <p:cNvSpPr/>
          <p:nvPr/>
        </p:nvSpPr>
        <p:spPr>
          <a:xfrm>
            <a:off x="793790" y="1652945"/>
            <a:ext cx="13042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Mandatory transparency for AI-supported decisions</a:t>
            </a:r>
            <a:endParaRPr b="0" i="0" sz="2000" u="none" cap="none" strike="noStrike"/>
          </a:p>
        </p:txBody>
      </p:sp>
      <p:sp>
        <p:nvSpPr>
          <p:cNvPr id="784" name="Google Shape;784;p41"/>
          <p:cNvSpPr/>
          <p:nvPr/>
        </p:nvSpPr>
        <p:spPr>
          <a:xfrm>
            <a:off x="8637023" y="234492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Required Elements</a:t>
            </a:r>
            <a:endParaRPr b="0" i="0" sz="2000" u="none" cap="none" strike="noStrike"/>
          </a:p>
        </p:txBody>
      </p:sp>
      <p:sp>
        <p:nvSpPr>
          <p:cNvPr id="785" name="Google Shape;785;p41"/>
          <p:cNvSpPr/>
          <p:nvPr/>
        </p:nvSpPr>
        <p:spPr>
          <a:xfrm>
            <a:off x="8637028" y="2847477"/>
            <a:ext cx="4415100" cy="21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Risk score with evidence summary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Model rationale and rule triggers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Human reviewer identification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Action taken and timestamp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Override option with justification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Retention policy enforcement</a:t>
            </a:r>
            <a:endParaRPr b="0" i="0" sz="1600" u="none" cap="none" strike="noStrike"/>
          </a:p>
        </p:txBody>
      </p:sp>
      <p:sp>
        <p:nvSpPr>
          <p:cNvPr id="786" name="Google Shape;786;p41"/>
          <p:cNvSpPr/>
          <p:nvPr/>
        </p:nvSpPr>
        <p:spPr>
          <a:xfrm>
            <a:off x="1114068" y="5412343"/>
            <a:ext cx="57660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300"/>
              <a:buFont typeface="Gelasio"/>
              <a:buNone/>
            </a:pPr>
            <a:r>
              <a:rPr b="0" i="0" lang="en-US" sz="5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100%</a:t>
            </a:r>
            <a:endParaRPr b="0" i="0" sz="5300" u="none" cap="none" strike="noStrike"/>
          </a:p>
        </p:txBody>
      </p:sp>
      <p:sp>
        <p:nvSpPr>
          <p:cNvPr id="787" name="Google Shape;787;p41"/>
          <p:cNvSpPr/>
          <p:nvPr/>
        </p:nvSpPr>
        <p:spPr>
          <a:xfrm>
            <a:off x="2721173" y="6325791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Decision Traceability</a:t>
            </a:r>
            <a:endParaRPr b="0" i="0" sz="2000" u="none" cap="none" strike="noStrike"/>
          </a:p>
        </p:txBody>
      </p:sp>
      <p:sp>
        <p:nvSpPr>
          <p:cNvPr id="788" name="Google Shape;788;p41"/>
          <p:cNvSpPr/>
          <p:nvPr/>
        </p:nvSpPr>
        <p:spPr>
          <a:xfrm>
            <a:off x="793790" y="6754773"/>
            <a:ext cx="6406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Full audit trail required</a:t>
            </a:r>
            <a:endParaRPr b="0" i="0" sz="1600" u="none" cap="none" strike="noStrike"/>
          </a:p>
        </p:txBody>
      </p:sp>
      <p:sp>
        <p:nvSpPr>
          <p:cNvPr id="789" name="Google Shape;789;p41"/>
          <p:cNvSpPr/>
          <p:nvPr/>
        </p:nvSpPr>
        <p:spPr>
          <a:xfrm>
            <a:off x="7750254" y="5412343"/>
            <a:ext cx="57660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5300"/>
              <a:buFont typeface="Gelasio"/>
              <a:buNone/>
            </a:pPr>
            <a:r>
              <a:rPr b="0" i="0" lang="en-US" sz="5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24/7</a:t>
            </a:r>
            <a:endParaRPr b="0" i="0" sz="5300" u="none" cap="none" strike="noStrike"/>
          </a:p>
        </p:txBody>
      </p:sp>
      <p:sp>
        <p:nvSpPr>
          <p:cNvPr id="790" name="Google Shape;790;p41"/>
          <p:cNvSpPr/>
          <p:nvPr/>
        </p:nvSpPr>
        <p:spPr>
          <a:xfrm>
            <a:off x="9357360" y="6325791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Review Access</a:t>
            </a:r>
            <a:endParaRPr b="0" i="0" sz="2000" u="none" cap="none" strike="noStrike"/>
          </a:p>
        </p:txBody>
      </p:sp>
      <p:sp>
        <p:nvSpPr>
          <p:cNvPr id="791" name="Google Shape;791;p41"/>
          <p:cNvSpPr/>
          <p:nvPr/>
        </p:nvSpPr>
        <p:spPr>
          <a:xfrm>
            <a:off x="7429976" y="6754773"/>
            <a:ext cx="6406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Continuous oversight capability</a:t>
            </a:r>
            <a:endParaRPr b="0" i="0" sz="1600" u="none" cap="none" strike="noStrike"/>
          </a:p>
        </p:txBody>
      </p:sp>
      <p:sp>
        <p:nvSpPr>
          <p:cNvPr id="792" name="Google Shape;792;p41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3" name="Google Shape;7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2157200"/>
            <a:ext cx="6919800" cy="32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2"/>
          <p:cNvSpPr/>
          <p:nvPr/>
        </p:nvSpPr>
        <p:spPr>
          <a:xfrm>
            <a:off x="793790" y="670560"/>
            <a:ext cx="97623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200"/>
              <a:buFont typeface="Gelasio"/>
              <a:buNone/>
            </a:pP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Continuous Validation and Red</a:t>
            </a:r>
            <a:r>
              <a:rPr lang="en-US" sz="420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Teaming</a:t>
            </a:r>
            <a:endParaRPr b="0" i="0" sz="4200" u="none" cap="none" strike="noStrike"/>
          </a:p>
        </p:txBody>
      </p:sp>
      <p:sp>
        <p:nvSpPr>
          <p:cNvPr id="800" name="Google Shape;800;p42"/>
          <p:cNvSpPr/>
          <p:nvPr/>
        </p:nvSpPr>
        <p:spPr>
          <a:xfrm>
            <a:off x="793790" y="1753314"/>
            <a:ext cx="13042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Make governance operational through an ongoing validation loop that ensures AI security systems remain effective against evolving threats.</a:t>
            </a:r>
            <a:endParaRPr b="0" i="0" sz="1650" u="none" cap="none" strike="noStrike"/>
          </a:p>
        </p:txBody>
      </p:sp>
      <p:sp>
        <p:nvSpPr>
          <p:cNvPr id="801" name="Google Shape;801;p42"/>
          <p:cNvSpPr/>
          <p:nvPr/>
        </p:nvSpPr>
        <p:spPr>
          <a:xfrm>
            <a:off x="2130147" y="2872978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Benchmark</a:t>
            </a:r>
            <a:endParaRPr b="0" i="0" sz="2100" u="none" cap="none" strike="noStrike"/>
          </a:p>
        </p:txBody>
      </p:sp>
      <p:sp>
        <p:nvSpPr>
          <p:cNvPr id="802" name="Google Shape;802;p42"/>
          <p:cNvSpPr/>
          <p:nvPr/>
        </p:nvSpPr>
        <p:spPr>
          <a:xfrm>
            <a:off x="793790" y="3332321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Establish baseline performance metrics</a:t>
            </a:r>
            <a:endParaRPr b="0" i="0" sz="1650" u="none" cap="none" strike="noStrike"/>
          </a:p>
        </p:txBody>
      </p:sp>
      <p:pic>
        <p:nvPicPr>
          <p:cNvPr descr="preencoded.png" id="803" name="Google Shape;80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2"/>
          <p:cNvSpPr/>
          <p:nvPr/>
        </p:nvSpPr>
        <p:spPr>
          <a:xfrm>
            <a:off x="6527244" y="3240048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</a:t>
            </a:r>
            <a:endParaRPr b="0" i="0" sz="2500" u="none" cap="none" strike="noStrike"/>
          </a:p>
        </p:txBody>
      </p:sp>
      <p:sp>
        <p:nvSpPr>
          <p:cNvPr id="805" name="Google Shape;805;p42"/>
          <p:cNvSpPr/>
          <p:nvPr/>
        </p:nvSpPr>
        <p:spPr>
          <a:xfrm>
            <a:off x="9806702" y="2678906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Simulate Campaigns</a:t>
            </a:r>
            <a:endParaRPr b="0" i="0" sz="2100" u="none" cap="none" strike="noStrike"/>
          </a:p>
        </p:txBody>
      </p:sp>
      <p:sp>
        <p:nvSpPr>
          <p:cNvPr id="806" name="Google Shape;806;p42"/>
          <p:cNvSpPr/>
          <p:nvPr/>
        </p:nvSpPr>
        <p:spPr>
          <a:xfrm>
            <a:off x="9806702" y="3138249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Test with realistic phishing scenarios</a:t>
            </a:r>
            <a:endParaRPr b="0" i="0" sz="1650" u="none" cap="none" strike="noStrike"/>
          </a:p>
        </p:txBody>
      </p:sp>
      <p:pic>
        <p:nvPicPr>
          <p:cNvPr descr="preencoded.png" id="807" name="Google Shape;80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2"/>
          <p:cNvSpPr/>
          <p:nvPr/>
        </p:nvSpPr>
        <p:spPr>
          <a:xfrm>
            <a:off x="7844076" y="3270647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</a:t>
            </a:r>
            <a:endParaRPr b="0" i="0" sz="2500" u="none" cap="none" strike="noStrike"/>
          </a:p>
        </p:txBody>
      </p:sp>
      <p:sp>
        <p:nvSpPr>
          <p:cNvPr id="809" name="Google Shape;809;p42"/>
          <p:cNvSpPr/>
          <p:nvPr/>
        </p:nvSpPr>
        <p:spPr>
          <a:xfrm>
            <a:off x="9806702" y="3843814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</a:t>
            </a:r>
            <a:r>
              <a:rPr lang="en-US" sz="21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Team Models</a:t>
            </a:r>
            <a:endParaRPr b="0" i="0" sz="2100" u="none" cap="none" strike="noStrike"/>
          </a:p>
        </p:txBody>
      </p:sp>
      <p:sp>
        <p:nvSpPr>
          <p:cNvPr id="810" name="Google Shape;810;p42"/>
          <p:cNvSpPr/>
          <p:nvPr/>
        </p:nvSpPr>
        <p:spPr>
          <a:xfrm>
            <a:off x="9806702" y="4303157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Attack your own AI systems</a:t>
            </a:r>
            <a:endParaRPr b="0" i="0" sz="1650" u="none" cap="none" strike="noStrike"/>
          </a:p>
        </p:txBody>
      </p:sp>
      <p:pic>
        <p:nvPicPr>
          <p:cNvPr descr="preencoded.png" id="811" name="Google Shape;8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2"/>
          <p:cNvSpPr/>
          <p:nvPr/>
        </p:nvSpPr>
        <p:spPr>
          <a:xfrm>
            <a:off x="8641199" y="4319230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</a:t>
            </a:r>
            <a:endParaRPr b="0" i="0" sz="2500" u="none" cap="none" strike="noStrike"/>
          </a:p>
        </p:txBody>
      </p:sp>
      <p:sp>
        <p:nvSpPr>
          <p:cNvPr id="813" name="Google Shape;813;p42"/>
          <p:cNvSpPr/>
          <p:nvPr/>
        </p:nvSpPr>
        <p:spPr>
          <a:xfrm>
            <a:off x="9806702" y="5008840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Measure Errors</a:t>
            </a:r>
            <a:endParaRPr b="0" i="0" sz="2100" u="none" cap="none" strike="noStrike"/>
          </a:p>
        </p:txBody>
      </p:sp>
      <p:sp>
        <p:nvSpPr>
          <p:cNvPr id="814" name="Google Shape;814;p42"/>
          <p:cNvSpPr/>
          <p:nvPr/>
        </p:nvSpPr>
        <p:spPr>
          <a:xfrm>
            <a:off x="9806702" y="5468183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Track false positives and negatives</a:t>
            </a:r>
            <a:endParaRPr b="0" i="0" sz="1650" u="none" cap="none" strike="noStrike"/>
          </a:p>
        </p:txBody>
      </p:sp>
      <p:pic>
        <p:nvPicPr>
          <p:cNvPr descr="preencoded.png" id="815" name="Google Shape;81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2"/>
          <p:cNvSpPr/>
          <p:nvPr/>
        </p:nvSpPr>
        <p:spPr>
          <a:xfrm>
            <a:off x="8318421" y="5596176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4</a:t>
            </a:r>
            <a:endParaRPr b="0" i="0" sz="2500" u="none" cap="none" strike="noStrike"/>
          </a:p>
        </p:txBody>
      </p:sp>
      <p:sp>
        <p:nvSpPr>
          <p:cNvPr id="817" name="Google Shape;817;p42"/>
          <p:cNvSpPr/>
          <p:nvPr/>
        </p:nvSpPr>
        <p:spPr>
          <a:xfrm>
            <a:off x="9806702" y="6173867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Adjust Thresholds</a:t>
            </a:r>
            <a:endParaRPr b="0" i="0" sz="2100" u="none" cap="none" strike="noStrike"/>
          </a:p>
        </p:txBody>
      </p:sp>
      <p:sp>
        <p:nvSpPr>
          <p:cNvPr id="818" name="Google Shape;818;p42"/>
          <p:cNvSpPr/>
          <p:nvPr/>
        </p:nvSpPr>
        <p:spPr>
          <a:xfrm>
            <a:off x="9806702" y="6633210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Tune detection sensitivity</a:t>
            </a:r>
            <a:endParaRPr b="0" i="0" sz="1650" u="none" cap="none" strike="noStrike"/>
          </a:p>
        </p:txBody>
      </p:sp>
      <p:pic>
        <p:nvPicPr>
          <p:cNvPr descr="preencoded.png" id="819" name="Google Shape;819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2"/>
          <p:cNvSpPr/>
          <p:nvPr/>
        </p:nvSpPr>
        <p:spPr>
          <a:xfrm>
            <a:off x="7118747" y="6139934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5</a:t>
            </a:r>
            <a:endParaRPr b="0" i="0" sz="2500" u="none" cap="none" strike="noStrike"/>
          </a:p>
        </p:txBody>
      </p:sp>
      <p:sp>
        <p:nvSpPr>
          <p:cNvPr id="821" name="Google Shape;821;p42"/>
          <p:cNvSpPr/>
          <p:nvPr/>
        </p:nvSpPr>
        <p:spPr>
          <a:xfrm>
            <a:off x="2130147" y="5979676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Retrain Systems</a:t>
            </a:r>
            <a:endParaRPr b="0" i="0" sz="2100" u="none" cap="none" strike="noStrike"/>
          </a:p>
        </p:txBody>
      </p:sp>
      <p:sp>
        <p:nvSpPr>
          <p:cNvPr id="822" name="Google Shape;822;p42"/>
          <p:cNvSpPr/>
          <p:nvPr/>
        </p:nvSpPr>
        <p:spPr>
          <a:xfrm>
            <a:off x="793790" y="6439019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Update models with new data</a:t>
            </a:r>
            <a:endParaRPr b="0" i="0" sz="1650" u="none" cap="none" strike="noStrike"/>
          </a:p>
        </p:txBody>
      </p:sp>
      <p:pic>
        <p:nvPicPr>
          <p:cNvPr descr="preencoded.png" id="823" name="Google Shape;82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42"/>
          <p:cNvSpPr/>
          <p:nvPr/>
        </p:nvSpPr>
        <p:spPr>
          <a:xfrm>
            <a:off x="5945624" y="5541169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6</a:t>
            </a:r>
            <a:endParaRPr b="0" i="0" sz="2500" u="none" cap="none" strike="noStrike"/>
          </a:p>
        </p:txBody>
      </p:sp>
      <p:sp>
        <p:nvSpPr>
          <p:cNvPr id="825" name="Google Shape;825;p42"/>
          <p:cNvSpPr/>
          <p:nvPr/>
        </p:nvSpPr>
        <p:spPr>
          <a:xfrm>
            <a:off x="2130147" y="4426268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Reaudit Controls</a:t>
            </a:r>
            <a:endParaRPr b="0" i="0" sz="2100" u="none" cap="none" strike="noStrike"/>
          </a:p>
        </p:txBody>
      </p:sp>
      <p:sp>
        <p:nvSpPr>
          <p:cNvPr id="826" name="Google Shape;826;p42"/>
          <p:cNvSpPr/>
          <p:nvPr/>
        </p:nvSpPr>
        <p:spPr>
          <a:xfrm>
            <a:off x="793790" y="4885611"/>
            <a:ext cx="4029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Verify compliance and effectiveness</a:t>
            </a:r>
            <a:endParaRPr b="0" i="0" sz="1650" u="none" cap="none" strike="noStrike"/>
          </a:p>
        </p:txBody>
      </p:sp>
      <p:pic>
        <p:nvPicPr>
          <p:cNvPr descr="preencoded.png" id="827" name="Google Shape;827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2"/>
          <p:cNvSpPr/>
          <p:nvPr/>
        </p:nvSpPr>
        <p:spPr>
          <a:xfrm>
            <a:off x="5682377" y="4250531"/>
            <a:ext cx="322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500"/>
              <a:buFont typeface="Gelasio"/>
              <a:buNone/>
            </a:pPr>
            <a:r>
              <a:rPr b="0" i="0" lang="en-US" sz="2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7</a:t>
            </a:r>
            <a:endParaRPr b="0" i="0" sz="2500" u="none" cap="none" strike="noStrike"/>
          </a:p>
        </p:txBody>
      </p:sp>
      <p:sp>
        <p:nvSpPr>
          <p:cNvPr id="829" name="Google Shape;829;p42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3"/>
          <p:cNvSpPr/>
          <p:nvPr/>
        </p:nvSpPr>
        <p:spPr>
          <a:xfrm>
            <a:off x="793790" y="670560"/>
            <a:ext cx="732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200"/>
              <a:buFont typeface="Gelasio"/>
              <a:buNone/>
            </a:pPr>
            <a:r>
              <a:rPr b="0" i="0" lang="en-US" sz="4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Proposed Practical Framework</a:t>
            </a:r>
            <a:endParaRPr b="0" i="0" sz="4200" u="none" cap="none" strike="noStrike"/>
          </a:p>
        </p:txBody>
      </p:sp>
      <p:sp>
        <p:nvSpPr>
          <p:cNvPr id="836" name="Google Shape;836;p43"/>
          <p:cNvSpPr/>
          <p:nvPr/>
        </p:nvSpPr>
        <p:spPr>
          <a:xfrm>
            <a:off x="793790" y="1753314"/>
            <a:ext cx="13042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 six</a:t>
            </a:r>
            <a:r>
              <a:rPr lang="en-US" sz="20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phase approach to implementing AI-</a:t>
            </a: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powered phishing defense in pharmacy environment</a:t>
            </a: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</a:t>
            </a:r>
            <a:r>
              <a:rPr lang="en-US" sz="200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.</a:t>
            </a:r>
            <a:endParaRPr b="0" i="0" sz="2000" u="none" cap="none" strike="noStrike"/>
          </a:p>
        </p:txBody>
      </p:sp>
      <p:sp>
        <p:nvSpPr>
          <p:cNvPr id="837" name="Google Shape;837;p43"/>
          <p:cNvSpPr/>
          <p:nvPr/>
        </p:nvSpPr>
        <p:spPr>
          <a:xfrm>
            <a:off x="2237899" y="2873097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Scope Attack Surface</a:t>
            </a:r>
            <a:endParaRPr b="0" i="0" sz="2100" u="none" cap="none" strike="noStrike"/>
          </a:p>
        </p:txBody>
      </p:sp>
      <p:sp>
        <p:nvSpPr>
          <p:cNvPr id="838" name="Google Shape;838;p43"/>
          <p:cNvSpPr/>
          <p:nvPr/>
        </p:nvSpPr>
        <p:spPr>
          <a:xfrm>
            <a:off x="793790" y="3332440"/>
            <a:ext cx="413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Map pharmacy</a:t>
            </a:r>
            <a:r>
              <a:rPr lang="en-US" sz="165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</a:t>
            </a: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specific vulnerabilities</a:t>
            </a:r>
            <a:endParaRPr b="0" i="0" sz="1650" u="none" cap="none" strike="noStrike"/>
          </a:p>
        </p:txBody>
      </p:sp>
      <p:pic>
        <p:nvPicPr>
          <p:cNvPr descr="preencoded.png" id="839" name="Google Shape;83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0" name="Google Shape;84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4966" y="3348276"/>
            <a:ext cx="322421" cy="32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3"/>
          <p:cNvSpPr/>
          <p:nvPr/>
        </p:nvSpPr>
        <p:spPr>
          <a:xfrm>
            <a:off x="9698950" y="2873097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Build Privacy Pipeline</a:t>
            </a:r>
            <a:endParaRPr b="0" i="0" sz="2100" u="none" cap="none" strike="noStrike"/>
          </a:p>
        </p:txBody>
      </p:sp>
      <p:sp>
        <p:nvSpPr>
          <p:cNvPr id="842" name="Google Shape;842;p43"/>
          <p:cNvSpPr/>
          <p:nvPr/>
        </p:nvSpPr>
        <p:spPr>
          <a:xfrm>
            <a:off x="9698950" y="3332440"/>
            <a:ext cx="413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Minimize PHI exposure in data flows</a:t>
            </a:r>
            <a:endParaRPr b="0" i="0" sz="1650" u="none" cap="none" strike="noStrike"/>
          </a:p>
        </p:txBody>
      </p:sp>
      <p:pic>
        <p:nvPicPr>
          <p:cNvPr descr="preencoded.png" id="843" name="Google Shape;84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4" name="Google Shape;84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2894" y="3348276"/>
            <a:ext cx="322421" cy="32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43"/>
          <p:cNvSpPr/>
          <p:nvPr/>
        </p:nvSpPr>
        <p:spPr>
          <a:xfrm>
            <a:off x="9914453" y="4426387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Deploy Detection</a:t>
            </a:r>
            <a:endParaRPr b="0" i="0" sz="2100" u="none" cap="none" strike="noStrike"/>
          </a:p>
        </p:txBody>
      </p:sp>
      <p:sp>
        <p:nvSpPr>
          <p:cNvPr id="846" name="Google Shape;846;p43"/>
          <p:cNvSpPr/>
          <p:nvPr/>
        </p:nvSpPr>
        <p:spPr>
          <a:xfrm>
            <a:off x="9914453" y="4885730"/>
            <a:ext cx="3922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Layer multiple security controls</a:t>
            </a:r>
            <a:endParaRPr b="0" i="0" sz="1650" u="none" cap="none" strike="noStrike"/>
          </a:p>
        </p:txBody>
      </p:sp>
      <p:pic>
        <p:nvPicPr>
          <p:cNvPr descr="preencoded.png" id="847" name="Google Shape;847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8" name="Google Shape;848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71798" y="4662845"/>
            <a:ext cx="322421" cy="32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43"/>
          <p:cNvSpPr/>
          <p:nvPr/>
        </p:nvSpPr>
        <p:spPr>
          <a:xfrm>
            <a:off x="9698950" y="5979676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Bounded Triage</a:t>
            </a:r>
            <a:endParaRPr b="0" i="0" sz="2100" u="none" cap="none" strike="noStrike"/>
          </a:p>
        </p:txBody>
      </p:sp>
      <p:sp>
        <p:nvSpPr>
          <p:cNvPr id="850" name="Google Shape;850;p43"/>
          <p:cNvSpPr/>
          <p:nvPr/>
        </p:nvSpPr>
        <p:spPr>
          <a:xfrm>
            <a:off x="9698950" y="6439019"/>
            <a:ext cx="413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Use agentic AI within safe limits</a:t>
            </a:r>
            <a:endParaRPr b="0" i="0" sz="1650" u="none" cap="none" strike="noStrike"/>
          </a:p>
        </p:txBody>
      </p:sp>
      <p:pic>
        <p:nvPicPr>
          <p:cNvPr descr="preencoded.png" id="851" name="Google Shape;851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2" name="Google Shape;852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12894" y="5977295"/>
            <a:ext cx="322421" cy="32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43"/>
          <p:cNvSpPr/>
          <p:nvPr/>
        </p:nvSpPr>
        <p:spPr>
          <a:xfrm>
            <a:off x="2237899" y="5979676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Govern Controls</a:t>
            </a:r>
            <a:endParaRPr b="0" i="0" sz="2100" u="none" cap="none" strike="noStrike"/>
          </a:p>
        </p:txBody>
      </p:sp>
      <p:sp>
        <p:nvSpPr>
          <p:cNvPr id="854" name="Google Shape;854;p43"/>
          <p:cNvSpPr/>
          <p:nvPr/>
        </p:nvSpPr>
        <p:spPr>
          <a:xfrm>
            <a:off x="793790" y="6439019"/>
            <a:ext cx="413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Enforce compliance and audit trails</a:t>
            </a:r>
            <a:endParaRPr b="0" i="0" sz="1650" u="none" cap="none" strike="noStrike"/>
          </a:p>
        </p:txBody>
      </p:sp>
      <p:pic>
        <p:nvPicPr>
          <p:cNvPr descr="preencoded.png" id="855" name="Google Shape;855;p4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6" name="Google Shape;856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94966" y="5977295"/>
            <a:ext cx="322421" cy="32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3"/>
          <p:cNvSpPr/>
          <p:nvPr/>
        </p:nvSpPr>
        <p:spPr>
          <a:xfrm>
            <a:off x="1637705" y="4426387"/>
            <a:ext cx="3078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100"/>
              <a:buFont typeface="Gelasio"/>
              <a:buNone/>
            </a:pPr>
            <a:r>
              <a:rPr b="0" i="0" lang="en-US" sz="21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Continuous Improvement</a:t>
            </a:r>
            <a:endParaRPr b="0" i="0" sz="2100" u="none" cap="none" strike="noStrike"/>
          </a:p>
        </p:txBody>
      </p:sp>
      <p:sp>
        <p:nvSpPr>
          <p:cNvPr id="858" name="Google Shape;858;p43"/>
          <p:cNvSpPr/>
          <p:nvPr/>
        </p:nvSpPr>
        <p:spPr>
          <a:xfrm>
            <a:off x="793790" y="4885730"/>
            <a:ext cx="3922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Refine through metrics and testing</a:t>
            </a:r>
            <a:endParaRPr b="0" i="0" sz="1650" u="none" cap="none" strike="noStrike"/>
          </a:p>
        </p:txBody>
      </p:sp>
      <p:pic>
        <p:nvPicPr>
          <p:cNvPr descr="preencoded.png" id="859" name="Google Shape;859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46834" y="2655808"/>
            <a:ext cx="4336733" cy="4336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0" name="Google Shape;860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36062" y="4662845"/>
            <a:ext cx="322421" cy="322421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43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4"/>
          <p:cNvSpPr/>
          <p:nvPr/>
        </p:nvSpPr>
        <p:spPr>
          <a:xfrm>
            <a:off x="793790" y="679013"/>
            <a:ext cx="7798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Phase 1: Readiness Assessment</a:t>
            </a:r>
            <a:endParaRPr b="0" i="0" sz="4450" u="none" cap="none" strike="noStrike"/>
          </a:p>
        </p:txBody>
      </p:sp>
      <p:sp>
        <p:nvSpPr>
          <p:cNvPr id="868" name="Google Shape;868;p44"/>
          <p:cNvSpPr/>
          <p:nvPr/>
        </p:nvSpPr>
        <p:spPr>
          <a:xfrm>
            <a:off x="793790" y="238422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Assessment Areas</a:t>
            </a:r>
            <a:endParaRPr b="0" i="0" sz="2200" u="none" cap="none" strike="noStrike"/>
          </a:p>
        </p:txBody>
      </p:sp>
      <p:sp>
        <p:nvSpPr>
          <p:cNvPr id="869" name="Google Shape;869;p44"/>
          <p:cNvSpPr/>
          <p:nvPr/>
        </p:nvSpPr>
        <p:spPr>
          <a:xfrm>
            <a:off x="793790" y="2965371"/>
            <a:ext cx="4205100" cy="3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Data inventory and classification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Current phishing volume trends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Historical incident patterns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Email security maturity level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MFA coverage across systems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Vendor dependency mapping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SOC staffing and capabilities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Customer-service workflows</a:t>
            </a:r>
            <a:endParaRPr b="0" i="0" sz="1750" u="none" cap="none" strike="noStrike"/>
          </a:p>
        </p:txBody>
      </p:sp>
      <p:sp>
        <p:nvSpPr>
          <p:cNvPr id="870" name="Google Shape;870;p44"/>
          <p:cNvSpPr/>
          <p:nvPr/>
        </p:nvSpPr>
        <p:spPr>
          <a:xfrm>
            <a:off x="793790" y="7187684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NIST, 2024; HHS Cyber Gateway, 2026</a:t>
            </a:r>
            <a:endParaRPr b="0" i="0" sz="1750" u="none" cap="none" strike="noStrike"/>
          </a:p>
        </p:txBody>
      </p:sp>
      <p:sp>
        <p:nvSpPr>
          <p:cNvPr id="871" name="Google Shape;871;p44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5"/>
          <p:cNvSpPr/>
          <p:nvPr/>
        </p:nvSpPr>
        <p:spPr>
          <a:xfrm>
            <a:off x="793790" y="787956"/>
            <a:ext cx="55812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300"/>
              <a:buFont typeface="Gelasio"/>
              <a:buNone/>
            </a:pPr>
            <a:r>
              <a:rPr b="0" i="0" lang="en-US" sz="33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Phase 2: Secure Data Pipeline</a:t>
            </a:r>
            <a:endParaRPr b="0" i="0" sz="3300" u="none" cap="none" strike="noStrike"/>
          </a:p>
        </p:txBody>
      </p:sp>
      <p:sp>
        <p:nvSpPr>
          <p:cNvPr id="878" name="Google Shape;878;p45"/>
          <p:cNvSpPr/>
          <p:nvPr/>
        </p:nvSpPr>
        <p:spPr>
          <a:xfrm>
            <a:off x="793790" y="1574721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Implement privacy-first AI by minimizing PHI exposure throughout the entire data processing workflow.</a:t>
            </a:r>
            <a:endParaRPr b="0" i="0" sz="1300" u="none" cap="none" strike="noStrike"/>
          </a:p>
        </p:txBody>
      </p:sp>
      <p:pic>
        <p:nvPicPr>
          <p:cNvPr descr="preencoded.png" id="879" name="Google Shape;87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56316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45"/>
          <p:cNvSpPr/>
          <p:nvPr/>
        </p:nvSpPr>
        <p:spPr>
          <a:xfrm>
            <a:off x="1771888" y="2126337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Ingestion</a:t>
            </a:r>
            <a:endParaRPr b="0" i="0" sz="1650" u="none" cap="none" strike="noStrike"/>
          </a:p>
        </p:txBody>
      </p:sp>
      <p:sp>
        <p:nvSpPr>
          <p:cNvPr id="881" name="Google Shape;881;p45"/>
          <p:cNvSpPr/>
          <p:nvPr/>
        </p:nvSpPr>
        <p:spPr>
          <a:xfrm>
            <a:off x="1771888" y="2468523"/>
            <a:ext cx="12064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Collect only necessary signals</a:t>
            </a:r>
            <a:endParaRPr b="0" i="0" sz="1300" u="none" cap="none" strike="noStrike"/>
          </a:p>
        </p:txBody>
      </p:sp>
      <p:pic>
        <p:nvPicPr>
          <p:cNvPr descr="preencoded.png" id="882" name="Google Shape;88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977039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5"/>
          <p:cNvSpPr/>
          <p:nvPr/>
        </p:nvSpPr>
        <p:spPr>
          <a:xfrm>
            <a:off x="1771888" y="3147060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Minimization</a:t>
            </a:r>
            <a:endParaRPr b="0" i="0" sz="1650" u="none" cap="none" strike="noStrike"/>
          </a:p>
        </p:txBody>
      </p:sp>
      <p:sp>
        <p:nvSpPr>
          <p:cNvPr id="884" name="Google Shape;884;p45"/>
          <p:cNvSpPr/>
          <p:nvPr/>
        </p:nvSpPr>
        <p:spPr>
          <a:xfrm>
            <a:off x="1771888" y="3489246"/>
            <a:ext cx="12064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Mask PHI and tokenize identifiers</a:t>
            </a:r>
            <a:endParaRPr b="0" i="0" sz="1300" u="none" cap="none" strike="noStrike"/>
          </a:p>
        </p:txBody>
      </p:sp>
      <p:pic>
        <p:nvPicPr>
          <p:cNvPr descr="preencoded.png" id="885" name="Google Shape;88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997762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45"/>
          <p:cNvSpPr/>
          <p:nvPr/>
        </p:nvSpPr>
        <p:spPr>
          <a:xfrm>
            <a:off x="1771888" y="4167783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Analysis</a:t>
            </a:r>
            <a:endParaRPr b="0" i="0" sz="1650" u="none" cap="none" strike="noStrike"/>
          </a:p>
        </p:txBody>
      </p:sp>
      <p:sp>
        <p:nvSpPr>
          <p:cNvPr id="887" name="Google Shape;887;p45"/>
          <p:cNvSpPr/>
          <p:nvPr/>
        </p:nvSpPr>
        <p:spPr>
          <a:xfrm>
            <a:off x="1771888" y="4509968"/>
            <a:ext cx="12064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Separate prompts from raw records</a:t>
            </a:r>
            <a:endParaRPr b="0" i="0" sz="1300" u="none" cap="none" strike="noStrike"/>
          </a:p>
        </p:txBody>
      </p:sp>
      <p:pic>
        <p:nvPicPr>
          <p:cNvPr descr="preencoded.png" id="888" name="Google Shape;88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018484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5"/>
          <p:cNvSpPr/>
          <p:nvPr/>
        </p:nvSpPr>
        <p:spPr>
          <a:xfrm>
            <a:off x="1771888" y="5188506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Policy Engine</a:t>
            </a:r>
            <a:endParaRPr b="0" i="0" sz="1650" u="none" cap="none" strike="noStrike"/>
          </a:p>
        </p:txBody>
      </p:sp>
      <p:sp>
        <p:nvSpPr>
          <p:cNvPr id="890" name="Google Shape;890;p45"/>
          <p:cNvSpPr/>
          <p:nvPr/>
        </p:nvSpPr>
        <p:spPr>
          <a:xfrm>
            <a:off x="1771888" y="5530691"/>
            <a:ext cx="12064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Restrict permissions and log access</a:t>
            </a:r>
            <a:endParaRPr b="0" i="0" sz="1300" u="none" cap="none" strike="noStrike"/>
          </a:p>
        </p:txBody>
      </p:sp>
      <p:pic>
        <p:nvPicPr>
          <p:cNvPr descr="preencoded.png" id="891" name="Google Shape;89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6039207"/>
            <a:ext cx="850583" cy="10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5"/>
          <p:cNvSpPr/>
          <p:nvPr/>
        </p:nvSpPr>
        <p:spPr>
          <a:xfrm>
            <a:off x="1771888" y="6209228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b="0" i="0" lang="en-US" sz="16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Audit</a:t>
            </a:r>
            <a:endParaRPr b="0" i="0" sz="1650" u="none" cap="none" strike="noStrike"/>
          </a:p>
        </p:txBody>
      </p:sp>
      <p:sp>
        <p:nvSpPr>
          <p:cNvPr id="893" name="Google Shape;893;p45"/>
          <p:cNvSpPr/>
          <p:nvPr/>
        </p:nvSpPr>
        <p:spPr>
          <a:xfrm>
            <a:off x="1771888" y="6551414"/>
            <a:ext cx="12064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0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Enforce retention limits</a:t>
            </a:r>
            <a:endParaRPr b="0" i="0" sz="1300" u="none" cap="none" strike="noStrike"/>
          </a:p>
        </p:txBody>
      </p:sp>
      <p:sp>
        <p:nvSpPr>
          <p:cNvPr id="894" name="Google Shape;894;p45"/>
          <p:cNvSpPr/>
          <p:nvPr/>
        </p:nvSpPr>
        <p:spPr>
          <a:xfrm>
            <a:off x="793790" y="7203400"/>
            <a:ext cx="1304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300"/>
              <a:buFont typeface="Gelasio"/>
              <a:buNone/>
            </a:pPr>
            <a:r>
              <a:rPr b="0" i="1" lang="en-US" sz="13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HHS, 2026; AWS, 2025; NIST, 2023</a:t>
            </a:r>
            <a:endParaRPr b="0" i="0" sz="1300" u="none" cap="none" strike="noStrike"/>
          </a:p>
        </p:txBody>
      </p:sp>
      <p:sp>
        <p:nvSpPr>
          <p:cNvPr id="895" name="Google Shape;895;p45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6"/>
          <p:cNvSpPr/>
          <p:nvPr/>
        </p:nvSpPr>
        <p:spPr>
          <a:xfrm>
            <a:off x="793790" y="950833"/>
            <a:ext cx="6054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Phase 3: Pilot Use Cases</a:t>
            </a:r>
            <a:endParaRPr b="0" i="0" sz="4450" u="none" cap="none" strike="noStrike"/>
          </a:p>
        </p:txBody>
      </p:sp>
      <p:sp>
        <p:nvSpPr>
          <p:cNvPr id="902" name="Google Shape;902;p46"/>
          <p:cNvSpPr/>
          <p:nvPr/>
        </p:nvSpPr>
        <p:spPr>
          <a:xfrm>
            <a:off x="793790" y="211324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Start with practical, high-impact scenarios that demonstrate immediate value while building organizational expertise.</a:t>
            </a:r>
            <a:endParaRPr b="0" i="0" sz="1750" u="none" cap="none" strike="noStrike"/>
          </a:p>
        </p:txBody>
      </p:sp>
      <p:sp>
        <p:nvSpPr>
          <p:cNvPr id="903" name="Google Shape;903;p46"/>
          <p:cNvSpPr/>
          <p:nvPr/>
        </p:nvSpPr>
        <p:spPr>
          <a:xfrm>
            <a:off x="793790" y="2731294"/>
            <a:ext cx="4196400" cy="2032800"/>
          </a:xfrm>
          <a:prstGeom prst="roundRect">
            <a:avLst>
              <a:gd fmla="val 1674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6"/>
          <p:cNvSpPr/>
          <p:nvPr/>
        </p:nvSpPr>
        <p:spPr>
          <a:xfrm>
            <a:off x="1020604" y="295810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Inbound Email Triage</a:t>
            </a:r>
            <a:endParaRPr b="0" i="0" sz="2200" u="none" cap="none" strike="noStrike"/>
          </a:p>
        </p:txBody>
      </p:sp>
      <p:sp>
        <p:nvSpPr>
          <p:cNvPr id="905" name="Google Shape;905;p46"/>
          <p:cNvSpPr/>
          <p:nvPr/>
        </p:nvSpPr>
        <p:spPr>
          <a:xfrm>
            <a:off x="1020604" y="3448526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Automatically analyze and prioritize phishing emails using semantic AI detection</a:t>
            </a:r>
            <a:endParaRPr b="0" i="0" sz="1750" u="none" cap="none" strike="noStrike"/>
          </a:p>
        </p:txBody>
      </p:sp>
      <p:sp>
        <p:nvSpPr>
          <p:cNvPr id="906" name="Google Shape;906;p46"/>
          <p:cNvSpPr/>
          <p:nvPr/>
        </p:nvSpPr>
        <p:spPr>
          <a:xfrm>
            <a:off x="5216962" y="2731294"/>
            <a:ext cx="4196400" cy="2032800"/>
          </a:xfrm>
          <a:prstGeom prst="roundRect">
            <a:avLst>
              <a:gd fmla="val 1674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6"/>
          <p:cNvSpPr/>
          <p:nvPr/>
        </p:nvSpPr>
        <p:spPr>
          <a:xfrm>
            <a:off x="5443776" y="2958108"/>
            <a:ext cx="3690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Account Takeover Prevention</a:t>
            </a:r>
            <a:endParaRPr b="0" i="0" sz="2200" u="none" cap="none" strike="noStrike"/>
          </a:p>
        </p:txBody>
      </p:sp>
      <p:sp>
        <p:nvSpPr>
          <p:cNvPr id="908" name="Google Shape;908;p46"/>
          <p:cNvSpPr/>
          <p:nvPr/>
        </p:nvSpPr>
        <p:spPr>
          <a:xfrm>
            <a:off x="5443776" y="3448526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Detect suspicious login patterns and credential abuse in customer accounts</a:t>
            </a:r>
            <a:endParaRPr b="0" i="0" sz="1750" u="none" cap="none" strike="noStrike"/>
          </a:p>
        </p:txBody>
      </p:sp>
      <p:sp>
        <p:nvSpPr>
          <p:cNvPr id="909" name="Google Shape;909;p46"/>
          <p:cNvSpPr/>
          <p:nvPr/>
        </p:nvSpPr>
        <p:spPr>
          <a:xfrm>
            <a:off x="9640133" y="2731294"/>
            <a:ext cx="4196400" cy="2032800"/>
          </a:xfrm>
          <a:prstGeom prst="roundRect">
            <a:avLst>
              <a:gd fmla="val 1674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6"/>
          <p:cNvSpPr/>
          <p:nvPr/>
        </p:nvSpPr>
        <p:spPr>
          <a:xfrm>
            <a:off x="9866948" y="295810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Helpdesk Protection</a:t>
            </a:r>
            <a:endParaRPr b="0" i="0" sz="2200" u="none" cap="none" strike="noStrike"/>
          </a:p>
        </p:txBody>
      </p:sp>
      <p:sp>
        <p:nvSpPr>
          <p:cNvPr id="911" name="Google Shape;911;p46"/>
          <p:cNvSpPr/>
          <p:nvPr/>
        </p:nvSpPr>
        <p:spPr>
          <a:xfrm>
            <a:off x="9866948" y="3448526"/>
            <a:ext cx="374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Identify social-engineering attempts targeting customer service representatives</a:t>
            </a:r>
            <a:endParaRPr b="0" i="0" sz="1750" u="none" cap="none" strike="noStrike"/>
          </a:p>
        </p:txBody>
      </p:sp>
      <p:sp>
        <p:nvSpPr>
          <p:cNvPr id="912" name="Google Shape;912;p46"/>
          <p:cNvSpPr/>
          <p:nvPr/>
        </p:nvSpPr>
        <p:spPr>
          <a:xfrm>
            <a:off x="793790" y="4990862"/>
            <a:ext cx="6408000" cy="1669800"/>
          </a:xfrm>
          <a:prstGeom prst="roundRect">
            <a:avLst>
              <a:gd fmla="val 2038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6"/>
          <p:cNvSpPr/>
          <p:nvPr/>
        </p:nvSpPr>
        <p:spPr>
          <a:xfrm>
            <a:off x="1020604" y="521767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Invoice Verification</a:t>
            </a:r>
            <a:endParaRPr b="0" i="0" sz="2200" u="none" cap="none" strike="noStrike"/>
          </a:p>
        </p:txBody>
      </p:sp>
      <p:sp>
        <p:nvSpPr>
          <p:cNvPr id="914" name="Google Shape;914;p46"/>
          <p:cNvSpPr/>
          <p:nvPr/>
        </p:nvSpPr>
        <p:spPr>
          <a:xfrm>
            <a:off x="1020604" y="5708094"/>
            <a:ext cx="5954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Flag supplier impersonation and fraudulent payment requests</a:t>
            </a:r>
            <a:endParaRPr b="0" i="0" sz="1750" u="none" cap="none" strike="noStrike"/>
          </a:p>
        </p:txBody>
      </p:sp>
      <p:sp>
        <p:nvSpPr>
          <p:cNvPr id="915" name="Google Shape;915;p46"/>
          <p:cNvSpPr/>
          <p:nvPr/>
        </p:nvSpPr>
        <p:spPr>
          <a:xfrm>
            <a:off x="7428548" y="4990862"/>
            <a:ext cx="6408000" cy="1669800"/>
          </a:xfrm>
          <a:prstGeom prst="roundRect">
            <a:avLst>
              <a:gd fmla="val 2038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6"/>
          <p:cNvSpPr/>
          <p:nvPr/>
        </p:nvSpPr>
        <p:spPr>
          <a:xfrm>
            <a:off x="7655362" y="521767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Transaction Warnings</a:t>
            </a:r>
            <a:endParaRPr b="0" i="0" sz="2200" u="none" cap="none" strike="noStrike"/>
          </a:p>
        </p:txBody>
      </p:sp>
      <p:sp>
        <p:nvSpPr>
          <p:cNvPr id="917" name="Google Shape;917;p46"/>
          <p:cNvSpPr/>
          <p:nvPr/>
        </p:nvSpPr>
        <p:spPr>
          <a:xfrm>
            <a:off x="7655362" y="5708094"/>
            <a:ext cx="5954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Alert on suspicious refill or payment messages requiring human review</a:t>
            </a:r>
            <a:endParaRPr b="0" i="0" sz="1750" u="none" cap="none" strike="noStrike"/>
          </a:p>
        </p:txBody>
      </p:sp>
      <p:sp>
        <p:nvSpPr>
          <p:cNvPr id="918" name="Google Shape;918;p46"/>
          <p:cNvSpPr/>
          <p:nvPr/>
        </p:nvSpPr>
        <p:spPr>
          <a:xfrm>
            <a:off x="793790" y="6915864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Microsoft, 2026; Verizon, 2025; FBI, 2024</a:t>
            </a:r>
            <a:endParaRPr b="0" i="0" sz="1750" u="none" cap="none" strike="noStrike"/>
          </a:p>
        </p:txBody>
      </p:sp>
      <p:sp>
        <p:nvSpPr>
          <p:cNvPr id="919" name="Google Shape;919;p46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6"/>
          <p:cNvSpPr/>
          <p:nvPr/>
        </p:nvSpPr>
        <p:spPr>
          <a:xfrm>
            <a:off x="12638400" y="760467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6" name="Google Shape;92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47"/>
          <p:cNvSpPr/>
          <p:nvPr/>
        </p:nvSpPr>
        <p:spPr>
          <a:xfrm>
            <a:off x="793790" y="812721"/>
            <a:ext cx="65001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750"/>
              <a:buFont typeface="Gelasio"/>
              <a:buNone/>
            </a:pPr>
            <a:r>
              <a:rPr b="0" i="0" lang="en-US" sz="37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Phase 4: Bounded Automation</a:t>
            </a:r>
            <a:endParaRPr b="0" i="0" sz="3750" u="none" cap="none" strike="noStrike"/>
          </a:p>
        </p:txBody>
      </p:sp>
      <p:sp>
        <p:nvSpPr>
          <p:cNvPr id="928" name="Google Shape;928;p47"/>
          <p:cNvSpPr/>
          <p:nvPr/>
        </p:nvSpPr>
        <p:spPr>
          <a:xfrm>
            <a:off x="793790" y="1660922"/>
            <a:ext cx="75564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Define clear autonomy boundaries to ensure AI systems enhance security without introducing unacceptable risk.</a:t>
            </a:r>
            <a:endParaRPr b="0" i="0" sz="1500" u="none" cap="none" strike="noStrike"/>
          </a:p>
        </p:txBody>
      </p:sp>
      <p:sp>
        <p:nvSpPr>
          <p:cNvPr id="929" name="Google Shape;929;p47"/>
          <p:cNvSpPr/>
          <p:nvPr/>
        </p:nvSpPr>
        <p:spPr>
          <a:xfrm>
            <a:off x="793790" y="2415778"/>
            <a:ext cx="7556400" cy="1401300"/>
          </a:xfrm>
          <a:prstGeom prst="roundRect">
            <a:avLst>
              <a:gd fmla="val 2064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47"/>
          <p:cNvSpPr/>
          <p:nvPr/>
        </p:nvSpPr>
        <p:spPr>
          <a:xfrm>
            <a:off x="816650" y="2438638"/>
            <a:ext cx="771300" cy="1355400"/>
          </a:xfrm>
          <a:prstGeom prst="roundRect">
            <a:avLst>
              <a:gd fmla="val 19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1" name="Google Shape;9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632" y="2971681"/>
            <a:ext cx="289203" cy="289203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47"/>
          <p:cNvSpPr/>
          <p:nvPr/>
        </p:nvSpPr>
        <p:spPr>
          <a:xfrm>
            <a:off x="1751648" y="2631400"/>
            <a:ext cx="2585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Green Tier: Safe Actions</a:t>
            </a:r>
            <a:endParaRPr b="0" i="0" sz="1850" u="none" cap="none" strike="noStrike"/>
          </a:p>
        </p:txBody>
      </p:sp>
      <p:sp>
        <p:nvSpPr>
          <p:cNvPr id="933" name="Google Shape;933;p47"/>
          <p:cNvSpPr/>
          <p:nvPr/>
        </p:nvSpPr>
        <p:spPr>
          <a:xfrm>
            <a:off x="1751648" y="3030855"/>
            <a:ext cx="63828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Summarize threats, enrich data, cluster similar incidents, and prioritize alerts for human review</a:t>
            </a:r>
            <a:endParaRPr b="0" i="0" sz="1500" u="none" cap="none" strike="noStrike"/>
          </a:p>
        </p:txBody>
      </p:sp>
      <p:sp>
        <p:nvSpPr>
          <p:cNvPr id="934" name="Google Shape;934;p47"/>
          <p:cNvSpPr/>
          <p:nvPr/>
        </p:nvSpPr>
        <p:spPr>
          <a:xfrm>
            <a:off x="793790" y="3980855"/>
            <a:ext cx="7556400" cy="1401300"/>
          </a:xfrm>
          <a:prstGeom prst="roundRect">
            <a:avLst>
              <a:gd fmla="val 2064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7"/>
          <p:cNvSpPr/>
          <p:nvPr/>
        </p:nvSpPr>
        <p:spPr>
          <a:xfrm>
            <a:off x="816650" y="4003715"/>
            <a:ext cx="771300" cy="1355400"/>
          </a:xfrm>
          <a:prstGeom prst="roundRect">
            <a:avLst>
              <a:gd fmla="val 19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6" name="Google Shape;93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32" y="4536758"/>
            <a:ext cx="289203" cy="289203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47"/>
          <p:cNvSpPr/>
          <p:nvPr/>
        </p:nvSpPr>
        <p:spPr>
          <a:xfrm>
            <a:off x="1751648" y="4196477"/>
            <a:ext cx="3217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Yellow Tier: Caution Required</a:t>
            </a:r>
            <a:endParaRPr b="0" i="0" sz="1850" u="none" cap="none" strike="noStrike"/>
          </a:p>
        </p:txBody>
      </p:sp>
      <p:sp>
        <p:nvSpPr>
          <p:cNvPr id="938" name="Google Shape;938;p47"/>
          <p:cNvSpPr/>
          <p:nvPr/>
        </p:nvSpPr>
        <p:spPr>
          <a:xfrm>
            <a:off x="1751648" y="4595932"/>
            <a:ext cx="63828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Quarantine messages, trigger step-up authentication, escalate tickets to senior analysts</a:t>
            </a:r>
            <a:endParaRPr b="0" i="0" sz="1500" u="none" cap="none" strike="noStrike"/>
          </a:p>
        </p:txBody>
      </p:sp>
      <p:sp>
        <p:nvSpPr>
          <p:cNvPr id="939" name="Google Shape;939;p47"/>
          <p:cNvSpPr/>
          <p:nvPr/>
        </p:nvSpPr>
        <p:spPr>
          <a:xfrm>
            <a:off x="793790" y="5545931"/>
            <a:ext cx="7556400" cy="1401300"/>
          </a:xfrm>
          <a:prstGeom prst="roundRect">
            <a:avLst>
              <a:gd fmla="val 2064" name="adj"/>
            </a:avLst>
          </a:prstGeom>
          <a:solidFill>
            <a:srgbClr val="464342"/>
          </a:solidFill>
          <a:ln cap="flat" cmpd="sng" w="22850">
            <a:solidFill>
              <a:srgbClr val="50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7"/>
          <p:cNvSpPr/>
          <p:nvPr/>
        </p:nvSpPr>
        <p:spPr>
          <a:xfrm>
            <a:off x="816650" y="5568791"/>
            <a:ext cx="771300" cy="1355400"/>
          </a:xfrm>
          <a:prstGeom prst="roundRect">
            <a:avLst>
              <a:gd fmla="val 193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1" name="Google Shape;94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632" y="6101834"/>
            <a:ext cx="289203" cy="289203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7"/>
          <p:cNvSpPr/>
          <p:nvPr/>
        </p:nvSpPr>
        <p:spPr>
          <a:xfrm>
            <a:off x="1751648" y="5761553"/>
            <a:ext cx="2893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 Tier: Human Approval</a:t>
            </a:r>
            <a:endParaRPr b="0" i="0" sz="1850" u="none" cap="none" strike="noStrike"/>
          </a:p>
        </p:txBody>
      </p:sp>
      <p:sp>
        <p:nvSpPr>
          <p:cNvPr id="943" name="Google Shape;943;p47"/>
          <p:cNvSpPr/>
          <p:nvPr/>
        </p:nvSpPr>
        <p:spPr>
          <a:xfrm>
            <a:off x="1751648" y="6161008"/>
            <a:ext cx="63828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Customer notifications, account disablement, legal and privacy incident declarations</a:t>
            </a:r>
            <a:endParaRPr b="0" i="0" sz="1500" u="none" cap="none" strike="noStrike"/>
          </a:p>
        </p:txBody>
      </p:sp>
      <p:sp>
        <p:nvSpPr>
          <p:cNvPr id="944" name="Google Shape;944;p47"/>
          <p:cNvSpPr/>
          <p:nvPr/>
        </p:nvSpPr>
        <p:spPr>
          <a:xfrm>
            <a:off x="793790" y="7131487"/>
            <a:ext cx="7556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1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AWS, 2025; OWASP, 2025; NIST, 2025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8"/>
          <p:cNvSpPr/>
          <p:nvPr/>
        </p:nvSpPr>
        <p:spPr>
          <a:xfrm>
            <a:off x="793790" y="1060252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KPI Dashboard</a:t>
            </a:r>
            <a:endParaRPr b="0" i="0" sz="4450" u="none" cap="none" strike="noStrike"/>
          </a:p>
        </p:txBody>
      </p:sp>
      <p:sp>
        <p:nvSpPr>
          <p:cNvPr id="951" name="Google Shape;951;p48"/>
          <p:cNvSpPr/>
          <p:nvPr/>
        </p:nvSpPr>
        <p:spPr>
          <a:xfrm>
            <a:off x="793790" y="2109192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Track performance across technical, operational, and business metrics to demonstrate security ROI.</a:t>
            </a:r>
            <a:endParaRPr b="0" i="0" sz="1750" u="none" cap="none" strike="noStrike"/>
          </a:p>
        </p:txBody>
      </p:sp>
      <p:sp>
        <p:nvSpPr>
          <p:cNvPr id="952" name="Google Shape;952;p48"/>
          <p:cNvSpPr/>
          <p:nvPr/>
        </p:nvSpPr>
        <p:spPr>
          <a:xfrm>
            <a:off x="793790" y="33169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Technical Metrics</a:t>
            </a:r>
            <a:endParaRPr b="0" i="0" sz="2200" u="none" cap="none" strike="noStrike"/>
          </a:p>
        </p:txBody>
      </p:sp>
      <p:sp>
        <p:nvSpPr>
          <p:cNvPr id="953" name="Google Shape;953;p48"/>
          <p:cNvSpPr/>
          <p:nvPr/>
        </p:nvSpPr>
        <p:spPr>
          <a:xfrm>
            <a:off x="793790" y="3898106"/>
            <a:ext cx="35016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Mean time to triage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Mean time to contain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True positive rate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False positive rate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False negative rate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Click-rate reduction</a:t>
            </a:r>
            <a:endParaRPr b="0" i="0" sz="1750" u="none" cap="none" strike="noStrike"/>
          </a:p>
        </p:txBody>
      </p:sp>
      <p:sp>
        <p:nvSpPr>
          <p:cNvPr id="954" name="Google Shape;954;p48"/>
          <p:cNvSpPr/>
          <p:nvPr/>
        </p:nvSpPr>
        <p:spPr>
          <a:xfrm>
            <a:off x="4856321" y="33169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Business Metrics</a:t>
            </a:r>
            <a:endParaRPr b="0" i="0" sz="2200" u="none" cap="none" strike="noStrike"/>
          </a:p>
        </p:txBody>
      </p:sp>
      <p:sp>
        <p:nvSpPr>
          <p:cNvPr id="955" name="Google Shape;955;p48"/>
          <p:cNvSpPr/>
          <p:nvPr/>
        </p:nvSpPr>
        <p:spPr>
          <a:xfrm>
            <a:off x="4856321" y="3898106"/>
            <a:ext cx="35016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Repeat-report rate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Account takeover incidents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Customer friction rate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Analyst hours saved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Compliance audit exceptions</a:t>
            </a:r>
            <a:endParaRPr b="0" i="0" sz="1750" u="none" cap="none" strike="noStrike"/>
          </a:p>
        </p:txBody>
      </p:sp>
      <p:sp>
        <p:nvSpPr>
          <p:cNvPr id="956" name="Google Shape;956;p48"/>
          <p:cNvSpPr/>
          <p:nvPr/>
        </p:nvSpPr>
        <p:spPr>
          <a:xfrm>
            <a:off x="793790" y="6806446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IBM, 2024; NIST, 2024</a:t>
            </a:r>
            <a:endParaRPr b="0" i="0" sz="1750" u="none" cap="none" strike="noStrike"/>
          </a:p>
        </p:txBody>
      </p:sp>
      <p:pic>
        <p:nvPicPr>
          <p:cNvPr id="957" name="Google Shape;957;p48"/>
          <p:cNvPicPr preferRelativeResize="0"/>
          <p:nvPr/>
        </p:nvPicPr>
        <p:blipFill rotWithShape="1">
          <a:blip r:embed="rId3">
            <a:alphaModFix/>
          </a:blip>
          <a:srcRect b="0" l="0" r="24099" t="0"/>
          <a:stretch/>
        </p:blipFill>
        <p:spPr>
          <a:xfrm>
            <a:off x="8547675" y="2319625"/>
            <a:ext cx="5670600" cy="5017154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48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9"/>
          <p:cNvSpPr/>
          <p:nvPr/>
        </p:nvSpPr>
        <p:spPr>
          <a:xfrm>
            <a:off x="793790" y="795218"/>
            <a:ext cx="4907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750"/>
              <a:buFont typeface="Gelasio"/>
              <a:buNone/>
            </a:pPr>
            <a:r>
              <a:rPr b="0" i="0" lang="en-US" sz="37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Business Case and ROI</a:t>
            </a:r>
            <a:endParaRPr b="0" i="0" sz="3750" u="none" cap="none" strike="noStrike"/>
          </a:p>
        </p:txBody>
      </p:sp>
      <p:sp>
        <p:nvSpPr>
          <p:cNvPr id="965" name="Google Shape;965;p49"/>
          <p:cNvSpPr/>
          <p:nvPr/>
        </p:nvSpPr>
        <p:spPr>
          <a:xfrm>
            <a:off x="793790" y="1725335"/>
            <a:ext cx="130428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Connect AI defense investments to measurable business value across risk reduction and operational efficiency.</a:t>
            </a:r>
            <a:endParaRPr b="0" i="0" sz="1500" u="none" cap="none" strike="noStrike"/>
          </a:p>
        </p:txBody>
      </p:sp>
      <p:pic>
        <p:nvPicPr>
          <p:cNvPr descr="preencoded.png" id="966" name="Google Shape;96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94917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49"/>
          <p:cNvSpPr/>
          <p:nvPr/>
        </p:nvSpPr>
        <p:spPr>
          <a:xfrm>
            <a:off x="793790" y="2881670"/>
            <a:ext cx="2532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Lower Breach Exposure</a:t>
            </a:r>
            <a:endParaRPr b="0" i="0" sz="1850" u="none" cap="none" strike="noStrike"/>
          </a:p>
        </p:txBody>
      </p:sp>
      <p:sp>
        <p:nvSpPr>
          <p:cNvPr id="968" name="Google Shape;968;p49"/>
          <p:cNvSpPr/>
          <p:nvPr/>
        </p:nvSpPr>
        <p:spPr>
          <a:xfrm>
            <a:off x="793790" y="3281124"/>
            <a:ext cx="6419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Reduce probability and impact of successful phishing attacks</a:t>
            </a:r>
            <a:endParaRPr b="0" i="0" sz="1500" u="none" cap="none" strike="noStrike"/>
          </a:p>
        </p:txBody>
      </p:sp>
      <p:pic>
        <p:nvPicPr>
          <p:cNvPr descr="preencoded.png" id="969" name="Google Shape;96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7594" y="2194917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49"/>
          <p:cNvSpPr/>
          <p:nvPr/>
        </p:nvSpPr>
        <p:spPr>
          <a:xfrm>
            <a:off x="7417594" y="2881670"/>
            <a:ext cx="2409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Faster Triage</a:t>
            </a:r>
            <a:endParaRPr b="0" i="0" sz="1850" u="none" cap="none" strike="noStrike"/>
          </a:p>
        </p:txBody>
      </p:sp>
      <p:sp>
        <p:nvSpPr>
          <p:cNvPr id="971" name="Google Shape;971;p49"/>
          <p:cNvSpPr/>
          <p:nvPr/>
        </p:nvSpPr>
        <p:spPr>
          <a:xfrm>
            <a:off x="7417594" y="3281124"/>
            <a:ext cx="6419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Accelerate threat detection and response times</a:t>
            </a:r>
            <a:endParaRPr b="0" i="0" sz="1500" u="none" cap="none" strike="noStrike"/>
          </a:p>
        </p:txBody>
      </p:sp>
      <p:pic>
        <p:nvPicPr>
          <p:cNvPr descr="preencoded.png" id="972" name="Google Shape;97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894058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49"/>
          <p:cNvSpPr/>
          <p:nvPr/>
        </p:nvSpPr>
        <p:spPr>
          <a:xfrm>
            <a:off x="793790" y="4580811"/>
            <a:ext cx="2409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Reduced Workload</a:t>
            </a:r>
            <a:endParaRPr b="0" i="0" sz="1850" u="none" cap="none" strike="noStrike"/>
          </a:p>
        </p:txBody>
      </p:sp>
      <p:sp>
        <p:nvSpPr>
          <p:cNvPr id="974" name="Google Shape;974;p49"/>
          <p:cNvSpPr/>
          <p:nvPr/>
        </p:nvSpPr>
        <p:spPr>
          <a:xfrm>
            <a:off x="793790" y="4980265"/>
            <a:ext cx="6419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Free analysts for high-value investigations</a:t>
            </a:r>
            <a:endParaRPr b="0" i="0" sz="1500" u="none" cap="none" strike="noStrike"/>
          </a:p>
        </p:txBody>
      </p:sp>
      <p:pic>
        <p:nvPicPr>
          <p:cNvPr descr="preencoded.png" id="975" name="Google Shape;975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17594" y="3894058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9"/>
          <p:cNvSpPr/>
          <p:nvPr/>
        </p:nvSpPr>
        <p:spPr>
          <a:xfrm>
            <a:off x="7417594" y="4580811"/>
            <a:ext cx="2409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Lower Fraud Losses</a:t>
            </a:r>
            <a:endParaRPr b="0" i="0" sz="1850" u="none" cap="none" strike="noStrike"/>
          </a:p>
        </p:txBody>
      </p:sp>
      <p:sp>
        <p:nvSpPr>
          <p:cNvPr id="977" name="Google Shape;977;p49"/>
          <p:cNvSpPr/>
          <p:nvPr/>
        </p:nvSpPr>
        <p:spPr>
          <a:xfrm>
            <a:off x="7417594" y="4980265"/>
            <a:ext cx="6419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Prevent financial and data theft</a:t>
            </a:r>
            <a:endParaRPr b="0" i="0" sz="1500" u="none" cap="none" strike="noStrike"/>
          </a:p>
        </p:txBody>
      </p:sp>
      <p:pic>
        <p:nvPicPr>
          <p:cNvPr descr="preencoded.png" id="978" name="Google Shape;978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5593199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49"/>
          <p:cNvSpPr/>
          <p:nvPr/>
        </p:nvSpPr>
        <p:spPr>
          <a:xfrm>
            <a:off x="793790" y="6279952"/>
            <a:ext cx="2409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Better Trust</a:t>
            </a:r>
            <a:endParaRPr b="0" i="0" sz="1850" u="none" cap="none" strike="noStrike"/>
          </a:p>
        </p:txBody>
      </p:sp>
      <p:sp>
        <p:nvSpPr>
          <p:cNvPr id="980" name="Google Shape;980;p49"/>
          <p:cNvSpPr/>
          <p:nvPr/>
        </p:nvSpPr>
        <p:spPr>
          <a:xfrm>
            <a:off x="793790" y="6679406"/>
            <a:ext cx="6419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Strengthen customer confidence</a:t>
            </a:r>
            <a:endParaRPr b="0" i="0" sz="1500" u="none" cap="none" strike="noStrike"/>
          </a:p>
        </p:txBody>
      </p:sp>
      <p:pic>
        <p:nvPicPr>
          <p:cNvPr descr="preencoded.png" id="981" name="Google Shape;981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17594" y="5593199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49"/>
          <p:cNvSpPr/>
          <p:nvPr/>
        </p:nvSpPr>
        <p:spPr>
          <a:xfrm>
            <a:off x="7417594" y="6279952"/>
            <a:ext cx="2409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b="0" i="0" lang="en-US" sz="18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Stronger Compliance</a:t>
            </a:r>
            <a:endParaRPr b="0" i="0" sz="1850" u="none" cap="none" strike="noStrike"/>
          </a:p>
        </p:txBody>
      </p:sp>
      <p:sp>
        <p:nvSpPr>
          <p:cNvPr id="983" name="Google Shape;983;p49"/>
          <p:cNvSpPr/>
          <p:nvPr/>
        </p:nvSpPr>
        <p:spPr>
          <a:xfrm>
            <a:off x="7417594" y="6679406"/>
            <a:ext cx="64191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Meet regulatory requirements</a:t>
            </a:r>
            <a:endParaRPr b="0" i="0" sz="1500" u="none" cap="none" strike="noStrike"/>
          </a:p>
        </p:txBody>
      </p:sp>
      <p:sp>
        <p:nvSpPr>
          <p:cNvPr id="984" name="Google Shape;984;p49"/>
          <p:cNvSpPr/>
          <p:nvPr/>
        </p:nvSpPr>
        <p:spPr>
          <a:xfrm>
            <a:off x="793790" y="7148989"/>
            <a:ext cx="130428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b="0" i="1" lang="en-US" sz="15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IBM, 2024; Verizon, 2025</a:t>
            </a:r>
            <a:endParaRPr b="0" i="0" sz="1500" u="none" cap="none" strike="noStrike"/>
          </a:p>
        </p:txBody>
      </p:sp>
      <p:sp>
        <p:nvSpPr>
          <p:cNvPr id="985" name="Google Shape;985;p49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50"/>
          <p:cNvSpPr/>
          <p:nvPr/>
        </p:nvSpPr>
        <p:spPr>
          <a:xfrm>
            <a:off x="793790" y="1465540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b="0" i="0" lang="en-US" sz="445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Key Findings</a:t>
            </a:r>
            <a:endParaRPr b="0" i="0" sz="4450" u="none" cap="none" strike="noStrike"/>
          </a:p>
        </p:txBody>
      </p:sp>
      <p:sp>
        <p:nvSpPr>
          <p:cNvPr id="992" name="Google Shape;992;p50"/>
          <p:cNvSpPr/>
          <p:nvPr/>
        </p:nvSpPr>
        <p:spPr>
          <a:xfrm>
            <a:off x="793790" y="2627948"/>
            <a:ext cx="4196400" cy="3517800"/>
          </a:xfrm>
          <a:prstGeom prst="roundRect">
            <a:avLst>
              <a:gd fmla="val 967" name="adj"/>
            </a:avLst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50"/>
          <p:cNvSpPr/>
          <p:nvPr/>
        </p:nvSpPr>
        <p:spPr>
          <a:xfrm>
            <a:off x="1020604" y="28547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elasio"/>
                <a:ea typeface="Gelasio"/>
                <a:cs typeface="Gelasio"/>
                <a:sym typeface="Gelasio"/>
              </a:rPr>
              <a:t>What Works</a:t>
            </a:r>
            <a:endParaRPr b="0" i="0" sz="2200" u="none" cap="none" strike="noStrike"/>
          </a:p>
        </p:txBody>
      </p:sp>
      <p:sp>
        <p:nvSpPr>
          <p:cNvPr id="994" name="Google Shape;994;p50"/>
          <p:cNvSpPr/>
          <p:nvPr/>
        </p:nvSpPr>
        <p:spPr>
          <a:xfrm>
            <a:off x="1020604" y="3345180"/>
            <a:ext cx="37428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Gelasio"/>
                <a:ea typeface="Gelasio"/>
                <a:cs typeface="Gelasio"/>
                <a:sym typeface="Gelasio"/>
              </a:rPr>
              <a:t>Semantic AI detection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Gelasio"/>
                <a:ea typeface="Gelasio"/>
                <a:cs typeface="Gelasio"/>
                <a:sym typeface="Gelasio"/>
              </a:rPr>
              <a:t>Behavioral signal fusion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Gelasio"/>
                <a:ea typeface="Gelasio"/>
                <a:cs typeface="Gelasio"/>
                <a:sym typeface="Gelasio"/>
              </a:rPr>
              <a:t>Agentic triage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Gelasio"/>
                <a:ea typeface="Gelasio"/>
                <a:cs typeface="Gelasio"/>
                <a:sym typeface="Gelasio"/>
              </a:rPr>
              <a:t>Phishing-resistant MFA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Gelasio"/>
                <a:ea typeface="Gelasio"/>
                <a:cs typeface="Gelasio"/>
                <a:sym typeface="Gelasio"/>
              </a:rPr>
              <a:t>Continuous validation</a:t>
            </a:r>
            <a:endParaRPr b="0" i="0" sz="1750" u="none" cap="none" strike="noStrike"/>
          </a:p>
        </p:txBody>
      </p:sp>
      <p:sp>
        <p:nvSpPr>
          <p:cNvPr id="995" name="Google Shape;995;p50"/>
          <p:cNvSpPr/>
          <p:nvPr/>
        </p:nvSpPr>
        <p:spPr>
          <a:xfrm>
            <a:off x="5216962" y="2627948"/>
            <a:ext cx="4196400" cy="3517800"/>
          </a:xfrm>
          <a:prstGeom prst="roundRect">
            <a:avLst>
              <a:gd fmla="val 9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50"/>
          <p:cNvSpPr/>
          <p:nvPr/>
        </p:nvSpPr>
        <p:spPr>
          <a:xfrm>
            <a:off x="5443776" y="28547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What Fails</a:t>
            </a:r>
            <a:endParaRPr b="0" i="0" sz="2200" u="none" cap="none" strike="noStrike"/>
          </a:p>
        </p:txBody>
      </p:sp>
      <p:sp>
        <p:nvSpPr>
          <p:cNvPr id="997" name="Google Shape;997;p50"/>
          <p:cNvSpPr/>
          <p:nvPr/>
        </p:nvSpPr>
        <p:spPr>
          <a:xfrm>
            <a:off x="5443776" y="3345180"/>
            <a:ext cx="37428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LLM-only detection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Fully autonomous response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Prompt-only safety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Poor PHI handling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One-time deployment</a:t>
            </a:r>
            <a:endParaRPr b="0" i="0" sz="1750" u="none" cap="none" strike="noStrike"/>
          </a:p>
        </p:txBody>
      </p:sp>
      <p:sp>
        <p:nvSpPr>
          <p:cNvPr id="998" name="Google Shape;998;p50"/>
          <p:cNvSpPr/>
          <p:nvPr/>
        </p:nvSpPr>
        <p:spPr>
          <a:xfrm>
            <a:off x="9640133" y="2627948"/>
            <a:ext cx="4196400" cy="3517800"/>
          </a:xfrm>
          <a:prstGeom prst="roundRect">
            <a:avLst>
              <a:gd fmla="val 967" name="adj"/>
            </a:avLst>
          </a:prstGeom>
          <a:solidFill>
            <a:srgbClr val="37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0"/>
          <p:cNvSpPr/>
          <p:nvPr/>
        </p:nvSpPr>
        <p:spPr>
          <a:xfrm>
            <a:off x="9866948" y="2854762"/>
            <a:ext cx="3074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b="0" i="0" lang="en-US" sz="22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What Must Be Governed</a:t>
            </a:r>
            <a:endParaRPr b="0" i="0" sz="2200" u="none" cap="none" strike="noStrike"/>
          </a:p>
        </p:txBody>
      </p:sp>
      <p:sp>
        <p:nvSpPr>
          <p:cNvPr id="1000" name="Google Shape;1000;p50"/>
          <p:cNvSpPr/>
          <p:nvPr/>
        </p:nvSpPr>
        <p:spPr>
          <a:xfrm>
            <a:off x="9866948" y="3345180"/>
            <a:ext cx="37428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Data access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Model decisions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Agent tools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Human approvals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Audit logs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Char char="•"/>
            </a:pPr>
            <a:r>
              <a:rPr b="0" i="0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Vendor accountability</a:t>
            </a:r>
            <a:endParaRPr b="0" i="0" sz="1750" u="none" cap="none" strike="noStrike"/>
          </a:p>
        </p:txBody>
      </p:sp>
      <p:sp>
        <p:nvSpPr>
          <p:cNvPr id="1001" name="Google Shape;1001;p50"/>
          <p:cNvSpPr/>
          <p:nvPr/>
        </p:nvSpPr>
        <p:spPr>
          <a:xfrm>
            <a:off x="793790" y="6401038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b="0" i="1" lang="en-US" sz="175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Source: Synthesized from HHS, CISA, NIST, OWASP, IBM, Verizon, Microsoft, Google Cloud, and AWS</a:t>
            </a:r>
            <a:endParaRPr b="0" i="0" sz="1750" u="none" cap="none" strike="noStrike"/>
          </a:p>
        </p:txBody>
      </p:sp>
      <p:sp>
        <p:nvSpPr>
          <p:cNvPr id="1002" name="Google Shape;1002;p50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1"/>
          <p:cNvSpPr/>
          <p:nvPr/>
        </p:nvSpPr>
        <p:spPr>
          <a:xfrm>
            <a:off x="793790" y="917258"/>
            <a:ext cx="5103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00"/>
              <a:buFont typeface="Gelasio"/>
              <a:buNone/>
            </a:pPr>
            <a:r>
              <a:rPr b="0" i="0" lang="en-US" sz="4000" u="none" cap="none" strike="noStrik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Recommendations</a:t>
            </a:r>
            <a:endParaRPr b="0" i="0" sz="4000" u="none" cap="none" strike="noStrike"/>
          </a:p>
        </p:txBody>
      </p:sp>
      <p:sp>
        <p:nvSpPr>
          <p:cNvPr id="1009" name="Google Shape;1009;p51"/>
          <p:cNvSpPr/>
          <p:nvPr/>
        </p:nvSpPr>
        <p:spPr>
          <a:xfrm>
            <a:off x="793800" y="1922627"/>
            <a:ext cx="408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01</a:t>
            </a:r>
            <a:endParaRPr b="0" i="0" sz="1600" u="none" cap="none" strike="noStrike"/>
          </a:p>
        </p:txBody>
      </p:sp>
      <p:sp>
        <p:nvSpPr>
          <p:cNvPr id="1010" name="Google Shape;1010;p51"/>
          <p:cNvSpPr/>
          <p:nvPr/>
        </p:nvSpPr>
        <p:spPr>
          <a:xfrm>
            <a:off x="793800" y="2436875"/>
            <a:ext cx="4225200" cy="363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1"/>
          <p:cNvSpPr/>
          <p:nvPr/>
        </p:nvSpPr>
        <p:spPr>
          <a:xfrm>
            <a:off x="793800" y="2671414"/>
            <a:ext cx="3535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Deploy phishing-resistant MFA</a:t>
            </a:r>
            <a:endParaRPr b="0" i="0" sz="2000" u="none" cap="none" strike="noStrike"/>
          </a:p>
        </p:txBody>
      </p:sp>
      <p:sp>
        <p:nvSpPr>
          <p:cNvPr id="1012" name="Google Shape;1012;p51"/>
          <p:cNvSpPr/>
          <p:nvPr/>
        </p:nvSpPr>
        <p:spPr>
          <a:xfrm>
            <a:off x="793800" y="3352353"/>
            <a:ext cx="422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Across employee, admin, and vendor portals</a:t>
            </a:r>
            <a:endParaRPr b="0" i="0" sz="1600" u="none" cap="none" strike="noStrike"/>
          </a:p>
        </p:txBody>
      </p:sp>
      <p:sp>
        <p:nvSpPr>
          <p:cNvPr id="1013" name="Google Shape;1013;p51"/>
          <p:cNvSpPr/>
          <p:nvPr/>
        </p:nvSpPr>
        <p:spPr>
          <a:xfrm>
            <a:off x="5202565" y="1922627"/>
            <a:ext cx="408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02</a:t>
            </a:r>
            <a:endParaRPr b="0" i="0" sz="1600" u="none" cap="none" strike="noStrike"/>
          </a:p>
        </p:txBody>
      </p:sp>
      <p:sp>
        <p:nvSpPr>
          <p:cNvPr id="1014" name="Google Shape;1014;p51"/>
          <p:cNvSpPr/>
          <p:nvPr/>
        </p:nvSpPr>
        <p:spPr>
          <a:xfrm>
            <a:off x="5202565" y="2436875"/>
            <a:ext cx="4225200" cy="363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51"/>
          <p:cNvSpPr/>
          <p:nvPr/>
        </p:nvSpPr>
        <p:spPr>
          <a:xfrm>
            <a:off x="5202565" y="2671414"/>
            <a:ext cx="3342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Use generative AI for analysis</a:t>
            </a:r>
            <a:endParaRPr b="0" i="0" sz="2000" u="none" cap="none" strike="noStrike"/>
          </a:p>
        </p:txBody>
      </p:sp>
      <p:sp>
        <p:nvSpPr>
          <p:cNvPr id="1016" name="Google Shape;1016;p51"/>
          <p:cNvSpPr/>
          <p:nvPr/>
        </p:nvSpPr>
        <p:spPr>
          <a:xfrm>
            <a:off x="5202565" y="3352353"/>
            <a:ext cx="422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Not final autonomous authority</a:t>
            </a:r>
            <a:endParaRPr b="0" i="0" sz="1600" u="none" cap="none" strike="noStrike"/>
          </a:p>
        </p:txBody>
      </p:sp>
      <p:sp>
        <p:nvSpPr>
          <p:cNvPr id="1017" name="Google Shape;1017;p51"/>
          <p:cNvSpPr/>
          <p:nvPr/>
        </p:nvSpPr>
        <p:spPr>
          <a:xfrm>
            <a:off x="9611450" y="1922627"/>
            <a:ext cx="408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03</a:t>
            </a:r>
            <a:endParaRPr b="0" i="0" sz="1600" u="none" cap="none" strike="noStrike"/>
          </a:p>
        </p:txBody>
      </p:sp>
      <p:sp>
        <p:nvSpPr>
          <p:cNvPr id="1018" name="Google Shape;1018;p51"/>
          <p:cNvSpPr/>
          <p:nvPr/>
        </p:nvSpPr>
        <p:spPr>
          <a:xfrm>
            <a:off x="9611450" y="2436875"/>
            <a:ext cx="4225200" cy="363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1"/>
          <p:cNvSpPr/>
          <p:nvPr/>
        </p:nvSpPr>
        <p:spPr>
          <a:xfrm>
            <a:off x="9611450" y="2671414"/>
            <a:ext cx="3576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Implement bounded SOC triage</a:t>
            </a:r>
            <a:endParaRPr b="0" i="0" sz="2000" u="none" cap="none" strike="noStrike"/>
          </a:p>
        </p:txBody>
      </p:sp>
      <p:sp>
        <p:nvSpPr>
          <p:cNvPr id="1020" name="Google Shape;1020;p51"/>
          <p:cNvSpPr/>
          <p:nvPr/>
        </p:nvSpPr>
        <p:spPr>
          <a:xfrm>
            <a:off x="9611450" y="3352353"/>
            <a:ext cx="422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With evidence gathering capabilities</a:t>
            </a:r>
            <a:endParaRPr b="0" i="0" sz="1600" u="none" cap="none" strike="noStrike"/>
          </a:p>
        </p:txBody>
      </p:sp>
      <p:sp>
        <p:nvSpPr>
          <p:cNvPr id="1021" name="Google Shape;1021;p51"/>
          <p:cNvSpPr/>
          <p:nvPr/>
        </p:nvSpPr>
        <p:spPr>
          <a:xfrm>
            <a:off x="793800" y="4379336"/>
            <a:ext cx="408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04</a:t>
            </a:r>
            <a:endParaRPr b="0" i="0" sz="1600" u="none" cap="none" strike="noStrike"/>
          </a:p>
        </p:txBody>
      </p:sp>
      <p:sp>
        <p:nvSpPr>
          <p:cNvPr id="1022" name="Google Shape;1022;p51"/>
          <p:cNvSpPr/>
          <p:nvPr/>
        </p:nvSpPr>
        <p:spPr>
          <a:xfrm>
            <a:off x="793800" y="4893583"/>
            <a:ext cx="4225200" cy="363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1"/>
          <p:cNvSpPr/>
          <p:nvPr/>
        </p:nvSpPr>
        <p:spPr>
          <a:xfrm>
            <a:off x="793800" y="5128121"/>
            <a:ext cx="2678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Minimize PHI exposure</a:t>
            </a:r>
            <a:endParaRPr b="0" i="0" sz="2000" u="none" cap="none" strike="noStrike"/>
          </a:p>
        </p:txBody>
      </p:sp>
      <p:sp>
        <p:nvSpPr>
          <p:cNvPr id="1024" name="Google Shape;1024;p51"/>
          <p:cNvSpPr/>
          <p:nvPr/>
        </p:nvSpPr>
        <p:spPr>
          <a:xfrm>
            <a:off x="793800" y="5809061"/>
            <a:ext cx="422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 all model workflows</a:t>
            </a:r>
            <a:endParaRPr b="0" i="0" sz="1600" u="none" cap="none" strike="noStrike"/>
          </a:p>
        </p:txBody>
      </p:sp>
      <p:sp>
        <p:nvSpPr>
          <p:cNvPr id="1025" name="Google Shape;1025;p51"/>
          <p:cNvSpPr/>
          <p:nvPr/>
        </p:nvSpPr>
        <p:spPr>
          <a:xfrm>
            <a:off x="5202565" y="4379336"/>
            <a:ext cx="408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05</a:t>
            </a:r>
            <a:endParaRPr b="0" i="0" sz="1600" u="none" cap="none" strike="noStrike"/>
          </a:p>
        </p:txBody>
      </p:sp>
      <p:sp>
        <p:nvSpPr>
          <p:cNvPr id="1026" name="Google Shape;1026;p51"/>
          <p:cNvSpPr/>
          <p:nvPr/>
        </p:nvSpPr>
        <p:spPr>
          <a:xfrm>
            <a:off x="5202565" y="4893583"/>
            <a:ext cx="4225200" cy="363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1"/>
          <p:cNvSpPr/>
          <p:nvPr/>
        </p:nvSpPr>
        <p:spPr>
          <a:xfrm>
            <a:off x="5202565" y="5128121"/>
            <a:ext cx="2944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Maintain human approval</a:t>
            </a:r>
            <a:endParaRPr b="0" i="0" sz="2000" u="none" cap="none" strike="noStrike"/>
          </a:p>
        </p:txBody>
      </p:sp>
      <p:sp>
        <p:nvSpPr>
          <p:cNvPr id="1028" name="Google Shape;1028;p51"/>
          <p:cNvSpPr/>
          <p:nvPr/>
        </p:nvSpPr>
        <p:spPr>
          <a:xfrm>
            <a:off x="5202565" y="5809061"/>
            <a:ext cx="422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For high-impact actions</a:t>
            </a:r>
            <a:endParaRPr b="0" i="0" sz="1600" u="none" cap="none" strike="noStrike"/>
          </a:p>
        </p:txBody>
      </p:sp>
      <p:sp>
        <p:nvSpPr>
          <p:cNvPr id="1029" name="Google Shape;1029;p51"/>
          <p:cNvSpPr/>
          <p:nvPr/>
        </p:nvSpPr>
        <p:spPr>
          <a:xfrm>
            <a:off x="9611450" y="4379336"/>
            <a:ext cx="408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06</a:t>
            </a:r>
            <a:endParaRPr b="0" i="0" sz="1600" u="none" cap="none" strike="noStrike"/>
          </a:p>
        </p:txBody>
      </p:sp>
      <p:sp>
        <p:nvSpPr>
          <p:cNvPr id="1030" name="Google Shape;1030;p51"/>
          <p:cNvSpPr/>
          <p:nvPr/>
        </p:nvSpPr>
        <p:spPr>
          <a:xfrm>
            <a:off x="9611450" y="4893583"/>
            <a:ext cx="4225200" cy="3630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51"/>
          <p:cNvSpPr/>
          <p:nvPr/>
        </p:nvSpPr>
        <p:spPr>
          <a:xfrm>
            <a:off x="9611450" y="5128121"/>
            <a:ext cx="2551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b="0" i="0" lang="en-US" sz="20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Red-team AI systems</a:t>
            </a:r>
            <a:endParaRPr b="0" i="0" sz="2000" u="none" cap="none" strike="noStrike"/>
          </a:p>
        </p:txBody>
      </p:sp>
      <p:sp>
        <p:nvSpPr>
          <p:cNvPr id="1032" name="Google Shape;1032;p51"/>
          <p:cNvSpPr/>
          <p:nvPr/>
        </p:nvSpPr>
        <p:spPr>
          <a:xfrm>
            <a:off x="9611450" y="5809061"/>
            <a:ext cx="422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Continuously</a:t>
            </a:r>
            <a:endParaRPr b="0" i="0" sz="1600" u="none" cap="none" strike="noStrike"/>
          </a:p>
        </p:txBody>
      </p:sp>
      <p:sp>
        <p:nvSpPr>
          <p:cNvPr id="1033" name="Google Shape;1033;p51"/>
          <p:cNvSpPr/>
          <p:nvPr/>
        </p:nvSpPr>
        <p:spPr>
          <a:xfrm>
            <a:off x="12638400" y="7648425"/>
            <a:ext cx="1992000" cy="483300"/>
          </a:xfrm>
          <a:prstGeom prst="rect">
            <a:avLst/>
          </a:prstGeom>
          <a:solidFill>
            <a:srgbClr val="464342"/>
          </a:solidFill>
          <a:ln cap="flat" cmpd="sng" w="9525">
            <a:solidFill>
              <a:srgbClr val="464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