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6"/>
  </p:notesMasterIdLst>
  <p:sldIdLst>
    <p:sldId id="280" r:id="rId2"/>
    <p:sldId id="940" r:id="rId3"/>
    <p:sldId id="979" r:id="rId4"/>
    <p:sldId id="980" r:id="rId5"/>
    <p:sldId id="981" r:id="rId6"/>
    <p:sldId id="982" r:id="rId7"/>
    <p:sldId id="983" r:id="rId8"/>
    <p:sldId id="984" r:id="rId9"/>
    <p:sldId id="985" r:id="rId10"/>
    <p:sldId id="986" r:id="rId11"/>
    <p:sldId id="987" r:id="rId12"/>
    <p:sldId id="988" r:id="rId13"/>
    <p:sldId id="989" r:id="rId14"/>
    <p:sldId id="990" r:id="rId15"/>
    <p:sldId id="991" r:id="rId16"/>
    <p:sldId id="992" r:id="rId17"/>
    <p:sldId id="993" r:id="rId18"/>
    <p:sldId id="994" r:id="rId19"/>
    <p:sldId id="995" r:id="rId20"/>
    <p:sldId id="996" r:id="rId21"/>
    <p:sldId id="997" r:id="rId22"/>
    <p:sldId id="998" r:id="rId23"/>
    <p:sldId id="999" r:id="rId24"/>
    <p:sldId id="1001" r:id="rId25"/>
    <p:sldId id="1002" r:id="rId26"/>
    <p:sldId id="1003" r:id="rId27"/>
    <p:sldId id="1004" r:id="rId28"/>
    <p:sldId id="1005" r:id="rId29"/>
    <p:sldId id="1006" r:id="rId30"/>
    <p:sldId id="1007" r:id="rId31"/>
    <p:sldId id="1008" r:id="rId32"/>
    <p:sldId id="1010" r:id="rId33"/>
    <p:sldId id="1009" r:id="rId34"/>
    <p:sldId id="846" r:id="rId35"/>
  </p:sldIdLst>
  <p:sldSz cx="12192000" cy="6858000"/>
  <p:notesSz cx="6858000" cy="9144000"/>
  <p:defaultText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74" autoAdjust="0"/>
    <p:restoredTop sz="72607" autoAdjust="0"/>
  </p:normalViewPr>
  <p:slideViewPr>
    <p:cSldViewPr snapToGrid="0" snapToObjects="1">
      <p:cViewPr varScale="1">
        <p:scale>
          <a:sx n="80" d="100"/>
          <a:sy n="80" d="100"/>
        </p:scale>
        <p:origin x="147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48F17-CD88-C84D-81CB-EFB18C377763}" type="datetimeFigureOut">
              <a:rPr lang="en-US" smtClean="0"/>
              <a:t>3/11/2025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B341C-843E-6244-9C40-DD933A1134A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4249884" y="2504926"/>
            <a:ext cx="7280733"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4488877" y="4591375"/>
            <a:ext cx="7041743"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7" name="Text Placeholder 16"/>
          <p:cNvSpPr>
            <a:spLocks noGrp="1"/>
          </p:cNvSpPr>
          <p:nvPr>
            <p:ph type="body" sz="quarter" idx="11" hasCustomPrompt="1"/>
          </p:nvPr>
        </p:nvSpPr>
        <p:spPr>
          <a:xfrm>
            <a:off x="4675911" y="5690091"/>
            <a:ext cx="6854708"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4" name="Date Placeholder 3"/>
          <p:cNvSpPr>
            <a:spLocks noGrp="1"/>
          </p:cNvSpPr>
          <p:nvPr>
            <p:ph type="dt" sz="half" idx="10"/>
          </p:nvPr>
        </p:nvSpPr>
        <p:spPr>
          <a:xfrm>
            <a:off x="10416213" y="6342039"/>
            <a:ext cx="1114407"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p:cNvPicPr>
            <a:picLocks noChangeAspect="1"/>
          </p:cNvPicPr>
          <p:nvPr userDrawn="1"/>
        </p:nvPicPr>
        <p:blipFill rotWithShape="1">
          <a:blip r:embed="rId2"/>
          <a:srcRect l="16253"/>
          <a:stretch>
            <a:fillRect/>
          </a:stretch>
        </p:blipFill>
        <p:spPr>
          <a:xfrm>
            <a:off x="3" y="0"/>
            <a:ext cx="8636340" cy="6858000"/>
          </a:xfrm>
          <a:prstGeom prst="rect">
            <a:avLst/>
          </a:prstGeom>
        </p:spPr>
      </p:pic>
      <p:pic>
        <p:nvPicPr>
          <p:cNvPr id="6" name="Picture 5" descr="A picture containing shape&#10;&#10;Description automatically generated"/>
          <p:cNvPicPr>
            <a:picLocks noChangeAspect="1"/>
          </p:cNvPicPr>
          <p:nvPr userDrawn="1"/>
        </p:nvPicPr>
        <p:blipFill>
          <a:blip r:embed="rId3"/>
          <a:stretch>
            <a:fillRect/>
          </a:stretch>
        </p:blipFill>
        <p:spPr>
          <a:xfrm>
            <a:off x="298455" y="0"/>
            <a:ext cx="11893551" cy="6858000"/>
          </a:xfrm>
          <a:prstGeom prst="rect">
            <a:avLst/>
          </a:prstGeom>
        </p:spPr>
      </p:pic>
      <p:sp>
        <p:nvSpPr>
          <p:cNvPr id="2" name="Title 1"/>
          <p:cNvSpPr>
            <a:spLocks noGrp="1"/>
          </p:cNvSpPr>
          <p:nvPr>
            <p:ph type="ctrTitle" hasCustomPrompt="1"/>
          </p:nvPr>
        </p:nvSpPr>
        <p:spPr>
          <a:xfrm>
            <a:off x="6324606" y="2504926"/>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6616701" y="4591375"/>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2" name="Text Placeholder 16"/>
          <p:cNvSpPr>
            <a:spLocks noGrp="1"/>
          </p:cNvSpPr>
          <p:nvPr>
            <p:ph type="body" sz="quarter" idx="11" hasCustomPrompt="1"/>
          </p:nvPr>
        </p:nvSpPr>
        <p:spPr>
          <a:xfrm>
            <a:off x="6794501" y="5690091"/>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4" name="Date Placeholder 3"/>
          <p:cNvSpPr>
            <a:spLocks noGrp="1"/>
          </p:cNvSpPr>
          <p:nvPr>
            <p:ph type="dt" sz="half" idx="10"/>
          </p:nvPr>
        </p:nvSpPr>
        <p:spPr>
          <a:xfrm>
            <a:off x="10406273" y="6342039"/>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srcRect l="103" r="14569"/>
          <a:stretch>
            <a:fillRect/>
          </a:stretch>
        </p:blipFill>
        <p:spPr>
          <a:xfrm>
            <a:off x="-2033456" y="0"/>
            <a:ext cx="10392405" cy="6858000"/>
          </a:xfrm>
          <a:prstGeom prst="rect">
            <a:avLst/>
          </a:prstGeom>
        </p:spPr>
      </p:pic>
      <p:pic>
        <p:nvPicPr>
          <p:cNvPr id="9" name="Picture 8" descr="A picture containing shape&#10;&#10;Description automatically generated"/>
          <p:cNvPicPr>
            <a:picLocks noChangeAspect="1"/>
          </p:cNvPicPr>
          <p:nvPr userDrawn="1"/>
        </p:nvPicPr>
        <p:blipFill>
          <a:blip r:embed="rId3"/>
          <a:stretch>
            <a:fillRect/>
          </a:stretch>
        </p:blipFill>
        <p:spPr>
          <a:xfrm>
            <a:off x="298453" y="0"/>
            <a:ext cx="11893551" cy="6858000"/>
          </a:xfrm>
          <a:prstGeom prst="rect">
            <a:avLst/>
          </a:prstGeom>
        </p:spPr>
      </p:pic>
      <p:sp>
        <p:nvSpPr>
          <p:cNvPr id="10" name="Title 1"/>
          <p:cNvSpPr>
            <a:spLocks noGrp="1"/>
          </p:cNvSpPr>
          <p:nvPr>
            <p:ph type="ctrTitle" hasCustomPrompt="1"/>
          </p:nvPr>
        </p:nvSpPr>
        <p:spPr>
          <a:xfrm>
            <a:off x="6324606" y="2504926"/>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11" name="Subtitle 2"/>
          <p:cNvSpPr>
            <a:spLocks noGrp="1"/>
          </p:cNvSpPr>
          <p:nvPr>
            <p:ph type="subTitle" idx="1" hasCustomPrompt="1"/>
          </p:nvPr>
        </p:nvSpPr>
        <p:spPr>
          <a:xfrm>
            <a:off x="6616701" y="4591375"/>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3" name="Date Placeholder 3"/>
          <p:cNvSpPr>
            <a:spLocks noGrp="1"/>
          </p:cNvSpPr>
          <p:nvPr>
            <p:ph type="dt" sz="half" idx="10"/>
          </p:nvPr>
        </p:nvSpPr>
        <p:spPr>
          <a:xfrm>
            <a:off x="10446029" y="6362191"/>
            <a:ext cx="1084591"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 Date</a:t>
            </a:r>
          </a:p>
        </p:txBody>
      </p:sp>
      <p:sp>
        <p:nvSpPr>
          <p:cNvPr id="14" name="Text Placeholder 16"/>
          <p:cNvSpPr>
            <a:spLocks noGrp="1"/>
          </p:cNvSpPr>
          <p:nvPr>
            <p:ph type="body" sz="quarter" idx="11" hasCustomPrompt="1"/>
          </p:nvPr>
        </p:nvSpPr>
        <p:spPr>
          <a:xfrm>
            <a:off x="6794501" y="5690091"/>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15" name="TextBox 14"/>
          <p:cNvSpPr txBox="1"/>
          <p:nvPr userDrawn="1"/>
        </p:nvSpPr>
        <p:spPr>
          <a:xfrm>
            <a:off x="912816" y="1325695"/>
            <a:ext cx="4215776" cy="5135445"/>
          </a:xfrm>
          <a:prstGeom prst="rect">
            <a:avLst/>
          </a:prstGeom>
          <a:noFill/>
        </p:spPr>
        <p:txBody>
          <a:bodyPr wrap="square" rtlCol="0">
            <a:spAutoFit/>
          </a:bodyPr>
          <a:lstStyle/>
          <a:p>
            <a:r>
              <a:rPr lang="en-US" sz="1800" b="1" dirty="0">
                <a:latin typeface="IBM Plex Sans" panose="020B0503050203000203" pitchFamily="34" charset="0"/>
              </a:rPr>
              <a:t>INSTRUCTIONS TO REPLACE IMAGE:</a:t>
            </a:r>
          </a:p>
          <a:p>
            <a:endParaRPr lang="en-US" sz="1800" b="1" dirty="0">
              <a:latin typeface="IBM Plex Sans" panose="020B0503050203000203" pitchFamily="34" charset="0"/>
            </a:endParaRPr>
          </a:p>
          <a:p>
            <a:pPr marL="342891" indent="-342891">
              <a:lnSpc>
                <a:spcPct val="150000"/>
              </a:lnSpc>
              <a:buFont typeface="+mj-lt"/>
              <a:buAutoNum type="arabicPeriod"/>
            </a:pPr>
            <a:r>
              <a:rPr lang="en-US" sz="1400" b="0" dirty="0">
                <a:latin typeface="IBM Plex Sans" panose="020B0503050203000203" pitchFamily="34" charset="0"/>
              </a:rPr>
              <a:t>Go to View&gt;Slide Master</a:t>
            </a:r>
          </a:p>
          <a:p>
            <a:pPr marL="342891" indent="-342891">
              <a:lnSpc>
                <a:spcPct val="150000"/>
              </a:lnSpc>
              <a:buFont typeface="+mj-lt"/>
              <a:buAutoNum type="arabicPeriod"/>
            </a:pPr>
            <a:r>
              <a:rPr lang="en-US" sz="1400" b="0" dirty="0">
                <a:latin typeface="IBM Plex Sans" panose="020B0503050203000203" pitchFamily="34" charset="0"/>
              </a:rPr>
              <a:t>Locate this layout and duplicate it</a:t>
            </a:r>
          </a:p>
          <a:p>
            <a:pPr marL="342891" indent="-342891">
              <a:lnSpc>
                <a:spcPct val="150000"/>
              </a:lnSpc>
              <a:buFont typeface="+mj-lt"/>
              <a:buAutoNum type="arabicPeriod"/>
            </a:pPr>
            <a:r>
              <a:rPr lang="en-US" sz="1400" b="0" dirty="0">
                <a:latin typeface="IBM Plex Sans" panose="020B0503050203000203" pitchFamily="34" charset="0"/>
              </a:rPr>
              <a:t>Right-click the orange circle on the far-left side of this image</a:t>
            </a:r>
          </a:p>
          <a:p>
            <a:pPr marL="342891" indent="-342891">
              <a:lnSpc>
                <a:spcPct val="150000"/>
              </a:lnSpc>
              <a:buFont typeface="+mj-lt"/>
              <a:buAutoNum type="arabicPeriod"/>
            </a:pPr>
            <a:r>
              <a:rPr lang="en-US" sz="1400" b="0" dirty="0">
                <a:latin typeface="IBM Plex Sans" panose="020B0503050203000203" pitchFamily="34" charset="0"/>
              </a:rPr>
              <a:t>Scroll to “Change Picture”</a:t>
            </a:r>
          </a:p>
          <a:p>
            <a:pPr marL="342891" indent="-342891">
              <a:lnSpc>
                <a:spcPct val="150000"/>
              </a:lnSpc>
              <a:buFont typeface="+mj-lt"/>
              <a:buAutoNum type="arabicPeriod"/>
            </a:pPr>
            <a:r>
              <a:rPr lang="en-US" sz="1400" b="0" dirty="0">
                <a:latin typeface="IBM Plex Sans" panose="020B0503050203000203" pitchFamily="34" charset="0"/>
              </a:rPr>
              <a:t>Select “From File” (note that your version of PowerPoint may use different menu language)</a:t>
            </a:r>
          </a:p>
          <a:p>
            <a:pPr marL="342891" indent="-342891">
              <a:lnSpc>
                <a:spcPct val="150000"/>
              </a:lnSpc>
              <a:buFont typeface="+mj-lt"/>
              <a:buAutoNum type="arabicPeriod"/>
            </a:pPr>
            <a:r>
              <a:rPr lang="en-US" sz="1400" b="0" dirty="0">
                <a:latin typeface="IBM Plex Sans" panose="020B0503050203000203" pitchFamily="34" charset="0"/>
              </a:rPr>
              <a:t>Select desired image</a:t>
            </a:r>
          </a:p>
          <a:p>
            <a:pPr marL="342891" indent="-342891">
              <a:lnSpc>
                <a:spcPct val="150000"/>
              </a:lnSpc>
              <a:buFont typeface="+mj-lt"/>
              <a:buAutoNum type="arabicPeriod"/>
            </a:pPr>
            <a:r>
              <a:rPr lang="en-US" sz="1400" b="0" dirty="0">
                <a:latin typeface="IBM Plex Sans" panose="020B0503050203000203" pitchFamily="34" charset="0"/>
              </a:rPr>
              <a:t>Resize and crop image as necessary</a:t>
            </a:r>
          </a:p>
          <a:p>
            <a:pPr marL="342891" indent="-342891">
              <a:lnSpc>
                <a:spcPct val="150000"/>
              </a:lnSpc>
              <a:buFont typeface="+mj-lt"/>
              <a:buAutoNum type="arabicPeriod"/>
            </a:pPr>
            <a:r>
              <a:rPr lang="en-US" sz="1400" b="0" dirty="0">
                <a:latin typeface="IBM Plex Sans" panose="020B0503050203000203" pitchFamily="34" charset="0"/>
              </a:rPr>
              <a:t>Make sure image is sent to back (right click on image)</a:t>
            </a:r>
          </a:p>
          <a:p>
            <a:pPr marL="342891" indent="-342891">
              <a:lnSpc>
                <a:spcPct val="150000"/>
              </a:lnSpc>
              <a:buFont typeface="+mj-lt"/>
              <a:buAutoNum type="arabicPeriod"/>
            </a:pPr>
            <a:r>
              <a:rPr lang="en-US" sz="1400" b="0" dirty="0">
                <a:latin typeface="IBM Plex Sans" panose="020B0503050203000203" pitchFamily="34" charset="0"/>
              </a:rPr>
              <a:t>Close slide master and insert a new slide using the new, then delete this text box from your presentation slide.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p:cNvPicPr>
            <a:picLocks noChangeAspect="1"/>
          </p:cNvPicPr>
          <p:nvPr userDrawn="1"/>
        </p:nvPicPr>
        <p:blipFill>
          <a:blip r:embed="rId3"/>
          <a:stretch>
            <a:fillRect/>
          </a:stretch>
        </p:blipFill>
        <p:spPr>
          <a:xfrm>
            <a:off x="298455" y="0"/>
            <a:ext cx="11893551" cy="6858000"/>
          </a:xfrm>
          <a:prstGeom prst="rect">
            <a:avLst/>
          </a:prstGeom>
        </p:spPr>
      </p:pic>
      <p:sp>
        <p:nvSpPr>
          <p:cNvPr id="2" name="Title 1"/>
          <p:cNvSpPr>
            <a:spLocks noGrp="1"/>
          </p:cNvSpPr>
          <p:nvPr>
            <p:ph type="title" hasCustomPrompt="1"/>
          </p:nvPr>
        </p:nvSpPr>
        <p:spPr>
          <a:xfrm>
            <a:off x="6617373" y="974043"/>
            <a:ext cx="4913243" cy="4254363"/>
          </a:xfrm>
        </p:spPr>
        <p:txBody>
          <a:bodyPr anchor="b">
            <a:normAutofit/>
          </a:bodyPr>
          <a:lstStyle>
            <a:lvl1pPr algn="r">
              <a:defRPr sz="5400"/>
            </a:lvl1pPr>
          </a:lstStyle>
          <a:p>
            <a:r>
              <a:rPr lang="en-US" dirty="0"/>
              <a:t>CLICK TO EDIT TITLE</a:t>
            </a:r>
          </a:p>
        </p:txBody>
      </p:sp>
      <p:sp>
        <p:nvSpPr>
          <p:cNvPr id="3" name="Text Placeholder 2"/>
          <p:cNvSpPr>
            <a:spLocks noGrp="1"/>
          </p:cNvSpPr>
          <p:nvPr>
            <p:ph type="body" idx="1" hasCustomPrompt="1"/>
          </p:nvPr>
        </p:nvSpPr>
        <p:spPr>
          <a:xfrm>
            <a:off x="6858006" y="5394971"/>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to edit text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idx="1" hasCustomPrompt="1"/>
          </p:nvPr>
        </p:nvSpPr>
        <p:spPr/>
        <p:txBody>
          <a:bodyPr/>
          <a:lstStyle>
            <a:lvl1pPr marL="228594" indent="-228594">
              <a:defRPr/>
            </a:lvl1pPr>
            <a:lvl2pPr marL="502907" indent="-228594">
              <a:buSzPct val="100000"/>
              <a:buFont typeface="System Font Regular"/>
              <a:buChar char="-"/>
              <a:defRPr/>
            </a:lvl2pPr>
            <a:lvl3pPr marL="777221" indent="-228594">
              <a:buSzPct val="100000"/>
              <a:buFont typeface="System Font Regular"/>
              <a:buChar char="-"/>
              <a:defRPr/>
            </a:lvl3pPr>
            <a:lvl4pPr marL="1005815" indent="-228594">
              <a:buSzPct val="100000"/>
              <a:buFont typeface="System Font Regular"/>
              <a:buChar char="-"/>
              <a:defRPr/>
            </a:lvl4pPr>
            <a:lvl5pPr marL="1280128" indent="-228594">
              <a:buSzPct val="100000"/>
              <a:buFont typeface="System Font Regular"/>
              <a:buChar cha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4" name="Text Placeholder 3"/>
          <p:cNvSpPr>
            <a:spLocks noGrp="1"/>
          </p:cNvSpPr>
          <p:nvPr>
            <p:ph type="body" sz="quarter" idx="13"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Make sure to use brand colors when creating tables and graphs. If graphs are placed from an outside source, please reformat to use the Stevens Theme Colors set in this template.</a:t>
            </a:r>
          </a:p>
        </p:txBody>
      </p:sp>
      <p:sp>
        <p:nvSpPr>
          <p:cNvPr id="3" name="Content Placeholder 2"/>
          <p:cNvSpPr>
            <a:spLocks noGrp="1"/>
          </p:cNvSpPr>
          <p:nvPr>
            <p:ph idx="1" hasCustomPrompt="1"/>
          </p:nvPr>
        </p:nvSpPr>
        <p:spPr>
          <a:xfrm>
            <a:off x="644775" y="2202880"/>
            <a:ext cx="10709031" cy="387927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69"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77"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6"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5"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1" name="Text Placeholder 3"/>
          <p:cNvSpPr>
            <a:spLocks noGrp="1"/>
          </p:cNvSpPr>
          <p:nvPr>
            <p:ph type="body" sz="quarter" idx="14"/>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endParaRPr lang="en-US" dirty="0"/>
          </a:p>
        </p:txBody>
      </p:sp>
      <p:sp>
        <p:nvSpPr>
          <p:cNvPr id="3" name="Content Placeholder 2"/>
          <p:cNvSpPr>
            <a:spLocks noGrp="1"/>
          </p:cNvSpPr>
          <p:nvPr>
            <p:ph sz="half" idx="1" hasCustomPrompt="1"/>
          </p:nvPr>
        </p:nvSpPr>
        <p:spPr>
          <a:xfrm>
            <a:off x="644777"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6"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5"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5" name="Text Placeholder 4"/>
          <p:cNvSpPr>
            <a:spLocks noGrp="1"/>
          </p:cNvSpPr>
          <p:nvPr>
            <p:ph type="body" sz="quarter" idx="13" hasCustomPrompt="1"/>
          </p:nvPr>
        </p:nvSpPr>
        <p:spPr>
          <a:xfrm>
            <a:off x="644527" y="1962358"/>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1962358"/>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7" y="4119686"/>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119686"/>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5" name="Text Placeholder 4"/>
          <p:cNvSpPr>
            <a:spLocks noGrp="1"/>
          </p:cNvSpPr>
          <p:nvPr>
            <p:ph type="body" sz="quarter" idx="13" hasCustomPrompt="1"/>
          </p:nvPr>
        </p:nvSpPr>
        <p:spPr>
          <a:xfrm>
            <a:off x="644527" y="2233241"/>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2233241"/>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7" y="4448447"/>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448447"/>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999" y="2210091"/>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9308"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999" y="4448445"/>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9308"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205"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7720"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205"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7720"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9" name="Text Placeholder 3"/>
          <p:cNvSpPr>
            <a:spLocks noGrp="1"/>
          </p:cNvSpPr>
          <p:nvPr>
            <p:ph type="body" sz="quarter" idx="13"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3" name="Content Placeholder 2"/>
          <p:cNvSpPr>
            <a:spLocks noGrp="1"/>
          </p:cNvSpPr>
          <p:nvPr>
            <p:ph sz="half" idx="1" hasCustomPrompt="1"/>
          </p:nvPr>
        </p:nvSpPr>
        <p:spPr>
          <a:xfrm>
            <a:off x="644769" y="2325842"/>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2325842"/>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Text Placeholder 2"/>
          <p:cNvSpPr>
            <a:spLocks noGrp="1"/>
          </p:cNvSpPr>
          <p:nvPr>
            <p:ph type="body" idx="1" hasCustomPrompt="1"/>
          </p:nvPr>
        </p:nvSpPr>
        <p:spPr>
          <a:xfrm>
            <a:off x="644773"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text</a:t>
            </a:r>
          </a:p>
        </p:txBody>
      </p:sp>
      <p:sp>
        <p:nvSpPr>
          <p:cNvPr id="4" name="Content Placeholder 3"/>
          <p:cNvSpPr>
            <a:spLocks noGrp="1"/>
          </p:cNvSpPr>
          <p:nvPr>
            <p:ph sz="half" idx="2" hasCustomPrompt="1"/>
          </p:nvPr>
        </p:nvSpPr>
        <p:spPr>
          <a:xfrm>
            <a:off x="644773" y="2505075"/>
            <a:ext cx="5157787"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72203"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text</a:t>
            </a:r>
          </a:p>
        </p:txBody>
      </p:sp>
      <p:sp>
        <p:nvSpPr>
          <p:cNvPr id="6" name="Content Placeholder 5"/>
          <p:cNvSpPr>
            <a:spLocks noGrp="1"/>
          </p:cNvSpPr>
          <p:nvPr>
            <p:ph sz="quarter" idx="4" hasCustomPrompt="1"/>
          </p:nvPr>
        </p:nvSpPr>
        <p:spPr>
          <a:xfrm>
            <a:off x="6172203" y="2505075"/>
            <a:ext cx="5183188"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5" name="Slide Number Placeholder 4"/>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p:cNvSpPr>
            <a:spLocks noGrp="1"/>
          </p:cNvSpPr>
          <p:nvPr>
            <p:ph idx="1" hasCustomPrompt="1"/>
          </p:nvPr>
        </p:nvSpPr>
        <p:spPr>
          <a:xfrm>
            <a:off x="5183188" y="987434"/>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644777" y="2057402"/>
            <a:ext cx="4127255"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text</a:t>
            </a:r>
          </a:p>
        </p:txBody>
      </p:sp>
      <p:sp>
        <p:nvSpPr>
          <p:cNvPr id="2" name="Title 1"/>
          <p:cNvSpPr>
            <a:spLocks noGrp="1"/>
          </p:cNvSpPr>
          <p:nvPr>
            <p:ph type="title" hasCustomPrompt="1"/>
          </p:nvPr>
        </p:nvSpPr>
        <p:spPr>
          <a:xfrm>
            <a:off x="644777" y="457200"/>
            <a:ext cx="4127255" cy="1600200"/>
          </a:xfrm>
        </p:spPr>
        <p:txBody>
          <a:bodyPr anchor="b"/>
          <a:lstStyle>
            <a:lvl1pPr>
              <a:defRPr sz="3200"/>
            </a:lvl1pPr>
          </a:lstStyle>
          <a:p>
            <a:r>
              <a:rPr lang="en-US" dirty="0"/>
              <a:t>CLICK TO EDIT TITLE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77" y="457200"/>
            <a:ext cx="4127255" cy="1600200"/>
          </a:xfrm>
        </p:spPr>
        <p:txBody>
          <a:bodyPr anchor="b"/>
          <a:lstStyle>
            <a:lvl1pPr>
              <a:defRPr sz="3200"/>
            </a:lvl1pPr>
          </a:lstStyle>
          <a:p>
            <a:r>
              <a:rPr lang="en-US" dirty="0"/>
              <a:t>Click to edit title</a:t>
            </a:r>
          </a:p>
        </p:txBody>
      </p:sp>
      <p:sp>
        <p:nvSpPr>
          <p:cNvPr id="4" name="Text Placeholder 3"/>
          <p:cNvSpPr>
            <a:spLocks noGrp="1"/>
          </p:cNvSpPr>
          <p:nvPr>
            <p:ph type="body" sz="half" idx="2" hasCustomPrompt="1"/>
          </p:nvPr>
        </p:nvSpPr>
        <p:spPr>
          <a:xfrm>
            <a:off x="644777" y="2057402"/>
            <a:ext cx="4127255"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text</a:t>
            </a:r>
          </a:p>
        </p:txBody>
      </p:sp>
      <p:sp>
        <p:nvSpPr>
          <p:cNvPr id="3" name="Picture Placeholder 2"/>
          <p:cNvSpPr>
            <a:spLocks noGrp="1"/>
          </p:cNvSpPr>
          <p:nvPr>
            <p:ph type="pic" idx="1"/>
          </p:nvPr>
        </p:nvSpPr>
        <p:spPr>
          <a:xfrm>
            <a:off x="5183188" y="987434"/>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Vertical Text Placeholder 2"/>
          <p:cNvSpPr>
            <a:spLocks noGrp="1"/>
          </p:cNvSpPr>
          <p:nvPr>
            <p:ph type="body" orient="vert" idx="1" hasCustomPrompt="1"/>
          </p:nvPr>
        </p:nvSpPr>
        <p:spPr/>
        <p:txBody>
          <a:bodyPr vert="eaVert"/>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33"/>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4769" y="365133"/>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p:cNvPicPr>
            <a:picLocks noChangeAspect="1"/>
          </p:cNvPicPr>
          <p:nvPr userDrawn="1"/>
        </p:nvPicPr>
        <p:blipFill rotWithShape="1">
          <a:blip r:embed="rId2"/>
          <a:srcRect l="28985"/>
          <a:stretch>
            <a:fillRect/>
          </a:stretch>
        </p:blipFill>
        <p:spPr>
          <a:xfrm>
            <a:off x="3" y="0"/>
            <a:ext cx="7305260" cy="6858000"/>
          </a:xfrm>
          <a:prstGeom prst="rect">
            <a:avLst/>
          </a:prstGeom>
        </p:spPr>
      </p:pic>
      <p:pic>
        <p:nvPicPr>
          <p:cNvPr id="3" name="Picture 2" descr="A picture containing shape&#10;&#10;Description automatically generated"/>
          <p:cNvPicPr>
            <a:picLocks noChangeAspect="1"/>
          </p:cNvPicPr>
          <p:nvPr userDrawn="1"/>
        </p:nvPicPr>
        <p:blipFill>
          <a:blip r:embed="rId3"/>
          <a:stretch>
            <a:fillRect/>
          </a:stretch>
        </p:blipFill>
        <p:spPr>
          <a:xfrm>
            <a:off x="0" y="0"/>
            <a:ext cx="12192000" cy="6858000"/>
          </a:xfrm>
          <a:prstGeom prst="rect">
            <a:avLst/>
          </a:prstGeom>
        </p:spPr>
      </p:pic>
      <p:sp>
        <p:nvSpPr>
          <p:cNvPr id="5" name="TextBox 4"/>
          <p:cNvSpPr txBox="1"/>
          <p:nvPr userDrawn="1"/>
        </p:nvSpPr>
        <p:spPr>
          <a:xfrm>
            <a:off x="7284726" y="3144278"/>
            <a:ext cx="4245895" cy="923330"/>
          </a:xfrm>
          <a:prstGeom prst="rect">
            <a:avLst/>
          </a:prstGeom>
          <a:noFill/>
        </p:spPr>
        <p:txBody>
          <a:bodyPr wrap="square" rtlCol="0">
            <a:spAutoFit/>
          </a:bodyPr>
          <a:lstStyle/>
          <a:p>
            <a:pPr algn="r"/>
            <a:r>
              <a:rPr lang="en-US" sz="5400" b="0" i="0" dirty="0">
                <a:solidFill>
                  <a:schemeClr val="bg1"/>
                </a:solidFill>
                <a:latin typeface="Saira Condensed Condensed Light" pitchFamily="2" charset="77"/>
              </a:rPr>
              <a:t>THANK </a:t>
            </a:r>
            <a:r>
              <a:rPr lang="en-US" sz="5400" b="1" i="0" dirty="0">
                <a:solidFill>
                  <a:schemeClr val="bg1"/>
                </a:solidFill>
                <a:latin typeface="Saira Condensed Condensed Light" pitchFamily="2" charset="77"/>
              </a:rPr>
              <a:t>YOU</a:t>
            </a:r>
          </a:p>
        </p:txBody>
      </p:sp>
      <p:sp>
        <p:nvSpPr>
          <p:cNvPr id="9" name="TextBox 8"/>
          <p:cNvSpPr txBox="1"/>
          <p:nvPr userDrawn="1"/>
        </p:nvSpPr>
        <p:spPr>
          <a:xfrm>
            <a:off x="6096006" y="5170424"/>
            <a:ext cx="5434615" cy="584775"/>
          </a:xfrm>
          <a:prstGeom prst="rect">
            <a:avLst/>
          </a:prstGeom>
          <a:noFill/>
        </p:spPr>
        <p:txBody>
          <a:bodyPr wrap="square" rtlCol="0">
            <a:spAutoFit/>
          </a:bodyPr>
          <a:lstStyle/>
          <a:p>
            <a:pPr algn="r"/>
            <a:r>
              <a:rPr lang="en-US" sz="1600" b="1" kern="1200" dirty="0">
                <a:solidFill>
                  <a:schemeClr val="bg1"/>
                </a:solidFill>
                <a:effectLst/>
                <a:latin typeface="IBM Plex Sans" panose="020B0503050203000203" pitchFamily="34" charset="0"/>
                <a:ea typeface="+mn-ea"/>
                <a:cs typeface="+mn-cs"/>
              </a:rPr>
              <a:t>Stevens Institute of Technology</a:t>
            </a:r>
            <a:br>
              <a:rPr lang="en-US" sz="1600" b="1" kern="1200" dirty="0">
                <a:solidFill>
                  <a:schemeClr val="bg1"/>
                </a:solidFill>
                <a:effectLst/>
                <a:latin typeface="IBM Plex Sans" panose="020B0503050203000203" pitchFamily="34" charset="0"/>
                <a:ea typeface="+mn-ea"/>
                <a:cs typeface="+mn-cs"/>
              </a:rPr>
            </a:br>
            <a:r>
              <a:rPr lang="en-US" sz="1600" kern="1200" dirty="0">
                <a:solidFill>
                  <a:schemeClr val="bg1"/>
                </a:solidFill>
                <a:effectLst/>
                <a:latin typeface="IBM Plex Sans" panose="020B0503050203000203" pitchFamily="34" charset="0"/>
                <a:ea typeface="+mn-ea"/>
                <a:cs typeface="+mn-cs"/>
              </a:rPr>
              <a:t>1 Castle Point Terrace, Hoboken, NJ 07030</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with no Subhead">
    <p:spTree>
      <p:nvGrpSpPr>
        <p:cNvPr id="1" name=""/>
        <p:cNvGrpSpPr/>
        <p:nvPr/>
      </p:nvGrpSpPr>
      <p:grpSpPr>
        <a:xfrm>
          <a:off x="0" y="0"/>
          <a:ext cx="0" cy="0"/>
          <a:chOff x="0" y="0"/>
          <a:chExt cx="0" cy="0"/>
        </a:xfrm>
      </p:grpSpPr>
      <p:sp>
        <p:nvSpPr>
          <p:cNvPr id="3" name="Slide Number Placeholder 2"/>
          <p:cNvSpPr>
            <a:spLocks noGrp="1"/>
          </p:cNvSpPr>
          <p:nvPr>
            <p:ph type="sldNum" sz="quarter" idx="13"/>
          </p:nvPr>
        </p:nvSpPr>
        <p:spPr/>
        <p:txBody>
          <a:bodyPr/>
          <a:lstStyle/>
          <a:p>
            <a:fld id="{12342C3A-DD85-7843-B416-BD52AB030D59}" type="slidenum">
              <a:rPr lang="en-US" smtClean="0"/>
              <a:pPr/>
              <a:t>‹#›</a:t>
            </a:fld>
            <a:endParaRPr lang="en-US" dirty="0"/>
          </a:p>
        </p:txBody>
      </p:sp>
      <p:sp>
        <p:nvSpPr>
          <p:cNvPr id="6" name="Text Placeholder 2"/>
          <p:cNvSpPr>
            <a:spLocks noGrp="1"/>
          </p:cNvSpPr>
          <p:nvPr>
            <p:ph type="body" sz="quarter" idx="12" hasCustomPrompt="1"/>
          </p:nvPr>
        </p:nvSpPr>
        <p:spPr>
          <a:xfrm>
            <a:off x="302684" y="1112109"/>
            <a:ext cx="11588749" cy="4981786"/>
          </a:xfrm>
          <a:prstGeom prst="rect">
            <a:avLst/>
          </a:prstGeom>
        </p:spPr>
        <p:txBody>
          <a:bodyPr vert="horz"/>
          <a:lstStyle>
            <a:lvl1pPr marL="0" indent="0">
              <a:spcBef>
                <a:spcPts val="0"/>
              </a:spcBef>
              <a:spcAft>
                <a:spcPts val="1200"/>
              </a:spcAft>
              <a:buFontTx/>
              <a:buNone/>
              <a:defRPr sz="1600" b="0" i="0">
                <a:latin typeface="Arial"/>
                <a:cs typeface="Arial"/>
              </a:defRPr>
            </a:lvl1pPr>
            <a:lvl2pPr marL="457200" indent="0">
              <a:spcBef>
                <a:spcPts val="0"/>
              </a:spcBef>
              <a:spcAft>
                <a:spcPts val="1200"/>
              </a:spcAft>
              <a:buFontTx/>
              <a:buNone/>
              <a:defRPr sz="1600" b="0" i="0">
                <a:latin typeface="Arial"/>
                <a:cs typeface="Arial"/>
              </a:defRPr>
            </a:lvl2pPr>
            <a:lvl3pPr marL="914400" indent="0">
              <a:spcBef>
                <a:spcPts val="0"/>
              </a:spcBef>
              <a:spcAft>
                <a:spcPts val="1200"/>
              </a:spcAft>
              <a:buFontTx/>
              <a:buNone/>
              <a:defRPr sz="1400" b="0" i="0" baseline="0">
                <a:latin typeface="Arial"/>
                <a:cs typeface="Arial"/>
              </a:defRPr>
            </a:lvl3pPr>
            <a:lvl4pPr marL="1371600" indent="0">
              <a:spcBef>
                <a:spcPts val="0"/>
              </a:spcBef>
              <a:spcAft>
                <a:spcPts val="1200"/>
              </a:spcAft>
              <a:buFontTx/>
              <a:buNone/>
              <a:defRPr sz="1200" b="0" i="0" baseline="0">
                <a:latin typeface="Arial"/>
                <a:cs typeface="Arial"/>
              </a:defRPr>
            </a:lvl4pPr>
            <a:lvl5pPr marL="1828800" indent="0">
              <a:spcBef>
                <a:spcPts val="0"/>
              </a:spcBef>
              <a:spcAft>
                <a:spcPts val="1200"/>
              </a:spcAft>
              <a:buFontTx/>
              <a:buNone/>
              <a:defRPr sz="1000" b="0" i="0">
                <a:latin typeface="Arial"/>
                <a:cs typeface="Arial"/>
              </a:defRPr>
            </a:lvl5pPr>
          </a:lstStyle>
          <a:p>
            <a:pPr lvl="0"/>
            <a:r>
              <a:rPr lang="en-US" dirty="0"/>
              <a:t>Insert Text Here</a:t>
            </a:r>
          </a:p>
        </p:txBody>
      </p:sp>
      <p:sp>
        <p:nvSpPr>
          <p:cNvPr id="8" name="Title 1"/>
          <p:cNvSpPr>
            <a:spLocks noGrp="1"/>
          </p:cNvSpPr>
          <p:nvPr>
            <p:ph type="title" hasCustomPrompt="1"/>
          </p:nvPr>
        </p:nvSpPr>
        <p:spPr>
          <a:xfrm>
            <a:off x="302684" y="418354"/>
            <a:ext cx="9737787" cy="535863"/>
          </a:xfrm>
          <a:prstGeom prst="rect">
            <a:avLst/>
          </a:prstGeom>
        </p:spPr>
        <p:txBody>
          <a:bodyPr/>
          <a:lstStyle>
            <a:lvl1pPr>
              <a:defRPr sz="3000" b="1" i="0">
                <a:latin typeface="Arial"/>
                <a:cs typeface="Arial"/>
              </a:defRPr>
            </a:lvl1pPr>
          </a:lstStyle>
          <a:p>
            <a:r>
              <a:rPr lang="en-US" dirty="0"/>
              <a:t>Insert Slide Title</a:t>
            </a:r>
          </a:p>
        </p:txBody>
      </p:sp>
    </p:spTree>
    <p:extLst>
      <p:ext uri="{BB962C8B-B14F-4D97-AF65-F5344CB8AC3E}">
        <p14:creationId xmlns:p14="http://schemas.microsoft.com/office/powerpoint/2010/main" val="2515202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6"/>
          <a:stretch>
            <a:fillRect/>
          </a:stretch>
        </p:blipFill>
        <p:spPr>
          <a:xfrm>
            <a:off x="0" y="0"/>
            <a:ext cx="12192000" cy="6858000"/>
          </a:xfrm>
          <a:prstGeom prst="rect">
            <a:avLst/>
          </a:prstGeom>
        </p:spPr>
      </p:pic>
      <p:sp>
        <p:nvSpPr>
          <p:cNvPr id="2" name="Title Placeholder 1"/>
          <p:cNvSpPr>
            <a:spLocks noGrp="1"/>
          </p:cNvSpPr>
          <p:nvPr>
            <p:ph type="title"/>
          </p:nvPr>
        </p:nvSpPr>
        <p:spPr>
          <a:xfrm>
            <a:off x="644775" y="365129"/>
            <a:ext cx="10709031" cy="1325563"/>
          </a:xfrm>
          <a:prstGeom prst="rect">
            <a:avLst/>
          </a:prstGeom>
        </p:spPr>
        <p:txBody>
          <a:bodyPr vert="horz" lIns="91440" tIns="45720" rIns="91440" bIns="45720" rtlCol="0" anchor="t">
            <a:normAutofit/>
          </a:bodyPr>
          <a:lstStyle/>
          <a:p>
            <a:r>
              <a:rPr lang="en-US" dirty="0"/>
              <a:t>CLICK TO EDIT TITLE</a:t>
            </a:r>
          </a:p>
        </p:txBody>
      </p:sp>
      <p:sp>
        <p:nvSpPr>
          <p:cNvPr id="3" name="Text Placeholder 2"/>
          <p:cNvSpPr>
            <a:spLocks noGrp="1"/>
          </p:cNvSpPr>
          <p:nvPr>
            <p:ph type="body" idx="1"/>
          </p:nvPr>
        </p:nvSpPr>
        <p:spPr>
          <a:xfrm>
            <a:off x="644775" y="1825625"/>
            <a:ext cx="10709031" cy="4235176"/>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375913" y="6276846"/>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4" r:id="rId24"/>
  </p:sldLayoutIdLst>
  <p:hf hdr="0" ftr="0"/>
  <p:txStyles>
    <p:titleStyle>
      <a:lvl1pPr algn="l" defTabSz="913742" rtl="0" eaLnBrk="1" latinLnBrk="0" hangingPunct="1">
        <a:lnSpc>
          <a:spcPct val="90000"/>
        </a:lnSpc>
        <a:spcBef>
          <a:spcPct val="0"/>
        </a:spcBef>
        <a:buNone/>
        <a:defRPr sz="4000" b="1" i="0" kern="1200">
          <a:solidFill>
            <a:schemeClr val="tx1"/>
          </a:solidFill>
          <a:latin typeface="Saira Condensed Condensed SemiBold" pitchFamily="2" charset="77"/>
          <a:ea typeface="+mj-ea"/>
          <a:cs typeface="+mj-cs"/>
        </a:defRPr>
      </a:lvl1pPr>
    </p:titleStyle>
    <p:bodyStyle>
      <a:lvl1pPr marL="228594" indent="-228594" algn="l" defTabSz="913742" rtl="0" eaLnBrk="1" latinLnBrk="0" hangingPunct="1">
        <a:lnSpc>
          <a:spcPct val="90000"/>
        </a:lnSpc>
        <a:spcBef>
          <a:spcPts val="1000"/>
        </a:spcBef>
        <a:buClr>
          <a:schemeClr val="accent4"/>
        </a:buClr>
        <a:buFont typeface="Wingdings" panose="05000000000000000000" pitchFamily="2" charset="2"/>
        <a:buChar char="§"/>
        <a:defRPr sz="1800" b="0" i="0" kern="1200">
          <a:solidFill>
            <a:schemeClr val="tx1"/>
          </a:solidFill>
          <a:latin typeface="IBM Plex Sans" panose="020B0503050203000203" pitchFamily="34" charset="0"/>
          <a:ea typeface="+mn-ea"/>
          <a:cs typeface="+mn-cs"/>
        </a:defRPr>
      </a:lvl1pPr>
      <a:lvl2pPr marL="502907" indent="-228594" algn="l" defTabSz="913742" rtl="0" eaLnBrk="1" latinLnBrk="0" hangingPunct="1">
        <a:lnSpc>
          <a:spcPct val="90000"/>
        </a:lnSpc>
        <a:spcBef>
          <a:spcPts val="500"/>
        </a:spcBef>
        <a:buClr>
          <a:schemeClr val="accent4"/>
        </a:buClr>
        <a:buFont typeface="System Font Regular"/>
        <a:buChar char="-"/>
        <a:defRPr sz="1800" b="0" i="0" kern="1200">
          <a:solidFill>
            <a:schemeClr val="tx1"/>
          </a:solidFill>
          <a:latin typeface="IBM Plex Sans" panose="020B0503050203000203" pitchFamily="34" charset="0"/>
          <a:ea typeface="+mn-ea"/>
          <a:cs typeface="+mn-cs"/>
        </a:defRPr>
      </a:lvl2pPr>
      <a:lvl3pPr marL="777221" indent="-228594" algn="l" defTabSz="913742"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3pPr>
      <a:lvl4pPr marL="1005815" indent="-228594" algn="l" defTabSz="913742"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4pPr>
      <a:lvl5pPr marL="1280128" indent="-228594" algn="l" defTabSz="913742" rtl="0" eaLnBrk="1" latinLnBrk="0" hangingPunct="1">
        <a:lnSpc>
          <a:spcPct val="90000"/>
        </a:lnSpc>
        <a:spcBef>
          <a:spcPts val="500"/>
        </a:spcBef>
        <a:buClr>
          <a:schemeClr val="accent4"/>
        </a:buClr>
        <a:buFont typeface="System Font Regular"/>
        <a:buChar char="-"/>
        <a:defRPr sz="1400" b="0" i="0" kern="1200">
          <a:solidFill>
            <a:schemeClr val="tx1"/>
          </a:solidFill>
          <a:latin typeface="IBM Plex Sans" panose="020B0503050203000203" pitchFamily="34" charset="0"/>
          <a:ea typeface="+mn-ea"/>
          <a:cs typeface="+mn-cs"/>
        </a:defRPr>
      </a:lvl5pPr>
      <a:lvl6pPr marL="2514537"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726"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8914"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103"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3742" rtl="0" eaLnBrk="1" latinLnBrk="0" hangingPunct="1">
        <a:defRPr sz="1800" kern="1200">
          <a:solidFill>
            <a:schemeClr val="tx1"/>
          </a:solidFill>
          <a:latin typeface="+mn-lt"/>
          <a:ea typeface="+mn-ea"/>
          <a:cs typeface="+mn-cs"/>
        </a:defRPr>
      </a:lvl1pPr>
      <a:lvl2pPr marL="457189" algn="l" defTabSz="913742" rtl="0" eaLnBrk="1" latinLnBrk="0" hangingPunct="1">
        <a:defRPr sz="1800" kern="1200">
          <a:solidFill>
            <a:schemeClr val="tx1"/>
          </a:solidFill>
          <a:latin typeface="+mn-lt"/>
          <a:ea typeface="+mn-ea"/>
          <a:cs typeface="+mn-cs"/>
        </a:defRPr>
      </a:lvl2pPr>
      <a:lvl3pPr marL="914377" algn="l" defTabSz="913742" rtl="0" eaLnBrk="1" latinLnBrk="0" hangingPunct="1">
        <a:defRPr sz="1800" kern="1200">
          <a:solidFill>
            <a:schemeClr val="tx1"/>
          </a:solidFill>
          <a:latin typeface="+mn-lt"/>
          <a:ea typeface="+mn-ea"/>
          <a:cs typeface="+mn-cs"/>
        </a:defRPr>
      </a:lvl3pPr>
      <a:lvl4pPr marL="1371566" algn="l" defTabSz="913742" rtl="0" eaLnBrk="1" latinLnBrk="0" hangingPunct="1">
        <a:defRPr sz="1800" kern="1200">
          <a:solidFill>
            <a:schemeClr val="tx1"/>
          </a:solidFill>
          <a:latin typeface="+mn-lt"/>
          <a:ea typeface="+mn-ea"/>
          <a:cs typeface="+mn-cs"/>
        </a:defRPr>
      </a:lvl4pPr>
      <a:lvl5pPr marL="1828754" algn="l" defTabSz="913742" rtl="0" eaLnBrk="1" latinLnBrk="0" hangingPunct="1">
        <a:defRPr sz="1800" kern="1200">
          <a:solidFill>
            <a:schemeClr val="tx1"/>
          </a:solidFill>
          <a:latin typeface="+mn-lt"/>
          <a:ea typeface="+mn-ea"/>
          <a:cs typeface="+mn-cs"/>
        </a:defRPr>
      </a:lvl5pPr>
      <a:lvl6pPr marL="2285943" algn="l" defTabSz="913742" rtl="0" eaLnBrk="1" latinLnBrk="0" hangingPunct="1">
        <a:defRPr sz="1800" kern="1200">
          <a:solidFill>
            <a:schemeClr val="tx1"/>
          </a:solidFill>
          <a:latin typeface="+mn-lt"/>
          <a:ea typeface="+mn-ea"/>
          <a:cs typeface="+mn-cs"/>
        </a:defRPr>
      </a:lvl6pPr>
      <a:lvl7pPr marL="2743131" algn="l" defTabSz="913742" rtl="0" eaLnBrk="1" latinLnBrk="0" hangingPunct="1">
        <a:defRPr sz="1800" kern="1200">
          <a:solidFill>
            <a:schemeClr val="tx1"/>
          </a:solidFill>
          <a:latin typeface="+mn-lt"/>
          <a:ea typeface="+mn-ea"/>
          <a:cs typeface="+mn-cs"/>
        </a:defRPr>
      </a:lvl7pPr>
      <a:lvl8pPr marL="3200320" algn="l" defTabSz="913742" rtl="0" eaLnBrk="1" latinLnBrk="0" hangingPunct="1">
        <a:defRPr sz="1800" kern="1200">
          <a:solidFill>
            <a:schemeClr val="tx1"/>
          </a:solidFill>
          <a:latin typeface="+mn-lt"/>
          <a:ea typeface="+mn-ea"/>
          <a:cs typeface="+mn-cs"/>
        </a:defRPr>
      </a:lvl8pPr>
      <a:lvl9pPr marL="3657509" algn="l" defTabSz="9137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9059" y="1111973"/>
            <a:ext cx="8726171" cy="2061211"/>
          </a:xfrm>
        </p:spPr>
        <p:txBody>
          <a:bodyPr>
            <a:normAutofit/>
          </a:bodyPr>
          <a:lstStyle/>
          <a:p>
            <a:pPr algn="l"/>
            <a:r>
              <a:rPr lang="en-US" sz="4400" b="1" dirty="0">
                <a:latin typeface="Arial" panose="020B0604020202090204"/>
                <a:sym typeface="+mn-ea"/>
              </a:rPr>
              <a:t>SSW-555: Agile Methods for Software Development</a:t>
            </a:r>
            <a:endParaRPr lang="en-US" sz="4400" dirty="0"/>
          </a:p>
        </p:txBody>
      </p:sp>
      <p:sp>
        <p:nvSpPr>
          <p:cNvPr id="3" name="Subtitle 2"/>
          <p:cNvSpPr>
            <a:spLocks noGrp="1"/>
          </p:cNvSpPr>
          <p:nvPr>
            <p:ph type="subTitle" idx="1"/>
          </p:nvPr>
        </p:nvSpPr>
        <p:spPr>
          <a:xfrm>
            <a:off x="779350" y="3564437"/>
            <a:ext cx="7041743" cy="934635"/>
          </a:xfrm>
        </p:spPr>
        <p:txBody>
          <a:bodyPr>
            <a:normAutofit/>
          </a:bodyPr>
          <a:lstStyle/>
          <a:p>
            <a:pPr algn="l"/>
            <a:r>
              <a:rPr lang="en-US" sz="3200" b="1" dirty="0">
                <a:latin typeface="Arial Bold" panose="020B0604020202090204" charset="0"/>
              </a:rPr>
              <a:t>Scenario-based </a:t>
            </a:r>
            <a:r>
              <a:rPr lang="en-US" sz="3200" b="1">
                <a:latin typeface="Arial Bold" panose="020B0604020202090204" charset="0"/>
              </a:rPr>
              <a:t>questions 4</a:t>
            </a:r>
            <a:endParaRPr lang="en-US" sz="3200" b="1" dirty="0">
              <a:latin typeface="Arial Bold" panose="020B0604020202090204" charset="0"/>
              <a:cs typeface="Arial Bold" panose="020B0604020202090204" charset="0"/>
            </a:endParaRPr>
          </a:p>
        </p:txBody>
      </p:sp>
      <p:sp>
        <p:nvSpPr>
          <p:cNvPr id="5" name="Text Placeholder 4"/>
          <p:cNvSpPr>
            <a:spLocks noGrp="1"/>
          </p:cNvSpPr>
          <p:nvPr>
            <p:ph type="body" sz="quarter" idx="11"/>
          </p:nvPr>
        </p:nvSpPr>
        <p:spPr>
          <a:xfrm>
            <a:off x="873126" y="4726864"/>
            <a:ext cx="6854191" cy="903605"/>
          </a:xfrm>
        </p:spPr>
        <p:txBody>
          <a:bodyPr>
            <a:noAutofit/>
          </a:bodyPr>
          <a:lstStyle/>
          <a:p>
            <a:pPr algn="l"/>
            <a:r>
              <a:rPr lang="en-US" dirty="0">
                <a:latin typeface="Calibri"/>
                <a:sym typeface="+mn-ea"/>
              </a:rPr>
              <a:t>Instructor: Dr. Nafiseh Ghorbani </a:t>
            </a:r>
          </a:p>
          <a:p>
            <a:pPr algn="l"/>
            <a:r>
              <a:rPr lang="en-US" dirty="0">
                <a:latin typeface="Calibri"/>
                <a:sym typeface="+mn-ea"/>
              </a:rPr>
              <a:t>Department of Systems and Enterprises </a:t>
            </a:r>
          </a:p>
          <a:p>
            <a:pPr algn="l"/>
            <a:r>
              <a:rPr lang="en-US" dirty="0">
                <a:latin typeface="Calibri"/>
                <a:sym typeface="+mn-ea"/>
              </a:rPr>
              <a:t>Stevens Institute of Technology</a:t>
            </a:r>
            <a:endParaRPr lang="en-US" dirty="0">
              <a:latin typeface="Calibri"/>
            </a:endParaRPr>
          </a:p>
          <a:p>
            <a:pPr algn="l"/>
            <a:endParaRPr lang="en-US" dirty="0">
              <a:latin typeface="Calibri"/>
            </a:endParaRPr>
          </a:p>
        </p:txBody>
      </p:sp>
      <p:sp>
        <p:nvSpPr>
          <p:cNvPr id="4" name="Date Placeholder 3"/>
          <p:cNvSpPr>
            <a:spLocks noGrp="1"/>
          </p:cNvSpPr>
          <p:nvPr>
            <p:ph type="dt" sz="half" idx="10"/>
          </p:nvPr>
        </p:nvSpPr>
        <p:spPr>
          <a:xfrm>
            <a:off x="7914869" y="6474380"/>
            <a:ext cx="4131195" cy="230832"/>
          </a:xfrm>
        </p:spPr>
        <p:txBody>
          <a:bodyPr/>
          <a:lstStyle/>
          <a:p>
            <a:r>
              <a:rPr lang="en-US" sz="900" b="0" dirty="0"/>
              <a:t>This Lecture is based on material from Prof. Jim Rowland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88A9A4-25EA-78A9-2A9C-E746AFFF2904}"/>
              </a:ext>
            </a:extLst>
          </p:cNvPr>
          <p:cNvSpPr>
            <a:spLocks noGrp="1"/>
          </p:cNvSpPr>
          <p:nvPr>
            <p:ph type="sldNum" sz="quarter" idx="13"/>
          </p:nvPr>
        </p:nvSpPr>
        <p:spPr/>
        <p:txBody>
          <a:bodyPr/>
          <a:lstStyle/>
          <a:p>
            <a:fld id="{12342C3A-DD85-7843-B416-BD52AB030D59}" type="slidenum">
              <a:rPr lang="en-US" smtClean="0"/>
              <a:pPr/>
              <a:t>2</a:t>
            </a:fld>
            <a:endParaRPr lang="en-US" dirty="0"/>
          </a:p>
        </p:txBody>
      </p:sp>
      <p:sp>
        <p:nvSpPr>
          <p:cNvPr id="3" name="Text Placeholder 2">
            <a:extLst>
              <a:ext uri="{FF2B5EF4-FFF2-40B4-BE49-F238E27FC236}">
                <a16:creationId xmlns:a16="http://schemas.microsoft.com/office/drawing/2014/main" id="{8973CC4F-820B-7586-B9BA-208F083DE618}"/>
              </a:ext>
            </a:extLst>
          </p:cNvPr>
          <p:cNvSpPr>
            <a:spLocks noGrp="1"/>
          </p:cNvSpPr>
          <p:nvPr>
            <p:ph type="body" sz="quarter" idx="12"/>
          </p:nvPr>
        </p:nvSpPr>
        <p:spPr/>
        <p:txBody>
          <a:bodyPr>
            <a:normAutofit/>
          </a:bodyPr>
          <a:lstStyle/>
          <a:p>
            <a:r>
              <a:rPr lang="en-US" sz="2400" dirty="0"/>
              <a:t>You are leading a software development team, and you've noticed that the team spends a significant amount of time building features that customers rarely use, while some key features are not receiving enough attention. How can you apply Lean Software Development principles to reduce waste in this process?</a:t>
            </a:r>
          </a:p>
        </p:txBody>
      </p:sp>
      <p:sp>
        <p:nvSpPr>
          <p:cNvPr id="4" name="Title 3">
            <a:extLst>
              <a:ext uri="{FF2B5EF4-FFF2-40B4-BE49-F238E27FC236}">
                <a16:creationId xmlns:a16="http://schemas.microsoft.com/office/drawing/2014/main" id="{CD80AB5C-E24C-7B7F-F5B4-8B8C3C1D42D9}"/>
              </a:ext>
            </a:extLst>
          </p:cNvPr>
          <p:cNvSpPr>
            <a:spLocks noGrp="1"/>
          </p:cNvSpPr>
          <p:nvPr>
            <p:ph type="title"/>
          </p:nvPr>
        </p:nvSpPr>
        <p:spPr/>
        <p:txBody>
          <a:bodyPr>
            <a:normAutofit fontScale="90000"/>
          </a:bodyPr>
          <a:lstStyle/>
          <a:p>
            <a:r>
              <a:rPr lang="en-US" dirty="0"/>
              <a:t>Scenario 1: Minimizing Waste in Software Development</a:t>
            </a:r>
          </a:p>
        </p:txBody>
      </p:sp>
    </p:spTree>
    <p:extLst>
      <p:ext uri="{BB962C8B-B14F-4D97-AF65-F5344CB8AC3E}">
        <p14:creationId xmlns:p14="http://schemas.microsoft.com/office/powerpoint/2010/main" val="3321895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660E58-DF03-36C8-2AAA-DDFDE7CF8F61}"/>
              </a:ext>
            </a:extLst>
          </p:cNvPr>
          <p:cNvSpPr>
            <a:spLocks noGrp="1"/>
          </p:cNvSpPr>
          <p:nvPr>
            <p:ph type="sldNum" sz="quarter" idx="13"/>
          </p:nvPr>
        </p:nvSpPr>
        <p:spPr/>
        <p:txBody>
          <a:bodyPr/>
          <a:lstStyle/>
          <a:p>
            <a:fld id="{12342C3A-DD85-7843-B416-BD52AB030D59}" type="slidenum">
              <a:rPr lang="en-US" smtClean="0"/>
              <a:pPr/>
              <a:t>3</a:t>
            </a:fld>
            <a:endParaRPr lang="en-US" dirty="0"/>
          </a:p>
        </p:txBody>
      </p:sp>
      <p:sp>
        <p:nvSpPr>
          <p:cNvPr id="3" name="Text Placeholder 2">
            <a:extLst>
              <a:ext uri="{FF2B5EF4-FFF2-40B4-BE49-F238E27FC236}">
                <a16:creationId xmlns:a16="http://schemas.microsoft.com/office/drawing/2014/main" id="{06ED6E41-46E9-07FD-C41C-33A13F78F36E}"/>
              </a:ext>
            </a:extLst>
          </p:cNvPr>
          <p:cNvSpPr>
            <a:spLocks noGrp="1"/>
          </p:cNvSpPr>
          <p:nvPr>
            <p:ph type="body" sz="quarter" idx="12"/>
          </p:nvPr>
        </p:nvSpPr>
        <p:spPr/>
        <p:txBody>
          <a:bodyPr>
            <a:normAutofit/>
          </a:bodyPr>
          <a:lstStyle/>
          <a:p>
            <a:pPr marL="285750" indent="-285750">
              <a:buFont typeface="Arial" panose="020B0604020202020204" pitchFamily="34" charset="0"/>
              <a:buChar char="•"/>
            </a:pPr>
            <a:r>
              <a:rPr lang="en-US" sz="1800" b="1" dirty="0"/>
              <a:t>Eliminate Waste (Muda)</a:t>
            </a:r>
            <a:r>
              <a:rPr lang="en-US" sz="1800" dirty="0"/>
              <a:t>:</a:t>
            </a:r>
          </a:p>
          <a:p>
            <a:pPr marL="742950" lvl="1" indent="-285750">
              <a:buFont typeface="Arial" panose="020B0604020202020204" pitchFamily="34" charset="0"/>
              <a:buChar char="•"/>
            </a:pPr>
            <a:r>
              <a:rPr lang="en-US" sz="1800" b="1" dirty="0"/>
              <a:t>Identify unnecessary features</a:t>
            </a:r>
            <a:r>
              <a:rPr lang="en-US" sz="1800" dirty="0"/>
              <a:t> by talking to stakeholders, users, or analyzing usage data to identify which features are underused and should be removed or minimized.</a:t>
            </a:r>
          </a:p>
          <a:p>
            <a:pPr marL="742950" lvl="1" indent="-285750">
              <a:buFont typeface="Arial" panose="020B0604020202020204" pitchFamily="34" charset="0"/>
              <a:buChar char="•"/>
            </a:pPr>
            <a:r>
              <a:rPr lang="en-US" sz="1800" dirty="0"/>
              <a:t>Focus on building only </a:t>
            </a:r>
            <a:r>
              <a:rPr lang="en-US" sz="1800" b="1" dirty="0"/>
              <a:t>high-value features</a:t>
            </a:r>
            <a:r>
              <a:rPr lang="en-US" sz="1800" dirty="0"/>
              <a:t> that directly address customer needs.</a:t>
            </a:r>
          </a:p>
          <a:p>
            <a:pPr marL="742950" lvl="1" indent="-285750">
              <a:buFont typeface="Arial" panose="020B0604020202020204" pitchFamily="34" charset="0"/>
              <a:buChar char="•"/>
            </a:pPr>
            <a:r>
              <a:rPr lang="en-US" sz="1800" dirty="0"/>
              <a:t>Use </a:t>
            </a:r>
            <a:r>
              <a:rPr lang="en-US" sz="1800" b="1" dirty="0"/>
              <a:t>Kanban boards</a:t>
            </a:r>
            <a:r>
              <a:rPr lang="en-US" sz="1800" dirty="0"/>
              <a:t> or similar tools to visualize tasks, making it clear which features add the most value.</a:t>
            </a:r>
          </a:p>
          <a:p>
            <a:pPr marL="285750" indent="-285750">
              <a:buFont typeface="Arial" panose="020B0604020202020204" pitchFamily="34" charset="0"/>
              <a:buChar char="•"/>
            </a:pPr>
            <a:r>
              <a:rPr lang="en-US" sz="1800" b="1" dirty="0"/>
              <a:t>Continuous Improvement (Kaizen)</a:t>
            </a:r>
            <a:r>
              <a:rPr lang="en-US" sz="1800" dirty="0"/>
              <a:t>:</a:t>
            </a:r>
          </a:p>
          <a:p>
            <a:pPr marL="742950" lvl="1" indent="-285750">
              <a:buFont typeface="Arial" panose="020B0604020202020204" pitchFamily="34" charset="0"/>
              <a:buChar char="•"/>
            </a:pPr>
            <a:r>
              <a:rPr lang="en-US" sz="1800" dirty="0"/>
              <a:t>Establish regular feedback loops with users to assess the value of the features delivered and continuously </a:t>
            </a:r>
            <a:r>
              <a:rPr lang="en-US" sz="1800" b="1" dirty="0"/>
              <a:t>refine the backlog</a:t>
            </a:r>
            <a:r>
              <a:rPr lang="en-US" sz="1800" dirty="0"/>
              <a:t>.</a:t>
            </a:r>
          </a:p>
          <a:p>
            <a:pPr marL="742950" lvl="1" indent="-285750">
              <a:buFont typeface="Arial" panose="020B0604020202020204" pitchFamily="34" charset="0"/>
              <a:buChar char="•"/>
            </a:pPr>
            <a:r>
              <a:rPr lang="en-US" sz="1800" dirty="0"/>
              <a:t>Use </a:t>
            </a:r>
            <a:r>
              <a:rPr lang="en-US" sz="1800" b="1" dirty="0"/>
              <a:t>retrospectives</a:t>
            </a:r>
            <a:r>
              <a:rPr lang="en-US" sz="1800" dirty="0"/>
              <a:t> to reflect on the team’s processes and improve efficiency.</a:t>
            </a:r>
          </a:p>
          <a:p>
            <a:pPr marL="285750" indent="-285750">
              <a:buFont typeface="Arial" panose="020B0604020202020204" pitchFamily="34" charset="0"/>
              <a:buChar char="•"/>
            </a:pPr>
            <a:r>
              <a:rPr lang="en-US" sz="1800" b="1" dirty="0"/>
              <a:t>Just-in-Time Development</a:t>
            </a:r>
            <a:r>
              <a:rPr lang="en-US" sz="1800" dirty="0"/>
              <a:t>:</a:t>
            </a:r>
          </a:p>
          <a:p>
            <a:pPr marL="742950" lvl="1" indent="-285750">
              <a:buFont typeface="Arial" panose="020B0604020202020204" pitchFamily="34" charset="0"/>
              <a:buChar char="•"/>
            </a:pPr>
            <a:r>
              <a:rPr lang="en-US" sz="1800" dirty="0"/>
              <a:t>Adopt </a:t>
            </a:r>
            <a:r>
              <a:rPr lang="en-US" sz="1800" b="1" dirty="0"/>
              <a:t>just-in-time development</a:t>
            </a:r>
            <a:r>
              <a:rPr lang="en-US" sz="1800" dirty="0"/>
              <a:t> to build features when they are needed rather than speculating on future requirements.</a:t>
            </a:r>
          </a:p>
          <a:p>
            <a:pPr marL="742950" lvl="1" indent="-285750">
              <a:buFont typeface="Arial" panose="020B0604020202020204" pitchFamily="34" charset="0"/>
              <a:buChar char="•"/>
            </a:pPr>
            <a:r>
              <a:rPr lang="en-US" sz="1800" b="1" dirty="0"/>
              <a:t>Prioritize features</a:t>
            </a:r>
            <a:r>
              <a:rPr lang="en-US" sz="1800" dirty="0"/>
              <a:t> based on real-time customer feedback rather than building everything upfront.</a:t>
            </a:r>
          </a:p>
          <a:p>
            <a:pPr marL="800100" lvl="1" indent="-342900">
              <a:buFont typeface="Arial" panose="020B0604020202020204" pitchFamily="34" charset="0"/>
              <a:buChar char="•"/>
            </a:pPr>
            <a:endParaRPr lang="en-US" sz="2400" dirty="0"/>
          </a:p>
        </p:txBody>
      </p:sp>
      <p:sp>
        <p:nvSpPr>
          <p:cNvPr id="4" name="Title 3">
            <a:extLst>
              <a:ext uri="{FF2B5EF4-FFF2-40B4-BE49-F238E27FC236}">
                <a16:creationId xmlns:a16="http://schemas.microsoft.com/office/drawing/2014/main" id="{BD2AB27D-9509-3741-CF90-F491ECC4EF0C}"/>
              </a:ext>
            </a:extLst>
          </p:cNvPr>
          <p:cNvSpPr>
            <a:spLocks noGrp="1"/>
          </p:cNvSpPr>
          <p:nvPr>
            <p:ph type="title"/>
          </p:nvPr>
        </p:nvSpPr>
        <p:spPr/>
        <p:txBody>
          <a:bodyPr>
            <a:normAutofit fontScale="90000"/>
          </a:bodyPr>
          <a:lstStyle/>
          <a:p>
            <a:r>
              <a:rPr lang="en-US" dirty="0"/>
              <a:t>Scenario 1: Minimizing Waste in Software Development</a:t>
            </a:r>
          </a:p>
        </p:txBody>
      </p:sp>
    </p:spTree>
    <p:extLst>
      <p:ext uri="{BB962C8B-B14F-4D97-AF65-F5344CB8AC3E}">
        <p14:creationId xmlns:p14="http://schemas.microsoft.com/office/powerpoint/2010/main" val="3910416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C6C70A-BCA9-B0BC-FD1A-CC74066040AD}"/>
              </a:ext>
            </a:extLst>
          </p:cNvPr>
          <p:cNvSpPr>
            <a:spLocks noGrp="1"/>
          </p:cNvSpPr>
          <p:nvPr>
            <p:ph type="sldNum" sz="quarter" idx="13"/>
          </p:nvPr>
        </p:nvSpPr>
        <p:spPr/>
        <p:txBody>
          <a:bodyPr/>
          <a:lstStyle/>
          <a:p>
            <a:fld id="{12342C3A-DD85-7843-B416-BD52AB030D59}" type="slidenum">
              <a:rPr lang="en-US" smtClean="0"/>
              <a:pPr/>
              <a:t>4</a:t>
            </a:fld>
            <a:endParaRPr lang="en-US" dirty="0"/>
          </a:p>
        </p:txBody>
      </p:sp>
      <p:sp>
        <p:nvSpPr>
          <p:cNvPr id="3" name="Text Placeholder 2">
            <a:extLst>
              <a:ext uri="{FF2B5EF4-FFF2-40B4-BE49-F238E27FC236}">
                <a16:creationId xmlns:a16="http://schemas.microsoft.com/office/drawing/2014/main" id="{6ED20242-B93D-2F84-50F8-B64D7968A858}"/>
              </a:ext>
            </a:extLst>
          </p:cNvPr>
          <p:cNvSpPr>
            <a:spLocks noGrp="1"/>
          </p:cNvSpPr>
          <p:nvPr>
            <p:ph type="body" sz="quarter" idx="12"/>
          </p:nvPr>
        </p:nvSpPr>
        <p:spPr/>
        <p:txBody>
          <a:bodyPr>
            <a:normAutofit/>
          </a:bodyPr>
          <a:lstStyle/>
          <a:p>
            <a:r>
              <a:rPr lang="en-US" sz="2400" dirty="0"/>
              <a:t>Your development team is currently building software based on a large set of initial requirements. However, the business has shifted its priorities midway through the development. How can Lean principles help in reducing overproduction and ensure the team builds only what's necessary?</a:t>
            </a:r>
          </a:p>
        </p:txBody>
      </p:sp>
      <p:sp>
        <p:nvSpPr>
          <p:cNvPr id="4" name="Title 3">
            <a:extLst>
              <a:ext uri="{FF2B5EF4-FFF2-40B4-BE49-F238E27FC236}">
                <a16:creationId xmlns:a16="http://schemas.microsoft.com/office/drawing/2014/main" id="{F59F56A8-6EDF-1B5C-2360-F1C6B3B57325}"/>
              </a:ext>
            </a:extLst>
          </p:cNvPr>
          <p:cNvSpPr>
            <a:spLocks noGrp="1"/>
          </p:cNvSpPr>
          <p:nvPr>
            <p:ph type="title"/>
          </p:nvPr>
        </p:nvSpPr>
        <p:spPr/>
        <p:txBody>
          <a:bodyPr>
            <a:normAutofit fontScale="90000"/>
          </a:bodyPr>
          <a:lstStyle/>
          <a:p>
            <a:r>
              <a:rPr lang="en-US" dirty="0"/>
              <a:t>Scenario 2: Reducing Overproduction in Development</a:t>
            </a:r>
          </a:p>
        </p:txBody>
      </p:sp>
    </p:spTree>
    <p:extLst>
      <p:ext uri="{BB962C8B-B14F-4D97-AF65-F5344CB8AC3E}">
        <p14:creationId xmlns:p14="http://schemas.microsoft.com/office/powerpoint/2010/main" val="3647086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D455A6-8ABF-BC41-DF30-97EE4CF5F6A4}"/>
              </a:ext>
            </a:extLst>
          </p:cNvPr>
          <p:cNvSpPr>
            <a:spLocks noGrp="1"/>
          </p:cNvSpPr>
          <p:nvPr>
            <p:ph type="sldNum" sz="quarter" idx="13"/>
          </p:nvPr>
        </p:nvSpPr>
        <p:spPr/>
        <p:txBody>
          <a:bodyPr/>
          <a:lstStyle/>
          <a:p>
            <a:fld id="{12342C3A-DD85-7843-B416-BD52AB030D59}" type="slidenum">
              <a:rPr lang="en-US" smtClean="0"/>
              <a:pPr/>
              <a:t>5</a:t>
            </a:fld>
            <a:endParaRPr lang="en-US" dirty="0"/>
          </a:p>
        </p:txBody>
      </p:sp>
      <p:sp>
        <p:nvSpPr>
          <p:cNvPr id="3" name="Text Placeholder 2">
            <a:extLst>
              <a:ext uri="{FF2B5EF4-FFF2-40B4-BE49-F238E27FC236}">
                <a16:creationId xmlns:a16="http://schemas.microsoft.com/office/drawing/2014/main" id="{E435FE77-DBDC-2BDF-C594-597632108FA2}"/>
              </a:ext>
            </a:extLst>
          </p:cNvPr>
          <p:cNvSpPr>
            <a:spLocks noGrp="1"/>
          </p:cNvSpPr>
          <p:nvPr>
            <p:ph type="body" sz="quarter" idx="12"/>
          </p:nvPr>
        </p:nvSpPr>
        <p:spPr/>
        <p:txBody>
          <a:bodyPr>
            <a:normAutofit/>
          </a:bodyPr>
          <a:lstStyle/>
          <a:p>
            <a:pPr marL="285750" indent="-285750">
              <a:buFont typeface="Arial" panose="020B0604020202020204" pitchFamily="34" charset="0"/>
              <a:buChar char="•"/>
            </a:pPr>
            <a:r>
              <a:rPr lang="en-US" sz="2000" b="1" dirty="0"/>
              <a:t>Build Incrementally</a:t>
            </a:r>
            <a:r>
              <a:rPr lang="en-US" sz="2000" dirty="0"/>
              <a:t>:</a:t>
            </a:r>
          </a:p>
          <a:p>
            <a:pPr marL="742950" lvl="1" indent="-285750">
              <a:buFont typeface="Arial" panose="020B0604020202020204" pitchFamily="34" charset="0"/>
              <a:buChar char="•"/>
            </a:pPr>
            <a:r>
              <a:rPr lang="en-US" sz="2000" dirty="0"/>
              <a:t>Instead of building all features upfront, break the development process into smaller, </a:t>
            </a:r>
            <a:r>
              <a:rPr lang="en-US" sz="2000" b="1" dirty="0"/>
              <a:t>incremental releases</a:t>
            </a:r>
            <a:r>
              <a:rPr lang="en-US" sz="2000" dirty="0"/>
              <a:t> that deliver value as soon as possible.</a:t>
            </a:r>
          </a:p>
          <a:p>
            <a:pPr marL="742950" lvl="1" indent="-285750">
              <a:buFont typeface="Arial" panose="020B0604020202020204" pitchFamily="34" charset="0"/>
              <a:buChar char="•"/>
            </a:pPr>
            <a:r>
              <a:rPr lang="en-US" sz="2000" dirty="0"/>
              <a:t>Use </a:t>
            </a:r>
            <a:r>
              <a:rPr lang="en-US" sz="2000" b="1" dirty="0"/>
              <a:t>small batches</a:t>
            </a:r>
            <a:r>
              <a:rPr lang="en-US" sz="2000" dirty="0"/>
              <a:t> of code and deploy frequently, ensuring that each release is usable and has customer value.</a:t>
            </a:r>
          </a:p>
          <a:p>
            <a:pPr marL="285750" indent="-285750">
              <a:buFont typeface="Arial" panose="020B0604020202020204" pitchFamily="34" charset="0"/>
              <a:buChar char="•"/>
            </a:pPr>
            <a:r>
              <a:rPr lang="en-US" sz="2000" b="1" dirty="0"/>
              <a:t>Focus on Customer Feedback</a:t>
            </a:r>
            <a:r>
              <a:rPr lang="en-US" sz="2000" dirty="0"/>
              <a:t>:</a:t>
            </a:r>
          </a:p>
          <a:p>
            <a:pPr marL="742950" lvl="1" indent="-285750">
              <a:buFont typeface="Arial" panose="020B0604020202020204" pitchFamily="34" charset="0"/>
              <a:buChar char="•"/>
            </a:pPr>
            <a:r>
              <a:rPr lang="en-US" sz="2000" dirty="0"/>
              <a:t>Develop a </a:t>
            </a:r>
            <a:r>
              <a:rPr lang="en-US" sz="2000" b="1" dirty="0"/>
              <a:t>feedback loop</a:t>
            </a:r>
            <a:r>
              <a:rPr lang="en-US" sz="2000" dirty="0"/>
              <a:t> with customers or end-users to validate features before building unnecessary functionality.</a:t>
            </a:r>
          </a:p>
          <a:p>
            <a:pPr marL="742950" lvl="1" indent="-285750">
              <a:buFont typeface="Arial" panose="020B0604020202020204" pitchFamily="34" charset="0"/>
              <a:buChar char="•"/>
            </a:pPr>
            <a:r>
              <a:rPr lang="en-US" sz="2000" dirty="0"/>
              <a:t>Involve stakeholders regularly to </a:t>
            </a:r>
            <a:r>
              <a:rPr lang="en-US" sz="2000" b="1" dirty="0"/>
              <a:t>adjust priorities</a:t>
            </a:r>
            <a:r>
              <a:rPr lang="en-US" sz="2000" dirty="0"/>
              <a:t> and refine requirements throughout the development process.</a:t>
            </a:r>
          </a:p>
          <a:p>
            <a:pPr marL="285750" indent="-285750">
              <a:buFont typeface="Arial" panose="020B0604020202020204" pitchFamily="34" charset="0"/>
              <a:buChar char="•"/>
            </a:pPr>
            <a:r>
              <a:rPr lang="en-US" sz="2000" b="1" dirty="0"/>
              <a:t>Pull System</a:t>
            </a:r>
            <a:r>
              <a:rPr lang="en-US" sz="2000" dirty="0"/>
              <a:t>:</a:t>
            </a:r>
          </a:p>
          <a:p>
            <a:pPr marL="742950" lvl="1" indent="-285750">
              <a:buFont typeface="Arial" panose="020B0604020202020204" pitchFamily="34" charset="0"/>
              <a:buChar char="•"/>
            </a:pPr>
            <a:r>
              <a:rPr lang="en-US" sz="2000" dirty="0"/>
              <a:t>Use a </a:t>
            </a:r>
            <a:r>
              <a:rPr lang="en-US" sz="2000" b="1" dirty="0"/>
              <a:t>Kanban system</a:t>
            </a:r>
            <a:r>
              <a:rPr lang="en-US" sz="2000" dirty="0"/>
              <a:t> to manage work items, ensuring that the team only pulls in work that is required at the moment, preventing overproduction of unnecessary features.</a:t>
            </a:r>
          </a:p>
          <a:p>
            <a:endParaRPr lang="en-US" sz="3200" dirty="0"/>
          </a:p>
        </p:txBody>
      </p:sp>
      <p:sp>
        <p:nvSpPr>
          <p:cNvPr id="4" name="Title 3">
            <a:extLst>
              <a:ext uri="{FF2B5EF4-FFF2-40B4-BE49-F238E27FC236}">
                <a16:creationId xmlns:a16="http://schemas.microsoft.com/office/drawing/2014/main" id="{09E86AF3-B885-54E5-84A2-71CE5B7D3E83}"/>
              </a:ext>
            </a:extLst>
          </p:cNvPr>
          <p:cNvSpPr>
            <a:spLocks noGrp="1"/>
          </p:cNvSpPr>
          <p:nvPr>
            <p:ph type="title"/>
          </p:nvPr>
        </p:nvSpPr>
        <p:spPr/>
        <p:txBody>
          <a:bodyPr>
            <a:normAutofit fontScale="90000"/>
          </a:bodyPr>
          <a:lstStyle/>
          <a:p>
            <a:r>
              <a:rPr lang="en-US" dirty="0"/>
              <a:t>Scenario 2: Reducing Overproduction in Development</a:t>
            </a:r>
          </a:p>
        </p:txBody>
      </p:sp>
    </p:spTree>
    <p:extLst>
      <p:ext uri="{BB962C8B-B14F-4D97-AF65-F5344CB8AC3E}">
        <p14:creationId xmlns:p14="http://schemas.microsoft.com/office/powerpoint/2010/main" val="2051205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3E31C5-EF9F-BCF2-3587-85AD0FC7C39A}"/>
              </a:ext>
            </a:extLst>
          </p:cNvPr>
          <p:cNvSpPr>
            <a:spLocks noGrp="1"/>
          </p:cNvSpPr>
          <p:nvPr>
            <p:ph type="sldNum" sz="quarter" idx="13"/>
          </p:nvPr>
        </p:nvSpPr>
        <p:spPr/>
        <p:txBody>
          <a:bodyPr/>
          <a:lstStyle/>
          <a:p>
            <a:fld id="{12342C3A-DD85-7843-B416-BD52AB030D59}" type="slidenum">
              <a:rPr lang="en-US" smtClean="0"/>
              <a:pPr/>
              <a:t>6</a:t>
            </a:fld>
            <a:endParaRPr lang="en-US" dirty="0"/>
          </a:p>
        </p:txBody>
      </p:sp>
      <p:sp>
        <p:nvSpPr>
          <p:cNvPr id="3" name="Text Placeholder 2">
            <a:extLst>
              <a:ext uri="{FF2B5EF4-FFF2-40B4-BE49-F238E27FC236}">
                <a16:creationId xmlns:a16="http://schemas.microsoft.com/office/drawing/2014/main" id="{46C84E62-6FC0-E7CB-DF73-DD7B6281A784}"/>
              </a:ext>
            </a:extLst>
          </p:cNvPr>
          <p:cNvSpPr>
            <a:spLocks noGrp="1"/>
          </p:cNvSpPr>
          <p:nvPr>
            <p:ph type="body" sz="quarter" idx="12"/>
          </p:nvPr>
        </p:nvSpPr>
        <p:spPr/>
        <p:txBody>
          <a:bodyPr>
            <a:normAutofit/>
          </a:bodyPr>
          <a:lstStyle/>
          <a:p>
            <a:endParaRPr lang="en-US" sz="2400" dirty="0"/>
          </a:p>
          <a:p>
            <a:r>
              <a:rPr lang="en-US" sz="2400" dirty="0"/>
              <a:t>Your team is under pressure to deliver a new feature in a short amount of time. However, there is concern that rushing could compromise the software's quality. How can you apply Lean principles to balance speed and quality?</a:t>
            </a:r>
          </a:p>
        </p:txBody>
      </p:sp>
      <p:sp>
        <p:nvSpPr>
          <p:cNvPr id="4" name="Title 3">
            <a:extLst>
              <a:ext uri="{FF2B5EF4-FFF2-40B4-BE49-F238E27FC236}">
                <a16:creationId xmlns:a16="http://schemas.microsoft.com/office/drawing/2014/main" id="{69C73946-4CB1-370D-5F20-28AF772B4609}"/>
              </a:ext>
            </a:extLst>
          </p:cNvPr>
          <p:cNvSpPr>
            <a:spLocks noGrp="1"/>
          </p:cNvSpPr>
          <p:nvPr>
            <p:ph type="title"/>
          </p:nvPr>
        </p:nvSpPr>
        <p:spPr/>
        <p:txBody>
          <a:bodyPr>
            <a:normAutofit fontScale="90000"/>
          </a:bodyPr>
          <a:lstStyle/>
          <a:p>
            <a:r>
              <a:rPr lang="en-US" dirty="0"/>
              <a:t>Scenario 3: Improving Development Speed Without Sacrificing Quality</a:t>
            </a:r>
          </a:p>
        </p:txBody>
      </p:sp>
    </p:spTree>
    <p:extLst>
      <p:ext uri="{BB962C8B-B14F-4D97-AF65-F5344CB8AC3E}">
        <p14:creationId xmlns:p14="http://schemas.microsoft.com/office/powerpoint/2010/main" val="2476115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FA6BF9-6AAE-9A7A-45C5-A4BFF0BE12CF}"/>
              </a:ext>
            </a:extLst>
          </p:cNvPr>
          <p:cNvSpPr>
            <a:spLocks noGrp="1"/>
          </p:cNvSpPr>
          <p:nvPr>
            <p:ph type="sldNum" sz="quarter" idx="13"/>
          </p:nvPr>
        </p:nvSpPr>
        <p:spPr/>
        <p:txBody>
          <a:bodyPr/>
          <a:lstStyle/>
          <a:p>
            <a:fld id="{12342C3A-DD85-7843-B416-BD52AB030D59}" type="slidenum">
              <a:rPr lang="en-US" smtClean="0"/>
              <a:pPr/>
              <a:t>7</a:t>
            </a:fld>
            <a:endParaRPr lang="en-US" dirty="0"/>
          </a:p>
        </p:txBody>
      </p:sp>
      <p:sp>
        <p:nvSpPr>
          <p:cNvPr id="3" name="Text Placeholder 2">
            <a:extLst>
              <a:ext uri="{FF2B5EF4-FFF2-40B4-BE49-F238E27FC236}">
                <a16:creationId xmlns:a16="http://schemas.microsoft.com/office/drawing/2014/main" id="{B1EDAC35-F759-59D0-7BBC-A71C467C10C8}"/>
              </a:ext>
            </a:extLst>
          </p:cNvPr>
          <p:cNvSpPr>
            <a:spLocks noGrp="1"/>
          </p:cNvSpPr>
          <p:nvPr>
            <p:ph type="body" sz="quarter" idx="12"/>
          </p:nvPr>
        </p:nvSpPr>
        <p:spPr/>
        <p:txBody>
          <a:bodyPr>
            <a:normAutofit fontScale="92500" lnSpcReduction="10000"/>
          </a:bodyPr>
          <a:lstStyle/>
          <a:p>
            <a:pPr marL="342900" indent="-342900">
              <a:buFont typeface="Arial" panose="020B0604020202020204" pitchFamily="34" charset="0"/>
              <a:buChar char="•"/>
            </a:pPr>
            <a:endParaRPr lang="en-US" sz="3200" b="1" dirty="0"/>
          </a:p>
          <a:p>
            <a:pPr marL="285750" indent="-285750">
              <a:buFont typeface="Arial" panose="020B0604020202020204" pitchFamily="34" charset="0"/>
              <a:buChar char="•"/>
            </a:pPr>
            <a:r>
              <a:rPr lang="en-US" sz="2000" b="1" dirty="0"/>
              <a:t>Quality Built-in (</a:t>
            </a:r>
            <a:r>
              <a:rPr lang="en-US" sz="2000" b="1" dirty="0" err="1"/>
              <a:t>Jidoka</a:t>
            </a:r>
            <a:r>
              <a:rPr lang="en-US" sz="2000" b="1" dirty="0"/>
              <a:t>)</a:t>
            </a:r>
            <a:r>
              <a:rPr lang="en-US" sz="2000" dirty="0"/>
              <a:t>:</a:t>
            </a:r>
          </a:p>
          <a:p>
            <a:pPr marL="742950" lvl="1" indent="-285750">
              <a:buFont typeface="Arial" panose="020B0604020202020204" pitchFamily="34" charset="0"/>
              <a:buChar char="•"/>
            </a:pPr>
            <a:r>
              <a:rPr lang="en-US" sz="2000" dirty="0"/>
              <a:t>Emphasize </a:t>
            </a:r>
            <a:r>
              <a:rPr lang="en-US" sz="2000" b="1" dirty="0"/>
              <a:t>automated testing</a:t>
            </a:r>
            <a:r>
              <a:rPr lang="en-US" sz="2000" dirty="0"/>
              <a:t> (unit tests, integration tests, etc.) to catch issues early and ensure quality is maintained while increasing speed.</a:t>
            </a:r>
          </a:p>
          <a:p>
            <a:pPr marL="742950" lvl="1" indent="-285750">
              <a:buFont typeface="Arial" panose="020B0604020202020204" pitchFamily="34" charset="0"/>
              <a:buChar char="•"/>
            </a:pPr>
            <a:r>
              <a:rPr lang="en-US" sz="2000" b="1" dirty="0"/>
              <a:t>Pair programming</a:t>
            </a:r>
            <a:r>
              <a:rPr lang="en-US" sz="2000" dirty="0"/>
              <a:t> or </a:t>
            </a:r>
            <a:r>
              <a:rPr lang="en-US" sz="2000" b="1" dirty="0"/>
              <a:t>code reviews</a:t>
            </a:r>
            <a:r>
              <a:rPr lang="en-US" sz="2000" dirty="0"/>
              <a:t> can help ensure quality is built into the product as it’s developed, rather than fixing issues later.</a:t>
            </a:r>
          </a:p>
          <a:p>
            <a:pPr marL="285750" indent="-285750">
              <a:buFont typeface="Arial" panose="020B0604020202020204" pitchFamily="34" charset="0"/>
              <a:buChar char="•"/>
            </a:pPr>
            <a:r>
              <a:rPr lang="en-US" sz="2000" b="1" dirty="0"/>
              <a:t>Flow</a:t>
            </a:r>
            <a:r>
              <a:rPr lang="en-US" sz="2000" dirty="0"/>
              <a:t>:</a:t>
            </a:r>
          </a:p>
          <a:p>
            <a:pPr marL="742950" lvl="1" indent="-285750">
              <a:buFont typeface="Arial" panose="020B0604020202020204" pitchFamily="34" charset="0"/>
              <a:buChar char="•"/>
            </a:pPr>
            <a:r>
              <a:rPr lang="en-US" sz="2000" dirty="0"/>
              <a:t>Focus on </a:t>
            </a:r>
            <a:r>
              <a:rPr lang="en-US" sz="2000" b="1" dirty="0"/>
              <a:t>streamlining the workflow</a:t>
            </a:r>
            <a:r>
              <a:rPr lang="en-US" sz="2000" dirty="0"/>
              <a:t> by eliminating bottlenecks (e.g., wait times, unclear task handoffs, etc.).</a:t>
            </a:r>
          </a:p>
          <a:p>
            <a:pPr marL="742950" lvl="1" indent="-285750">
              <a:buFont typeface="Arial" panose="020B0604020202020204" pitchFamily="34" charset="0"/>
              <a:buChar char="•"/>
            </a:pPr>
            <a:r>
              <a:rPr lang="en-US" sz="2000" dirty="0"/>
              <a:t>Use </a:t>
            </a:r>
            <a:r>
              <a:rPr lang="en-US" sz="2000" b="1" dirty="0"/>
              <a:t>continuous integration (CI)</a:t>
            </a:r>
            <a:r>
              <a:rPr lang="en-US" sz="2000" dirty="0"/>
              <a:t> and </a:t>
            </a:r>
            <a:r>
              <a:rPr lang="en-US" sz="2000" b="1" dirty="0"/>
              <a:t>continuous delivery (CD)</a:t>
            </a:r>
            <a:r>
              <a:rPr lang="en-US" sz="2000" dirty="0"/>
              <a:t> pipelines to automate repetitive tasks, reducing time spent on manual processes and speeding up development.</a:t>
            </a:r>
          </a:p>
          <a:p>
            <a:pPr marL="285750" indent="-285750">
              <a:buFont typeface="Arial" panose="020B0604020202020204" pitchFamily="34" charset="0"/>
              <a:buChar char="•"/>
            </a:pPr>
            <a:r>
              <a:rPr lang="en-US" sz="2000" b="1" dirty="0"/>
              <a:t>Empowered Teams</a:t>
            </a:r>
            <a:r>
              <a:rPr lang="en-US" sz="2000" dirty="0"/>
              <a:t>:</a:t>
            </a:r>
          </a:p>
          <a:p>
            <a:pPr marL="742950" lvl="1" indent="-285750">
              <a:buFont typeface="Arial" panose="020B0604020202020204" pitchFamily="34" charset="0"/>
              <a:buChar char="•"/>
            </a:pPr>
            <a:r>
              <a:rPr lang="en-US" sz="2000" dirty="0"/>
              <a:t>Encourage the team to take ownership of the process, allowing them to make decisions on the fly that ensure both </a:t>
            </a:r>
            <a:r>
              <a:rPr lang="en-US" sz="2000" b="1" dirty="0"/>
              <a:t>quality and speed</a:t>
            </a:r>
            <a:r>
              <a:rPr lang="en-US" sz="2000" dirty="0"/>
              <a:t> are maintained.</a:t>
            </a:r>
          </a:p>
          <a:p>
            <a:pPr marL="800100" lvl="1" indent="-342900">
              <a:buFont typeface="Arial" panose="020B0604020202020204" pitchFamily="34" charset="0"/>
              <a:buChar char="•"/>
            </a:pPr>
            <a:endParaRPr lang="en-US" sz="2800" dirty="0"/>
          </a:p>
        </p:txBody>
      </p:sp>
      <p:sp>
        <p:nvSpPr>
          <p:cNvPr id="4" name="Title 3">
            <a:extLst>
              <a:ext uri="{FF2B5EF4-FFF2-40B4-BE49-F238E27FC236}">
                <a16:creationId xmlns:a16="http://schemas.microsoft.com/office/drawing/2014/main" id="{67B9B8DD-8F63-FFA2-EBDC-CACAD61777CE}"/>
              </a:ext>
            </a:extLst>
          </p:cNvPr>
          <p:cNvSpPr>
            <a:spLocks noGrp="1"/>
          </p:cNvSpPr>
          <p:nvPr>
            <p:ph type="title"/>
          </p:nvPr>
        </p:nvSpPr>
        <p:spPr/>
        <p:txBody>
          <a:bodyPr>
            <a:normAutofit fontScale="90000"/>
          </a:bodyPr>
          <a:lstStyle/>
          <a:p>
            <a:r>
              <a:rPr lang="en-US" dirty="0"/>
              <a:t>Scenario 3: Improving Development Speed Without Sacrificing Quality</a:t>
            </a:r>
          </a:p>
        </p:txBody>
      </p:sp>
    </p:spTree>
    <p:extLst>
      <p:ext uri="{BB962C8B-B14F-4D97-AF65-F5344CB8AC3E}">
        <p14:creationId xmlns:p14="http://schemas.microsoft.com/office/powerpoint/2010/main" val="1581107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D75A72-8CE6-08F4-4C67-665074A76317}"/>
              </a:ext>
            </a:extLst>
          </p:cNvPr>
          <p:cNvSpPr>
            <a:spLocks noGrp="1"/>
          </p:cNvSpPr>
          <p:nvPr>
            <p:ph type="sldNum" sz="quarter" idx="13"/>
          </p:nvPr>
        </p:nvSpPr>
        <p:spPr/>
        <p:txBody>
          <a:bodyPr/>
          <a:lstStyle/>
          <a:p>
            <a:fld id="{12342C3A-DD85-7843-B416-BD52AB030D59}" type="slidenum">
              <a:rPr lang="en-US" smtClean="0"/>
              <a:pPr/>
              <a:t>8</a:t>
            </a:fld>
            <a:endParaRPr lang="en-US" dirty="0"/>
          </a:p>
        </p:txBody>
      </p:sp>
      <p:sp>
        <p:nvSpPr>
          <p:cNvPr id="3" name="Text Placeholder 2">
            <a:extLst>
              <a:ext uri="{FF2B5EF4-FFF2-40B4-BE49-F238E27FC236}">
                <a16:creationId xmlns:a16="http://schemas.microsoft.com/office/drawing/2014/main" id="{EF1C8EE0-7343-EF2F-E829-DA1020C07208}"/>
              </a:ext>
            </a:extLst>
          </p:cNvPr>
          <p:cNvSpPr>
            <a:spLocks noGrp="1"/>
          </p:cNvSpPr>
          <p:nvPr>
            <p:ph type="body" sz="quarter" idx="12"/>
          </p:nvPr>
        </p:nvSpPr>
        <p:spPr/>
        <p:txBody>
          <a:bodyPr>
            <a:normAutofit/>
          </a:bodyPr>
          <a:lstStyle/>
          <a:p>
            <a:endParaRPr lang="en-US" sz="2400" dirty="0"/>
          </a:p>
          <a:p>
            <a:r>
              <a:rPr lang="en-US" sz="2400" dirty="0"/>
              <a:t>The requirements for your project have changed rapidly over time, and the product you're building is no longer aligning with what the business needs. How can you use Lean Software Development principles to effectively manage these changes?</a:t>
            </a:r>
          </a:p>
        </p:txBody>
      </p:sp>
      <p:sp>
        <p:nvSpPr>
          <p:cNvPr id="4" name="Title 3">
            <a:extLst>
              <a:ext uri="{FF2B5EF4-FFF2-40B4-BE49-F238E27FC236}">
                <a16:creationId xmlns:a16="http://schemas.microsoft.com/office/drawing/2014/main" id="{109FD9E1-B571-C7FB-E92B-E14DE396DFC4}"/>
              </a:ext>
            </a:extLst>
          </p:cNvPr>
          <p:cNvSpPr>
            <a:spLocks noGrp="1"/>
          </p:cNvSpPr>
          <p:nvPr>
            <p:ph type="title"/>
          </p:nvPr>
        </p:nvSpPr>
        <p:spPr/>
        <p:txBody>
          <a:bodyPr>
            <a:normAutofit fontScale="90000"/>
          </a:bodyPr>
          <a:lstStyle/>
          <a:p>
            <a:r>
              <a:rPr lang="en-US" dirty="0"/>
              <a:t>Scenario 4: Managing Changing Requirements Efficiently</a:t>
            </a:r>
          </a:p>
        </p:txBody>
      </p:sp>
    </p:spTree>
    <p:extLst>
      <p:ext uri="{BB962C8B-B14F-4D97-AF65-F5344CB8AC3E}">
        <p14:creationId xmlns:p14="http://schemas.microsoft.com/office/powerpoint/2010/main" val="3135085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62A630-D722-3B63-5178-DDA69CCC0556}"/>
              </a:ext>
            </a:extLst>
          </p:cNvPr>
          <p:cNvSpPr>
            <a:spLocks noGrp="1"/>
          </p:cNvSpPr>
          <p:nvPr>
            <p:ph type="sldNum" sz="quarter" idx="13"/>
          </p:nvPr>
        </p:nvSpPr>
        <p:spPr/>
        <p:txBody>
          <a:bodyPr/>
          <a:lstStyle/>
          <a:p>
            <a:fld id="{12342C3A-DD85-7843-B416-BD52AB030D59}" type="slidenum">
              <a:rPr lang="en-US" smtClean="0"/>
              <a:pPr/>
              <a:t>9</a:t>
            </a:fld>
            <a:endParaRPr lang="en-US" dirty="0"/>
          </a:p>
        </p:txBody>
      </p:sp>
      <p:sp>
        <p:nvSpPr>
          <p:cNvPr id="3" name="Text Placeholder 2">
            <a:extLst>
              <a:ext uri="{FF2B5EF4-FFF2-40B4-BE49-F238E27FC236}">
                <a16:creationId xmlns:a16="http://schemas.microsoft.com/office/drawing/2014/main" id="{89DC7A27-C4DA-6A60-1BFE-FF76E2C798A5}"/>
              </a:ext>
            </a:extLst>
          </p:cNvPr>
          <p:cNvSpPr>
            <a:spLocks noGrp="1"/>
          </p:cNvSpPr>
          <p:nvPr>
            <p:ph type="body" sz="quarter" idx="12"/>
          </p:nvPr>
        </p:nvSpPr>
        <p:spPr/>
        <p:txBody>
          <a:bodyPr>
            <a:normAutofit/>
          </a:bodyPr>
          <a:lstStyle/>
          <a:p>
            <a:endParaRPr lang="en-US" sz="2000" dirty="0"/>
          </a:p>
          <a:p>
            <a:pPr marL="342900" indent="-342900">
              <a:buFont typeface="Arial" panose="020B0604020202020204" pitchFamily="34" charset="0"/>
              <a:buChar char="•"/>
            </a:pPr>
            <a:r>
              <a:rPr lang="en-US" sz="2000" b="1" dirty="0"/>
              <a:t>Flexibility and Responsiveness to Change</a:t>
            </a:r>
            <a:r>
              <a:rPr lang="en-US" sz="2000" dirty="0"/>
              <a:t>:</a:t>
            </a:r>
          </a:p>
          <a:p>
            <a:pPr marL="742950" lvl="1" indent="-285750">
              <a:buFont typeface="Arial" panose="020B0604020202020204" pitchFamily="34" charset="0"/>
              <a:buChar char="•"/>
            </a:pPr>
            <a:r>
              <a:rPr lang="en-US" sz="2000" dirty="0"/>
              <a:t>Adopt an </a:t>
            </a:r>
            <a:r>
              <a:rPr lang="en-US" sz="2000" b="1" dirty="0"/>
              <a:t>iterative and incremental development</a:t>
            </a:r>
            <a:r>
              <a:rPr lang="en-US" sz="2000" dirty="0"/>
              <a:t> approach to enable fast adaptation to changing requirements.</a:t>
            </a:r>
          </a:p>
          <a:p>
            <a:pPr marL="742950" lvl="1" indent="-285750">
              <a:buFont typeface="Arial" panose="020B0604020202020204" pitchFamily="34" charset="0"/>
              <a:buChar char="•"/>
            </a:pPr>
            <a:r>
              <a:rPr lang="en-US" sz="2000" dirty="0"/>
              <a:t>Focus on </a:t>
            </a:r>
            <a:r>
              <a:rPr lang="en-US" sz="2000" b="1" dirty="0"/>
              <a:t>delivering value quickly</a:t>
            </a:r>
            <a:r>
              <a:rPr lang="en-US" sz="2000" dirty="0"/>
              <a:t>, so that the team can pivot and adjust to changes with minimal wasted effort.</a:t>
            </a:r>
          </a:p>
          <a:p>
            <a:pPr marL="342900" indent="-342900">
              <a:buFont typeface="Arial" panose="020B0604020202020204" pitchFamily="34" charset="0"/>
              <a:buChar char="•"/>
            </a:pPr>
            <a:r>
              <a:rPr lang="en-US" sz="2000" b="1" dirty="0"/>
              <a:t>Continuous Improvement (Kaizen)</a:t>
            </a:r>
            <a:r>
              <a:rPr lang="en-US" sz="2000" dirty="0"/>
              <a:t>:</a:t>
            </a:r>
          </a:p>
          <a:p>
            <a:pPr marL="742950" lvl="1" indent="-285750">
              <a:buFont typeface="Arial" panose="020B0604020202020204" pitchFamily="34" charset="0"/>
              <a:buChar char="•"/>
            </a:pPr>
            <a:r>
              <a:rPr lang="en-US" sz="2000" dirty="0"/>
              <a:t>Conduct regular </a:t>
            </a:r>
            <a:r>
              <a:rPr lang="en-US" sz="2000" b="1" dirty="0"/>
              <a:t>retrospectives</a:t>
            </a:r>
            <a:r>
              <a:rPr lang="en-US" sz="2000" dirty="0"/>
              <a:t> to assess how the team can better handle change and adapt their workflow for maximum responsiveness.</a:t>
            </a:r>
          </a:p>
          <a:p>
            <a:pPr marL="342900" indent="-342900">
              <a:buFont typeface="Arial" panose="020B0604020202020204" pitchFamily="34" charset="0"/>
              <a:buChar char="•"/>
            </a:pPr>
            <a:r>
              <a:rPr lang="en-US" sz="2000" b="1" dirty="0"/>
              <a:t>Set-based Design</a:t>
            </a:r>
            <a:r>
              <a:rPr lang="en-US" sz="2000" dirty="0"/>
              <a:t>:</a:t>
            </a:r>
          </a:p>
          <a:p>
            <a:pPr marL="742950" lvl="1" indent="-285750">
              <a:buFont typeface="Arial" panose="020B0604020202020204" pitchFamily="34" charset="0"/>
              <a:buChar char="•"/>
            </a:pPr>
            <a:r>
              <a:rPr lang="en-US" sz="2000" dirty="0"/>
              <a:t>Instead of deciding on a single solution early on, use </a:t>
            </a:r>
            <a:r>
              <a:rPr lang="en-US" sz="2000" b="1" dirty="0"/>
              <a:t>set-based design</a:t>
            </a:r>
            <a:r>
              <a:rPr lang="en-US" sz="2000" dirty="0"/>
              <a:t> to explore multiple options, keeping the solution open for change until enough information is gathered.</a:t>
            </a:r>
          </a:p>
        </p:txBody>
      </p:sp>
      <p:sp>
        <p:nvSpPr>
          <p:cNvPr id="4" name="Title 3">
            <a:extLst>
              <a:ext uri="{FF2B5EF4-FFF2-40B4-BE49-F238E27FC236}">
                <a16:creationId xmlns:a16="http://schemas.microsoft.com/office/drawing/2014/main" id="{72E1EB54-0C87-AE62-4DB8-F2E8CA8ECBF1}"/>
              </a:ext>
            </a:extLst>
          </p:cNvPr>
          <p:cNvSpPr>
            <a:spLocks noGrp="1"/>
          </p:cNvSpPr>
          <p:nvPr>
            <p:ph type="title"/>
          </p:nvPr>
        </p:nvSpPr>
        <p:spPr/>
        <p:txBody>
          <a:bodyPr>
            <a:normAutofit fontScale="90000"/>
          </a:bodyPr>
          <a:lstStyle/>
          <a:p>
            <a:r>
              <a:rPr lang="en-US" dirty="0"/>
              <a:t>Scenario 4: Managing Changing Requirements Efficiently</a:t>
            </a:r>
          </a:p>
        </p:txBody>
      </p:sp>
    </p:spTree>
    <p:extLst>
      <p:ext uri="{BB962C8B-B14F-4D97-AF65-F5344CB8AC3E}">
        <p14:creationId xmlns:p14="http://schemas.microsoft.com/office/powerpoint/2010/main" val="3120641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27458C-98D7-D10B-6A3C-0681F239E5C3}"/>
              </a:ext>
            </a:extLst>
          </p:cNvPr>
          <p:cNvSpPr>
            <a:spLocks noGrp="1"/>
          </p:cNvSpPr>
          <p:nvPr>
            <p:ph type="sldNum" sz="quarter" idx="13"/>
          </p:nvPr>
        </p:nvSpPr>
        <p:spPr/>
        <p:txBody>
          <a:bodyPr/>
          <a:lstStyle/>
          <a:p>
            <a:fld id="{12342C3A-DD85-7843-B416-BD52AB030D59}" type="slidenum">
              <a:rPr lang="en-US" smtClean="0"/>
              <a:pPr/>
              <a:t>10</a:t>
            </a:fld>
            <a:endParaRPr lang="en-US" dirty="0"/>
          </a:p>
        </p:txBody>
      </p:sp>
      <p:sp>
        <p:nvSpPr>
          <p:cNvPr id="3" name="Text Placeholder 2">
            <a:extLst>
              <a:ext uri="{FF2B5EF4-FFF2-40B4-BE49-F238E27FC236}">
                <a16:creationId xmlns:a16="http://schemas.microsoft.com/office/drawing/2014/main" id="{FB945534-B354-0AC4-EC11-1D364D2E6AB0}"/>
              </a:ext>
            </a:extLst>
          </p:cNvPr>
          <p:cNvSpPr>
            <a:spLocks noGrp="1"/>
          </p:cNvSpPr>
          <p:nvPr>
            <p:ph type="body" sz="quarter" idx="12"/>
          </p:nvPr>
        </p:nvSpPr>
        <p:spPr/>
        <p:txBody>
          <a:bodyPr>
            <a:normAutofit/>
          </a:bodyPr>
          <a:lstStyle/>
          <a:p>
            <a:r>
              <a:rPr lang="en-US" sz="2400" dirty="0"/>
              <a:t>Your software development team often faces miscommunication between developers, product managers, and designers. These miscommunications are causing delays and confusion in the project. How can Lean principles improve communication and collaboration within the team?</a:t>
            </a:r>
          </a:p>
        </p:txBody>
      </p:sp>
      <p:sp>
        <p:nvSpPr>
          <p:cNvPr id="4" name="Title 3">
            <a:extLst>
              <a:ext uri="{FF2B5EF4-FFF2-40B4-BE49-F238E27FC236}">
                <a16:creationId xmlns:a16="http://schemas.microsoft.com/office/drawing/2014/main" id="{CDDB1506-2D34-F7DB-ACD2-DBBA5858E5B1}"/>
              </a:ext>
            </a:extLst>
          </p:cNvPr>
          <p:cNvSpPr>
            <a:spLocks noGrp="1"/>
          </p:cNvSpPr>
          <p:nvPr>
            <p:ph type="title"/>
          </p:nvPr>
        </p:nvSpPr>
        <p:spPr/>
        <p:txBody>
          <a:bodyPr>
            <a:normAutofit fontScale="90000"/>
          </a:bodyPr>
          <a:lstStyle/>
          <a:p>
            <a:r>
              <a:rPr lang="en-US" dirty="0"/>
              <a:t>Scenario 5: Optimizing Communication and Collaboration</a:t>
            </a:r>
          </a:p>
        </p:txBody>
      </p:sp>
    </p:spTree>
    <p:extLst>
      <p:ext uri="{BB962C8B-B14F-4D97-AF65-F5344CB8AC3E}">
        <p14:creationId xmlns:p14="http://schemas.microsoft.com/office/powerpoint/2010/main" val="2800056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F51171-C14A-A9CC-5C44-37000983D9F8}"/>
              </a:ext>
            </a:extLst>
          </p:cNvPr>
          <p:cNvSpPr>
            <a:spLocks noGrp="1"/>
          </p:cNvSpPr>
          <p:nvPr>
            <p:ph type="sldNum" sz="quarter" idx="13"/>
          </p:nvPr>
        </p:nvSpPr>
        <p:spPr/>
        <p:txBody>
          <a:bodyPr/>
          <a:lstStyle/>
          <a:p>
            <a:fld id="{12342C3A-DD85-7843-B416-BD52AB030D59}" type="slidenum">
              <a:rPr lang="en-US" smtClean="0"/>
              <a:pPr/>
              <a:t>11</a:t>
            </a:fld>
            <a:endParaRPr lang="en-US" dirty="0"/>
          </a:p>
        </p:txBody>
      </p:sp>
      <p:sp>
        <p:nvSpPr>
          <p:cNvPr id="3" name="Text Placeholder 2">
            <a:extLst>
              <a:ext uri="{FF2B5EF4-FFF2-40B4-BE49-F238E27FC236}">
                <a16:creationId xmlns:a16="http://schemas.microsoft.com/office/drawing/2014/main" id="{6D24F625-2604-5426-1896-02D0347C7AD9}"/>
              </a:ext>
            </a:extLst>
          </p:cNvPr>
          <p:cNvSpPr>
            <a:spLocks noGrp="1"/>
          </p:cNvSpPr>
          <p:nvPr>
            <p:ph type="body" sz="quarter" idx="12"/>
          </p:nvPr>
        </p:nvSpPr>
        <p:spPr/>
        <p:txBody>
          <a:bodyPr>
            <a:normAutofit lnSpcReduction="10000"/>
          </a:bodyPr>
          <a:lstStyle/>
          <a:p>
            <a:endParaRPr lang="en-US" sz="2000" dirty="0"/>
          </a:p>
          <a:p>
            <a:pPr marL="342900" indent="-342900">
              <a:buFont typeface="Arial" panose="020B0604020202020204" pitchFamily="34" charset="0"/>
              <a:buChar char="•"/>
            </a:pPr>
            <a:r>
              <a:rPr lang="en-US" sz="2000" b="1" dirty="0"/>
              <a:t>Visual Management</a:t>
            </a:r>
            <a:r>
              <a:rPr lang="en-US" sz="2000" dirty="0"/>
              <a:t>:</a:t>
            </a:r>
          </a:p>
          <a:p>
            <a:pPr marL="742950" lvl="1" indent="-285750">
              <a:buFont typeface="Arial" panose="020B0604020202020204" pitchFamily="34" charset="0"/>
              <a:buChar char="•"/>
            </a:pPr>
            <a:r>
              <a:rPr lang="en-US" sz="2000" dirty="0"/>
              <a:t>Use </a:t>
            </a:r>
            <a:r>
              <a:rPr lang="en-US" sz="2000" b="1" dirty="0"/>
              <a:t>Kanban boards</a:t>
            </a:r>
            <a:r>
              <a:rPr lang="en-US" sz="2000" dirty="0"/>
              <a:t> or </a:t>
            </a:r>
            <a:r>
              <a:rPr lang="en-US" sz="2000" b="1" dirty="0"/>
              <a:t>visual task boards</a:t>
            </a:r>
            <a:r>
              <a:rPr lang="en-US" sz="2000" dirty="0"/>
              <a:t> to make the work process visible to all team members. This ensures everyone is on the same page about what needs to be done, who is responsible, and the status of tasks.</a:t>
            </a:r>
          </a:p>
          <a:p>
            <a:pPr marL="342900" indent="-342900">
              <a:buFont typeface="Arial" panose="020B0604020202020204" pitchFamily="34" charset="0"/>
              <a:buChar char="•"/>
            </a:pPr>
            <a:r>
              <a:rPr lang="en-US" sz="2000" b="1" dirty="0"/>
              <a:t>Cross-Functional Teams</a:t>
            </a:r>
            <a:r>
              <a:rPr lang="en-US" sz="2000" dirty="0"/>
              <a:t>:</a:t>
            </a:r>
          </a:p>
          <a:p>
            <a:pPr marL="742950" lvl="1" indent="-285750">
              <a:buFont typeface="Arial" panose="020B0604020202020204" pitchFamily="34" charset="0"/>
              <a:buChar char="•"/>
            </a:pPr>
            <a:r>
              <a:rPr lang="en-US" sz="2000" dirty="0"/>
              <a:t>Encourage </a:t>
            </a:r>
            <a:r>
              <a:rPr lang="en-US" sz="2000" b="1" dirty="0"/>
              <a:t>cross-functional teams</a:t>
            </a:r>
            <a:r>
              <a:rPr lang="en-US" sz="2000" dirty="0"/>
              <a:t>, where developers, product managers, and designers work together on the same tasks. This creates direct communication lines and reduces miscommunication.</a:t>
            </a:r>
          </a:p>
          <a:p>
            <a:pPr marL="342900" indent="-342900">
              <a:buFont typeface="Arial" panose="020B0604020202020204" pitchFamily="34" charset="0"/>
              <a:buChar char="•"/>
            </a:pPr>
            <a:r>
              <a:rPr lang="en-US" sz="2000" b="1" dirty="0"/>
              <a:t>Frequent Feedback</a:t>
            </a:r>
            <a:r>
              <a:rPr lang="en-US" sz="2000" dirty="0"/>
              <a:t>:</a:t>
            </a:r>
          </a:p>
          <a:p>
            <a:pPr marL="742950" lvl="1" indent="-285750">
              <a:buFont typeface="Arial" panose="020B0604020202020204" pitchFamily="34" charset="0"/>
              <a:buChar char="•"/>
            </a:pPr>
            <a:r>
              <a:rPr lang="en-US" sz="2000" dirty="0"/>
              <a:t>Set up </a:t>
            </a:r>
            <a:r>
              <a:rPr lang="en-US" sz="2000" b="1" dirty="0"/>
              <a:t>short feedback loops</a:t>
            </a:r>
            <a:r>
              <a:rPr lang="en-US" sz="2000" dirty="0"/>
              <a:t> with stakeholders and team members to clarify requirements and ensure everyone understands the direction of the project.</a:t>
            </a:r>
          </a:p>
          <a:p>
            <a:pPr marL="742950" lvl="1" indent="-285750">
              <a:buFont typeface="Arial" panose="020B0604020202020204" pitchFamily="34" charset="0"/>
              <a:buChar char="•"/>
            </a:pPr>
            <a:r>
              <a:rPr lang="en-US" sz="2000" dirty="0"/>
              <a:t>Hold </a:t>
            </a:r>
            <a:r>
              <a:rPr lang="en-US" sz="2000" b="1" dirty="0"/>
              <a:t>daily stand-ups</a:t>
            </a:r>
            <a:r>
              <a:rPr lang="en-US" sz="2000" dirty="0"/>
              <a:t> or regular check-ins to ensure that the team aligns on priorities and challenges.</a:t>
            </a:r>
          </a:p>
        </p:txBody>
      </p:sp>
      <p:sp>
        <p:nvSpPr>
          <p:cNvPr id="4" name="Title 3">
            <a:extLst>
              <a:ext uri="{FF2B5EF4-FFF2-40B4-BE49-F238E27FC236}">
                <a16:creationId xmlns:a16="http://schemas.microsoft.com/office/drawing/2014/main" id="{9406B06C-8F3F-E0B2-C06B-883C2FC9CDCF}"/>
              </a:ext>
            </a:extLst>
          </p:cNvPr>
          <p:cNvSpPr>
            <a:spLocks noGrp="1"/>
          </p:cNvSpPr>
          <p:nvPr>
            <p:ph type="title"/>
          </p:nvPr>
        </p:nvSpPr>
        <p:spPr/>
        <p:txBody>
          <a:bodyPr>
            <a:normAutofit fontScale="90000"/>
          </a:bodyPr>
          <a:lstStyle/>
          <a:p>
            <a:r>
              <a:rPr lang="en-US" dirty="0"/>
              <a:t>Scenario 5: Optimizing Communication and Collaboration</a:t>
            </a:r>
          </a:p>
        </p:txBody>
      </p:sp>
    </p:spTree>
    <p:extLst>
      <p:ext uri="{BB962C8B-B14F-4D97-AF65-F5344CB8AC3E}">
        <p14:creationId xmlns:p14="http://schemas.microsoft.com/office/powerpoint/2010/main" val="2045099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122C8D-70A7-A72E-038D-7A0358B272B9}"/>
              </a:ext>
            </a:extLst>
          </p:cNvPr>
          <p:cNvSpPr>
            <a:spLocks noGrp="1"/>
          </p:cNvSpPr>
          <p:nvPr>
            <p:ph type="sldNum" sz="quarter" idx="13"/>
          </p:nvPr>
        </p:nvSpPr>
        <p:spPr/>
        <p:txBody>
          <a:bodyPr/>
          <a:lstStyle/>
          <a:p>
            <a:fld id="{12342C3A-DD85-7843-B416-BD52AB030D59}" type="slidenum">
              <a:rPr lang="en-US" smtClean="0"/>
              <a:pPr/>
              <a:t>12</a:t>
            </a:fld>
            <a:endParaRPr lang="en-US" dirty="0"/>
          </a:p>
        </p:txBody>
      </p:sp>
      <p:sp>
        <p:nvSpPr>
          <p:cNvPr id="3" name="Text Placeholder 2">
            <a:extLst>
              <a:ext uri="{FF2B5EF4-FFF2-40B4-BE49-F238E27FC236}">
                <a16:creationId xmlns:a16="http://schemas.microsoft.com/office/drawing/2014/main" id="{E1B75B50-49B7-6945-E3F1-73D0F7415830}"/>
              </a:ext>
            </a:extLst>
          </p:cNvPr>
          <p:cNvSpPr>
            <a:spLocks noGrp="1"/>
          </p:cNvSpPr>
          <p:nvPr>
            <p:ph type="body" sz="quarter" idx="12"/>
          </p:nvPr>
        </p:nvSpPr>
        <p:spPr/>
        <p:txBody>
          <a:bodyPr>
            <a:normAutofit/>
          </a:bodyPr>
          <a:lstStyle/>
          <a:p>
            <a:r>
              <a:rPr lang="en-US" sz="2400" dirty="0"/>
              <a:t>As the development team has worked on the software, technical debt has started to accumulate. There are many areas of the code that are hard to maintain and modify, causing delays in delivering new features. How can Lean principles help in managing technical debt?</a:t>
            </a:r>
          </a:p>
        </p:txBody>
      </p:sp>
      <p:sp>
        <p:nvSpPr>
          <p:cNvPr id="4" name="Title 3">
            <a:extLst>
              <a:ext uri="{FF2B5EF4-FFF2-40B4-BE49-F238E27FC236}">
                <a16:creationId xmlns:a16="http://schemas.microsoft.com/office/drawing/2014/main" id="{2B04EF8C-B943-E252-14EB-CE114A390BB3}"/>
              </a:ext>
            </a:extLst>
          </p:cNvPr>
          <p:cNvSpPr>
            <a:spLocks noGrp="1"/>
          </p:cNvSpPr>
          <p:nvPr>
            <p:ph type="title"/>
          </p:nvPr>
        </p:nvSpPr>
        <p:spPr/>
        <p:txBody>
          <a:bodyPr/>
          <a:lstStyle/>
          <a:p>
            <a:r>
              <a:rPr lang="en-US" dirty="0"/>
              <a:t>Scenario 6: Managing Technical Debt</a:t>
            </a:r>
          </a:p>
        </p:txBody>
      </p:sp>
    </p:spTree>
    <p:extLst>
      <p:ext uri="{BB962C8B-B14F-4D97-AF65-F5344CB8AC3E}">
        <p14:creationId xmlns:p14="http://schemas.microsoft.com/office/powerpoint/2010/main" val="3261909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8FEED0-6439-2D22-C7A8-34556EE30227}"/>
              </a:ext>
            </a:extLst>
          </p:cNvPr>
          <p:cNvSpPr>
            <a:spLocks noGrp="1"/>
          </p:cNvSpPr>
          <p:nvPr>
            <p:ph type="sldNum" sz="quarter" idx="13"/>
          </p:nvPr>
        </p:nvSpPr>
        <p:spPr/>
        <p:txBody>
          <a:bodyPr/>
          <a:lstStyle/>
          <a:p>
            <a:fld id="{12342C3A-DD85-7843-B416-BD52AB030D59}" type="slidenum">
              <a:rPr lang="en-US" smtClean="0"/>
              <a:pPr/>
              <a:t>13</a:t>
            </a:fld>
            <a:endParaRPr lang="en-US" dirty="0"/>
          </a:p>
        </p:txBody>
      </p:sp>
      <p:sp>
        <p:nvSpPr>
          <p:cNvPr id="3" name="Text Placeholder 2">
            <a:extLst>
              <a:ext uri="{FF2B5EF4-FFF2-40B4-BE49-F238E27FC236}">
                <a16:creationId xmlns:a16="http://schemas.microsoft.com/office/drawing/2014/main" id="{4D8945AF-8027-5594-ED0F-2FA2006A9471}"/>
              </a:ext>
            </a:extLst>
          </p:cNvPr>
          <p:cNvSpPr>
            <a:spLocks noGrp="1"/>
          </p:cNvSpPr>
          <p:nvPr>
            <p:ph type="body" sz="quarter" idx="12"/>
          </p:nvPr>
        </p:nvSpPr>
        <p:spPr/>
        <p:txBody>
          <a:bodyPr>
            <a:normAutofit lnSpcReduction="10000"/>
          </a:bodyPr>
          <a:lstStyle/>
          <a:p>
            <a:pPr marL="342900" indent="-342900">
              <a:buFont typeface="Arial" panose="020B0604020202020204" pitchFamily="34" charset="0"/>
              <a:buChar char="•"/>
            </a:pPr>
            <a:r>
              <a:rPr lang="en-US" sz="2000" b="1" dirty="0"/>
              <a:t>Continuous Improvement (Kaizen)</a:t>
            </a:r>
            <a:r>
              <a:rPr lang="en-US" sz="2000" dirty="0"/>
              <a:t>:</a:t>
            </a:r>
          </a:p>
          <a:p>
            <a:pPr marL="742950" lvl="1" indent="-285750">
              <a:buFont typeface="Arial" panose="020B0604020202020204" pitchFamily="34" charset="0"/>
              <a:buChar char="•"/>
            </a:pPr>
            <a:r>
              <a:rPr lang="en-US" sz="2000" dirty="0"/>
              <a:t>Adopt a </a:t>
            </a:r>
            <a:r>
              <a:rPr lang="en-US" sz="2000" b="1" dirty="0"/>
              <a:t>culture of continuous improvement</a:t>
            </a:r>
            <a:r>
              <a:rPr lang="en-US" sz="2000" dirty="0"/>
              <a:t>, where technical debt is regularly identified and addressed during each sprint or iteration. Allocate time for refactoring or resolving debt as part of the regular work process.</a:t>
            </a:r>
          </a:p>
          <a:p>
            <a:pPr marL="342900" indent="-342900">
              <a:buFont typeface="Arial" panose="020B0604020202020204" pitchFamily="34" charset="0"/>
              <a:buChar char="•"/>
            </a:pPr>
            <a:r>
              <a:rPr lang="en-US" sz="2000" b="1" dirty="0"/>
              <a:t>Set Quality Standards</a:t>
            </a:r>
            <a:r>
              <a:rPr lang="en-US" sz="2000" dirty="0"/>
              <a:t>:</a:t>
            </a:r>
          </a:p>
          <a:p>
            <a:pPr marL="742950" lvl="1" indent="-285750">
              <a:buFont typeface="Arial" panose="020B0604020202020204" pitchFamily="34" charset="0"/>
              <a:buChar char="•"/>
            </a:pPr>
            <a:r>
              <a:rPr lang="en-US" sz="2000" dirty="0"/>
              <a:t>Establish and adhere to </a:t>
            </a:r>
            <a:r>
              <a:rPr lang="en-US" sz="2000" b="1" dirty="0"/>
              <a:t>coding standards</a:t>
            </a:r>
            <a:r>
              <a:rPr lang="en-US" sz="2000" dirty="0"/>
              <a:t> and ensure that all new code is well-tested and well-documented to prevent additional technical debt from accumulating.</a:t>
            </a:r>
          </a:p>
          <a:p>
            <a:pPr marL="342900" indent="-342900">
              <a:buFont typeface="Arial" panose="020B0604020202020204" pitchFamily="34" charset="0"/>
              <a:buChar char="•"/>
            </a:pPr>
            <a:r>
              <a:rPr lang="en-US" sz="2000" b="1" dirty="0"/>
              <a:t>Simplicity</a:t>
            </a:r>
            <a:r>
              <a:rPr lang="en-US" sz="2000" dirty="0"/>
              <a:t>:</a:t>
            </a:r>
          </a:p>
          <a:p>
            <a:pPr marL="742950" lvl="1" indent="-285750">
              <a:buFont typeface="Arial" panose="020B0604020202020204" pitchFamily="34" charset="0"/>
              <a:buChar char="•"/>
            </a:pPr>
            <a:r>
              <a:rPr lang="en-US" sz="2000" dirty="0"/>
              <a:t>Lean emphasizes </a:t>
            </a:r>
            <a:r>
              <a:rPr lang="en-US" sz="2000" b="1" dirty="0"/>
              <a:t>simplicity</a:t>
            </a:r>
            <a:r>
              <a:rPr lang="en-US" sz="2000" dirty="0"/>
              <a:t>—build only what’s necessary and avoid overengineering. When technical debt is introduced, </a:t>
            </a:r>
            <a:r>
              <a:rPr lang="en-US" sz="2000" b="1" dirty="0"/>
              <a:t>simplify</a:t>
            </a:r>
            <a:r>
              <a:rPr lang="en-US" sz="2000" dirty="0"/>
              <a:t> the code or system design to reduce complexity and make future changes easier.</a:t>
            </a:r>
          </a:p>
          <a:p>
            <a:pPr marL="342900" indent="-342900">
              <a:buFont typeface="Arial" panose="020B0604020202020204" pitchFamily="34" charset="0"/>
              <a:buChar char="•"/>
            </a:pPr>
            <a:r>
              <a:rPr lang="en-US" sz="2000" b="1" dirty="0"/>
              <a:t>Visualize Technical Debt</a:t>
            </a:r>
            <a:r>
              <a:rPr lang="en-US" sz="2000" dirty="0"/>
              <a:t>:</a:t>
            </a:r>
          </a:p>
          <a:p>
            <a:pPr marL="742950" lvl="1" indent="-285750">
              <a:buFont typeface="Arial" panose="020B0604020202020204" pitchFamily="34" charset="0"/>
              <a:buChar char="•"/>
            </a:pPr>
            <a:r>
              <a:rPr lang="en-US" sz="2000" dirty="0"/>
              <a:t>Use </a:t>
            </a:r>
            <a:r>
              <a:rPr lang="en-US" sz="2000" b="1" dirty="0"/>
              <a:t>visual tools</a:t>
            </a:r>
            <a:r>
              <a:rPr lang="en-US" sz="2000" dirty="0"/>
              <a:t> like technical debt tracking boards to make it visible and ensure it’s addressed in the context of ongoing work.</a:t>
            </a:r>
          </a:p>
          <a:p>
            <a:pPr marL="800100" lvl="1" indent="-342900">
              <a:buFont typeface="Arial" panose="020B0604020202020204" pitchFamily="34" charset="0"/>
              <a:buChar char="•"/>
            </a:pPr>
            <a:endParaRPr lang="en-US" sz="2800" dirty="0"/>
          </a:p>
        </p:txBody>
      </p:sp>
      <p:sp>
        <p:nvSpPr>
          <p:cNvPr id="4" name="Title 3">
            <a:extLst>
              <a:ext uri="{FF2B5EF4-FFF2-40B4-BE49-F238E27FC236}">
                <a16:creationId xmlns:a16="http://schemas.microsoft.com/office/drawing/2014/main" id="{462FEF5F-63FF-8444-7163-31FF6A1885FB}"/>
              </a:ext>
            </a:extLst>
          </p:cNvPr>
          <p:cNvSpPr>
            <a:spLocks noGrp="1"/>
          </p:cNvSpPr>
          <p:nvPr>
            <p:ph type="title"/>
          </p:nvPr>
        </p:nvSpPr>
        <p:spPr/>
        <p:txBody>
          <a:bodyPr/>
          <a:lstStyle/>
          <a:p>
            <a:r>
              <a:rPr lang="en-US" dirty="0"/>
              <a:t>Scenario 6: Managing Technical Debt</a:t>
            </a:r>
          </a:p>
        </p:txBody>
      </p:sp>
    </p:spTree>
    <p:extLst>
      <p:ext uri="{BB962C8B-B14F-4D97-AF65-F5344CB8AC3E}">
        <p14:creationId xmlns:p14="http://schemas.microsoft.com/office/powerpoint/2010/main" val="912352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594FEF-8BA3-636D-77A9-0E5CC3F24FB0}"/>
              </a:ext>
            </a:extLst>
          </p:cNvPr>
          <p:cNvSpPr>
            <a:spLocks noGrp="1"/>
          </p:cNvSpPr>
          <p:nvPr>
            <p:ph type="sldNum" sz="quarter" idx="13"/>
          </p:nvPr>
        </p:nvSpPr>
        <p:spPr/>
        <p:txBody>
          <a:bodyPr/>
          <a:lstStyle/>
          <a:p>
            <a:fld id="{12342C3A-DD85-7843-B416-BD52AB030D59}" type="slidenum">
              <a:rPr lang="en-US" smtClean="0"/>
              <a:pPr/>
              <a:t>14</a:t>
            </a:fld>
            <a:endParaRPr lang="en-US" dirty="0"/>
          </a:p>
        </p:txBody>
      </p:sp>
      <p:sp>
        <p:nvSpPr>
          <p:cNvPr id="3" name="Text Placeholder 2">
            <a:extLst>
              <a:ext uri="{FF2B5EF4-FFF2-40B4-BE49-F238E27FC236}">
                <a16:creationId xmlns:a16="http://schemas.microsoft.com/office/drawing/2014/main" id="{29540F55-52A0-5280-95A3-036153360940}"/>
              </a:ext>
            </a:extLst>
          </p:cNvPr>
          <p:cNvSpPr>
            <a:spLocks noGrp="1"/>
          </p:cNvSpPr>
          <p:nvPr>
            <p:ph type="body" sz="quarter" idx="12"/>
          </p:nvPr>
        </p:nvSpPr>
        <p:spPr/>
        <p:txBody>
          <a:bodyPr>
            <a:normAutofit/>
          </a:bodyPr>
          <a:lstStyle/>
          <a:p>
            <a:r>
              <a:rPr lang="en-US" sz="2400" dirty="0"/>
              <a:t>Your team is facing long lead times from the moment a feature request is made until it is delivered to the customer. How can Lean principles be applied to reduce this lead time?</a:t>
            </a:r>
          </a:p>
        </p:txBody>
      </p:sp>
      <p:sp>
        <p:nvSpPr>
          <p:cNvPr id="4" name="Title 3">
            <a:extLst>
              <a:ext uri="{FF2B5EF4-FFF2-40B4-BE49-F238E27FC236}">
                <a16:creationId xmlns:a16="http://schemas.microsoft.com/office/drawing/2014/main" id="{D8BB9689-F908-A0A4-3155-51D26A367F5E}"/>
              </a:ext>
            </a:extLst>
          </p:cNvPr>
          <p:cNvSpPr>
            <a:spLocks noGrp="1"/>
          </p:cNvSpPr>
          <p:nvPr>
            <p:ph type="title"/>
          </p:nvPr>
        </p:nvSpPr>
        <p:spPr/>
        <p:txBody>
          <a:bodyPr>
            <a:normAutofit fontScale="90000"/>
          </a:bodyPr>
          <a:lstStyle/>
          <a:p>
            <a:r>
              <a:rPr lang="en-US" dirty="0"/>
              <a:t>Scenario 7: Reducing Lead Time in Software Delivery</a:t>
            </a:r>
          </a:p>
        </p:txBody>
      </p:sp>
    </p:spTree>
    <p:extLst>
      <p:ext uri="{BB962C8B-B14F-4D97-AF65-F5344CB8AC3E}">
        <p14:creationId xmlns:p14="http://schemas.microsoft.com/office/powerpoint/2010/main" val="3143541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F44D07-4E7F-3385-DA33-B7B898DBA385}"/>
              </a:ext>
            </a:extLst>
          </p:cNvPr>
          <p:cNvSpPr>
            <a:spLocks noGrp="1"/>
          </p:cNvSpPr>
          <p:nvPr>
            <p:ph type="sldNum" sz="quarter" idx="13"/>
          </p:nvPr>
        </p:nvSpPr>
        <p:spPr/>
        <p:txBody>
          <a:bodyPr/>
          <a:lstStyle/>
          <a:p>
            <a:fld id="{12342C3A-DD85-7843-B416-BD52AB030D59}" type="slidenum">
              <a:rPr lang="en-US" smtClean="0"/>
              <a:pPr/>
              <a:t>15</a:t>
            </a:fld>
            <a:endParaRPr lang="en-US" dirty="0"/>
          </a:p>
        </p:txBody>
      </p:sp>
      <p:sp>
        <p:nvSpPr>
          <p:cNvPr id="3" name="Text Placeholder 2">
            <a:extLst>
              <a:ext uri="{FF2B5EF4-FFF2-40B4-BE49-F238E27FC236}">
                <a16:creationId xmlns:a16="http://schemas.microsoft.com/office/drawing/2014/main" id="{AA0850CE-68C3-BDAB-8BEB-552EC60D96EC}"/>
              </a:ext>
            </a:extLst>
          </p:cNvPr>
          <p:cNvSpPr>
            <a:spLocks noGrp="1"/>
          </p:cNvSpPr>
          <p:nvPr>
            <p:ph type="body" sz="quarter" idx="12"/>
          </p:nvPr>
        </p:nvSpPr>
        <p:spPr/>
        <p:txBody>
          <a:bodyPr>
            <a:normAutofit fontScale="92500"/>
          </a:bodyPr>
          <a:lstStyle/>
          <a:p>
            <a:pPr marL="342900" indent="-342900">
              <a:buFont typeface="Arial" panose="020B0604020202020204" pitchFamily="34" charset="0"/>
              <a:buChar char="•"/>
            </a:pPr>
            <a:r>
              <a:rPr lang="en-US" sz="2400" b="1" dirty="0"/>
              <a:t>Flow</a:t>
            </a:r>
            <a:r>
              <a:rPr lang="en-US" sz="2400" dirty="0"/>
              <a:t>:</a:t>
            </a:r>
          </a:p>
          <a:p>
            <a:pPr marL="742950" lvl="1" indent="-285750">
              <a:buFont typeface="Arial" panose="020B0604020202020204" pitchFamily="34" charset="0"/>
              <a:buChar char="•"/>
            </a:pPr>
            <a:r>
              <a:rPr lang="en-US" sz="2400" dirty="0"/>
              <a:t>Identify and </a:t>
            </a:r>
            <a:r>
              <a:rPr lang="en-US" sz="2400" b="1" dirty="0"/>
              <a:t>eliminate bottlenecks</a:t>
            </a:r>
            <a:r>
              <a:rPr lang="en-US" sz="2400" dirty="0"/>
              <a:t> in the process to ensure smooth flow. For example, reducing waiting time between stages (design, development, testing) will minimize delays.</a:t>
            </a:r>
          </a:p>
          <a:p>
            <a:pPr marL="742950" lvl="1" indent="-285750">
              <a:buFont typeface="Arial" panose="020B0604020202020204" pitchFamily="34" charset="0"/>
              <a:buChar char="•"/>
            </a:pPr>
            <a:r>
              <a:rPr lang="en-US" sz="2400" dirty="0"/>
              <a:t>Implement </a:t>
            </a:r>
            <a:r>
              <a:rPr lang="en-US" sz="2400" b="1" dirty="0"/>
              <a:t>continuous integration</a:t>
            </a:r>
            <a:r>
              <a:rPr lang="en-US" sz="2400" dirty="0"/>
              <a:t> to ensure that code is frequently integrated and tested, reducing the time it takes for code to move through development stages.</a:t>
            </a:r>
          </a:p>
          <a:p>
            <a:pPr marL="342900" indent="-342900">
              <a:buFont typeface="Arial" panose="020B0604020202020204" pitchFamily="34" charset="0"/>
              <a:buChar char="•"/>
            </a:pPr>
            <a:r>
              <a:rPr lang="en-US" sz="2400" b="1" dirty="0"/>
              <a:t>Work-in-Progress (WIP) Limits</a:t>
            </a:r>
            <a:r>
              <a:rPr lang="en-US" sz="2400" dirty="0"/>
              <a:t>:</a:t>
            </a:r>
          </a:p>
          <a:p>
            <a:pPr marL="742950" lvl="1" indent="-285750">
              <a:buFont typeface="Arial" panose="020B0604020202020204" pitchFamily="34" charset="0"/>
              <a:buChar char="•"/>
            </a:pPr>
            <a:r>
              <a:rPr lang="en-US" sz="2400" dirty="0"/>
              <a:t>Apply </a:t>
            </a:r>
            <a:r>
              <a:rPr lang="en-US" sz="2400" b="1" dirty="0"/>
              <a:t>WIP limits</a:t>
            </a:r>
            <a:r>
              <a:rPr lang="en-US" sz="2400" dirty="0"/>
              <a:t> in Kanban or similar systems to prevent overloading team members and ensure that the team focuses on finishing current tasks before starting new ones.</a:t>
            </a:r>
          </a:p>
          <a:p>
            <a:pPr marL="342900" indent="-342900">
              <a:buFont typeface="Arial" panose="020B0604020202020204" pitchFamily="34" charset="0"/>
              <a:buChar char="•"/>
            </a:pPr>
            <a:r>
              <a:rPr lang="en-US" sz="2400" b="1" dirty="0"/>
              <a:t>Prioritize Work</a:t>
            </a:r>
            <a:r>
              <a:rPr lang="en-US" sz="2400" dirty="0"/>
              <a:t>:</a:t>
            </a:r>
          </a:p>
          <a:p>
            <a:pPr marL="742950" lvl="1" indent="-285750">
              <a:buFont typeface="Arial" panose="020B0604020202020204" pitchFamily="34" charset="0"/>
              <a:buChar char="•"/>
            </a:pPr>
            <a:r>
              <a:rPr lang="en-US" sz="2400" dirty="0"/>
              <a:t>Use </a:t>
            </a:r>
            <a:r>
              <a:rPr lang="en-US" sz="2400" b="1" dirty="0"/>
              <a:t>pull-based systems</a:t>
            </a:r>
            <a:r>
              <a:rPr lang="en-US" sz="2400" dirty="0"/>
              <a:t> to prioritize work based on customer demand, ensuring that the team works on the most important tasks first, thus reducing lead times.</a:t>
            </a:r>
          </a:p>
        </p:txBody>
      </p:sp>
      <p:sp>
        <p:nvSpPr>
          <p:cNvPr id="4" name="Title 3">
            <a:extLst>
              <a:ext uri="{FF2B5EF4-FFF2-40B4-BE49-F238E27FC236}">
                <a16:creationId xmlns:a16="http://schemas.microsoft.com/office/drawing/2014/main" id="{483C11EB-93EA-4347-487F-13037815CCE9}"/>
              </a:ext>
            </a:extLst>
          </p:cNvPr>
          <p:cNvSpPr>
            <a:spLocks noGrp="1"/>
          </p:cNvSpPr>
          <p:nvPr>
            <p:ph type="title"/>
          </p:nvPr>
        </p:nvSpPr>
        <p:spPr/>
        <p:txBody>
          <a:bodyPr>
            <a:normAutofit fontScale="90000"/>
          </a:bodyPr>
          <a:lstStyle/>
          <a:p>
            <a:r>
              <a:rPr lang="en-US" dirty="0"/>
              <a:t>Scenario 7: Reducing Lead Time in Software Delivery</a:t>
            </a:r>
          </a:p>
        </p:txBody>
      </p:sp>
    </p:spTree>
    <p:extLst>
      <p:ext uri="{BB962C8B-B14F-4D97-AF65-F5344CB8AC3E}">
        <p14:creationId xmlns:p14="http://schemas.microsoft.com/office/powerpoint/2010/main" val="2393337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1AB14F-1AA3-06E1-E0AF-EF3C5F60E288}"/>
              </a:ext>
            </a:extLst>
          </p:cNvPr>
          <p:cNvSpPr>
            <a:spLocks noGrp="1"/>
          </p:cNvSpPr>
          <p:nvPr>
            <p:ph type="sldNum" sz="quarter" idx="13"/>
          </p:nvPr>
        </p:nvSpPr>
        <p:spPr/>
        <p:txBody>
          <a:bodyPr/>
          <a:lstStyle/>
          <a:p>
            <a:fld id="{12342C3A-DD85-7843-B416-BD52AB030D59}" type="slidenum">
              <a:rPr lang="en-US" smtClean="0"/>
              <a:pPr/>
              <a:t>16</a:t>
            </a:fld>
            <a:endParaRPr lang="en-US" dirty="0"/>
          </a:p>
        </p:txBody>
      </p:sp>
      <p:sp>
        <p:nvSpPr>
          <p:cNvPr id="3" name="Text Placeholder 2">
            <a:extLst>
              <a:ext uri="{FF2B5EF4-FFF2-40B4-BE49-F238E27FC236}">
                <a16:creationId xmlns:a16="http://schemas.microsoft.com/office/drawing/2014/main" id="{AB50BB42-F9AB-E873-405D-F47C7B9892F1}"/>
              </a:ext>
            </a:extLst>
          </p:cNvPr>
          <p:cNvSpPr>
            <a:spLocks noGrp="1"/>
          </p:cNvSpPr>
          <p:nvPr>
            <p:ph type="body" sz="quarter" idx="12"/>
          </p:nvPr>
        </p:nvSpPr>
        <p:spPr/>
        <p:txBody>
          <a:bodyPr>
            <a:normAutofit/>
          </a:bodyPr>
          <a:lstStyle/>
          <a:p>
            <a:endParaRPr lang="en-US" sz="2400" dirty="0"/>
          </a:p>
          <a:p>
            <a:r>
              <a:rPr lang="en-US" sz="2400" dirty="0"/>
              <a:t>Your software development team is experiencing delays in feature delivery due to inefficiencies in the development process. How can you use Value Stream Mapping (VSM) to identify and resolve these issues?</a:t>
            </a:r>
          </a:p>
        </p:txBody>
      </p:sp>
      <p:sp>
        <p:nvSpPr>
          <p:cNvPr id="4" name="Title 3">
            <a:extLst>
              <a:ext uri="{FF2B5EF4-FFF2-40B4-BE49-F238E27FC236}">
                <a16:creationId xmlns:a16="http://schemas.microsoft.com/office/drawing/2014/main" id="{6786CEC8-D5DB-02BF-FFFE-5B1A02A31A94}"/>
              </a:ext>
            </a:extLst>
          </p:cNvPr>
          <p:cNvSpPr>
            <a:spLocks noGrp="1"/>
          </p:cNvSpPr>
          <p:nvPr>
            <p:ph type="title"/>
          </p:nvPr>
        </p:nvSpPr>
        <p:spPr/>
        <p:txBody>
          <a:bodyPr>
            <a:normAutofit fontScale="90000"/>
          </a:bodyPr>
          <a:lstStyle/>
          <a:p>
            <a:r>
              <a:rPr lang="en-US" dirty="0"/>
              <a:t>Scenario 8: Value Stream Mapping (VSM) in Software Development</a:t>
            </a:r>
          </a:p>
        </p:txBody>
      </p:sp>
    </p:spTree>
    <p:extLst>
      <p:ext uri="{BB962C8B-B14F-4D97-AF65-F5344CB8AC3E}">
        <p14:creationId xmlns:p14="http://schemas.microsoft.com/office/powerpoint/2010/main" val="3370638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1C3EF4-A769-DBED-FBDD-746E88C26A0D}"/>
              </a:ext>
            </a:extLst>
          </p:cNvPr>
          <p:cNvSpPr>
            <a:spLocks noGrp="1"/>
          </p:cNvSpPr>
          <p:nvPr>
            <p:ph type="sldNum" sz="quarter" idx="13"/>
          </p:nvPr>
        </p:nvSpPr>
        <p:spPr/>
        <p:txBody>
          <a:bodyPr/>
          <a:lstStyle/>
          <a:p>
            <a:fld id="{12342C3A-DD85-7843-B416-BD52AB030D59}" type="slidenum">
              <a:rPr lang="en-US" smtClean="0"/>
              <a:pPr/>
              <a:t>17</a:t>
            </a:fld>
            <a:endParaRPr lang="en-US" dirty="0"/>
          </a:p>
        </p:txBody>
      </p:sp>
      <p:sp>
        <p:nvSpPr>
          <p:cNvPr id="3" name="Text Placeholder 2">
            <a:extLst>
              <a:ext uri="{FF2B5EF4-FFF2-40B4-BE49-F238E27FC236}">
                <a16:creationId xmlns:a16="http://schemas.microsoft.com/office/drawing/2014/main" id="{BDB749F4-1BD2-35B0-4A91-0A3886AE1906}"/>
              </a:ext>
            </a:extLst>
          </p:cNvPr>
          <p:cNvSpPr>
            <a:spLocks noGrp="1"/>
          </p:cNvSpPr>
          <p:nvPr>
            <p:ph type="body" sz="quarter" idx="12"/>
          </p:nvPr>
        </p:nvSpPr>
        <p:spPr/>
        <p:txBody>
          <a:bodyPr>
            <a:normAutofit fontScale="92500" lnSpcReduction="10000"/>
          </a:bodyPr>
          <a:lstStyle/>
          <a:p>
            <a:endParaRPr lang="en-US" sz="2000" dirty="0"/>
          </a:p>
          <a:p>
            <a:pPr marL="342900" indent="-342900">
              <a:buFont typeface="Arial" panose="020B0604020202020204" pitchFamily="34" charset="0"/>
              <a:buChar char="•"/>
            </a:pPr>
            <a:r>
              <a:rPr lang="en-US" sz="2000" b="1" dirty="0"/>
              <a:t>Identify the Current State</a:t>
            </a:r>
            <a:r>
              <a:rPr lang="en-US" sz="2000" dirty="0"/>
              <a:t>:</a:t>
            </a:r>
          </a:p>
          <a:p>
            <a:pPr marL="742950" lvl="1" indent="-285750">
              <a:buFont typeface="Arial" panose="020B0604020202020204" pitchFamily="34" charset="0"/>
              <a:buChar char="•"/>
            </a:pPr>
            <a:r>
              <a:rPr lang="en-US" sz="2000" dirty="0"/>
              <a:t>Map out the entire software development process from feature request to deployment, including all steps such as requirement gathering, design, development, testing, and release.</a:t>
            </a:r>
          </a:p>
          <a:p>
            <a:pPr marL="742950" lvl="1" indent="-285750">
              <a:buFont typeface="Arial" panose="020B0604020202020204" pitchFamily="34" charset="0"/>
              <a:buChar char="•"/>
            </a:pPr>
            <a:r>
              <a:rPr lang="en-US" sz="2000" dirty="0"/>
              <a:t>Include all handoffs and delays (e.g., waiting for approval, time spent in QA testing, etc.).</a:t>
            </a:r>
          </a:p>
          <a:p>
            <a:pPr marL="342900" indent="-342900">
              <a:buFont typeface="Arial" panose="020B0604020202020204" pitchFamily="34" charset="0"/>
              <a:buChar char="•"/>
            </a:pPr>
            <a:r>
              <a:rPr lang="en-US" sz="2000" b="1" dirty="0"/>
              <a:t>Visualize Bottlenecks</a:t>
            </a:r>
            <a:r>
              <a:rPr lang="en-US" sz="2000" dirty="0"/>
              <a:t>:</a:t>
            </a:r>
          </a:p>
          <a:p>
            <a:pPr marL="742950" lvl="1" indent="-285750">
              <a:buFont typeface="Arial" panose="020B0604020202020204" pitchFamily="34" charset="0"/>
              <a:buChar char="•"/>
            </a:pPr>
            <a:r>
              <a:rPr lang="en-US" sz="2000" dirty="0"/>
              <a:t>Use the value stream map to identify areas where work items are getting stuck or delayed (e.g., approval stages, manual testing bottlenecks, etc.).</a:t>
            </a:r>
          </a:p>
          <a:p>
            <a:pPr marL="742950" lvl="1" indent="-285750">
              <a:buFont typeface="Arial" panose="020B0604020202020204" pitchFamily="34" charset="0"/>
              <a:buChar char="•"/>
            </a:pPr>
            <a:r>
              <a:rPr lang="en-US" sz="2000" dirty="0"/>
              <a:t>Look for </a:t>
            </a:r>
            <a:r>
              <a:rPr lang="en-US" sz="2000" b="1" dirty="0"/>
              <a:t>non-value-added activities</a:t>
            </a:r>
            <a:r>
              <a:rPr lang="en-US" sz="2000" dirty="0"/>
              <a:t> or unnecessary delays, such as excessive waiting times or redundant handoffs between departments.</a:t>
            </a:r>
          </a:p>
          <a:p>
            <a:pPr marL="342900" indent="-342900">
              <a:buFont typeface="Arial" panose="020B0604020202020204" pitchFamily="34" charset="0"/>
              <a:buChar char="•"/>
            </a:pPr>
            <a:r>
              <a:rPr lang="en-US" sz="2000" b="1" dirty="0"/>
              <a:t>Focus on Lead Time</a:t>
            </a:r>
            <a:r>
              <a:rPr lang="en-US" sz="2000" dirty="0"/>
              <a:t>:</a:t>
            </a:r>
          </a:p>
          <a:p>
            <a:pPr marL="742950" lvl="1" indent="-285750">
              <a:buFont typeface="Arial" panose="020B0604020202020204" pitchFamily="34" charset="0"/>
              <a:buChar char="•"/>
            </a:pPr>
            <a:r>
              <a:rPr lang="en-US" sz="2000" dirty="0"/>
              <a:t>Measure the </a:t>
            </a:r>
            <a:r>
              <a:rPr lang="en-US" sz="2000" b="1" dirty="0"/>
              <a:t>lead time</a:t>
            </a:r>
            <a:r>
              <a:rPr lang="en-US" sz="2000" dirty="0"/>
              <a:t> for each step of the value stream, from feature request to final delivery.</a:t>
            </a:r>
          </a:p>
          <a:p>
            <a:pPr marL="742950" lvl="1" indent="-285750">
              <a:buFont typeface="Arial" panose="020B0604020202020204" pitchFamily="34" charset="0"/>
              <a:buChar char="•"/>
            </a:pPr>
            <a:r>
              <a:rPr lang="en-US" sz="2000" dirty="0"/>
              <a:t>Identify steps that are taking longer than necessary and examine ways to reduce time spent in each phase.</a:t>
            </a:r>
          </a:p>
          <a:p>
            <a:pPr marL="800100" lvl="1" indent="-342900">
              <a:buFont typeface="Arial" panose="020B0604020202020204" pitchFamily="34" charset="0"/>
              <a:buChar char="•"/>
            </a:pPr>
            <a:endParaRPr lang="en-US" sz="2800" dirty="0"/>
          </a:p>
        </p:txBody>
      </p:sp>
      <p:sp>
        <p:nvSpPr>
          <p:cNvPr id="4" name="Title 3">
            <a:extLst>
              <a:ext uri="{FF2B5EF4-FFF2-40B4-BE49-F238E27FC236}">
                <a16:creationId xmlns:a16="http://schemas.microsoft.com/office/drawing/2014/main" id="{E86AAD12-BF99-9A39-D55C-5F5805FEA894}"/>
              </a:ext>
            </a:extLst>
          </p:cNvPr>
          <p:cNvSpPr>
            <a:spLocks noGrp="1"/>
          </p:cNvSpPr>
          <p:nvPr>
            <p:ph type="title"/>
          </p:nvPr>
        </p:nvSpPr>
        <p:spPr/>
        <p:txBody>
          <a:bodyPr>
            <a:normAutofit fontScale="90000"/>
          </a:bodyPr>
          <a:lstStyle/>
          <a:p>
            <a:r>
              <a:rPr lang="en-US" dirty="0"/>
              <a:t>Scenario 8: Value Stream Mapping (VSM) in Software Development</a:t>
            </a:r>
          </a:p>
        </p:txBody>
      </p:sp>
    </p:spTree>
    <p:extLst>
      <p:ext uri="{BB962C8B-B14F-4D97-AF65-F5344CB8AC3E}">
        <p14:creationId xmlns:p14="http://schemas.microsoft.com/office/powerpoint/2010/main" val="3573223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FA757-4382-0510-D279-2BBDA500780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C03FA5-B376-7F1C-0E49-926B373EFC88}"/>
              </a:ext>
            </a:extLst>
          </p:cNvPr>
          <p:cNvSpPr>
            <a:spLocks noGrp="1"/>
          </p:cNvSpPr>
          <p:nvPr>
            <p:ph type="sldNum" sz="quarter" idx="13"/>
          </p:nvPr>
        </p:nvSpPr>
        <p:spPr/>
        <p:txBody>
          <a:bodyPr/>
          <a:lstStyle/>
          <a:p>
            <a:fld id="{12342C3A-DD85-7843-B416-BD52AB030D59}" type="slidenum">
              <a:rPr lang="en-US" smtClean="0"/>
              <a:pPr/>
              <a:t>18</a:t>
            </a:fld>
            <a:endParaRPr lang="en-US" dirty="0"/>
          </a:p>
        </p:txBody>
      </p:sp>
      <p:sp>
        <p:nvSpPr>
          <p:cNvPr id="3" name="Text Placeholder 2">
            <a:extLst>
              <a:ext uri="{FF2B5EF4-FFF2-40B4-BE49-F238E27FC236}">
                <a16:creationId xmlns:a16="http://schemas.microsoft.com/office/drawing/2014/main" id="{6EAFEA48-86DD-7FA5-BA59-2F50FB73A0A2}"/>
              </a:ext>
            </a:extLst>
          </p:cNvPr>
          <p:cNvSpPr>
            <a:spLocks noGrp="1"/>
          </p:cNvSpPr>
          <p:nvPr>
            <p:ph type="body" sz="quarter" idx="12"/>
          </p:nvPr>
        </p:nvSpPr>
        <p:spPr/>
        <p:txBody>
          <a:bodyPr>
            <a:normAutofit fontScale="92500" lnSpcReduction="10000"/>
          </a:bodyPr>
          <a:lstStyle/>
          <a:p>
            <a:endParaRPr lang="en-US" sz="1800" dirty="0"/>
          </a:p>
          <a:p>
            <a:pPr marL="285750" indent="-285750">
              <a:buFont typeface="Arial" panose="020B0604020202020204" pitchFamily="34" charset="0"/>
              <a:buChar char="•"/>
            </a:pPr>
            <a:r>
              <a:rPr lang="en-US" sz="1800" b="1" dirty="0"/>
              <a:t>Focus on Lead Time</a:t>
            </a:r>
            <a:r>
              <a:rPr lang="en-US" sz="1800" dirty="0"/>
              <a:t>:</a:t>
            </a:r>
          </a:p>
          <a:p>
            <a:pPr marL="742950" lvl="1" indent="-285750">
              <a:buFont typeface="Arial" panose="020B0604020202020204" pitchFamily="34" charset="0"/>
              <a:buChar char="•"/>
            </a:pPr>
            <a:r>
              <a:rPr lang="en-US" sz="1800" dirty="0"/>
              <a:t>Measure the </a:t>
            </a:r>
            <a:r>
              <a:rPr lang="en-US" sz="1800" b="1" dirty="0"/>
              <a:t>lead time</a:t>
            </a:r>
            <a:r>
              <a:rPr lang="en-US" sz="1800" dirty="0"/>
              <a:t> for each step of the value stream, from feature request to final delivery.</a:t>
            </a:r>
          </a:p>
          <a:p>
            <a:pPr marL="742950" lvl="1" indent="-285750">
              <a:buFont typeface="Arial" panose="020B0604020202020204" pitchFamily="34" charset="0"/>
              <a:buChar char="•"/>
            </a:pPr>
            <a:r>
              <a:rPr lang="en-US" sz="1800" dirty="0"/>
              <a:t>Identify steps that are taking longer than necessary and examine ways to reduce time spent in each phase.</a:t>
            </a:r>
          </a:p>
          <a:p>
            <a:pPr marL="285750" indent="-285750">
              <a:buFont typeface="Arial" panose="020B0604020202020204" pitchFamily="34" charset="0"/>
              <a:buChar char="•"/>
            </a:pPr>
            <a:r>
              <a:rPr lang="en-US" sz="1800" b="1" dirty="0"/>
              <a:t>Optimize the Process</a:t>
            </a:r>
            <a:r>
              <a:rPr lang="en-US" sz="1800" dirty="0"/>
              <a:t>:</a:t>
            </a:r>
          </a:p>
          <a:p>
            <a:pPr marL="742950" lvl="1" indent="-285750">
              <a:buFont typeface="Arial" panose="020B0604020202020204" pitchFamily="34" charset="0"/>
              <a:buChar char="•"/>
            </a:pPr>
            <a:r>
              <a:rPr lang="en-US" sz="1800" b="1" dirty="0"/>
              <a:t>Remove or improve</a:t>
            </a:r>
            <a:r>
              <a:rPr lang="en-US" sz="1800" dirty="0"/>
              <a:t> inefficient steps—automate manual processes, improve collaboration between teams, and reduce waiting times.</a:t>
            </a:r>
          </a:p>
          <a:p>
            <a:pPr marL="742950" lvl="1" indent="-285750">
              <a:buFont typeface="Arial" panose="020B0604020202020204" pitchFamily="34" charset="0"/>
              <a:buChar char="•"/>
            </a:pPr>
            <a:r>
              <a:rPr lang="en-US" sz="1800" b="1" dirty="0"/>
              <a:t>Streamline communication</a:t>
            </a:r>
            <a:r>
              <a:rPr lang="en-US" sz="1800" dirty="0"/>
              <a:t> between product managers, developers, and QA teams to reduce handoffs and improve efficiency.</a:t>
            </a:r>
          </a:p>
          <a:p>
            <a:pPr marL="742950" lvl="1" indent="-285750">
              <a:buFont typeface="Arial" panose="020B0604020202020204" pitchFamily="34" charset="0"/>
              <a:buChar char="•"/>
            </a:pPr>
            <a:r>
              <a:rPr lang="en-US" sz="1800" dirty="0"/>
              <a:t>Focus on creating </a:t>
            </a:r>
            <a:r>
              <a:rPr lang="en-US" sz="1800" b="1" dirty="0"/>
              <a:t>continuous flow</a:t>
            </a:r>
            <a:r>
              <a:rPr lang="en-US" sz="1800" dirty="0"/>
              <a:t> and reducing waiting times in the process to shorten the lead time and deliver features faster.</a:t>
            </a:r>
          </a:p>
          <a:p>
            <a:pPr marL="285750" indent="-285750">
              <a:buFont typeface="Arial" panose="020B0604020202020204" pitchFamily="34" charset="0"/>
              <a:buChar char="•"/>
            </a:pPr>
            <a:r>
              <a:rPr lang="en-US" sz="1800" b="1" dirty="0"/>
              <a:t>Future State Mapping</a:t>
            </a:r>
            <a:r>
              <a:rPr lang="en-US" sz="1800" dirty="0"/>
              <a:t>:</a:t>
            </a:r>
          </a:p>
          <a:p>
            <a:pPr marL="742950" lvl="1" indent="-285750">
              <a:buFont typeface="Arial" panose="020B0604020202020204" pitchFamily="34" charset="0"/>
              <a:buChar char="•"/>
            </a:pPr>
            <a:r>
              <a:rPr lang="en-US" sz="1800" dirty="0"/>
              <a:t>After identifying inefficiencies, create a </a:t>
            </a:r>
            <a:r>
              <a:rPr lang="en-US" sz="1800" b="1" dirty="0"/>
              <a:t>future state map</a:t>
            </a:r>
            <a:r>
              <a:rPr lang="en-US" sz="1800" dirty="0"/>
              <a:t> that outlines an optimized version of the value stream with reduced delays and waste.</a:t>
            </a:r>
          </a:p>
          <a:p>
            <a:pPr marL="742950" lvl="1" indent="-285750">
              <a:buFont typeface="Arial" panose="020B0604020202020204" pitchFamily="34" charset="0"/>
              <a:buChar char="•"/>
            </a:pPr>
            <a:r>
              <a:rPr lang="en-US" sz="1800" dirty="0"/>
              <a:t>Implement and monitor the changes to ensure continuous improvement.</a:t>
            </a:r>
          </a:p>
          <a:p>
            <a:pPr marL="342900" indent="-342900">
              <a:buFont typeface="Arial" panose="020B0604020202020204" pitchFamily="34" charset="0"/>
              <a:buChar char="•"/>
            </a:pPr>
            <a:endParaRPr lang="en-US" sz="3200" dirty="0"/>
          </a:p>
        </p:txBody>
      </p:sp>
      <p:sp>
        <p:nvSpPr>
          <p:cNvPr id="4" name="Title 3">
            <a:extLst>
              <a:ext uri="{FF2B5EF4-FFF2-40B4-BE49-F238E27FC236}">
                <a16:creationId xmlns:a16="http://schemas.microsoft.com/office/drawing/2014/main" id="{5DACCE7E-1A65-2DB4-9F69-D5D1DA59B77C}"/>
              </a:ext>
            </a:extLst>
          </p:cNvPr>
          <p:cNvSpPr>
            <a:spLocks noGrp="1"/>
          </p:cNvSpPr>
          <p:nvPr>
            <p:ph type="title"/>
          </p:nvPr>
        </p:nvSpPr>
        <p:spPr/>
        <p:txBody>
          <a:bodyPr>
            <a:normAutofit fontScale="90000"/>
          </a:bodyPr>
          <a:lstStyle/>
          <a:p>
            <a:r>
              <a:rPr lang="en-US" dirty="0"/>
              <a:t>Scenario 8: Value Stream Mapping (VSM) in Software Development</a:t>
            </a:r>
          </a:p>
        </p:txBody>
      </p:sp>
    </p:spTree>
    <p:extLst>
      <p:ext uri="{BB962C8B-B14F-4D97-AF65-F5344CB8AC3E}">
        <p14:creationId xmlns:p14="http://schemas.microsoft.com/office/powerpoint/2010/main" val="185424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9B5005-9E43-7829-ED30-6D4DE3A98D5B}"/>
              </a:ext>
            </a:extLst>
          </p:cNvPr>
          <p:cNvSpPr>
            <a:spLocks noGrp="1"/>
          </p:cNvSpPr>
          <p:nvPr>
            <p:ph type="sldNum" sz="quarter" idx="13"/>
          </p:nvPr>
        </p:nvSpPr>
        <p:spPr/>
        <p:txBody>
          <a:bodyPr/>
          <a:lstStyle/>
          <a:p>
            <a:fld id="{12342C3A-DD85-7843-B416-BD52AB030D59}" type="slidenum">
              <a:rPr lang="en-US" smtClean="0"/>
              <a:pPr/>
              <a:t>19</a:t>
            </a:fld>
            <a:endParaRPr lang="en-US" dirty="0"/>
          </a:p>
        </p:txBody>
      </p:sp>
      <p:sp>
        <p:nvSpPr>
          <p:cNvPr id="3" name="Text Placeholder 2">
            <a:extLst>
              <a:ext uri="{FF2B5EF4-FFF2-40B4-BE49-F238E27FC236}">
                <a16:creationId xmlns:a16="http://schemas.microsoft.com/office/drawing/2014/main" id="{C3BADB96-5DFA-C487-E4E8-51BF0B24D500}"/>
              </a:ext>
            </a:extLst>
          </p:cNvPr>
          <p:cNvSpPr>
            <a:spLocks noGrp="1"/>
          </p:cNvSpPr>
          <p:nvPr>
            <p:ph type="body" sz="quarter" idx="12"/>
          </p:nvPr>
        </p:nvSpPr>
        <p:spPr/>
        <p:txBody>
          <a:bodyPr>
            <a:normAutofit/>
          </a:bodyPr>
          <a:lstStyle/>
          <a:p>
            <a:r>
              <a:rPr lang="en-US" sz="2400" dirty="0"/>
              <a:t>Your development team is facing a difficult design decision and needs to choose between several different architectures for a new software feature. How can </a:t>
            </a:r>
            <a:r>
              <a:rPr lang="en-US" sz="2400" b="1" dirty="0"/>
              <a:t>Set-Based Development</a:t>
            </a:r>
            <a:r>
              <a:rPr lang="en-US" sz="2400" dirty="0"/>
              <a:t> (SBD) help in making this decision?</a:t>
            </a:r>
          </a:p>
        </p:txBody>
      </p:sp>
      <p:sp>
        <p:nvSpPr>
          <p:cNvPr id="4" name="Title 3">
            <a:extLst>
              <a:ext uri="{FF2B5EF4-FFF2-40B4-BE49-F238E27FC236}">
                <a16:creationId xmlns:a16="http://schemas.microsoft.com/office/drawing/2014/main" id="{48EB249C-7A24-AF51-45A2-699888FB7CAA}"/>
              </a:ext>
            </a:extLst>
          </p:cNvPr>
          <p:cNvSpPr>
            <a:spLocks noGrp="1"/>
          </p:cNvSpPr>
          <p:nvPr>
            <p:ph type="title"/>
          </p:nvPr>
        </p:nvSpPr>
        <p:spPr/>
        <p:txBody>
          <a:bodyPr>
            <a:normAutofit fontScale="90000"/>
          </a:bodyPr>
          <a:lstStyle/>
          <a:p>
            <a:r>
              <a:rPr lang="en-US" dirty="0"/>
              <a:t>Scenario 9: Set-Based Development in Software Design</a:t>
            </a:r>
          </a:p>
        </p:txBody>
      </p:sp>
    </p:spTree>
    <p:extLst>
      <p:ext uri="{BB962C8B-B14F-4D97-AF65-F5344CB8AC3E}">
        <p14:creationId xmlns:p14="http://schemas.microsoft.com/office/powerpoint/2010/main" val="4239803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87976E-0633-5CFE-FB50-517F52421DAE}"/>
              </a:ext>
            </a:extLst>
          </p:cNvPr>
          <p:cNvSpPr>
            <a:spLocks noGrp="1"/>
          </p:cNvSpPr>
          <p:nvPr>
            <p:ph type="sldNum" sz="quarter" idx="13"/>
          </p:nvPr>
        </p:nvSpPr>
        <p:spPr/>
        <p:txBody>
          <a:bodyPr/>
          <a:lstStyle/>
          <a:p>
            <a:fld id="{12342C3A-DD85-7843-B416-BD52AB030D59}" type="slidenum">
              <a:rPr lang="en-US" smtClean="0"/>
              <a:pPr/>
              <a:t>20</a:t>
            </a:fld>
            <a:endParaRPr lang="en-US" dirty="0"/>
          </a:p>
        </p:txBody>
      </p:sp>
      <p:sp>
        <p:nvSpPr>
          <p:cNvPr id="3" name="Text Placeholder 2">
            <a:extLst>
              <a:ext uri="{FF2B5EF4-FFF2-40B4-BE49-F238E27FC236}">
                <a16:creationId xmlns:a16="http://schemas.microsoft.com/office/drawing/2014/main" id="{FD1D4818-8285-230F-B361-D8941C4ABCCF}"/>
              </a:ext>
            </a:extLst>
          </p:cNvPr>
          <p:cNvSpPr>
            <a:spLocks noGrp="1"/>
          </p:cNvSpPr>
          <p:nvPr>
            <p:ph type="body" sz="quarter" idx="12"/>
          </p:nvPr>
        </p:nvSpPr>
        <p:spPr/>
        <p:txBody>
          <a:bodyPr>
            <a:normAutofit lnSpcReduction="10000"/>
          </a:bodyPr>
          <a:lstStyle/>
          <a:p>
            <a:pPr marL="342900" indent="-342900">
              <a:buFont typeface="Arial" panose="020B0604020202020204" pitchFamily="34" charset="0"/>
              <a:buChar char="•"/>
            </a:pPr>
            <a:r>
              <a:rPr lang="en-US" sz="2000" b="1" dirty="0"/>
              <a:t>Explore Multiple Options Simultaneously</a:t>
            </a:r>
            <a:r>
              <a:rPr lang="en-US" sz="2000" dirty="0"/>
              <a:t>:</a:t>
            </a:r>
          </a:p>
          <a:p>
            <a:pPr marL="742950" lvl="1" indent="-285750">
              <a:buFont typeface="Arial" panose="020B0604020202020204" pitchFamily="34" charset="0"/>
              <a:buChar char="•"/>
            </a:pPr>
            <a:r>
              <a:rPr lang="en-US" sz="2000" dirty="0"/>
              <a:t>Instead of deciding on one architecture immediately, </a:t>
            </a:r>
            <a:r>
              <a:rPr lang="en-US" sz="2000" b="1" dirty="0"/>
              <a:t>explore multiple design options</a:t>
            </a:r>
            <a:r>
              <a:rPr lang="en-US" sz="2000" dirty="0"/>
              <a:t> (set of possible architectures) in parallel.</a:t>
            </a:r>
          </a:p>
          <a:p>
            <a:pPr marL="742950" lvl="1" indent="-285750">
              <a:buFont typeface="Arial" panose="020B0604020202020204" pitchFamily="34" charset="0"/>
              <a:buChar char="•"/>
            </a:pPr>
            <a:r>
              <a:rPr lang="en-US" sz="2000" dirty="0"/>
              <a:t>Allow each option to be developed to a certain degree, without fully committing to one solution right away.</a:t>
            </a:r>
          </a:p>
          <a:p>
            <a:pPr marL="342900" indent="-342900">
              <a:buFont typeface="Arial" panose="020B0604020202020204" pitchFamily="34" charset="0"/>
              <a:buChar char="•"/>
            </a:pPr>
            <a:r>
              <a:rPr lang="en-US" sz="2000" b="1" dirty="0"/>
              <a:t>Gather Data Through Prototyping</a:t>
            </a:r>
            <a:r>
              <a:rPr lang="en-US" sz="2000" dirty="0"/>
              <a:t>:</a:t>
            </a:r>
          </a:p>
          <a:p>
            <a:pPr marL="742950" lvl="1" indent="-285750">
              <a:buFont typeface="Arial" panose="020B0604020202020204" pitchFamily="34" charset="0"/>
              <a:buChar char="•"/>
            </a:pPr>
            <a:r>
              <a:rPr lang="en-US" sz="2000" dirty="0"/>
              <a:t>Build prototypes for each architecture to gather real data about how each approach works in practice.</a:t>
            </a:r>
          </a:p>
          <a:p>
            <a:pPr marL="742950" lvl="1" indent="-285750">
              <a:buFont typeface="Arial" panose="020B0604020202020204" pitchFamily="34" charset="0"/>
              <a:buChar char="•"/>
            </a:pPr>
            <a:r>
              <a:rPr lang="en-US" sz="2000" dirty="0"/>
              <a:t>Use these prototypes to evaluate the feasibility, scalability, and performance of different designs.</a:t>
            </a:r>
          </a:p>
          <a:p>
            <a:pPr marL="342900" indent="-342900">
              <a:buFont typeface="Arial" panose="020B0604020202020204" pitchFamily="34" charset="0"/>
              <a:buChar char="•"/>
            </a:pPr>
            <a:r>
              <a:rPr lang="en-US" sz="2000" b="1" dirty="0"/>
              <a:t>Narrow Down the Set</a:t>
            </a:r>
            <a:r>
              <a:rPr lang="en-US" sz="2000" dirty="0"/>
              <a:t>:</a:t>
            </a:r>
          </a:p>
          <a:p>
            <a:pPr marL="742950" lvl="1" indent="-285750">
              <a:buFont typeface="Arial" panose="020B0604020202020204" pitchFamily="34" charset="0"/>
              <a:buChar char="•"/>
            </a:pPr>
            <a:r>
              <a:rPr lang="en-US" sz="2000" dirty="0"/>
              <a:t>Gradually </a:t>
            </a:r>
            <a:r>
              <a:rPr lang="en-US" sz="2000" b="1" dirty="0"/>
              <a:t>eliminate less viable options</a:t>
            </a:r>
            <a:r>
              <a:rPr lang="en-US" sz="2000" dirty="0"/>
              <a:t> based on the data gathered from prototyping and testing, refining your choices until the optimal solution is found.</a:t>
            </a:r>
          </a:p>
          <a:p>
            <a:pPr marL="742950" lvl="1" indent="-285750">
              <a:buFont typeface="Arial" panose="020B0604020202020204" pitchFamily="34" charset="0"/>
              <a:buChar char="•"/>
            </a:pPr>
            <a:r>
              <a:rPr lang="en-US" sz="2000" dirty="0"/>
              <a:t>This allows you to focus on fewer solutions without locking in a final choice prematurely.</a:t>
            </a:r>
          </a:p>
          <a:p>
            <a:endParaRPr lang="en-US" sz="2000" dirty="0"/>
          </a:p>
        </p:txBody>
      </p:sp>
      <p:sp>
        <p:nvSpPr>
          <p:cNvPr id="4" name="Title 3">
            <a:extLst>
              <a:ext uri="{FF2B5EF4-FFF2-40B4-BE49-F238E27FC236}">
                <a16:creationId xmlns:a16="http://schemas.microsoft.com/office/drawing/2014/main" id="{110F25C2-8CB6-4EB3-EE73-5E60FB42869B}"/>
              </a:ext>
            </a:extLst>
          </p:cNvPr>
          <p:cNvSpPr>
            <a:spLocks noGrp="1"/>
          </p:cNvSpPr>
          <p:nvPr>
            <p:ph type="title"/>
          </p:nvPr>
        </p:nvSpPr>
        <p:spPr/>
        <p:txBody>
          <a:bodyPr>
            <a:normAutofit fontScale="90000"/>
          </a:bodyPr>
          <a:lstStyle/>
          <a:p>
            <a:r>
              <a:rPr lang="en-US" dirty="0"/>
              <a:t>Scenario 9: Set-Based Development in Software Design</a:t>
            </a:r>
          </a:p>
        </p:txBody>
      </p:sp>
    </p:spTree>
    <p:extLst>
      <p:ext uri="{BB962C8B-B14F-4D97-AF65-F5344CB8AC3E}">
        <p14:creationId xmlns:p14="http://schemas.microsoft.com/office/powerpoint/2010/main" val="2148785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A600B6-3449-4747-8F67-E306EA41E134}"/>
              </a:ext>
            </a:extLst>
          </p:cNvPr>
          <p:cNvSpPr>
            <a:spLocks noGrp="1"/>
          </p:cNvSpPr>
          <p:nvPr>
            <p:ph type="sldNum" sz="quarter" idx="13"/>
          </p:nvPr>
        </p:nvSpPr>
        <p:spPr/>
        <p:txBody>
          <a:bodyPr/>
          <a:lstStyle/>
          <a:p>
            <a:fld id="{12342C3A-DD85-7843-B416-BD52AB030D59}" type="slidenum">
              <a:rPr lang="en-US" smtClean="0"/>
              <a:pPr/>
              <a:t>21</a:t>
            </a:fld>
            <a:endParaRPr lang="en-US" dirty="0"/>
          </a:p>
        </p:txBody>
      </p:sp>
      <p:sp>
        <p:nvSpPr>
          <p:cNvPr id="3" name="Text Placeholder 2">
            <a:extLst>
              <a:ext uri="{FF2B5EF4-FFF2-40B4-BE49-F238E27FC236}">
                <a16:creationId xmlns:a16="http://schemas.microsoft.com/office/drawing/2014/main" id="{AA263DA7-4F91-D80B-B321-F669B4E82D57}"/>
              </a:ext>
            </a:extLst>
          </p:cNvPr>
          <p:cNvSpPr>
            <a:spLocks noGrp="1"/>
          </p:cNvSpPr>
          <p:nvPr>
            <p:ph type="body" sz="quarter" idx="12"/>
          </p:nvPr>
        </p:nvSpPr>
        <p:spPr/>
        <p:txBody>
          <a:bodyPr>
            <a:normAutofit/>
          </a:bodyPr>
          <a:lstStyle/>
          <a:p>
            <a:pPr marL="285750" indent="-285750">
              <a:buFont typeface="Arial" panose="020B0604020202020204" pitchFamily="34" charset="0"/>
              <a:buChar char="•"/>
            </a:pPr>
            <a:r>
              <a:rPr lang="en-US" sz="2000" b="1" dirty="0"/>
              <a:t>Make Decisions Based on Information</a:t>
            </a:r>
            <a:r>
              <a:rPr lang="en-US" sz="2000" dirty="0"/>
              <a:t>:</a:t>
            </a:r>
          </a:p>
          <a:p>
            <a:pPr marL="742950" lvl="1" indent="-285750">
              <a:buFont typeface="Arial" panose="020B0604020202020204" pitchFamily="34" charset="0"/>
              <a:buChar char="•"/>
            </a:pPr>
            <a:r>
              <a:rPr lang="en-US" sz="2000" dirty="0"/>
              <a:t>Once sufficient information is gathered, choose the architecture that offers the best trade-offs in terms of </a:t>
            </a:r>
            <a:r>
              <a:rPr lang="en-US" sz="2000" b="1" dirty="0"/>
              <a:t>performance</a:t>
            </a:r>
            <a:r>
              <a:rPr lang="en-US" sz="2000" dirty="0"/>
              <a:t>, </a:t>
            </a:r>
            <a:r>
              <a:rPr lang="en-US" sz="2000" b="1" dirty="0"/>
              <a:t>scalability</a:t>
            </a:r>
            <a:r>
              <a:rPr lang="en-US" sz="2000" dirty="0"/>
              <a:t>, and </a:t>
            </a:r>
            <a:r>
              <a:rPr lang="en-US" sz="2000" b="1" dirty="0"/>
              <a:t>alignment with business goals</a:t>
            </a:r>
            <a:r>
              <a:rPr lang="en-US" sz="2000" dirty="0"/>
              <a:t>.</a:t>
            </a:r>
          </a:p>
          <a:p>
            <a:pPr marL="742950" lvl="1" indent="-285750">
              <a:buFont typeface="Arial" panose="020B0604020202020204" pitchFamily="34" charset="0"/>
              <a:buChar char="•"/>
            </a:pPr>
            <a:r>
              <a:rPr lang="en-US" sz="2000" dirty="0"/>
              <a:t>This avoids making a decision based on assumptions and allows the team to choose the solution that best fits the problem at hand.</a:t>
            </a:r>
          </a:p>
          <a:p>
            <a:pPr marL="285750" indent="-285750">
              <a:buFont typeface="Arial" panose="020B0604020202020204" pitchFamily="34" charset="0"/>
              <a:buChar char="•"/>
            </a:pPr>
            <a:r>
              <a:rPr lang="en-US" sz="2000" b="1" dirty="0"/>
              <a:t>Apply Lean Principles</a:t>
            </a:r>
            <a:r>
              <a:rPr lang="en-US" sz="2000" dirty="0"/>
              <a:t>:</a:t>
            </a:r>
          </a:p>
          <a:p>
            <a:pPr marL="742950" lvl="1" indent="-285750">
              <a:buFont typeface="Arial" panose="020B0604020202020204" pitchFamily="34" charset="0"/>
              <a:buChar char="•"/>
            </a:pPr>
            <a:r>
              <a:rPr lang="en-US" sz="2000" dirty="0"/>
              <a:t>The set-based approach minimizes the risk of making costly mistakes by avoiding premature commitment to a single solution.</a:t>
            </a:r>
          </a:p>
          <a:p>
            <a:pPr marL="742950" lvl="1" indent="-285750">
              <a:buFont typeface="Arial" panose="020B0604020202020204" pitchFamily="34" charset="0"/>
              <a:buChar char="•"/>
            </a:pPr>
            <a:r>
              <a:rPr lang="en-US" sz="2000" dirty="0"/>
              <a:t>It ensures that decisions are based on real data rather than speculation, improving the design process and aligning it more closely with customer and business needs.</a:t>
            </a:r>
          </a:p>
          <a:p>
            <a:endParaRPr lang="en-US" sz="2000" dirty="0"/>
          </a:p>
        </p:txBody>
      </p:sp>
      <p:sp>
        <p:nvSpPr>
          <p:cNvPr id="4" name="Title 3">
            <a:extLst>
              <a:ext uri="{FF2B5EF4-FFF2-40B4-BE49-F238E27FC236}">
                <a16:creationId xmlns:a16="http://schemas.microsoft.com/office/drawing/2014/main" id="{C428C8FA-6AE8-5FBA-BB14-4A0FEED1524E}"/>
              </a:ext>
            </a:extLst>
          </p:cNvPr>
          <p:cNvSpPr>
            <a:spLocks noGrp="1"/>
          </p:cNvSpPr>
          <p:nvPr>
            <p:ph type="title"/>
          </p:nvPr>
        </p:nvSpPr>
        <p:spPr/>
        <p:txBody>
          <a:bodyPr>
            <a:normAutofit fontScale="90000"/>
          </a:bodyPr>
          <a:lstStyle/>
          <a:p>
            <a:r>
              <a:rPr lang="en-US" dirty="0"/>
              <a:t>Scenario 9: Set-Based Development in Software Design</a:t>
            </a:r>
          </a:p>
        </p:txBody>
      </p:sp>
    </p:spTree>
    <p:extLst>
      <p:ext uri="{BB962C8B-B14F-4D97-AF65-F5344CB8AC3E}">
        <p14:creationId xmlns:p14="http://schemas.microsoft.com/office/powerpoint/2010/main" val="928869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D34183-264D-6804-7777-5B47F64C3EB9}"/>
              </a:ext>
            </a:extLst>
          </p:cNvPr>
          <p:cNvSpPr>
            <a:spLocks noGrp="1"/>
          </p:cNvSpPr>
          <p:nvPr>
            <p:ph type="sldNum" sz="quarter" idx="13"/>
          </p:nvPr>
        </p:nvSpPr>
        <p:spPr/>
        <p:txBody>
          <a:bodyPr/>
          <a:lstStyle/>
          <a:p>
            <a:fld id="{12342C3A-DD85-7843-B416-BD52AB030D59}" type="slidenum">
              <a:rPr lang="en-US" smtClean="0"/>
              <a:pPr/>
              <a:t>22</a:t>
            </a:fld>
            <a:endParaRPr lang="en-US" dirty="0"/>
          </a:p>
        </p:txBody>
      </p:sp>
      <p:sp>
        <p:nvSpPr>
          <p:cNvPr id="3" name="Text Placeholder 2">
            <a:extLst>
              <a:ext uri="{FF2B5EF4-FFF2-40B4-BE49-F238E27FC236}">
                <a16:creationId xmlns:a16="http://schemas.microsoft.com/office/drawing/2014/main" id="{7D3C3AC2-0872-F8BC-C167-4CDAC1FCD93C}"/>
              </a:ext>
            </a:extLst>
          </p:cNvPr>
          <p:cNvSpPr>
            <a:spLocks noGrp="1"/>
          </p:cNvSpPr>
          <p:nvPr>
            <p:ph type="body" sz="quarter" idx="12"/>
          </p:nvPr>
        </p:nvSpPr>
        <p:spPr/>
        <p:txBody>
          <a:bodyPr>
            <a:normAutofit/>
          </a:bodyPr>
          <a:lstStyle/>
          <a:p>
            <a:endParaRPr lang="en-US" sz="2400" dirty="0"/>
          </a:p>
          <a:p>
            <a:r>
              <a:rPr lang="en-US" sz="2400" dirty="0"/>
              <a:t>Your software development team has too many ongoing tasks, and it’s leading to delays and confusion. How can you implement a </a:t>
            </a:r>
            <a:r>
              <a:rPr lang="en-US" sz="2400" b="1" dirty="0"/>
              <a:t>Pull System</a:t>
            </a:r>
            <a:r>
              <a:rPr lang="en-US" sz="2400" dirty="0"/>
              <a:t> (using Kanban) to improve workflow and reduce bottlenecks?</a:t>
            </a:r>
          </a:p>
        </p:txBody>
      </p:sp>
      <p:sp>
        <p:nvSpPr>
          <p:cNvPr id="4" name="Title 3">
            <a:extLst>
              <a:ext uri="{FF2B5EF4-FFF2-40B4-BE49-F238E27FC236}">
                <a16:creationId xmlns:a16="http://schemas.microsoft.com/office/drawing/2014/main" id="{21E4CF9C-68C3-0534-76EE-EB886B907495}"/>
              </a:ext>
            </a:extLst>
          </p:cNvPr>
          <p:cNvSpPr>
            <a:spLocks noGrp="1"/>
          </p:cNvSpPr>
          <p:nvPr>
            <p:ph type="title"/>
          </p:nvPr>
        </p:nvSpPr>
        <p:spPr/>
        <p:txBody>
          <a:bodyPr>
            <a:normAutofit fontScale="90000"/>
          </a:bodyPr>
          <a:lstStyle/>
          <a:p>
            <a:r>
              <a:rPr lang="en-US" dirty="0"/>
              <a:t>Scenario 10: Pull Systems (Kanban) in Managing Workflow</a:t>
            </a:r>
          </a:p>
        </p:txBody>
      </p:sp>
    </p:spTree>
    <p:extLst>
      <p:ext uri="{BB962C8B-B14F-4D97-AF65-F5344CB8AC3E}">
        <p14:creationId xmlns:p14="http://schemas.microsoft.com/office/powerpoint/2010/main" val="3896339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BC5062-F60B-D8D3-BBEB-45A60F63F1E7}"/>
              </a:ext>
            </a:extLst>
          </p:cNvPr>
          <p:cNvSpPr>
            <a:spLocks noGrp="1"/>
          </p:cNvSpPr>
          <p:nvPr>
            <p:ph type="sldNum" sz="quarter" idx="13"/>
          </p:nvPr>
        </p:nvSpPr>
        <p:spPr/>
        <p:txBody>
          <a:bodyPr/>
          <a:lstStyle/>
          <a:p>
            <a:fld id="{12342C3A-DD85-7843-B416-BD52AB030D59}" type="slidenum">
              <a:rPr lang="en-US" smtClean="0"/>
              <a:pPr/>
              <a:t>23</a:t>
            </a:fld>
            <a:endParaRPr lang="en-US" dirty="0"/>
          </a:p>
        </p:txBody>
      </p:sp>
      <p:sp>
        <p:nvSpPr>
          <p:cNvPr id="3" name="Text Placeholder 2">
            <a:extLst>
              <a:ext uri="{FF2B5EF4-FFF2-40B4-BE49-F238E27FC236}">
                <a16:creationId xmlns:a16="http://schemas.microsoft.com/office/drawing/2014/main" id="{96933741-5167-B943-34BD-51BA65ABE3E8}"/>
              </a:ext>
            </a:extLst>
          </p:cNvPr>
          <p:cNvSpPr>
            <a:spLocks noGrp="1"/>
          </p:cNvSpPr>
          <p:nvPr>
            <p:ph type="body" sz="quarter" idx="12"/>
          </p:nvPr>
        </p:nvSpPr>
        <p:spPr/>
        <p:txBody>
          <a:bodyPr>
            <a:normAutofit fontScale="92500" lnSpcReduction="20000"/>
          </a:bodyPr>
          <a:lstStyle/>
          <a:p>
            <a:endParaRPr lang="en-US" sz="2000" dirty="0"/>
          </a:p>
          <a:p>
            <a:pPr marL="342900" indent="-342900">
              <a:buFont typeface="Arial" panose="020B0604020202020204" pitchFamily="34" charset="0"/>
              <a:buChar char="•"/>
            </a:pPr>
            <a:r>
              <a:rPr lang="en-US" sz="2000" b="1" dirty="0"/>
              <a:t>Implement a Kanban Board</a:t>
            </a:r>
            <a:r>
              <a:rPr lang="en-US" sz="2000" dirty="0"/>
              <a:t>:</a:t>
            </a:r>
          </a:p>
          <a:p>
            <a:pPr marL="742950" lvl="1" indent="-285750">
              <a:buFont typeface="Arial" panose="020B0604020202020204" pitchFamily="34" charset="0"/>
              <a:buChar char="•"/>
            </a:pPr>
            <a:r>
              <a:rPr lang="en-US" sz="2000" dirty="0"/>
              <a:t>Set up a </a:t>
            </a:r>
            <a:r>
              <a:rPr lang="en-US" sz="2000" b="1" dirty="0"/>
              <a:t>Kanban board</a:t>
            </a:r>
            <a:r>
              <a:rPr lang="en-US" sz="2000" dirty="0"/>
              <a:t> with columns such as “Backlog,” “To Do,” “In Progress,” “Testing,” and “Done.”</a:t>
            </a:r>
          </a:p>
          <a:p>
            <a:pPr marL="742950" lvl="1" indent="-285750">
              <a:buFont typeface="Arial" panose="020B0604020202020204" pitchFamily="34" charset="0"/>
              <a:buChar char="•"/>
            </a:pPr>
            <a:r>
              <a:rPr lang="en-US" sz="2000" dirty="0"/>
              <a:t>Each task (e.g., features, bugs) is represented by a card on the board. This provides clear visibility of the workflow and allows team members to track progress at a glance.</a:t>
            </a:r>
          </a:p>
          <a:p>
            <a:pPr marL="342900" indent="-342900">
              <a:buFont typeface="Arial" panose="020B0604020202020204" pitchFamily="34" charset="0"/>
              <a:buChar char="•"/>
            </a:pPr>
            <a:r>
              <a:rPr lang="en-US" sz="2000" b="1" dirty="0"/>
              <a:t>Set Work-In-Progress (WIP) Limits</a:t>
            </a:r>
            <a:r>
              <a:rPr lang="en-US" sz="2000" dirty="0"/>
              <a:t>:</a:t>
            </a:r>
          </a:p>
          <a:p>
            <a:pPr marL="742950" lvl="1" indent="-285750">
              <a:buFont typeface="Arial" panose="020B0604020202020204" pitchFamily="34" charset="0"/>
              <a:buChar char="•"/>
            </a:pPr>
            <a:r>
              <a:rPr lang="en-US" sz="2000" dirty="0"/>
              <a:t>Define </a:t>
            </a:r>
            <a:r>
              <a:rPr lang="en-US" sz="2000" b="1" dirty="0"/>
              <a:t>WIP limits</a:t>
            </a:r>
            <a:r>
              <a:rPr lang="en-US" sz="2000" dirty="0"/>
              <a:t> for each stage of the process (e.g., only 3 tasks in “In Progress” at any given time).</a:t>
            </a:r>
          </a:p>
          <a:p>
            <a:pPr marL="742950" lvl="1" indent="-285750">
              <a:buFont typeface="Arial" panose="020B0604020202020204" pitchFamily="34" charset="0"/>
              <a:buChar char="•"/>
            </a:pPr>
            <a:r>
              <a:rPr lang="en-US" sz="2000" dirty="0"/>
              <a:t>This prevents overloading team members and ensures that they focus on completing tasks before taking on new ones, preventing bottlenecks and task switching.</a:t>
            </a:r>
          </a:p>
          <a:p>
            <a:pPr marL="342900" indent="-342900">
              <a:buFont typeface="Arial" panose="020B0604020202020204" pitchFamily="34" charset="0"/>
              <a:buChar char="•"/>
            </a:pPr>
            <a:r>
              <a:rPr lang="en-US" sz="2000" b="1" dirty="0"/>
              <a:t>Pull Work When Capacity Allows</a:t>
            </a:r>
            <a:r>
              <a:rPr lang="en-US" sz="2000" dirty="0"/>
              <a:t>:</a:t>
            </a:r>
          </a:p>
          <a:p>
            <a:pPr marL="742950" lvl="1" indent="-285750">
              <a:buFont typeface="Arial" panose="020B0604020202020204" pitchFamily="34" charset="0"/>
              <a:buChar char="•"/>
            </a:pPr>
            <a:r>
              <a:rPr lang="en-US" sz="2000" dirty="0"/>
              <a:t>Team members </a:t>
            </a:r>
            <a:r>
              <a:rPr lang="en-US" sz="2000" b="1" dirty="0"/>
              <a:t>pull</a:t>
            </a:r>
            <a:r>
              <a:rPr lang="en-US" sz="2000" dirty="0"/>
              <a:t> tasks from the “To Do” column only when they have the capacity to work on them. This avoids overburdening the team with too many tasks at once.</a:t>
            </a:r>
          </a:p>
          <a:p>
            <a:pPr marL="742950" lvl="1" indent="-285750">
              <a:buFont typeface="Arial" panose="020B0604020202020204" pitchFamily="34" charset="0"/>
              <a:buChar char="•"/>
            </a:pPr>
            <a:r>
              <a:rPr lang="en-US" sz="2000" dirty="0"/>
              <a:t>This ensures that each person only works on one task at a time, promoting focus and reducing context switching.</a:t>
            </a:r>
          </a:p>
          <a:p>
            <a:endParaRPr lang="en-US" sz="2000" dirty="0"/>
          </a:p>
        </p:txBody>
      </p:sp>
      <p:sp>
        <p:nvSpPr>
          <p:cNvPr id="4" name="Title 3">
            <a:extLst>
              <a:ext uri="{FF2B5EF4-FFF2-40B4-BE49-F238E27FC236}">
                <a16:creationId xmlns:a16="http://schemas.microsoft.com/office/drawing/2014/main" id="{A4AB2B9F-339A-EB16-3791-F855A81D53C0}"/>
              </a:ext>
            </a:extLst>
          </p:cNvPr>
          <p:cNvSpPr>
            <a:spLocks noGrp="1"/>
          </p:cNvSpPr>
          <p:nvPr>
            <p:ph type="title"/>
          </p:nvPr>
        </p:nvSpPr>
        <p:spPr/>
        <p:txBody>
          <a:bodyPr>
            <a:normAutofit fontScale="90000"/>
          </a:bodyPr>
          <a:lstStyle/>
          <a:p>
            <a:r>
              <a:rPr lang="en-US" dirty="0"/>
              <a:t>Scenario 10: Pull Systems (Kanban) in Managing Workflow</a:t>
            </a:r>
          </a:p>
        </p:txBody>
      </p:sp>
    </p:spTree>
    <p:extLst>
      <p:ext uri="{BB962C8B-B14F-4D97-AF65-F5344CB8AC3E}">
        <p14:creationId xmlns:p14="http://schemas.microsoft.com/office/powerpoint/2010/main" val="3322931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8947D-1A27-F517-0AF2-E4ED234B224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9B26D-85D1-1178-658D-0DBD1147ACA0}"/>
              </a:ext>
            </a:extLst>
          </p:cNvPr>
          <p:cNvSpPr>
            <a:spLocks noGrp="1"/>
          </p:cNvSpPr>
          <p:nvPr>
            <p:ph type="sldNum" sz="quarter" idx="13"/>
          </p:nvPr>
        </p:nvSpPr>
        <p:spPr/>
        <p:txBody>
          <a:bodyPr/>
          <a:lstStyle/>
          <a:p>
            <a:fld id="{12342C3A-DD85-7843-B416-BD52AB030D59}" type="slidenum">
              <a:rPr lang="en-US" smtClean="0"/>
              <a:pPr/>
              <a:t>24</a:t>
            </a:fld>
            <a:endParaRPr lang="en-US" dirty="0"/>
          </a:p>
        </p:txBody>
      </p:sp>
      <p:sp>
        <p:nvSpPr>
          <p:cNvPr id="3" name="Text Placeholder 2">
            <a:extLst>
              <a:ext uri="{FF2B5EF4-FFF2-40B4-BE49-F238E27FC236}">
                <a16:creationId xmlns:a16="http://schemas.microsoft.com/office/drawing/2014/main" id="{0A2A1FEF-15B2-7C1F-CCBA-9204AFA280A2}"/>
              </a:ext>
            </a:extLst>
          </p:cNvPr>
          <p:cNvSpPr>
            <a:spLocks noGrp="1"/>
          </p:cNvSpPr>
          <p:nvPr>
            <p:ph type="body" sz="quarter" idx="12"/>
          </p:nvPr>
        </p:nvSpPr>
        <p:spPr/>
        <p:txBody>
          <a:bodyPr>
            <a:normAutofit fontScale="92500" lnSpcReduction="10000"/>
          </a:bodyPr>
          <a:lstStyle/>
          <a:p>
            <a:endParaRPr lang="en-US" sz="2000" dirty="0"/>
          </a:p>
          <a:p>
            <a:pPr marL="342900" indent="-342900">
              <a:buFont typeface="Arial" panose="020B0604020202020204" pitchFamily="34" charset="0"/>
              <a:buChar char="•"/>
            </a:pPr>
            <a:r>
              <a:rPr lang="en-US" sz="2000" b="1" dirty="0"/>
              <a:t>Visualize Bottlenecks</a:t>
            </a:r>
            <a:r>
              <a:rPr lang="en-US" sz="2000" dirty="0"/>
              <a:t>:</a:t>
            </a:r>
          </a:p>
          <a:p>
            <a:pPr marL="742950" lvl="1" indent="-285750">
              <a:buFont typeface="Arial" panose="020B0604020202020204" pitchFamily="34" charset="0"/>
              <a:buChar char="•"/>
            </a:pPr>
            <a:r>
              <a:rPr lang="en-US" sz="2000" dirty="0"/>
              <a:t>Use the </a:t>
            </a:r>
            <a:r>
              <a:rPr lang="en-US" sz="2000" b="1" dirty="0"/>
              <a:t>Kanban board</a:t>
            </a:r>
            <a:r>
              <a:rPr lang="en-US" sz="2000" dirty="0"/>
              <a:t> to identify bottlenecks in the process. If tasks are piling up in a particular column (e.g., Testing), it’s an indication that the team needs to address the issue in that stage (e.g., adding more testers, automating tests).</a:t>
            </a:r>
          </a:p>
          <a:p>
            <a:pPr marL="342900" indent="-342900">
              <a:buFont typeface="Arial" panose="020B0604020202020204" pitchFamily="34" charset="0"/>
              <a:buChar char="•"/>
            </a:pPr>
            <a:r>
              <a:rPr lang="en-US" sz="2000" b="1" dirty="0"/>
              <a:t>Improve Flow</a:t>
            </a:r>
            <a:r>
              <a:rPr lang="en-US" sz="2000" dirty="0"/>
              <a:t>:</a:t>
            </a:r>
          </a:p>
          <a:p>
            <a:pPr marL="742950" lvl="1" indent="-285750">
              <a:buFont typeface="Arial" panose="020B0604020202020204" pitchFamily="34" charset="0"/>
              <a:buChar char="•"/>
            </a:pPr>
            <a:r>
              <a:rPr lang="en-US" sz="2000" dirty="0"/>
              <a:t>As tasks move from one column to the next, aim to improve the </a:t>
            </a:r>
            <a:r>
              <a:rPr lang="en-US" sz="2000" b="1" dirty="0"/>
              <a:t>flow</a:t>
            </a:r>
            <a:r>
              <a:rPr lang="en-US" sz="2000" dirty="0"/>
              <a:t> of work by identifying areas where delays or inefficiencies occur and resolving them.</a:t>
            </a:r>
          </a:p>
          <a:p>
            <a:pPr marL="742950" lvl="1" indent="-285750">
              <a:buFont typeface="Arial" panose="020B0604020202020204" pitchFamily="34" charset="0"/>
              <a:buChar char="•"/>
            </a:pPr>
            <a:r>
              <a:rPr lang="en-US" sz="2000" dirty="0"/>
              <a:t>Regularly review the board and the WIP limits to ensure that work is moving through the system at an optimal pace and that no tasks are getting stuck.</a:t>
            </a:r>
          </a:p>
          <a:p>
            <a:pPr marL="342900" indent="-342900">
              <a:buFont typeface="Arial" panose="020B0604020202020204" pitchFamily="34" charset="0"/>
              <a:buChar char="•"/>
            </a:pPr>
            <a:r>
              <a:rPr lang="en-US" sz="2000" b="1" dirty="0"/>
              <a:t>Continuous Improvement</a:t>
            </a:r>
            <a:r>
              <a:rPr lang="en-US" sz="2000" dirty="0"/>
              <a:t>:</a:t>
            </a:r>
          </a:p>
          <a:p>
            <a:pPr marL="742950" lvl="1" indent="-285750">
              <a:buFont typeface="Arial" panose="020B0604020202020204" pitchFamily="34" charset="0"/>
              <a:buChar char="•"/>
            </a:pPr>
            <a:r>
              <a:rPr lang="en-US" sz="2000" dirty="0"/>
              <a:t>Encourage regular team meetings (e.g., </a:t>
            </a:r>
            <a:r>
              <a:rPr lang="en-US" sz="2000" b="1" dirty="0"/>
              <a:t>daily standups</a:t>
            </a:r>
            <a:r>
              <a:rPr lang="en-US" sz="2000" dirty="0"/>
              <a:t>) to discuss what’s working, where there are obstacles, and what can be improved.</a:t>
            </a:r>
          </a:p>
          <a:p>
            <a:pPr marL="742950" lvl="1" indent="-285750">
              <a:buFont typeface="Arial" panose="020B0604020202020204" pitchFamily="34" charset="0"/>
              <a:buChar char="•"/>
            </a:pPr>
            <a:r>
              <a:rPr lang="en-US" sz="2000" dirty="0"/>
              <a:t>Use </a:t>
            </a:r>
            <a:r>
              <a:rPr lang="en-US" sz="2000" b="1" dirty="0"/>
              <a:t>retrospectives</a:t>
            </a:r>
            <a:r>
              <a:rPr lang="en-US" sz="2000" dirty="0"/>
              <a:t> to identify and address problems in the Kanban process, ensuring that the flow of work improves over time.</a:t>
            </a:r>
          </a:p>
          <a:p>
            <a:endParaRPr lang="en-US" sz="2000" dirty="0"/>
          </a:p>
        </p:txBody>
      </p:sp>
      <p:sp>
        <p:nvSpPr>
          <p:cNvPr id="4" name="Title 3">
            <a:extLst>
              <a:ext uri="{FF2B5EF4-FFF2-40B4-BE49-F238E27FC236}">
                <a16:creationId xmlns:a16="http://schemas.microsoft.com/office/drawing/2014/main" id="{1A554B92-07C5-644B-355A-58F929E2ED98}"/>
              </a:ext>
            </a:extLst>
          </p:cNvPr>
          <p:cNvSpPr>
            <a:spLocks noGrp="1"/>
          </p:cNvSpPr>
          <p:nvPr>
            <p:ph type="title"/>
          </p:nvPr>
        </p:nvSpPr>
        <p:spPr/>
        <p:txBody>
          <a:bodyPr>
            <a:normAutofit fontScale="90000"/>
          </a:bodyPr>
          <a:lstStyle/>
          <a:p>
            <a:r>
              <a:rPr lang="en-US" dirty="0"/>
              <a:t>Scenario 10: Pull Systems (Kanban) in Managing Workflow</a:t>
            </a:r>
          </a:p>
        </p:txBody>
      </p:sp>
    </p:spTree>
    <p:extLst>
      <p:ext uri="{BB962C8B-B14F-4D97-AF65-F5344CB8AC3E}">
        <p14:creationId xmlns:p14="http://schemas.microsoft.com/office/powerpoint/2010/main" val="1740986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843661-2959-B8D3-D018-310665D4D836}"/>
              </a:ext>
            </a:extLst>
          </p:cNvPr>
          <p:cNvSpPr>
            <a:spLocks noGrp="1"/>
          </p:cNvSpPr>
          <p:nvPr>
            <p:ph type="sldNum" sz="quarter" idx="13"/>
          </p:nvPr>
        </p:nvSpPr>
        <p:spPr/>
        <p:txBody>
          <a:bodyPr/>
          <a:lstStyle/>
          <a:p>
            <a:fld id="{12342C3A-DD85-7843-B416-BD52AB030D59}" type="slidenum">
              <a:rPr lang="en-US" smtClean="0"/>
              <a:pPr/>
              <a:t>25</a:t>
            </a:fld>
            <a:endParaRPr lang="en-US" dirty="0"/>
          </a:p>
        </p:txBody>
      </p:sp>
      <p:sp>
        <p:nvSpPr>
          <p:cNvPr id="3" name="Text Placeholder 2">
            <a:extLst>
              <a:ext uri="{FF2B5EF4-FFF2-40B4-BE49-F238E27FC236}">
                <a16:creationId xmlns:a16="http://schemas.microsoft.com/office/drawing/2014/main" id="{489FC6AF-223F-D015-6818-DB5ABA0F9512}"/>
              </a:ext>
            </a:extLst>
          </p:cNvPr>
          <p:cNvSpPr>
            <a:spLocks noGrp="1"/>
          </p:cNvSpPr>
          <p:nvPr>
            <p:ph type="body" sz="quarter" idx="12"/>
          </p:nvPr>
        </p:nvSpPr>
        <p:spPr/>
        <p:txBody>
          <a:bodyPr>
            <a:normAutofit/>
          </a:bodyPr>
          <a:lstStyle/>
          <a:p>
            <a:endParaRPr lang="en-US" sz="2400" dirty="0"/>
          </a:p>
          <a:p>
            <a:r>
              <a:rPr lang="en-US" sz="2400" dirty="0"/>
              <a:t>Your company has several teams working on different components of a large software project, and you've noticed delays in coordinating work across teams. How can </a:t>
            </a:r>
            <a:r>
              <a:rPr lang="en-US" sz="2400" b="1" dirty="0"/>
              <a:t>Value Stream Mapping</a:t>
            </a:r>
            <a:r>
              <a:rPr lang="en-US" sz="2400" dirty="0"/>
              <a:t> help identify and resolve these coordination issues?</a:t>
            </a:r>
          </a:p>
        </p:txBody>
      </p:sp>
      <p:sp>
        <p:nvSpPr>
          <p:cNvPr id="4" name="Title 3">
            <a:extLst>
              <a:ext uri="{FF2B5EF4-FFF2-40B4-BE49-F238E27FC236}">
                <a16:creationId xmlns:a16="http://schemas.microsoft.com/office/drawing/2014/main" id="{DCE15110-0389-660A-9C3A-986CB34EFEC6}"/>
              </a:ext>
            </a:extLst>
          </p:cNvPr>
          <p:cNvSpPr>
            <a:spLocks noGrp="1"/>
          </p:cNvSpPr>
          <p:nvPr>
            <p:ph type="title"/>
          </p:nvPr>
        </p:nvSpPr>
        <p:spPr/>
        <p:txBody>
          <a:bodyPr>
            <a:normAutofit fontScale="90000"/>
          </a:bodyPr>
          <a:lstStyle/>
          <a:p>
            <a:r>
              <a:rPr lang="en-US" dirty="0"/>
              <a:t>Scenario 11: Value Stream Mapping in a Multi-Team Development Environment</a:t>
            </a:r>
          </a:p>
        </p:txBody>
      </p:sp>
    </p:spTree>
    <p:extLst>
      <p:ext uri="{BB962C8B-B14F-4D97-AF65-F5344CB8AC3E}">
        <p14:creationId xmlns:p14="http://schemas.microsoft.com/office/powerpoint/2010/main" val="38087044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775183-02FB-F031-49A3-E2F1ADC9546F}"/>
              </a:ext>
            </a:extLst>
          </p:cNvPr>
          <p:cNvSpPr>
            <a:spLocks noGrp="1"/>
          </p:cNvSpPr>
          <p:nvPr>
            <p:ph type="sldNum" sz="quarter" idx="13"/>
          </p:nvPr>
        </p:nvSpPr>
        <p:spPr/>
        <p:txBody>
          <a:bodyPr/>
          <a:lstStyle/>
          <a:p>
            <a:fld id="{12342C3A-DD85-7843-B416-BD52AB030D59}" type="slidenum">
              <a:rPr lang="en-US" smtClean="0"/>
              <a:pPr/>
              <a:t>26</a:t>
            </a:fld>
            <a:endParaRPr lang="en-US" dirty="0"/>
          </a:p>
        </p:txBody>
      </p:sp>
      <p:sp>
        <p:nvSpPr>
          <p:cNvPr id="3" name="Text Placeholder 2">
            <a:extLst>
              <a:ext uri="{FF2B5EF4-FFF2-40B4-BE49-F238E27FC236}">
                <a16:creationId xmlns:a16="http://schemas.microsoft.com/office/drawing/2014/main" id="{24FFF1CD-45D3-6121-4FE1-06B4AED01155}"/>
              </a:ext>
            </a:extLst>
          </p:cNvPr>
          <p:cNvSpPr>
            <a:spLocks noGrp="1"/>
          </p:cNvSpPr>
          <p:nvPr>
            <p:ph type="body" sz="quarter" idx="12"/>
          </p:nvPr>
        </p:nvSpPr>
        <p:spPr/>
        <p:txBody>
          <a:bodyPr>
            <a:normAutofit fontScale="92500" lnSpcReduction="20000"/>
          </a:bodyPr>
          <a:lstStyle/>
          <a:p>
            <a:endParaRPr lang="en-US" sz="2000" dirty="0"/>
          </a:p>
          <a:p>
            <a:pPr marL="342900" indent="-342900">
              <a:buFont typeface="Arial" panose="020B0604020202020204" pitchFamily="34" charset="0"/>
              <a:buChar char="•"/>
            </a:pPr>
            <a:r>
              <a:rPr lang="en-US" sz="2000" b="1" dirty="0"/>
              <a:t>Map Each Team's Value Stream</a:t>
            </a:r>
            <a:r>
              <a:rPr lang="en-US" sz="2000" dirty="0"/>
              <a:t>:</a:t>
            </a:r>
          </a:p>
          <a:p>
            <a:pPr marL="742950" lvl="1" indent="-285750">
              <a:buFont typeface="Arial" panose="020B0604020202020204" pitchFamily="34" charset="0"/>
              <a:buChar char="•"/>
            </a:pPr>
            <a:r>
              <a:rPr lang="en-US" sz="2000" dirty="0"/>
              <a:t>Create </a:t>
            </a:r>
            <a:r>
              <a:rPr lang="en-US" sz="2000" b="1" dirty="0"/>
              <a:t>separate value stream maps</a:t>
            </a:r>
            <a:r>
              <a:rPr lang="en-US" sz="2000" dirty="0"/>
              <a:t> for each team’s process, from the initiation of work to the delivery of the product.</a:t>
            </a:r>
          </a:p>
          <a:p>
            <a:pPr marL="742950" lvl="1" indent="-285750">
              <a:buFont typeface="Arial" panose="020B0604020202020204" pitchFamily="34" charset="0"/>
              <a:buChar char="•"/>
            </a:pPr>
            <a:r>
              <a:rPr lang="en-US" sz="2000" dirty="0"/>
              <a:t>This will help visualize the individual workflows and identify areas where delays or inefficiencies are occurring in each team's process.</a:t>
            </a:r>
          </a:p>
          <a:p>
            <a:pPr marL="342900" indent="-342900">
              <a:buFont typeface="Arial" panose="020B0604020202020204" pitchFamily="34" charset="0"/>
              <a:buChar char="•"/>
            </a:pPr>
            <a:r>
              <a:rPr lang="en-US" sz="2000" b="1" dirty="0"/>
              <a:t>Identify Cross-Team Bottlenecks</a:t>
            </a:r>
            <a:r>
              <a:rPr lang="en-US" sz="2000" dirty="0"/>
              <a:t>:</a:t>
            </a:r>
          </a:p>
          <a:p>
            <a:pPr marL="742950" lvl="1" indent="-285750">
              <a:buFont typeface="Arial" panose="020B0604020202020204" pitchFamily="34" charset="0"/>
              <a:buChar char="•"/>
            </a:pPr>
            <a:r>
              <a:rPr lang="en-US" sz="2000" dirty="0"/>
              <a:t>Map the handoffs between teams to identify </a:t>
            </a:r>
            <a:r>
              <a:rPr lang="en-US" sz="2000" b="1" dirty="0"/>
              <a:t>coordination bottlenecks</a:t>
            </a:r>
            <a:r>
              <a:rPr lang="en-US" sz="2000" dirty="0"/>
              <a:t>—for example, one team may be waiting for input from another team, or the integration phase may be taking longer than expected.</a:t>
            </a:r>
          </a:p>
          <a:p>
            <a:pPr marL="742950" lvl="1" indent="-285750">
              <a:buFont typeface="Arial" panose="020B0604020202020204" pitchFamily="34" charset="0"/>
              <a:buChar char="•"/>
            </a:pPr>
            <a:r>
              <a:rPr lang="en-US" sz="2000" dirty="0"/>
              <a:t>Look for </a:t>
            </a:r>
            <a:r>
              <a:rPr lang="en-US" sz="2000" b="1" dirty="0"/>
              <a:t>waste</a:t>
            </a:r>
            <a:r>
              <a:rPr lang="en-US" sz="2000" dirty="0"/>
              <a:t> created by these handoffs, such as unnecessary waiting or poor communication.</a:t>
            </a:r>
          </a:p>
          <a:p>
            <a:pPr marL="342900" indent="-342900">
              <a:buFont typeface="Arial" panose="020B0604020202020204" pitchFamily="34" charset="0"/>
              <a:buChar char="•"/>
            </a:pPr>
            <a:r>
              <a:rPr lang="en-US" sz="2000" b="1" dirty="0"/>
              <a:t>Improve Cross-Team Communication</a:t>
            </a:r>
            <a:r>
              <a:rPr lang="en-US" sz="2000" dirty="0"/>
              <a:t>:</a:t>
            </a:r>
          </a:p>
          <a:p>
            <a:pPr marL="742950" lvl="1" indent="-285750">
              <a:buFont typeface="Arial" panose="020B0604020202020204" pitchFamily="34" charset="0"/>
              <a:buChar char="•"/>
            </a:pPr>
            <a:r>
              <a:rPr lang="en-US" sz="2000" dirty="0"/>
              <a:t>Use the value stream map to streamline communication channels between teams. This might include setting up </a:t>
            </a:r>
            <a:r>
              <a:rPr lang="en-US" sz="2000" b="1" dirty="0"/>
              <a:t>regular coordination meetings</a:t>
            </a:r>
            <a:r>
              <a:rPr lang="en-US" sz="2000" dirty="0"/>
              <a:t> or establishing shared tools for project tracking.</a:t>
            </a:r>
          </a:p>
          <a:p>
            <a:pPr marL="742950" lvl="1" indent="-285750">
              <a:buFont typeface="Arial" panose="020B0604020202020204" pitchFamily="34" charset="0"/>
              <a:buChar char="•"/>
            </a:pPr>
            <a:r>
              <a:rPr lang="en-US" sz="2000" dirty="0"/>
              <a:t>Identify if any process steps could be automated or simplified to reduce delays in passing work from one team to another.</a:t>
            </a:r>
          </a:p>
          <a:p>
            <a:endParaRPr lang="en-US" sz="2000" dirty="0"/>
          </a:p>
        </p:txBody>
      </p:sp>
      <p:sp>
        <p:nvSpPr>
          <p:cNvPr id="4" name="Title 3">
            <a:extLst>
              <a:ext uri="{FF2B5EF4-FFF2-40B4-BE49-F238E27FC236}">
                <a16:creationId xmlns:a16="http://schemas.microsoft.com/office/drawing/2014/main" id="{799AA1AA-355A-63C0-990F-F0BD699E57F4}"/>
              </a:ext>
            </a:extLst>
          </p:cNvPr>
          <p:cNvSpPr>
            <a:spLocks noGrp="1"/>
          </p:cNvSpPr>
          <p:nvPr>
            <p:ph type="title"/>
          </p:nvPr>
        </p:nvSpPr>
        <p:spPr/>
        <p:txBody>
          <a:bodyPr>
            <a:normAutofit fontScale="90000"/>
          </a:bodyPr>
          <a:lstStyle/>
          <a:p>
            <a:r>
              <a:rPr lang="en-US" dirty="0"/>
              <a:t>Scenario 11: Value Stream Mapping in a Multi-Team Development Environment</a:t>
            </a:r>
          </a:p>
        </p:txBody>
      </p:sp>
    </p:spTree>
    <p:extLst>
      <p:ext uri="{BB962C8B-B14F-4D97-AF65-F5344CB8AC3E}">
        <p14:creationId xmlns:p14="http://schemas.microsoft.com/office/powerpoint/2010/main" val="3671427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2E834-ECC1-2B7B-C051-D4FCE8B3D0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70491E-32E6-10C5-9944-1B4A7BE9A35A}"/>
              </a:ext>
            </a:extLst>
          </p:cNvPr>
          <p:cNvSpPr>
            <a:spLocks noGrp="1"/>
          </p:cNvSpPr>
          <p:nvPr>
            <p:ph type="sldNum" sz="quarter" idx="13"/>
          </p:nvPr>
        </p:nvSpPr>
        <p:spPr/>
        <p:txBody>
          <a:bodyPr/>
          <a:lstStyle/>
          <a:p>
            <a:fld id="{12342C3A-DD85-7843-B416-BD52AB030D59}" type="slidenum">
              <a:rPr lang="en-US" smtClean="0"/>
              <a:pPr/>
              <a:t>27</a:t>
            </a:fld>
            <a:endParaRPr lang="en-US" dirty="0"/>
          </a:p>
        </p:txBody>
      </p:sp>
      <p:sp>
        <p:nvSpPr>
          <p:cNvPr id="3" name="Text Placeholder 2">
            <a:extLst>
              <a:ext uri="{FF2B5EF4-FFF2-40B4-BE49-F238E27FC236}">
                <a16:creationId xmlns:a16="http://schemas.microsoft.com/office/drawing/2014/main" id="{C34BE0C2-C21F-1C1C-F3CD-D88218E49066}"/>
              </a:ext>
            </a:extLst>
          </p:cNvPr>
          <p:cNvSpPr>
            <a:spLocks noGrp="1"/>
          </p:cNvSpPr>
          <p:nvPr>
            <p:ph type="body" sz="quarter" idx="12"/>
          </p:nvPr>
        </p:nvSpPr>
        <p:spPr/>
        <p:txBody>
          <a:bodyPr>
            <a:normAutofit/>
          </a:bodyPr>
          <a:lstStyle/>
          <a:p>
            <a:pPr>
              <a:buFont typeface="Arial" panose="020B0604020202020204" pitchFamily="34" charset="0"/>
              <a:buChar char="•"/>
            </a:pPr>
            <a:endParaRPr lang="en-US" sz="2000" b="1" dirty="0"/>
          </a:p>
          <a:p>
            <a:pPr marL="285750" indent="-285750">
              <a:buFont typeface="Arial" panose="020B0604020202020204" pitchFamily="34" charset="0"/>
              <a:buChar char="•"/>
            </a:pPr>
            <a:r>
              <a:rPr lang="en-US" sz="2000" b="1" dirty="0"/>
              <a:t>Optimize Overall Flow</a:t>
            </a:r>
            <a:r>
              <a:rPr lang="en-US" sz="2000" dirty="0"/>
              <a:t>:</a:t>
            </a:r>
          </a:p>
          <a:p>
            <a:pPr marL="742950" lvl="1" indent="-285750">
              <a:buFont typeface="Arial" panose="020B0604020202020204" pitchFamily="34" charset="0"/>
              <a:buChar char="•"/>
            </a:pPr>
            <a:r>
              <a:rPr lang="en-US" sz="2000" dirty="0"/>
              <a:t>Focus on creating a </a:t>
            </a:r>
            <a:r>
              <a:rPr lang="en-US" sz="2000" b="1" dirty="0"/>
              <a:t>continuous flow</a:t>
            </a:r>
            <a:r>
              <a:rPr lang="en-US" sz="2000" dirty="0"/>
              <a:t> of work across teams, ensuring that each handoff is as smooth and quick as possible.</a:t>
            </a:r>
          </a:p>
          <a:p>
            <a:pPr marL="742950" lvl="1" indent="-285750">
              <a:buFont typeface="Arial" panose="020B0604020202020204" pitchFamily="34" charset="0"/>
              <a:buChar char="•"/>
            </a:pPr>
            <a:r>
              <a:rPr lang="en-US" sz="2000" dirty="0"/>
              <a:t>Consider whether tasks should be </a:t>
            </a:r>
            <a:r>
              <a:rPr lang="en-US" sz="2000" b="1" dirty="0"/>
              <a:t>pulled</a:t>
            </a:r>
            <a:r>
              <a:rPr lang="en-US" sz="2000" dirty="0"/>
              <a:t> into a team’s process rather than pushed, reducing unnecessary waiting or delays.</a:t>
            </a:r>
          </a:p>
          <a:p>
            <a:pPr marL="285750" indent="-285750">
              <a:buFont typeface="Arial" panose="020B0604020202020204" pitchFamily="34" charset="0"/>
              <a:buChar char="•"/>
            </a:pPr>
            <a:r>
              <a:rPr lang="en-US" sz="2000" b="1" dirty="0"/>
              <a:t>Align Teams to a Shared Goal</a:t>
            </a:r>
            <a:r>
              <a:rPr lang="en-US" sz="2000" dirty="0"/>
              <a:t>:</a:t>
            </a:r>
          </a:p>
          <a:p>
            <a:pPr marL="742950" lvl="1" indent="-285750">
              <a:buFont typeface="Arial" panose="020B0604020202020204" pitchFamily="34" charset="0"/>
              <a:buChar char="•"/>
            </a:pPr>
            <a:r>
              <a:rPr lang="en-US" sz="2000" dirty="0"/>
              <a:t>Ensure all teams are aligned on the </a:t>
            </a:r>
            <a:r>
              <a:rPr lang="en-US" sz="2000" b="1" dirty="0"/>
              <a:t>same business objectives</a:t>
            </a:r>
            <a:r>
              <a:rPr lang="en-US" sz="2000" dirty="0"/>
              <a:t> and have clear visibility into how their work contributes to the overall value stream.</a:t>
            </a:r>
          </a:p>
          <a:p>
            <a:pPr marL="742950" lvl="1" indent="-285750">
              <a:buFont typeface="Arial" panose="020B0604020202020204" pitchFamily="34" charset="0"/>
              <a:buChar char="•"/>
            </a:pPr>
            <a:r>
              <a:rPr lang="en-US" sz="2000" dirty="0"/>
              <a:t>This reduces miscommunication and ensures that teams work together towards a common goal.</a:t>
            </a:r>
          </a:p>
          <a:p>
            <a:endParaRPr lang="en-US" sz="2000" dirty="0"/>
          </a:p>
        </p:txBody>
      </p:sp>
      <p:sp>
        <p:nvSpPr>
          <p:cNvPr id="4" name="Title 3">
            <a:extLst>
              <a:ext uri="{FF2B5EF4-FFF2-40B4-BE49-F238E27FC236}">
                <a16:creationId xmlns:a16="http://schemas.microsoft.com/office/drawing/2014/main" id="{C9E86C62-8C10-E5B7-F67A-91CDFAE4B216}"/>
              </a:ext>
            </a:extLst>
          </p:cNvPr>
          <p:cNvSpPr>
            <a:spLocks noGrp="1"/>
          </p:cNvSpPr>
          <p:nvPr>
            <p:ph type="title"/>
          </p:nvPr>
        </p:nvSpPr>
        <p:spPr/>
        <p:txBody>
          <a:bodyPr>
            <a:normAutofit fontScale="90000"/>
          </a:bodyPr>
          <a:lstStyle/>
          <a:p>
            <a:r>
              <a:rPr lang="en-US" dirty="0"/>
              <a:t>Scenario 11: Value Stream Mapping in a Multi-Team Development Environment</a:t>
            </a:r>
          </a:p>
        </p:txBody>
      </p:sp>
    </p:spTree>
    <p:extLst>
      <p:ext uri="{BB962C8B-B14F-4D97-AF65-F5344CB8AC3E}">
        <p14:creationId xmlns:p14="http://schemas.microsoft.com/office/powerpoint/2010/main" val="8919598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F6635A-22BE-B066-A78B-97C9B32DE184}"/>
              </a:ext>
            </a:extLst>
          </p:cNvPr>
          <p:cNvSpPr>
            <a:spLocks noGrp="1"/>
          </p:cNvSpPr>
          <p:nvPr>
            <p:ph type="sldNum" sz="quarter" idx="13"/>
          </p:nvPr>
        </p:nvSpPr>
        <p:spPr/>
        <p:txBody>
          <a:bodyPr/>
          <a:lstStyle/>
          <a:p>
            <a:fld id="{12342C3A-DD85-7843-B416-BD52AB030D59}" type="slidenum">
              <a:rPr lang="en-US" smtClean="0"/>
              <a:pPr/>
              <a:t>28</a:t>
            </a:fld>
            <a:endParaRPr lang="en-US" dirty="0"/>
          </a:p>
        </p:txBody>
      </p:sp>
      <p:sp>
        <p:nvSpPr>
          <p:cNvPr id="3" name="Text Placeholder 2">
            <a:extLst>
              <a:ext uri="{FF2B5EF4-FFF2-40B4-BE49-F238E27FC236}">
                <a16:creationId xmlns:a16="http://schemas.microsoft.com/office/drawing/2014/main" id="{D5B6D56B-D93E-15ED-C6E2-D4B88701CF64}"/>
              </a:ext>
            </a:extLst>
          </p:cNvPr>
          <p:cNvSpPr>
            <a:spLocks noGrp="1"/>
          </p:cNvSpPr>
          <p:nvPr>
            <p:ph type="body" sz="quarter" idx="12"/>
          </p:nvPr>
        </p:nvSpPr>
        <p:spPr/>
        <p:txBody>
          <a:bodyPr>
            <a:normAutofit/>
          </a:bodyPr>
          <a:lstStyle/>
          <a:p>
            <a:endParaRPr lang="en-US" sz="2400" dirty="0"/>
          </a:p>
          <a:p>
            <a:r>
              <a:rPr lang="en-US" sz="2400" dirty="0"/>
              <a:t>Your development team has been struggling to deliver features in a timely manner, and stakeholders are unhappy with the long wait for new functionalities. You want to reduce the </a:t>
            </a:r>
            <a:r>
              <a:rPr lang="en-US" sz="2400" b="1" dirty="0"/>
              <a:t>cycle time</a:t>
            </a:r>
            <a:r>
              <a:rPr lang="en-US" sz="2400" dirty="0"/>
              <a:t> for feature development. How can you approach this problem?</a:t>
            </a:r>
          </a:p>
        </p:txBody>
      </p:sp>
      <p:sp>
        <p:nvSpPr>
          <p:cNvPr id="4" name="Title 3">
            <a:extLst>
              <a:ext uri="{FF2B5EF4-FFF2-40B4-BE49-F238E27FC236}">
                <a16:creationId xmlns:a16="http://schemas.microsoft.com/office/drawing/2014/main" id="{94A585E8-9AC1-D094-6C07-E7672096BF5B}"/>
              </a:ext>
            </a:extLst>
          </p:cNvPr>
          <p:cNvSpPr>
            <a:spLocks noGrp="1"/>
          </p:cNvSpPr>
          <p:nvPr>
            <p:ph type="title"/>
          </p:nvPr>
        </p:nvSpPr>
        <p:spPr/>
        <p:txBody>
          <a:bodyPr>
            <a:normAutofit fontScale="90000"/>
          </a:bodyPr>
          <a:lstStyle/>
          <a:p>
            <a:r>
              <a:rPr lang="en-US" dirty="0"/>
              <a:t>Scenario 12: Reducing Cycle Time in Feature Development</a:t>
            </a:r>
          </a:p>
        </p:txBody>
      </p:sp>
    </p:spTree>
    <p:extLst>
      <p:ext uri="{BB962C8B-B14F-4D97-AF65-F5344CB8AC3E}">
        <p14:creationId xmlns:p14="http://schemas.microsoft.com/office/powerpoint/2010/main" val="284938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AE5F9-B4AA-A43F-BA24-293A73ABDBA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DAE3D8-B5E0-5D02-DD29-4B09AF8A2025}"/>
              </a:ext>
            </a:extLst>
          </p:cNvPr>
          <p:cNvSpPr>
            <a:spLocks noGrp="1"/>
          </p:cNvSpPr>
          <p:nvPr>
            <p:ph type="sldNum" sz="quarter" idx="13"/>
          </p:nvPr>
        </p:nvSpPr>
        <p:spPr/>
        <p:txBody>
          <a:bodyPr/>
          <a:lstStyle/>
          <a:p>
            <a:fld id="{12342C3A-DD85-7843-B416-BD52AB030D59}" type="slidenum">
              <a:rPr lang="en-US" smtClean="0"/>
              <a:pPr/>
              <a:t>29</a:t>
            </a:fld>
            <a:endParaRPr lang="en-US" dirty="0"/>
          </a:p>
        </p:txBody>
      </p:sp>
      <p:sp>
        <p:nvSpPr>
          <p:cNvPr id="3" name="Text Placeholder 2">
            <a:extLst>
              <a:ext uri="{FF2B5EF4-FFF2-40B4-BE49-F238E27FC236}">
                <a16:creationId xmlns:a16="http://schemas.microsoft.com/office/drawing/2014/main" id="{32771908-1B63-49BC-A64C-F0C5515D2150}"/>
              </a:ext>
            </a:extLst>
          </p:cNvPr>
          <p:cNvSpPr>
            <a:spLocks noGrp="1"/>
          </p:cNvSpPr>
          <p:nvPr>
            <p:ph type="body" sz="quarter" idx="12"/>
          </p:nvPr>
        </p:nvSpPr>
        <p:spPr/>
        <p:txBody>
          <a:bodyPr>
            <a:normAutofit lnSpcReduction="10000"/>
          </a:bodyPr>
          <a:lstStyle/>
          <a:p>
            <a:endParaRPr lang="en-US" sz="2000" dirty="0"/>
          </a:p>
          <a:p>
            <a:pPr marL="285750" indent="-285750">
              <a:buFont typeface="Arial" panose="020B0604020202020204" pitchFamily="34" charset="0"/>
              <a:buChar char="•"/>
            </a:pPr>
            <a:r>
              <a:rPr lang="en-US" sz="2000" b="1" dirty="0"/>
              <a:t>Define Cycle Time</a:t>
            </a:r>
            <a:r>
              <a:rPr lang="en-US" sz="2000" dirty="0"/>
              <a:t>:</a:t>
            </a:r>
          </a:p>
          <a:p>
            <a:pPr marL="742950" lvl="1" indent="-285750">
              <a:buFont typeface="Arial" panose="020B0604020202020204" pitchFamily="34" charset="0"/>
              <a:buChar char="•"/>
            </a:pPr>
            <a:r>
              <a:rPr lang="en-US" sz="2000" b="1" dirty="0"/>
              <a:t>Cycle time</a:t>
            </a:r>
            <a:r>
              <a:rPr lang="en-US" sz="2000" dirty="0"/>
              <a:t> is the time taken to complete a task, from when the team starts working on it to when it is finished (i.e., from “In Progress” to “Done”).</a:t>
            </a:r>
          </a:p>
          <a:p>
            <a:pPr marL="285750" indent="-285750">
              <a:buFont typeface="Arial" panose="020B0604020202020204" pitchFamily="34" charset="0"/>
              <a:buChar char="•"/>
            </a:pPr>
            <a:r>
              <a:rPr lang="en-US" sz="2000" b="1" dirty="0"/>
              <a:t>Identify Bottlenecks</a:t>
            </a:r>
            <a:r>
              <a:rPr lang="en-US" sz="2000" dirty="0"/>
              <a:t>:</a:t>
            </a:r>
          </a:p>
          <a:p>
            <a:pPr marL="742950" lvl="1" indent="-285750">
              <a:buFont typeface="Arial" panose="020B0604020202020204" pitchFamily="34" charset="0"/>
              <a:buChar char="•"/>
            </a:pPr>
            <a:r>
              <a:rPr lang="en-US" sz="2000" dirty="0"/>
              <a:t>Map the team’s workflow to identify where delays occur (e.g., long wait times in development, excessive QA cycles, or deployment delays).</a:t>
            </a:r>
          </a:p>
          <a:p>
            <a:pPr marL="742950" lvl="1" indent="-285750">
              <a:buFont typeface="Arial" panose="020B0604020202020204" pitchFamily="34" charset="0"/>
              <a:buChar char="•"/>
            </a:pPr>
            <a:r>
              <a:rPr lang="en-US" sz="2000" dirty="0"/>
              <a:t>Use </a:t>
            </a:r>
            <a:r>
              <a:rPr lang="en-US" sz="2000" b="1" dirty="0"/>
              <a:t>Kanban boards</a:t>
            </a:r>
            <a:r>
              <a:rPr lang="en-US" sz="2000" dirty="0"/>
              <a:t> or similar tools to visualize the tasks and pinpoint areas where work is getting stuck.</a:t>
            </a:r>
          </a:p>
          <a:p>
            <a:pPr marL="285750" indent="-285750">
              <a:buFont typeface="Arial" panose="020B0604020202020204" pitchFamily="34" charset="0"/>
              <a:buChar char="•"/>
            </a:pPr>
            <a:r>
              <a:rPr lang="en-US" sz="2000" b="1" dirty="0"/>
              <a:t>Streamline Workflows</a:t>
            </a:r>
            <a:r>
              <a:rPr lang="en-US" sz="2000" dirty="0"/>
              <a:t>:</a:t>
            </a:r>
          </a:p>
          <a:p>
            <a:pPr marL="742950" lvl="1" indent="-285750">
              <a:buFont typeface="Arial" panose="020B0604020202020204" pitchFamily="34" charset="0"/>
              <a:buChar char="•"/>
            </a:pPr>
            <a:r>
              <a:rPr lang="en-US" sz="2000" b="1" dirty="0"/>
              <a:t>Limit Work-in-Progress (WIP)</a:t>
            </a:r>
            <a:r>
              <a:rPr lang="en-US" sz="2000" dirty="0"/>
              <a:t>: By limiting the number of tasks being worked on at any given time, you prevent the team from multitasking and reduce delays.</a:t>
            </a:r>
          </a:p>
          <a:p>
            <a:pPr marL="742950" lvl="1" indent="-285750">
              <a:buFont typeface="Arial" panose="020B0604020202020204" pitchFamily="34" charset="0"/>
              <a:buChar char="•"/>
            </a:pPr>
            <a:r>
              <a:rPr lang="en-US" sz="2000" dirty="0"/>
              <a:t>Encourage the team to focus on </a:t>
            </a:r>
            <a:r>
              <a:rPr lang="en-US" sz="2000" b="1" dirty="0"/>
              <a:t>finishing</a:t>
            </a:r>
            <a:r>
              <a:rPr lang="en-US" sz="2000" dirty="0"/>
              <a:t> tasks before starting new ones, improving the flow of work.</a:t>
            </a:r>
          </a:p>
          <a:p>
            <a:endParaRPr lang="en-US" sz="2000" dirty="0"/>
          </a:p>
        </p:txBody>
      </p:sp>
      <p:sp>
        <p:nvSpPr>
          <p:cNvPr id="4" name="Title 3">
            <a:extLst>
              <a:ext uri="{FF2B5EF4-FFF2-40B4-BE49-F238E27FC236}">
                <a16:creationId xmlns:a16="http://schemas.microsoft.com/office/drawing/2014/main" id="{6721B928-9A67-BA67-F659-E9ACAF7E0A77}"/>
              </a:ext>
            </a:extLst>
          </p:cNvPr>
          <p:cNvSpPr>
            <a:spLocks noGrp="1"/>
          </p:cNvSpPr>
          <p:nvPr>
            <p:ph type="title"/>
          </p:nvPr>
        </p:nvSpPr>
        <p:spPr/>
        <p:txBody>
          <a:bodyPr>
            <a:normAutofit fontScale="90000"/>
          </a:bodyPr>
          <a:lstStyle/>
          <a:p>
            <a:r>
              <a:rPr lang="en-US" dirty="0"/>
              <a:t>Scenario 12: Reducing Cycle Time in Feature Development</a:t>
            </a:r>
          </a:p>
        </p:txBody>
      </p:sp>
    </p:spTree>
    <p:extLst>
      <p:ext uri="{BB962C8B-B14F-4D97-AF65-F5344CB8AC3E}">
        <p14:creationId xmlns:p14="http://schemas.microsoft.com/office/powerpoint/2010/main" val="38148408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1DD09-949A-546C-E6F8-B0569FBACA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B97D9E-6A92-F127-BA2C-9BBF3B2DD9C3}"/>
              </a:ext>
            </a:extLst>
          </p:cNvPr>
          <p:cNvSpPr>
            <a:spLocks noGrp="1"/>
          </p:cNvSpPr>
          <p:nvPr>
            <p:ph type="sldNum" sz="quarter" idx="13"/>
          </p:nvPr>
        </p:nvSpPr>
        <p:spPr/>
        <p:txBody>
          <a:bodyPr/>
          <a:lstStyle/>
          <a:p>
            <a:fld id="{12342C3A-DD85-7843-B416-BD52AB030D59}" type="slidenum">
              <a:rPr lang="en-US" smtClean="0"/>
              <a:pPr/>
              <a:t>30</a:t>
            </a:fld>
            <a:endParaRPr lang="en-US" dirty="0"/>
          </a:p>
        </p:txBody>
      </p:sp>
      <p:sp>
        <p:nvSpPr>
          <p:cNvPr id="3" name="Text Placeholder 2">
            <a:extLst>
              <a:ext uri="{FF2B5EF4-FFF2-40B4-BE49-F238E27FC236}">
                <a16:creationId xmlns:a16="http://schemas.microsoft.com/office/drawing/2014/main" id="{1D6CE80B-0622-3E2F-4DEC-7A6843E49DB1}"/>
              </a:ext>
            </a:extLst>
          </p:cNvPr>
          <p:cNvSpPr>
            <a:spLocks noGrp="1"/>
          </p:cNvSpPr>
          <p:nvPr>
            <p:ph type="body" sz="quarter" idx="12"/>
          </p:nvPr>
        </p:nvSpPr>
        <p:spPr/>
        <p:txBody>
          <a:bodyPr>
            <a:normAutofit fontScale="92500" lnSpcReduction="10000"/>
          </a:bodyPr>
          <a:lstStyle/>
          <a:p>
            <a:endParaRPr lang="en-US" sz="2000" dirty="0"/>
          </a:p>
          <a:p>
            <a:pPr marL="285750" indent="-285750">
              <a:buFont typeface="Arial" panose="020B0604020202020204" pitchFamily="34" charset="0"/>
              <a:buChar char="•"/>
            </a:pPr>
            <a:r>
              <a:rPr lang="en-US" sz="2000" b="1" dirty="0"/>
              <a:t>Automate Repetitive Tasks</a:t>
            </a:r>
            <a:r>
              <a:rPr lang="en-US" sz="2000" dirty="0"/>
              <a:t>:</a:t>
            </a:r>
          </a:p>
          <a:p>
            <a:pPr marL="742950" lvl="1" indent="-285750">
              <a:buFont typeface="Arial" panose="020B0604020202020204" pitchFamily="34" charset="0"/>
              <a:buChar char="•"/>
            </a:pPr>
            <a:r>
              <a:rPr lang="en-US" sz="2000" dirty="0"/>
              <a:t>Automate </a:t>
            </a:r>
            <a:r>
              <a:rPr lang="en-US" sz="2000" b="1" dirty="0"/>
              <a:t>testing, integration, and deployment</a:t>
            </a:r>
            <a:r>
              <a:rPr lang="en-US" sz="2000" dirty="0"/>
              <a:t> pipelines to reduce the time spent on manual steps and improve the speed of delivering features.</a:t>
            </a:r>
          </a:p>
          <a:p>
            <a:pPr marL="742950" lvl="1" indent="-285750">
              <a:buFont typeface="Arial" panose="020B0604020202020204" pitchFamily="34" charset="0"/>
              <a:buChar char="•"/>
            </a:pPr>
            <a:r>
              <a:rPr lang="en-US" sz="2000" dirty="0"/>
              <a:t>Introduce </a:t>
            </a:r>
            <a:r>
              <a:rPr lang="en-US" sz="2000" b="1" dirty="0"/>
              <a:t>Continuous Integration/Continuous Deployment (CI/CD)</a:t>
            </a:r>
            <a:r>
              <a:rPr lang="en-US" sz="2000" dirty="0"/>
              <a:t> to ensure that features can be deployed quickly and reliably.</a:t>
            </a:r>
          </a:p>
          <a:p>
            <a:pPr marL="285750" indent="-285750">
              <a:buFont typeface="Arial" panose="020B0604020202020204" pitchFamily="34" charset="0"/>
              <a:buChar char="•"/>
            </a:pPr>
            <a:r>
              <a:rPr lang="en-US" sz="2000" b="1" dirty="0"/>
              <a:t>Improve Collaboration</a:t>
            </a:r>
            <a:r>
              <a:rPr lang="en-US" sz="2000" dirty="0"/>
              <a:t>:</a:t>
            </a:r>
          </a:p>
          <a:p>
            <a:pPr marL="742950" lvl="1" indent="-285750">
              <a:buFont typeface="Arial" panose="020B0604020202020204" pitchFamily="34" charset="0"/>
              <a:buChar char="•"/>
            </a:pPr>
            <a:r>
              <a:rPr lang="en-US" sz="2000" dirty="0"/>
              <a:t>Encourage </a:t>
            </a:r>
            <a:r>
              <a:rPr lang="en-US" sz="2000" b="1" dirty="0"/>
              <a:t>closer collaboration</a:t>
            </a:r>
            <a:r>
              <a:rPr lang="en-US" sz="2000" dirty="0"/>
              <a:t> between developers, testers, and other stakeholders, ensuring smoother transitions between stages.</a:t>
            </a:r>
          </a:p>
          <a:p>
            <a:pPr marL="742950" lvl="1" indent="-285750">
              <a:buFont typeface="Arial" panose="020B0604020202020204" pitchFamily="34" charset="0"/>
              <a:buChar char="•"/>
            </a:pPr>
            <a:r>
              <a:rPr lang="en-US" sz="2000" dirty="0"/>
              <a:t>Hold </a:t>
            </a:r>
            <a:r>
              <a:rPr lang="en-US" sz="2000" b="1" dirty="0"/>
              <a:t>daily stand-ups</a:t>
            </a:r>
            <a:r>
              <a:rPr lang="en-US" sz="2000" dirty="0"/>
              <a:t> to ensure everyone is aligned on priorities and roadblocks.</a:t>
            </a:r>
          </a:p>
          <a:p>
            <a:pPr marL="285750" indent="-285750">
              <a:buFont typeface="Arial" panose="020B0604020202020204" pitchFamily="34" charset="0"/>
              <a:buChar char="•"/>
            </a:pPr>
            <a:r>
              <a:rPr lang="en-US" sz="2000" b="1" dirty="0"/>
              <a:t>Analyze Data and Continuously Improve</a:t>
            </a:r>
            <a:r>
              <a:rPr lang="en-US" sz="2000" dirty="0"/>
              <a:t>:</a:t>
            </a:r>
          </a:p>
          <a:p>
            <a:pPr marL="742950" lvl="1" indent="-285750">
              <a:buFont typeface="Arial" panose="020B0604020202020204" pitchFamily="34" charset="0"/>
              <a:buChar char="•"/>
            </a:pPr>
            <a:r>
              <a:rPr lang="en-US" sz="2000" dirty="0"/>
              <a:t>Use metrics to track </a:t>
            </a:r>
            <a:r>
              <a:rPr lang="en-US" sz="2000" b="1" dirty="0"/>
              <a:t>cycle time</a:t>
            </a:r>
            <a:r>
              <a:rPr lang="en-US" sz="2000" dirty="0"/>
              <a:t> over multiple sprints to identify patterns and further reduce delays.</a:t>
            </a:r>
          </a:p>
          <a:p>
            <a:pPr marL="742950" lvl="1" indent="-285750">
              <a:buFont typeface="Arial" panose="020B0604020202020204" pitchFamily="34" charset="0"/>
              <a:buChar char="•"/>
            </a:pPr>
            <a:r>
              <a:rPr lang="en-US" sz="2000" dirty="0"/>
              <a:t>Hold </a:t>
            </a:r>
            <a:r>
              <a:rPr lang="en-US" sz="2000" b="1" dirty="0"/>
              <a:t>retrospectives</a:t>
            </a:r>
            <a:r>
              <a:rPr lang="en-US" sz="2000" dirty="0"/>
              <a:t> to continuously improve team practices and optimize cycle time.</a:t>
            </a:r>
          </a:p>
          <a:p>
            <a:endParaRPr lang="en-US" sz="2000" dirty="0"/>
          </a:p>
        </p:txBody>
      </p:sp>
      <p:sp>
        <p:nvSpPr>
          <p:cNvPr id="4" name="Title 3">
            <a:extLst>
              <a:ext uri="{FF2B5EF4-FFF2-40B4-BE49-F238E27FC236}">
                <a16:creationId xmlns:a16="http://schemas.microsoft.com/office/drawing/2014/main" id="{4B0B491F-9697-B8BB-6C88-974546B3F267}"/>
              </a:ext>
            </a:extLst>
          </p:cNvPr>
          <p:cNvSpPr>
            <a:spLocks noGrp="1"/>
          </p:cNvSpPr>
          <p:nvPr>
            <p:ph type="title"/>
          </p:nvPr>
        </p:nvSpPr>
        <p:spPr/>
        <p:txBody>
          <a:bodyPr>
            <a:normAutofit fontScale="90000"/>
          </a:bodyPr>
          <a:lstStyle/>
          <a:p>
            <a:r>
              <a:rPr lang="en-US" dirty="0"/>
              <a:t>Scenario 12: Reducing Cycle Time in Feature Development</a:t>
            </a:r>
          </a:p>
        </p:txBody>
      </p:sp>
    </p:spTree>
    <p:extLst>
      <p:ext uri="{BB962C8B-B14F-4D97-AF65-F5344CB8AC3E}">
        <p14:creationId xmlns:p14="http://schemas.microsoft.com/office/powerpoint/2010/main" val="26092579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CDD61B-0B3F-B465-B95C-2897091B92C9}"/>
              </a:ext>
            </a:extLst>
          </p:cNvPr>
          <p:cNvSpPr>
            <a:spLocks noGrp="1"/>
          </p:cNvSpPr>
          <p:nvPr>
            <p:ph type="sldNum" sz="quarter" idx="13"/>
          </p:nvPr>
        </p:nvSpPr>
        <p:spPr/>
        <p:txBody>
          <a:bodyPr/>
          <a:lstStyle/>
          <a:p>
            <a:fld id="{12342C3A-DD85-7843-B416-BD52AB030D59}" type="slidenum">
              <a:rPr lang="en-US" smtClean="0"/>
              <a:pPr/>
              <a:t>31</a:t>
            </a:fld>
            <a:endParaRPr lang="en-US" dirty="0"/>
          </a:p>
        </p:txBody>
      </p:sp>
      <p:sp>
        <p:nvSpPr>
          <p:cNvPr id="3" name="Text Placeholder 2">
            <a:extLst>
              <a:ext uri="{FF2B5EF4-FFF2-40B4-BE49-F238E27FC236}">
                <a16:creationId xmlns:a16="http://schemas.microsoft.com/office/drawing/2014/main" id="{9E69CBF6-1EF5-C940-F976-9FC51D778CD6}"/>
              </a:ext>
            </a:extLst>
          </p:cNvPr>
          <p:cNvSpPr>
            <a:spLocks noGrp="1"/>
          </p:cNvSpPr>
          <p:nvPr>
            <p:ph type="body" sz="quarter" idx="12"/>
          </p:nvPr>
        </p:nvSpPr>
        <p:spPr/>
        <p:txBody>
          <a:bodyPr>
            <a:normAutofit/>
          </a:bodyPr>
          <a:lstStyle/>
          <a:p>
            <a:r>
              <a:rPr lang="en-US" sz="2400" dirty="0"/>
              <a:t>You’re managing a large software project, and the project has multiple teams working on different features. However, you’re concerned because the </a:t>
            </a:r>
            <a:r>
              <a:rPr lang="en-US" sz="2400" b="1" dirty="0"/>
              <a:t>lead time</a:t>
            </a:r>
            <a:r>
              <a:rPr lang="en-US" sz="2400" dirty="0"/>
              <a:t> from feature request to delivery is much longer than expected. How can you manage and reduce lead time across teams?</a:t>
            </a:r>
          </a:p>
        </p:txBody>
      </p:sp>
      <p:sp>
        <p:nvSpPr>
          <p:cNvPr id="4" name="Title 3">
            <a:extLst>
              <a:ext uri="{FF2B5EF4-FFF2-40B4-BE49-F238E27FC236}">
                <a16:creationId xmlns:a16="http://schemas.microsoft.com/office/drawing/2014/main" id="{DF3C9A2C-B9E4-1D66-CF48-C085E00BDB32}"/>
              </a:ext>
            </a:extLst>
          </p:cNvPr>
          <p:cNvSpPr>
            <a:spLocks noGrp="1"/>
          </p:cNvSpPr>
          <p:nvPr>
            <p:ph type="title"/>
          </p:nvPr>
        </p:nvSpPr>
        <p:spPr/>
        <p:txBody>
          <a:bodyPr/>
          <a:lstStyle/>
          <a:p>
            <a:r>
              <a:rPr lang="en-US" dirty="0"/>
              <a:t>Scenario 13: Managing Lead Time in a Large Project</a:t>
            </a:r>
          </a:p>
        </p:txBody>
      </p:sp>
    </p:spTree>
    <p:extLst>
      <p:ext uri="{BB962C8B-B14F-4D97-AF65-F5344CB8AC3E}">
        <p14:creationId xmlns:p14="http://schemas.microsoft.com/office/powerpoint/2010/main" val="682505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68FD3-8B33-7372-11D4-6AD524B386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10AAC7-F970-4D85-F7D7-2E8A44552054}"/>
              </a:ext>
            </a:extLst>
          </p:cNvPr>
          <p:cNvSpPr>
            <a:spLocks noGrp="1"/>
          </p:cNvSpPr>
          <p:nvPr>
            <p:ph type="sldNum" sz="quarter" idx="13"/>
          </p:nvPr>
        </p:nvSpPr>
        <p:spPr/>
        <p:txBody>
          <a:bodyPr/>
          <a:lstStyle/>
          <a:p>
            <a:fld id="{12342C3A-DD85-7843-B416-BD52AB030D59}" type="slidenum">
              <a:rPr lang="en-US" smtClean="0"/>
              <a:pPr/>
              <a:t>32</a:t>
            </a:fld>
            <a:endParaRPr lang="en-US" dirty="0"/>
          </a:p>
        </p:txBody>
      </p:sp>
      <p:sp>
        <p:nvSpPr>
          <p:cNvPr id="3" name="Text Placeholder 2">
            <a:extLst>
              <a:ext uri="{FF2B5EF4-FFF2-40B4-BE49-F238E27FC236}">
                <a16:creationId xmlns:a16="http://schemas.microsoft.com/office/drawing/2014/main" id="{B7F26332-9147-93CC-3223-B5183A8638D9}"/>
              </a:ext>
            </a:extLst>
          </p:cNvPr>
          <p:cNvSpPr>
            <a:spLocks noGrp="1"/>
          </p:cNvSpPr>
          <p:nvPr>
            <p:ph type="body" sz="quarter" idx="12"/>
          </p:nvPr>
        </p:nvSpPr>
        <p:spPr/>
        <p:txBody>
          <a:bodyPr>
            <a:normAutofit fontScale="92500" lnSpcReduction="10000"/>
          </a:bodyPr>
          <a:lstStyle/>
          <a:p>
            <a:pPr marL="285750" indent="-285750">
              <a:buFont typeface="Arial" panose="020B0604020202020204" pitchFamily="34" charset="0"/>
              <a:buChar char="•"/>
            </a:pPr>
            <a:r>
              <a:rPr lang="en-US" sz="1800" b="1" dirty="0"/>
              <a:t>Define Lead Time</a:t>
            </a:r>
            <a:r>
              <a:rPr lang="en-US" sz="1800" dirty="0"/>
              <a:t>:</a:t>
            </a:r>
          </a:p>
          <a:p>
            <a:pPr marL="742950" lvl="1" indent="-285750">
              <a:buFont typeface="Arial" panose="020B0604020202020204" pitchFamily="34" charset="0"/>
              <a:buChar char="•"/>
            </a:pPr>
            <a:r>
              <a:rPr lang="en-US" sz="1800" b="1" dirty="0"/>
              <a:t>Lead time</a:t>
            </a:r>
            <a:r>
              <a:rPr lang="en-US" sz="1800" dirty="0"/>
              <a:t> is the total time it takes for a customer’s request to be fulfilled, from the moment the request is made until the feature is deployed and live.</a:t>
            </a:r>
          </a:p>
          <a:p>
            <a:pPr marL="285750" indent="-285750">
              <a:buFont typeface="Arial" panose="020B0604020202020204" pitchFamily="34" charset="0"/>
              <a:buChar char="•"/>
            </a:pPr>
            <a:r>
              <a:rPr lang="en-US" sz="1800" b="1" dirty="0"/>
              <a:t>Map the Entire Process</a:t>
            </a:r>
            <a:r>
              <a:rPr lang="en-US" sz="1800" dirty="0"/>
              <a:t>:</a:t>
            </a:r>
          </a:p>
          <a:p>
            <a:pPr marL="742950" lvl="1" indent="-285750">
              <a:buFont typeface="Arial" panose="020B0604020202020204" pitchFamily="34" charset="0"/>
              <a:buChar char="•"/>
            </a:pPr>
            <a:r>
              <a:rPr lang="en-US" sz="1800" dirty="0"/>
              <a:t>Use </a:t>
            </a:r>
            <a:r>
              <a:rPr lang="en-US" sz="1800" b="1" dirty="0"/>
              <a:t>Value Stream Mapping (VSM)</a:t>
            </a:r>
            <a:r>
              <a:rPr lang="en-US" sz="1800" dirty="0"/>
              <a:t> to visualize the entire workflow from the point when a request is made until the feature is delivered. This will help identify which parts of the process are taking the longest.</a:t>
            </a:r>
          </a:p>
          <a:p>
            <a:pPr marL="285750" indent="-285750">
              <a:buFont typeface="Arial" panose="020B0604020202020204" pitchFamily="34" charset="0"/>
              <a:buChar char="•"/>
            </a:pPr>
            <a:r>
              <a:rPr lang="en-US" sz="1800" b="1" dirty="0"/>
              <a:t>Prioritize Features</a:t>
            </a:r>
            <a:r>
              <a:rPr lang="en-US" sz="1800" dirty="0"/>
              <a:t>:</a:t>
            </a:r>
          </a:p>
          <a:p>
            <a:pPr marL="742950" lvl="1" indent="-285750">
              <a:buFont typeface="Arial" panose="020B0604020202020204" pitchFamily="34" charset="0"/>
              <a:buChar char="•"/>
            </a:pPr>
            <a:r>
              <a:rPr lang="en-US" sz="1800" dirty="0"/>
              <a:t>Work with stakeholders to </a:t>
            </a:r>
            <a:r>
              <a:rPr lang="en-US" sz="1800" b="1" dirty="0"/>
              <a:t>prioritize</a:t>
            </a:r>
            <a:r>
              <a:rPr lang="en-US" sz="1800" dirty="0"/>
              <a:t> features based on business value to ensure that the most important features are delivered first.</a:t>
            </a:r>
          </a:p>
          <a:p>
            <a:pPr marL="742950" lvl="1" indent="-285750">
              <a:buFont typeface="Arial" panose="020B0604020202020204" pitchFamily="34" charset="0"/>
              <a:buChar char="•"/>
            </a:pPr>
            <a:r>
              <a:rPr lang="en-US" sz="1800" b="1" dirty="0"/>
              <a:t>Break down large features</a:t>
            </a:r>
            <a:r>
              <a:rPr lang="en-US" sz="1800" dirty="0"/>
              <a:t> into smaller, manageable tasks to ensure that work can be delivered incrementally, reducing the time it takes to deliver meaningful functionality.</a:t>
            </a:r>
          </a:p>
          <a:p>
            <a:pPr marL="285750" indent="-285750">
              <a:buFont typeface="Arial" panose="020B0604020202020204" pitchFamily="34" charset="0"/>
              <a:buChar char="•"/>
            </a:pPr>
            <a:r>
              <a:rPr lang="en-US" sz="1800" b="1" dirty="0"/>
              <a:t>Shorten Wait Times</a:t>
            </a:r>
            <a:r>
              <a:rPr lang="en-US" sz="1800" dirty="0"/>
              <a:t>:</a:t>
            </a:r>
          </a:p>
          <a:p>
            <a:pPr marL="742950" lvl="1" indent="-285750">
              <a:buFont typeface="Arial" panose="020B0604020202020204" pitchFamily="34" charset="0"/>
              <a:buChar char="•"/>
            </a:pPr>
            <a:r>
              <a:rPr lang="en-US" sz="1800" dirty="0"/>
              <a:t>Identify and reduce </a:t>
            </a:r>
            <a:r>
              <a:rPr lang="en-US" sz="1800" b="1" dirty="0"/>
              <a:t>waiting times</a:t>
            </a:r>
            <a:r>
              <a:rPr lang="en-US" sz="1800" dirty="0"/>
              <a:t> between stages (e.g., requirements gathering, development, testing) by improving communication and reducing handoff delays between teams.</a:t>
            </a:r>
          </a:p>
          <a:p>
            <a:pPr marL="742950" lvl="1" indent="-285750">
              <a:buFont typeface="Arial" panose="020B0604020202020204" pitchFamily="34" charset="0"/>
              <a:buChar char="•"/>
            </a:pPr>
            <a:r>
              <a:rPr lang="en-US" sz="1800" dirty="0"/>
              <a:t>Use </a:t>
            </a:r>
            <a:r>
              <a:rPr lang="en-US" sz="1800" b="1" dirty="0"/>
              <a:t>Kanban boards</a:t>
            </a:r>
            <a:r>
              <a:rPr lang="en-US" sz="1800" dirty="0"/>
              <a:t> to visualize work and manage flow, so that no team is waiting too long for work to be handed off.</a:t>
            </a:r>
          </a:p>
          <a:p>
            <a:endParaRPr lang="en-US" sz="1800" dirty="0"/>
          </a:p>
        </p:txBody>
      </p:sp>
      <p:sp>
        <p:nvSpPr>
          <p:cNvPr id="4" name="Title 3">
            <a:extLst>
              <a:ext uri="{FF2B5EF4-FFF2-40B4-BE49-F238E27FC236}">
                <a16:creationId xmlns:a16="http://schemas.microsoft.com/office/drawing/2014/main" id="{70049B6D-FB37-1FAB-3FA7-74F6ECF3B5EE}"/>
              </a:ext>
            </a:extLst>
          </p:cNvPr>
          <p:cNvSpPr>
            <a:spLocks noGrp="1"/>
          </p:cNvSpPr>
          <p:nvPr>
            <p:ph type="title"/>
          </p:nvPr>
        </p:nvSpPr>
        <p:spPr/>
        <p:txBody>
          <a:bodyPr/>
          <a:lstStyle/>
          <a:p>
            <a:r>
              <a:rPr lang="en-US" dirty="0"/>
              <a:t>Scenario 13: Managing Lead Time in a Large Project</a:t>
            </a:r>
          </a:p>
        </p:txBody>
      </p:sp>
    </p:spTree>
    <p:extLst>
      <p:ext uri="{BB962C8B-B14F-4D97-AF65-F5344CB8AC3E}">
        <p14:creationId xmlns:p14="http://schemas.microsoft.com/office/powerpoint/2010/main" val="38722570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45F078-3C4D-F596-7934-5A745EEA130B}"/>
              </a:ext>
            </a:extLst>
          </p:cNvPr>
          <p:cNvSpPr>
            <a:spLocks noGrp="1"/>
          </p:cNvSpPr>
          <p:nvPr>
            <p:ph type="sldNum" sz="quarter" idx="13"/>
          </p:nvPr>
        </p:nvSpPr>
        <p:spPr/>
        <p:txBody>
          <a:bodyPr/>
          <a:lstStyle/>
          <a:p>
            <a:fld id="{12342C3A-DD85-7843-B416-BD52AB030D59}" type="slidenum">
              <a:rPr lang="en-US" smtClean="0"/>
              <a:pPr/>
              <a:t>33</a:t>
            </a:fld>
            <a:endParaRPr lang="en-US" dirty="0"/>
          </a:p>
        </p:txBody>
      </p:sp>
      <p:sp>
        <p:nvSpPr>
          <p:cNvPr id="3" name="Text Placeholder 2">
            <a:extLst>
              <a:ext uri="{FF2B5EF4-FFF2-40B4-BE49-F238E27FC236}">
                <a16:creationId xmlns:a16="http://schemas.microsoft.com/office/drawing/2014/main" id="{22C57105-B459-ACE8-3687-682E3F3E3F2B}"/>
              </a:ext>
            </a:extLst>
          </p:cNvPr>
          <p:cNvSpPr>
            <a:spLocks noGrp="1"/>
          </p:cNvSpPr>
          <p:nvPr>
            <p:ph type="body" sz="quarter" idx="12"/>
          </p:nvPr>
        </p:nvSpPr>
        <p:spPr/>
        <p:txBody>
          <a:bodyPr>
            <a:normAutofit fontScale="92500" lnSpcReduction="10000"/>
          </a:bodyPr>
          <a:lstStyle/>
          <a:p>
            <a:pPr marL="285750" indent="-285750">
              <a:buFont typeface="Arial" panose="020B0604020202020204" pitchFamily="34" charset="0"/>
              <a:buChar char="•"/>
            </a:pPr>
            <a:r>
              <a:rPr lang="en-US" sz="2000" b="1" dirty="0"/>
              <a:t>Implement Pull Systems</a:t>
            </a:r>
            <a:r>
              <a:rPr lang="en-US" sz="2000" dirty="0"/>
              <a:t>:</a:t>
            </a:r>
          </a:p>
          <a:p>
            <a:pPr marL="742950" lvl="1" indent="-285750">
              <a:buFont typeface="Arial" panose="020B0604020202020204" pitchFamily="34" charset="0"/>
              <a:buChar char="•"/>
            </a:pPr>
            <a:r>
              <a:rPr lang="en-US" sz="2000" dirty="0"/>
              <a:t>Implement a </a:t>
            </a:r>
            <a:r>
              <a:rPr lang="en-US" sz="2000" b="1" dirty="0"/>
              <a:t>pull system (Kanban)</a:t>
            </a:r>
            <a:r>
              <a:rPr lang="en-US" sz="2000" dirty="0"/>
              <a:t> to ensure that teams pull work only when they have the capacity to handle it. This prevents overloading teams and ensures steady progress.</a:t>
            </a:r>
          </a:p>
          <a:p>
            <a:pPr marL="285750" indent="-285750">
              <a:buFont typeface="Arial" panose="020B0604020202020204" pitchFamily="34" charset="0"/>
              <a:buChar char="•"/>
            </a:pPr>
            <a:r>
              <a:rPr lang="en-US" sz="2000" b="1" dirty="0"/>
              <a:t>Automate Where Possible</a:t>
            </a:r>
            <a:r>
              <a:rPr lang="en-US" sz="2000" dirty="0"/>
              <a:t>:</a:t>
            </a:r>
          </a:p>
          <a:p>
            <a:pPr marL="742950" lvl="1" indent="-285750">
              <a:buFont typeface="Arial" panose="020B0604020202020204" pitchFamily="34" charset="0"/>
              <a:buChar char="•"/>
            </a:pPr>
            <a:r>
              <a:rPr lang="en-US" sz="2000" dirty="0"/>
              <a:t>Automate </a:t>
            </a:r>
            <a:r>
              <a:rPr lang="en-US" sz="2000" b="1" dirty="0"/>
              <a:t>testing, code reviews, and deployments</a:t>
            </a:r>
            <a:r>
              <a:rPr lang="en-US" sz="2000" dirty="0"/>
              <a:t> to reduce time spent on repetitive tasks and speed up the delivery process.</a:t>
            </a:r>
          </a:p>
          <a:p>
            <a:pPr marL="742950" lvl="1" indent="-285750">
              <a:buFont typeface="Arial" panose="020B0604020202020204" pitchFamily="34" charset="0"/>
              <a:buChar char="•"/>
            </a:pPr>
            <a:r>
              <a:rPr lang="en-US" sz="2000" dirty="0"/>
              <a:t>Ensure </a:t>
            </a:r>
            <a:r>
              <a:rPr lang="en-US" sz="2000" b="1" dirty="0"/>
              <a:t>continuous integration (CI)</a:t>
            </a:r>
            <a:r>
              <a:rPr lang="en-US" sz="2000" dirty="0"/>
              <a:t> and </a:t>
            </a:r>
            <a:r>
              <a:rPr lang="en-US" sz="2000" b="1" dirty="0"/>
              <a:t>continuous delivery (CD)</a:t>
            </a:r>
            <a:r>
              <a:rPr lang="en-US" sz="2000" dirty="0"/>
              <a:t> practices are in place to streamline releases.</a:t>
            </a:r>
          </a:p>
          <a:p>
            <a:pPr marL="285750" indent="-285750">
              <a:buFont typeface="Arial" panose="020B0604020202020204" pitchFamily="34" charset="0"/>
              <a:buChar char="•"/>
            </a:pPr>
            <a:r>
              <a:rPr lang="en-US" sz="2000" b="1" dirty="0"/>
              <a:t>Track Lead Time</a:t>
            </a:r>
            <a:r>
              <a:rPr lang="en-US" sz="2000" dirty="0"/>
              <a:t>:</a:t>
            </a:r>
          </a:p>
          <a:p>
            <a:pPr marL="742950" lvl="1" indent="-285750">
              <a:buFont typeface="Arial" panose="020B0604020202020204" pitchFamily="34" charset="0"/>
              <a:buChar char="•"/>
            </a:pPr>
            <a:r>
              <a:rPr lang="en-US" sz="2000" dirty="0"/>
              <a:t>Use </a:t>
            </a:r>
            <a:r>
              <a:rPr lang="en-US" sz="2000" b="1" dirty="0"/>
              <a:t>metrics</a:t>
            </a:r>
            <a:r>
              <a:rPr lang="en-US" sz="2000" dirty="0"/>
              <a:t> to track lead time at different stages of the process. Look for trends and identify where you can make adjustments to speed up the process.</a:t>
            </a:r>
          </a:p>
          <a:p>
            <a:pPr marL="285750" indent="-285750">
              <a:buFont typeface="Arial" panose="020B0604020202020204" pitchFamily="34" charset="0"/>
              <a:buChar char="•"/>
            </a:pPr>
            <a:r>
              <a:rPr lang="en-US" sz="2000" b="1" dirty="0"/>
              <a:t>Improve Communication</a:t>
            </a:r>
            <a:r>
              <a:rPr lang="en-US" sz="2000" dirty="0"/>
              <a:t>:</a:t>
            </a:r>
          </a:p>
          <a:p>
            <a:pPr marL="742950" lvl="1" indent="-285750">
              <a:buFont typeface="Arial" panose="020B0604020202020204" pitchFamily="34" charset="0"/>
              <a:buChar char="•"/>
            </a:pPr>
            <a:r>
              <a:rPr lang="en-US" sz="2000" dirty="0"/>
              <a:t>Enhance communication across all teams involved to avoid delays due to misunderstandings or waiting for information. Daily standups and regular check-ins between teams can help reduce delays.</a:t>
            </a:r>
          </a:p>
          <a:p>
            <a:endParaRPr lang="en-US" sz="2000" dirty="0"/>
          </a:p>
        </p:txBody>
      </p:sp>
      <p:sp>
        <p:nvSpPr>
          <p:cNvPr id="4" name="Title 3">
            <a:extLst>
              <a:ext uri="{FF2B5EF4-FFF2-40B4-BE49-F238E27FC236}">
                <a16:creationId xmlns:a16="http://schemas.microsoft.com/office/drawing/2014/main" id="{EEC1C544-F5F8-3039-E70F-0D927BD34EEE}"/>
              </a:ext>
            </a:extLst>
          </p:cNvPr>
          <p:cNvSpPr>
            <a:spLocks noGrp="1"/>
          </p:cNvSpPr>
          <p:nvPr>
            <p:ph type="title"/>
          </p:nvPr>
        </p:nvSpPr>
        <p:spPr/>
        <p:txBody>
          <a:bodyPr/>
          <a:lstStyle/>
          <a:p>
            <a:r>
              <a:rPr lang="en-US" dirty="0"/>
              <a:t>Scenario 13: Managing Lead Time in a Large Project</a:t>
            </a:r>
          </a:p>
        </p:txBody>
      </p:sp>
    </p:spTree>
    <p:extLst>
      <p:ext uri="{BB962C8B-B14F-4D97-AF65-F5344CB8AC3E}">
        <p14:creationId xmlns:p14="http://schemas.microsoft.com/office/powerpoint/2010/main" val="22618180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8688526"/>
      </p:ext>
    </p:extLst>
  </p:cSld>
  <p:clrMapOvr>
    <a:masterClrMapping/>
  </p:clrMapOvr>
</p:sld>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51917</TotalTime>
  <Words>3503</Words>
  <Application>Microsoft Office PowerPoint</Application>
  <PresentationFormat>Widescreen</PresentationFormat>
  <Paragraphs>257</Paragraphs>
  <Slides>34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34</vt:i4>
      </vt:variant>
    </vt:vector>
  </HeadingPairs>
  <TitlesOfParts>
    <vt:vector size="45" baseType="lpstr">
      <vt:lpstr>Arial</vt:lpstr>
      <vt:lpstr>Arial Bold</vt:lpstr>
      <vt:lpstr>Calibri</vt:lpstr>
      <vt:lpstr>IBM Plex Sans</vt:lpstr>
      <vt:lpstr>IBM Plex Sans Light</vt:lpstr>
      <vt:lpstr>IBM Plex Sans SemiBold</vt:lpstr>
      <vt:lpstr>Saira Condensed Condensed Light</vt:lpstr>
      <vt:lpstr>Saira Condensed Condensed SemiBold</vt:lpstr>
      <vt:lpstr>System Font Regular</vt:lpstr>
      <vt:lpstr>Wingdings</vt:lpstr>
      <vt:lpstr>Office Theme</vt:lpstr>
      <vt:lpstr>SSW-555: Agile Methods for Software Development</vt:lpstr>
      <vt:lpstr>Scenario 1: Minimizing Waste in Software Development</vt:lpstr>
      <vt:lpstr>Scenario 1: Minimizing Waste in Software Development</vt:lpstr>
      <vt:lpstr>Scenario 2: Reducing Overproduction in Development</vt:lpstr>
      <vt:lpstr>Scenario 2: Reducing Overproduction in Development</vt:lpstr>
      <vt:lpstr>Scenario 3: Improving Development Speed Without Sacrificing Quality</vt:lpstr>
      <vt:lpstr>Scenario 3: Improving Development Speed Without Sacrificing Quality</vt:lpstr>
      <vt:lpstr>Scenario 4: Managing Changing Requirements Efficiently</vt:lpstr>
      <vt:lpstr>Scenario 4: Managing Changing Requirements Efficiently</vt:lpstr>
      <vt:lpstr>Scenario 5: Optimizing Communication and Collaboration</vt:lpstr>
      <vt:lpstr>Scenario 5: Optimizing Communication and Collaboration</vt:lpstr>
      <vt:lpstr>Scenario 6: Managing Technical Debt</vt:lpstr>
      <vt:lpstr>Scenario 6: Managing Technical Debt</vt:lpstr>
      <vt:lpstr>Scenario 7: Reducing Lead Time in Software Delivery</vt:lpstr>
      <vt:lpstr>Scenario 7: Reducing Lead Time in Software Delivery</vt:lpstr>
      <vt:lpstr>Scenario 8: Value Stream Mapping (VSM) in Software Development</vt:lpstr>
      <vt:lpstr>Scenario 8: Value Stream Mapping (VSM) in Software Development</vt:lpstr>
      <vt:lpstr>Scenario 8: Value Stream Mapping (VSM) in Software Development</vt:lpstr>
      <vt:lpstr>Scenario 9: Set-Based Development in Software Design</vt:lpstr>
      <vt:lpstr>Scenario 9: Set-Based Development in Software Design</vt:lpstr>
      <vt:lpstr>Scenario 9: Set-Based Development in Software Design</vt:lpstr>
      <vt:lpstr>Scenario 10: Pull Systems (Kanban) in Managing Workflow</vt:lpstr>
      <vt:lpstr>Scenario 10: Pull Systems (Kanban) in Managing Workflow</vt:lpstr>
      <vt:lpstr>Scenario 10: Pull Systems (Kanban) in Managing Workflow</vt:lpstr>
      <vt:lpstr>Scenario 11: Value Stream Mapping in a Multi-Team Development Environment</vt:lpstr>
      <vt:lpstr>Scenario 11: Value Stream Mapping in a Multi-Team Development Environment</vt:lpstr>
      <vt:lpstr>Scenario 11: Value Stream Mapping in a Multi-Team Development Environment</vt:lpstr>
      <vt:lpstr>Scenario 12: Reducing Cycle Time in Feature Development</vt:lpstr>
      <vt:lpstr>Scenario 12: Reducing Cycle Time in Feature Development</vt:lpstr>
      <vt:lpstr>Scenario 12: Reducing Cycle Time in Feature Development</vt:lpstr>
      <vt:lpstr>Scenario 13: Managing Lead Time in a Large Project</vt:lpstr>
      <vt:lpstr>Scenario 13: Managing Lead Time in a Large Project</vt:lpstr>
      <vt:lpstr>Scenario 13: Managing Lead Time in a Large Project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LOREM IPSUM DOLOR</dc:title>
  <dc:creator>Ivan Caro</dc:creator>
  <cp:lastModifiedBy>Nafiseh Ghorbani Renani</cp:lastModifiedBy>
  <cp:revision>363</cp:revision>
  <dcterms:created xsi:type="dcterms:W3CDTF">2022-11-18T01:51:09Z</dcterms:created>
  <dcterms:modified xsi:type="dcterms:W3CDTF">2025-03-11T19:12:50Z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1033-3.1.2.5330</vt:lpwstr>
  </property>
  <property fmtid="{D5CDD505-2E9C-101B-9397-08002B2CF9AE}" pid="3" name="MSIP_Label_a73fd474-4f3c-44ed-88fb-5cc4bd2471bf_Enabled">
    <vt:lpwstr>true</vt:lpwstr>
  </property>
  <property fmtid="{D5CDD505-2E9C-101B-9397-08002B2CF9AE}" pid="4" name="MSIP_Label_a73fd474-4f3c-44ed-88fb-5cc4bd2471bf_SetDate">
    <vt:lpwstr>2022-11-18T04:31:57Z</vt:lpwstr>
  </property>
  <property fmtid="{D5CDD505-2E9C-101B-9397-08002B2CF9AE}" pid="5" name="MSIP_Label_a73fd474-4f3c-44ed-88fb-5cc4bd2471bf_Method">
    <vt:lpwstr>Standard</vt:lpwstr>
  </property>
  <property fmtid="{D5CDD505-2E9C-101B-9397-08002B2CF9AE}" pid="6" name="MSIP_Label_a73fd474-4f3c-44ed-88fb-5cc4bd2471bf_Name">
    <vt:lpwstr>defa4170-0d19-0005-0004-bc88714345d2</vt:lpwstr>
  </property>
  <property fmtid="{D5CDD505-2E9C-101B-9397-08002B2CF9AE}" pid="7" name="MSIP_Label_a73fd474-4f3c-44ed-88fb-5cc4bd2471bf_SiteId">
    <vt:lpwstr>8d1a69ec-03b5-4345-ae21-dad112f5fb4f</vt:lpwstr>
  </property>
  <property fmtid="{D5CDD505-2E9C-101B-9397-08002B2CF9AE}" pid="8" name="MSIP_Label_a73fd474-4f3c-44ed-88fb-5cc4bd2471bf_ActionId">
    <vt:lpwstr>d8483dea-d78e-4bdd-b403-4d95796a875e</vt:lpwstr>
  </property>
  <property fmtid="{D5CDD505-2E9C-101B-9397-08002B2CF9AE}" pid="9" name="MSIP_Label_a73fd474-4f3c-44ed-88fb-5cc4bd2471bf_ContentBits">
    <vt:lpwstr>0</vt:lpwstr>
  </property>
</Properties>
</file>