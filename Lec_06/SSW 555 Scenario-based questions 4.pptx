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80" r:id="rId2"/>
    <p:sldId id="940" r:id="rId3"/>
    <p:sldId id="979" r:id="rId4"/>
    <p:sldId id="980" r:id="rId5"/>
    <p:sldId id="981" r:id="rId6"/>
    <p:sldId id="982" r:id="rId7"/>
    <p:sldId id="983" r:id="rId8"/>
    <p:sldId id="984" r:id="rId9"/>
    <p:sldId id="985" r:id="rId10"/>
    <p:sldId id="986" r:id="rId11"/>
    <p:sldId id="987" r:id="rId12"/>
    <p:sldId id="988" r:id="rId13"/>
    <p:sldId id="989" r:id="rId14"/>
    <p:sldId id="990" r:id="rId15"/>
    <p:sldId id="991" r:id="rId16"/>
    <p:sldId id="992" r:id="rId17"/>
    <p:sldId id="993" r:id="rId18"/>
    <p:sldId id="846" r:id="rId19"/>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4" autoAdjust="0"/>
    <p:restoredTop sz="72607" autoAdjust="0"/>
  </p:normalViewPr>
  <p:slideViewPr>
    <p:cSldViewPr snapToGrid="0" snapToObjects="1">
      <p:cViewPr varScale="1">
        <p:scale>
          <a:sx n="80" d="100"/>
          <a:sy n="80" d="100"/>
        </p:scale>
        <p:origin x="147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4" y="2504926"/>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7" y="4591375"/>
            <a:ext cx="7041743"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1" y="5690091"/>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16213" y="6342039"/>
            <a:ext cx="1114407"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3"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06273" y="6342039"/>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53" y="0"/>
            <a:ext cx="11893551" cy="6858000"/>
          </a:xfrm>
          <a:prstGeom prst="rect">
            <a:avLst/>
          </a:prstGeom>
        </p:spPr>
      </p:pic>
      <p:sp>
        <p:nvSpPr>
          <p:cNvPr id="10"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9" y="6362191"/>
            <a:ext cx="1084591"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15" name="TextBox 14"/>
          <p:cNvSpPr txBox="1"/>
          <p:nvPr userDrawn="1"/>
        </p:nvSpPr>
        <p:spPr>
          <a:xfrm>
            <a:off x="912816" y="1325695"/>
            <a:ext cx="4215776" cy="5135445"/>
          </a:xfrm>
          <a:prstGeom prst="rect">
            <a:avLst/>
          </a:prstGeom>
          <a:noFill/>
        </p:spPr>
        <p:txBody>
          <a:bodyPr wrap="square" rtlCol="0">
            <a:spAutoFit/>
          </a:bodyPr>
          <a:lstStyle/>
          <a:p>
            <a:r>
              <a:rPr lang="en-US" sz="1800" b="1" dirty="0">
                <a:latin typeface="IBM Plex Sans" panose="020B0503050203000203" pitchFamily="34" charset="0"/>
              </a:rPr>
              <a:t>INSTRUCTIONS TO REPLACE IMAGE:</a:t>
            </a:r>
          </a:p>
          <a:p>
            <a:endParaRPr lang="en-US" sz="1800" b="1" dirty="0">
              <a:latin typeface="IBM Plex Sans" panose="020B0503050203000203" pitchFamily="34" charset="0"/>
            </a:endParaRPr>
          </a:p>
          <a:p>
            <a:pPr marL="342891" indent="-342891">
              <a:lnSpc>
                <a:spcPct val="150000"/>
              </a:lnSpc>
              <a:buFont typeface="+mj-lt"/>
              <a:buAutoNum type="arabicPeriod"/>
            </a:pPr>
            <a:r>
              <a:rPr lang="en-US" sz="1400" b="0" dirty="0">
                <a:latin typeface="IBM Plex Sans" panose="020B0503050203000203" pitchFamily="34" charset="0"/>
              </a:rPr>
              <a:t>Go to View&gt;Slide Master</a:t>
            </a:r>
          </a:p>
          <a:p>
            <a:pPr marL="342891" indent="-342891">
              <a:lnSpc>
                <a:spcPct val="150000"/>
              </a:lnSpc>
              <a:buFont typeface="+mj-lt"/>
              <a:buAutoNum type="arabicPeriod"/>
            </a:pPr>
            <a:r>
              <a:rPr lang="en-US" sz="1400" b="0" dirty="0">
                <a:latin typeface="IBM Plex Sans" panose="020B0503050203000203" pitchFamily="34" charset="0"/>
              </a:rPr>
              <a:t>Locate this layout and duplicate it</a:t>
            </a:r>
          </a:p>
          <a:p>
            <a:pPr marL="342891" indent="-342891">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891" indent="-342891">
              <a:lnSpc>
                <a:spcPct val="150000"/>
              </a:lnSpc>
              <a:buFont typeface="+mj-lt"/>
              <a:buAutoNum type="arabicPeriod"/>
            </a:pPr>
            <a:r>
              <a:rPr lang="en-US" sz="1400" b="0" dirty="0">
                <a:latin typeface="IBM Plex Sans" panose="020B0503050203000203" pitchFamily="34" charset="0"/>
              </a:rPr>
              <a:t>Scroll to “Change Picture”</a:t>
            </a:r>
          </a:p>
          <a:p>
            <a:pPr marL="342891" indent="-342891">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891" indent="-342891">
              <a:lnSpc>
                <a:spcPct val="150000"/>
              </a:lnSpc>
              <a:buFont typeface="+mj-lt"/>
              <a:buAutoNum type="arabicPeriod"/>
            </a:pPr>
            <a:r>
              <a:rPr lang="en-US" sz="1400" b="0" dirty="0">
                <a:latin typeface="IBM Plex Sans" panose="020B0503050203000203" pitchFamily="34" charset="0"/>
              </a:rPr>
              <a:t>Select desired image</a:t>
            </a:r>
          </a:p>
          <a:p>
            <a:pPr marL="342891" indent="-342891">
              <a:lnSpc>
                <a:spcPct val="150000"/>
              </a:lnSpc>
              <a:buFont typeface="+mj-lt"/>
              <a:buAutoNum type="arabicPeriod"/>
            </a:pPr>
            <a:r>
              <a:rPr lang="en-US" sz="1400" b="0" dirty="0">
                <a:latin typeface="IBM Plex Sans" panose="020B0503050203000203" pitchFamily="34" charset="0"/>
              </a:rPr>
              <a:t>Resize and crop image as necessary</a:t>
            </a:r>
          </a:p>
          <a:p>
            <a:pPr marL="342891" indent="-342891">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891" indent="-342891">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title" hasCustomPrompt="1"/>
          </p:nvPr>
        </p:nvSpPr>
        <p:spPr>
          <a:xfrm>
            <a:off x="6617373" y="974043"/>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6" y="5394971"/>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594" indent="-228594">
              <a:defRPr/>
            </a:lvl1pPr>
            <a:lvl2pPr marL="502907" indent="-228594">
              <a:buSzPct val="100000"/>
              <a:buFont typeface="System Font Regular"/>
              <a:buChar char="-"/>
              <a:defRPr/>
            </a:lvl2pPr>
            <a:lvl3pPr marL="777221" indent="-228594">
              <a:buSzPct val="100000"/>
              <a:buFont typeface="System Font Regular"/>
              <a:buChar char="-"/>
              <a:defRPr/>
            </a:lvl3pPr>
            <a:lvl4pPr marL="1005815" indent="-228594">
              <a:buSzPct val="100000"/>
              <a:buFont typeface="System Font Regular"/>
              <a:buChar char="-"/>
              <a:defRPr/>
            </a:lvl4pPr>
            <a:lvl5pPr marL="1280128" indent="-228594">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5" y="2202880"/>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7"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7"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7"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7"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91"/>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45"/>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3"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3"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3"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34"/>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34"/>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3"/>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33"/>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3"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6" y="3144278"/>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6" y="5170424"/>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51520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5" y="365129"/>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5"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6"/>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4" r:id="rId24"/>
  </p:sldLayoutIdLst>
  <p:hf hdr="0" ftr="0"/>
  <p:txStyles>
    <p:titleStyle>
      <a:lvl1pPr algn="l" defTabSz="913742"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594" indent="-228594" algn="l" defTabSz="913742"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07" indent="-228594" algn="l" defTabSz="913742"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21"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15"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28" indent="-228594" algn="l" defTabSz="913742"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537"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726"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914"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103"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42" rtl="0" eaLnBrk="1" latinLnBrk="0" hangingPunct="1">
        <a:defRPr sz="1800" kern="1200">
          <a:solidFill>
            <a:schemeClr val="tx1"/>
          </a:solidFill>
          <a:latin typeface="+mn-lt"/>
          <a:ea typeface="+mn-ea"/>
          <a:cs typeface="+mn-cs"/>
        </a:defRPr>
      </a:lvl1pPr>
      <a:lvl2pPr marL="457189" algn="l" defTabSz="913742" rtl="0" eaLnBrk="1" latinLnBrk="0" hangingPunct="1">
        <a:defRPr sz="1800" kern="1200">
          <a:solidFill>
            <a:schemeClr val="tx1"/>
          </a:solidFill>
          <a:latin typeface="+mn-lt"/>
          <a:ea typeface="+mn-ea"/>
          <a:cs typeface="+mn-cs"/>
        </a:defRPr>
      </a:lvl2pPr>
      <a:lvl3pPr marL="914377" algn="l" defTabSz="913742" rtl="0" eaLnBrk="1" latinLnBrk="0" hangingPunct="1">
        <a:defRPr sz="1800" kern="1200">
          <a:solidFill>
            <a:schemeClr val="tx1"/>
          </a:solidFill>
          <a:latin typeface="+mn-lt"/>
          <a:ea typeface="+mn-ea"/>
          <a:cs typeface="+mn-cs"/>
        </a:defRPr>
      </a:lvl3pPr>
      <a:lvl4pPr marL="1371566" algn="l" defTabSz="913742" rtl="0" eaLnBrk="1" latinLnBrk="0" hangingPunct="1">
        <a:defRPr sz="1800" kern="1200">
          <a:solidFill>
            <a:schemeClr val="tx1"/>
          </a:solidFill>
          <a:latin typeface="+mn-lt"/>
          <a:ea typeface="+mn-ea"/>
          <a:cs typeface="+mn-cs"/>
        </a:defRPr>
      </a:lvl4pPr>
      <a:lvl5pPr marL="1828754" algn="l" defTabSz="913742" rtl="0" eaLnBrk="1" latinLnBrk="0" hangingPunct="1">
        <a:defRPr sz="1800" kern="1200">
          <a:solidFill>
            <a:schemeClr val="tx1"/>
          </a:solidFill>
          <a:latin typeface="+mn-lt"/>
          <a:ea typeface="+mn-ea"/>
          <a:cs typeface="+mn-cs"/>
        </a:defRPr>
      </a:lvl5pPr>
      <a:lvl6pPr marL="2285943" algn="l" defTabSz="913742" rtl="0" eaLnBrk="1" latinLnBrk="0" hangingPunct="1">
        <a:defRPr sz="1800" kern="1200">
          <a:solidFill>
            <a:schemeClr val="tx1"/>
          </a:solidFill>
          <a:latin typeface="+mn-lt"/>
          <a:ea typeface="+mn-ea"/>
          <a:cs typeface="+mn-cs"/>
        </a:defRPr>
      </a:lvl6pPr>
      <a:lvl7pPr marL="2743131" algn="l" defTabSz="913742" rtl="0" eaLnBrk="1" latinLnBrk="0" hangingPunct="1">
        <a:defRPr sz="1800" kern="1200">
          <a:solidFill>
            <a:schemeClr val="tx1"/>
          </a:solidFill>
          <a:latin typeface="+mn-lt"/>
          <a:ea typeface="+mn-ea"/>
          <a:cs typeface="+mn-cs"/>
        </a:defRPr>
      </a:lvl7pPr>
      <a:lvl8pPr marL="3200320" algn="l" defTabSz="913742" rtl="0" eaLnBrk="1" latinLnBrk="0" hangingPunct="1">
        <a:defRPr sz="1800" kern="1200">
          <a:solidFill>
            <a:schemeClr val="tx1"/>
          </a:solidFill>
          <a:latin typeface="+mn-lt"/>
          <a:ea typeface="+mn-ea"/>
          <a:cs typeface="+mn-cs"/>
        </a:defRPr>
      </a:lvl8pPr>
      <a:lvl9pPr marL="3657509" algn="l" defTabSz="913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rPr>
              <a:t>Scenario-based </a:t>
            </a:r>
            <a:r>
              <a:rPr lang="en-US" sz="3200" b="1">
                <a:latin typeface="Arial Bold" panose="020B0604020202090204" charset="0"/>
              </a:rPr>
              <a:t>questions 4</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8A9A4-25EA-78A9-2A9C-E746AFFF2904}"/>
              </a:ext>
            </a:extLst>
          </p:cNvPr>
          <p:cNvSpPr>
            <a:spLocks noGrp="1"/>
          </p:cNvSpPr>
          <p:nvPr>
            <p:ph type="sldNum" sz="quarter" idx="13"/>
          </p:nvPr>
        </p:nvSpPr>
        <p:spPr/>
        <p:txBody>
          <a:bodyPr/>
          <a:lstStyle/>
          <a:p>
            <a:fld id="{12342C3A-DD85-7843-B416-BD52AB030D59}" type="slidenum">
              <a:rPr lang="en-US" smtClean="0"/>
              <a:pPr/>
              <a:t>2</a:t>
            </a:fld>
            <a:endParaRPr lang="en-US" dirty="0"/>
          </a:p>
        </p:txBody>
      </p:sp>
      <p:sp>
        <p:nvSpPr>
          <p:cNvPr id="3" name="Text Placeholder 2">
            <a:extLst>
              <a:ext uri="{FF2B5EF4-FFF2-40B4-BE49-F238E27FC236}">
                <a16:creationId xmlns:a16="http://schemas.microsoft.com/office/drawing/2014/main" id="{8973CC4F-820B-7586-B9BA-208F083DE618}"/>
              </a:ext>
            </a:extLst>
          </p:cNvPr>
          <p:cNvSpPr>
            <a:spLocks noGrp="1"/>
          </p:cNvSpPr>
          <p:nvPr>
            <p:ph type="body" sz="quarter" idx="12"/>
          </p:nvPr>
        </p:nvSpPr>
        <p:spPr/>
        <p:txBody>
          <a:bodyPr>
            <a:normAutofit/>
          </a:bodyPr>
          <a:lstStyle/>
          <a:p>
            <a:r>
              <a:rPr lang="en-US" sz="2400" dirty="0"/>
              <a:t>You are working on a legacy application where a single function is handling multiple tasks, such as processing payments, sending emails, and updating user accounts. The function is over 200 lines long, and it's becoming difficult to maintain and test.</a:t>
            </a:r>
          </a:p>
          <a:p>
            <a:pPr marL="742950" lvl="1" indent="-285750">
              <a:buFont typeface="Arial" panose="020B0604020202020204" pitchFamily="34" charset="0"/>
              <a:buChar char="•"/>
            </a:pPr>
            <a:r>
              <a:rPr lang="en-US" sz="2400" dirty="0"/>
              <a:t>How would you refactor this function to improve its maintainability and testability?</a:t>
            </a:r>
          </a:p>
          <a:p>
            <a:pPr marL="742950" lvl="1" indent="-285750">
              <a:buFont typeface="Arial" panose="020B0604020202020204" pitchFamily="34" charset="0"/>
              <a:buChar char="•"/>
            </a:pPr>
            <a:r>
              <a:rPr lang="en-US" sz="2400" dirty="0"/>
              <a:t>What steps would you take to ensure that the functionality remains unchanged after refactoring?</a:t>
            </a:r>
          </a:p>
        </p:txBody>
      </p:sp>
      <p:sp>
        <p:nvSpPr>
          <p:cNvPr id="4" name="Title 3">
            <a:extLst>
              <a:ext uri="{FF2B5EF4-FFF2-40B4-BE49-F238E27FC236}">
                <a16:creationId xmlns:a16="http://schemas.microsoft.com/office/drawing/2014/main" id="{CD80AB5C-E24C-7B7F-F5B4-8B8C3C1D42D9}"/>
              </a:ext>
            </a:extLst>
          </p:cNvPr>
          <p:cNvSpPr>
            <a:spLocks noGrp="1"/>
          </p:cNvSpPr>
          <p:nvPr>
            <p:ph type="title"/>
          </p:nvPr>
        </p:nvSpPr>
        <p:spPr/>
        <p:txBody>
          <a:bodyPr/>
          <a:lstStyle/>
          <a:p>
            <a:r>
              <a:rPr lang="en-US" dirty="0"/>
              <a:t>Scenario 1: Refactoring</a:t>
            </a:r>
          </a:p>
        </p:txBody>
      </p:sp>
    </p:spTree>
    <p:extLst>
      <p:ext uri="{BB962C8B-B14F-4D97-AF65-F5344CB8AC3E}">
        <p14:creationId xmlns:p14="http://schemas.microsoft.com/office/powerpoint/2010/main" val="3321895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660E58-DF03-36C8-2AAA-DDFDE7CF8F61}"/>
              </a:ext>
            </a:extLst>
          </p:cNvPr>
          <p:cNvSpPr>
            <a:spLocks noGrp="1"/>
          </p:cNvSpPr>
          <p:nvPr>
            <p:ph type="sldNum" sz="quarter" idx="13"/>
          </p:nvPr>
        </p:nvSpPr>
        <p:spPr/>
        <p:txBody>
          <a:bodyPr/>
          <a:lstStyle/>
          <a:p>
            <a:fld id="{12342C3A-DD85-7843-B416-BD52AB030D59}" type="slidenum">
              <a:rPr lang="en-US" smtClean="0"/>
              <a:pPr/>
              <a:t>3</a:t>
            </a:fld>
            <a:endParaRPr lang="en-US" dirty="0"/>
          </a:p>
        </p:txBody>
      </p:sp>
      <p:sp>
        <p:nvSpPr>
          <p:cNvPr id="3" name="Text Placeholder 2">
            <a:extLst>
              <a:ext uri="{FF2B5EF4-FFF2-40B4-BE49-F238E27FC236}">
                <a16:creationId xmlns:a16="http://schemas.microsoft.com/office/drawing/2014/main" id="{06ED6E41-46E9-07FD-C41C-33A13F78F36E}"/>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400" b="1" dirty="0"/>
              <a:t>Identify Single Responsibility Principle (SRP): </a:t>
            </a:r>
            <a:r>
              <a:rPr lang="en-US" sz="2400" dirty="0"/>
              <a:t>Break the function into smaller functions, each handling a single responsibility (e.g., one function for payment processing, another for email sending, and one for user account updates).</a:t>
            </a:r>
          </a:p>
          <a:p>
            <a:pPr marL="342900" indent="-342900">
              <a:buFont typeface="Arial" panose="020B0604020202020204" pitchFamily="34" charset="0"/>
              <a:buChar char="•"/>
            </a:pPr>
            <a:r>
              <a:rPr lang="en-US" sz="2400" b="1" dirty="0"/>
              <a:t>Write Unit Tests: </a:t>
            </a:r>
            <a:r>
              <a:rPr lang="en-US" sz="2400" dirty="0"/>
              <a:t>Before refactoring, write unit tests for the function to ensure it behaves correctly.</a:t>
            </a:r>
          </a:p>
          <a:p>
            <a:pPr marL="342900" indent="-342900">
              <a:buFont typeface="Arial" panose="020B0604020202020204" pitchFamily="34" charset="0"/>
              <a:buChar char="•"/>
            </a:pPr>
            <a:r>
              <a:rPr lang="en-US" sz="2400" b="1" dirty="0"/>
              <a:t>Refactor Gradually: </a:t>
            </a:r>
            <a:r>
              <a:rPr lang="en-US" sz="2400" dirty="0"/>
              <a:t>Refactor one part at a time and run tests frequently to ensure no regressions.</a:t>
            </a:r>
          </a:p>
          <a:p>
            <a:endParaRPr lang="en-US" sz="2400" b="1" dirty="0"/>
          </a:p>
          <a:p>
            <a:r>
              <a:rPr lang="en-US" sz="2400" b="1" dirty="0"/>
              <a:t>Benefits: </a:t>
            </a:r>
          </a:p>
          <a:p>
            <a:pPr marL="800100" lvl="1" indent="-342900">
              <a:buFont typeface="Arial" panose="020B0604020202020204" pitchFamily="34" charset="0"/>
              <a:buChar char="•"/>
            </a:pPr>
            <a:r>
              <a:rPr lang="en-US" sz="2000" dirty="0"/>
              <a:t>Easier to maintain and modify.</a:t>
            </a:r>
          </a:p>
          <a:p>
            <a:pPr marL="800100" lvl="1" indent="-342900">
              <a:buFont typeface="Arial" panose="020B0604020202020204" pitchFamily="34" charset="0"/>
              <a:buChar char="•"/>
            </a:pPr>
            <a:r>
              <a:rPr lang="en-US" sz="2000" dirty="0"/>
              <a:t>More modular code that can be reused.</a:t>
            </a:r>
          </a:p>
          <a:p>
            <a:pPr marL="800100" lvl="1" indent="-342900">
              <a:buFont typeface="Arial" panose="020B0604020202020204" pitchFamily="34" charset="0"/>
              <a:buChar char="•"/>
            </a:pPr>
            <a:r>
              <a:rPr lang="en-US" sz="2000" dirty="0"/>
              <a:t>Better test coverage with smaller functions.</a:t>
            </a:r>
          </a:p>
        </p:txBody>
      </p:sp>
      <p:sp>
        <p:nvSpPr>
          <p:cNvPr id="4" name="Title 3">
            <a:extLst>
              <a:ext uri="{FF2B5EF4-FFF2-40B4-BE49-F238E27FC236}">
                <a16:creationId xmlns:a16="http://schemas.microsoft.com/office/drawing/2014/main" id="{BD2AB27D-9509-3741-CF90-F491ECC4EF0C}"/>
              </a:ext>
            </a:extLst>
          </p:cNvPr>
          <p:cNvSpPr>
            <a:spLocks noGrp="1"/>
          </p:cNvSpPr>
          <p:nvPr>
            <p:ph type="title"/>
          </p:nvPr>
        </p:nvSpPr>
        <p:spPr/>
        <p:txBody>
          <a:bodyPr/>
          <a:lstStyle/>
          <a:p>
            <a:r>
              <a:rPr lang="en-US" dirty="0"/>
              <a:t>Scenario 1: Refactoring</a:t>
            </a:r>
          </a:p>
        </p:txBody>
      </p:sp>
    </p:spTree>
    <p:extLst>
      <p:ext uri="{BB962C8B-B14F-4D97-AF65-F5344CB8AC3E}">
        <p14:creationId xmlns:p14="http://schemas.microsoft.com/office/powerpoint/2010/main" val="391041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C6C70A-BCA9-B0BC-FD1A-CC74066040AD}"/>
              </a:ext>
            </a:extLst>
          </p:cNvPr>
          <p:cNvSpPr>
            <a:spLocks noGrp="1"/>
          </p:cNvSpPr>
          <p:nvPr>
            <p:ph type="sldNum" sz="quarter" idx="13"/>
          </p:nvPr>
        </p:nvSpPr>
        <p:spPr/>
        <p:txBody>
          <a:bodyPr/>
          <a:lstStyle/>
          <a:p>
            <a:fld id="{12342C3A-DD85-7843-B416-BD52AB030D59}" type="slidenum">
              <a:rPr lang="en-US" smtClean="0"/>
              <a:pPr/>
              <a:t>4</a:t>
            </a:fld>
            <a:endParaRPr lang="en-US" dirty="0"/>
          </a:p>
        </p:txBody>
      </p:sp>
      <p:sp>
        <p:nvSpPr>
          <p:cNvPr id="3" name="Text Placeholder 2">
            <a:extLst>
              <a:ext uri="{FF2B5EF4-FFF2-40B4-BE49-F238E27FC236}">
                <a16:creationId xmlns:a16="http://schemas.microsoft.com/office/drawing/2014/main" id="{6ED20242-B93D-2F84-50F8-B64D7968A858}"/>
              </a:ext>
            </a:extLst>
          </p:cNvPr>
          <p:cNvSpPr>
            <a:spLocks noGrp="1"/>
          </p:cNvSpPr>
          <p:nvPr>
            <p:ph type="body" sz="quarter" idx="12"/>
          </p:nvPr>
        </p:nvSpPr>
        <p:spPr/>
        <p:txBody>
          <a:bodyPr>
            <a:normAutofit/>
          </a:bodyPr>
          <a:lstStyle/>
          <a:p>
            <a:r>
              <a:rPr lang="en-US" sz="2400" dirty="0"/>
              <a:t>Your team has a tight deadline for a new feature release. In the rush, your team decides to hard-code sensitive configuration values, like API keys and database URLs, directly into the source code. While it saves time, it might cause issues later.</a:t>
            </a:r>
          </a:p>
          <a:p>
            <a:pPr marL="800100" lvl="1" indent="-342900">
              <a:buFont typeface="Arial" panose="020B0604020202020204" pitchFamily="34" charset="0"/>
              <a:buChar char="•"/>
            </a:pPr>
            <a:r>
              <a:rPr lang="en-US" sz="2400" dirty="0"/>
              <a:t>How would you address this technical debt in future iterations of the project?</a:t>
            </a:r>
          </a:p>
          <a:p>
            <a:pPr marL="800100" lvl="1" indent="-342900">
              <a:buFont typeface="Arial" panose="020B0604020202020204" pitchFamily="34" charset="0"/>
              <a:buChar char="•"/>
            </a:pPr>
            <a:r>
              <a:rPr lang="en-US" sz="2400" dirty="0"/>
              <a:t>What are the risks of leaving hard-coded values in the codebase?</a:t>
            </a:r>
          </a:p>
        </p:txBody>
      </p:sp>
      <p:sp>
        <p:nvSpPr>
          <p:cNvPr id="4" name="Title 3">
            <a:extLst>
              <a:ext uri="{FF2B5EF4-FFF2-40B4-BE49-F238E27FC236}">
                <a16:creationId xmlns:a16="http://schemas.microsoft.com/office/drawing/2014/main" id="{F59F56A8-6EDF-1B5C-2360-F1C6B3B57325}"/>
              </a:ext>
            </a:extLst>
          </p:cNvPr>
          <p:cNvSpPr>
            <a:spLocks noGrp="1"/>
          </p:cNvSpPr>
          <p:nvPr>
            <p:ph type="title"/>
          </p:nvPr>
        </p:nvSpPr>
        <p:spPr/>
        <p:txBody>
          <a:bodyPr/>
          <a:lstStyle/>
          <a:p>
            <a:r>
              <a:rPr lang="en-US" dirty="0"/>
              <a:t>Scenario 2: Technical Debt</a:t>
            </a:r>
          </a:p>
        </p:txBody>
      </p:sp>
    </p:spTree>
    <p:extLst>
      <p:ext uri="{BB962C8B-B14F-4D97-AF65-F5344CB8AC3E}">
        <p14:creationId xmlns:p14="http://schemas.microsoft.com/office/powerpoint/2010/main" val="3647086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D455A6-8ABF-BC41-DF30-97EE4CF5F6A4}"/>
              </a:ext>
            </a:extLst>
          </p:cNvPr>
          <p:cNvSpPr>
            <a:spLocks noGrp="1"/>
          </p:cNvSpPr>
          <p:nvPr>
            <p:ph type="sldNum" sz="quarter" idx="13"/>
          </p:nvPr>
        </p:nvSpPr>
        <p:spPr/>
        <p:txBody>
          <a:bodyPr/>
          <a:lstStyle/>
          <a:p>
            <a:fld id="{12342C3A-DD85-7843-B416-BD52AB030D59}" type="slidenum">
              <a:rPr lang="en-US" smtClean="0"/>
              <a:pPr/>
              <a:t>5</a:t>
            </a:fld>
            <a:endParaRPr lang="en-US" dirty="0"/>
          </a:p>
        </p:txBody>
      </p:sp>
      <p:sp>
        <p:nvSpPr>
          <p:cNvPr id="3" name="Text Placeholder 2">
            <a:extLst>
              <a:ext uri="{FF2B5EF4-FFF2-40B4-BE49-F238E27FC236}">
                <a16:creationId xmlns:a16="http://schemas.microsoft.com/office/drawing/2014/main" id="{E435FE77-DBDC-2BDF-C594-597632108FA2}"/>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400" b="1" dirty="0"/>
              <a:t>Externalize Configuration: </a:t>
            </a:r>
            <a:r>
              <a:rPr lang="en-US" sz="2400" dirty="0"/>
              <a:t>Move hard-coded values to configuration files or environment variables, ensuring sensitive data is not exposed in the codebase.</a:t>
            </a:r>
          </a:p>
          <a:p>
            <a:pPr marL="342900" indent="-342900">
              <a:buFont typeface="Arial" panose="020B0604020202020204" pitchFamily="34" charset="0"/>
              <a:buChar char="•"/>
            </a:pPr>
            <a:r>
              <a:rPr lang="en-US" sz="2400" b="1" dirty="0"/>
              <a:t>Use Environment Variables: </a:t>
            </a:r>
            <a:r>
              <a:rPr lang="en-US" sz="2400" dirty="0"/>
              <a:t>For security, use environment-specific configurations (e.g., .env files, or platform-specific secret management).</a:t>
            </a:r>
          </a:p>
          <a:p>
            <a:pPr marL="342900" indent="-342900">
              <a:buFont typeface="Arial" panose="020B0604020202020204" pitchFamily="34" charset="0"/>
              <a:buChar char="•"/>
            </a:pPr>
            <a:r>
              <a:rPr lang="en-US" sz="2400" b="1" dirty="0"/>
              <a:t>Create a Refactoring Plan: </a:t>
            </a:r>
            <a:r>
              <a:rPr lang="en-US" sz="2400" dirty="0"/>
              <a:t>Schedule time in upcoming sprints to gradually replace hard-coded values with better solutions.</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b="1" dirty="0"/>
              <a:t>Benefits</a:t>
            </a:r>
            <a:r>
              <a:rPr lang="en-US" sz="2400" dirty="0"/>
              <a:t>:</a:t>
            </a:r>
          </a:p>
          <a:p>
            <a:pPr marL="800100" lvl="1" indent="-342900">
              <a:buFont typeface="Arial" panose="020B0604020202020204" pitchFamily="34" charset="0"/>
              <a:buChar char="•"/>
            </a:pPr>
            <a:r>
              <a:rPr lang="en-US" sz="2000" dirty="0"/>
              <a:t>Reduces security risks (e.g., exposing API keys).</a:t>
            </a:r>
          </a:p>
          <a:p>
            <a:pPr marL="800100" lvl="1" indent="-342900">
              <a:buFont typeface="Arial" panose="020B0604020202020204" pitchFamily="34" charset="0"/>
              <a:buChar char="•"/>
            </a:pPr>
            <a:r>
              <a:rPr lang="en-US" sz="2000" dirty="0"/>
              <a:t>Makes the codebase more flexible and portable.</a:t>
            </a:r>
          </a:p>
          <a:p>
            <a:pPr marL="800100" lvl="1" indent="-342900">
              <a:buFont typeface="Arial" panose="020B0604020202020204" pitchFamily="34" charset="0"/>
              <a:buChar char="•"/>
            </a:pPr>
            <a:r>
              <a:rPr lang="en-US" sz="2000" dirty="0"/>
              <a:t>Eases the process of updating configurations.</a:t>
            </a:r>
          </a:p>
          <a:p>
            <a:endParaRPr lang="en-US" sz="2400" dirty="0"/>
          </a:p>
        </p:txBody>
      </p:sp>
      <p:sp>
        <p:nvSpPr>
          <p:cNvPr id="4" name="Title 3">
            <a:extLst>
              <a:ext uri="{FF2B5EF4-FFF2-40B4-BE49-F238E27FC236}">
                <a16:creationId xmlns:a16="http://schemas.microsoft.com/office/drawing/2014/main" id="{09E86AF3-B885-54E5-84A2-71CE5B7D3E83}"/>
              </a:ext>
            </a:extLst>
          </p:cNvPr>
          <p:cNvSpPr>
            <a:spLocks noGrp="1"/>
          </p:cNvSpPr>
          <p:nvPr>
            <p:ph type="title"/>
          </p:nvPr>
        </p:nvSpPr>
        <p:spPr/>
        <p:txBody>
          <a:bodyPr/>
          <a:lstStyle/>
          <a:p>
            <a:r>
              <a:rPr lang="en-US" dirty="0"/>
              <a:t>Scenario 2: Technical Debt</a:t>
            </a:r>
          </a:p>
        </p:txBody>
      </p:sp>
    </p:spTree>
    <p:extLst>
      <p:ext uri="{BB962C8B-B14F-4D97-AF65-F5344CB8AC3E}">
        <p14:creationId xmlns:p14="http://schemas.microsoft.com/office/powerpoint/2010/main" val="205120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E31C5-EF9F-BCF2-3587-85AD0FC7C39A}"/>
              </a:ext>
            </a:extLst>
          </p:cNvPr>
          <p:cNvSpPr>
            <a:spLocks noGrp="1"/>
          </p:cNvSpPr>
          <p:nvPr>
            <p:ph type="sldNum" sz="quarter" idx="13"/>
          </p:nvPr>
        </p:nvSpPr>
        <p:spPr/>
        <p:txBody>
          <a:bodyPr/>
          <a:lstStyle/>
          <a:p>
            <a:fld id="{12342C3A-DD85-7843-B416-BD52AB030D59}" type="slidenum">
              <a:rPr lang="en-US" smtClean="0"/>
              <a:pPr/>
              <a:t>6</a:t>
            </a:fld>
            <a:endParaRPr lang="en-US" dirty="0"/>
          </a:p>
        </p:txBody>
      </p:sp>
      <p:sp>
        <p:nvSpPr>
          <p:cNvPr id="3" name="Text Placeholder 2">
            <a:extLst>
              <a:ext uri="{FF2B5EF4-FFF2-40B4-BE49-F238E27FC236}">
                <a16:creationId xmlns:a16="http://schemas.microsoft.com/office/drawing/2014/main" id="{46C84E62-6FC0-E7CB-DF73-DD7B6281A784}"/>
              </a:ext>
            </a:extLst>
          </p:cNvPr>
          <p:cNvSpPr>
            <a:spLocks noGrp="1"/>
          </p:cNvSpPr>
          <p:nvPr>
            <p:ph type="body" sz="quarter" idx="12"/>
          </p:nvPr>
        </p:nvSpPr>
        <p:spPr/>
        <p:txBody>
          <a:bodyPr>
            <a:normAutofit/>
          </a:bodyPr>
          <a:lstStyle/>
          <a:p>
            <a:r>
              <a:rPr lang="en-US" sz="2400" dirty="0"/>
              <a:t>You come across a method in the codebase that is becoming overly complex. It has more than 200 lines of code and handles multiple tasks, such as input validation, output formatting, and database updates, all within one function.</a:t>
            </a:r>
          </a:p>
          <a:p>
            <a:pPr marL="800100" lvl="1" indent="-342900">
              <a:buFont typeface="Arial" panose="020B0604020202020204" pitchFamily="34" charset="0"/>
              <a:buChar char="•"/>
            </a:pPr>
            <a:r>
              <a:rPr lang="en-US" sz="2400" dirty="0"/>
              <a:t>What “bad smell” do you identify in this method?</a:t>
            </a:r>
          </a:p>
          <a:p>
            <a:pPr marL="800100" lvl="1" indent="-342900">
              <a:buFont typeface="Arial" panose="020B0604020202020204" pitchFamily="34" charset="0"/>
              <a:buChar char="•"/>
            </a:pPr>
            <a:r>
              <a:rPr lang="en-US" sz="2400" dirty="0"/>
              <a:t>How would you improve this method to make it more manageable and maintainable?</a:t>
            </a:r>
          </a:p>
          <a:p>
            <a:pPr marL="800100" lvl="1" indent="-342900">
              <a:buFont typeface="Arial" panose="020B0604020202020204" pitchFamily="34" charset="0"/>
              <a:buChar char="•"/>
            </a:pPr>
            <a:r>
              <a:rPr lang="en-US" sz="2400" dirty="0"/>
              <a:t>What would be the impact of leaving it as-is?</a:t>
            </a:r>
          </a:p>
        </p:txBody>
      </p:sp>
      <p:sp>
        <p:nvSpPr>
          <p:cNvPr id="4" name="Title 3">
            <a:extLst>
              <a:ext uri="{FF2B5EF4-FFF2-40B4-BE49-F238E27FC236}">
                <a16:creationId xmlns:a16="http://schemas.microsoft.com/office/drawing/2014/main" id="{69C73946-4CB1-370D-5F20-28AF772B4609}"/>
              </a:ext>
            </a:extLst>
          </p:cNvPr>
          <p:cNvSpPr>
            <a:spLocks noGrp="1"/>
          </p:cNvSpPr>
          <p:nvPr>
            <p:ph type="title"/>
          </p:nvPr>
        </p:nvSpPr>
        <p:spPr/>
        <p:txBody>
          <a:bodyPr/>
          <a:lstStyle/>
          <a:p>
            <a:r>
              <a:rPr lang="en-US" dirty="0"/>
              <a:t>Scenario 3: Bad Smells in Code</a:t>
            </a:r>
          </a:p>
        </p:txBody>
      </p:sp>
    </p:spTree>
    <p:extLst>
      <p:ext uri="{BB962C8B-B14F-4D97-AF65-F5344CB8AC3E}">
        <p14:creationId xmlns:p14="http://schemas.microsoft.com/office/powerpoint/2010/main" val="2476115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FA6BF9-6AAE-9A7A-45C5-A4BFF0BE12CF}"/>
              </a:ext>
            </a:extLst>
          </p:cNvPr>
          <p:cNvSpPr>
            <a:spLocks noGrp="1"/>
          </p:cNvSpPr>
          <p:nvPr>
            <p:ph type="sldNum" sz="quarter" idx="13"/>
          </p:nvPr>
        </p:nvSpPr>
        <p:spPr/>
        <p:txBody>
          <a:bodyPr/>
          <a:lstStyle/>
          <a:p>
            <a:fld id="{12342C3A-DD85-7843-B416-BD52AB030D59}" type="slidenum">
              <a:rPr lang="en-US" smtClean="0"/>
              <a:pPr/>
              <a:t>7</a:t>
            </a:fld>
            <a:endParaRPr lang="en-US" dirty="0"/>
          </a:p>
        </p:txBody>
      </p:sp>
      <p:sp>
        <p:nvSpPr>
          <p:cNvPr id="3" name="Text Placeholder 2">
            <a:extLst>
              <a:ext uri="{FF2B5EF4-FFF2-40B4-BE49-F238E27FC236}">
                <a16:creationId xmlns:a16="http://schemas.microsoft.com/office/drawing/2014/main" id="{B1EDAC35-F759-59D0-7BBC-A71C467C10C8}"/>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400" b="1" dirty="0"/>
              <a:t>Bad Smell Identified: </a:t>
            </a:r>
            <a:r>
              <a:rPr lang="en-US" sz="2400" dirty="0"/>
              <a:t>Long Method with Multiple Responsibilities.</a:t>
            </a:r>
          </a:p>
          <a:p>
            <a:pPr marL="342900" indent="-342900">
              <a:buFont typeface="Arial" panose="020B0604020202020204" pitchFamily="34" charset="0"/>
              <a:buChar char="•"/>
            </a:pPr>
            <a:r>
              <a:rPr lang="en-US" sz="2400" b="1" dirty="0"/>
              <a:t>Refactor into Smaller Functions: </a:t>
            </a:r>
            <a:r>
              <a:rPr lang="en-US" sz="2400" dirty="0"/>
              <a:t>Break the method into smaller, single-purpose functions (e.g., one for validation, another for formatting, and one for updating the database).</a:t>
            </a:r>
          </a:p>
          <a:p>
            <a:pPr marL="342900" indent="-342900">
              <a:buFont typeface="Arial" panose="020B0604020202020204" pitchFamily="34" charset="0"/>
              <a:buChar char="•"/>
            </a:pPr>
            <a:r>
              <a:rPr lang="en-US" sz="2400" b="1" dirty="0"/>
              <a:t>Use Meaningful Names: </a:t>
            </a:r>
            <a:r>
              <a:rPr lang="en-US" sz="2400" dirty="0"/>
              <a:t>Ensure each method is clearly named to reflect its responsibility, which makes the code easier to understand.</a:t>
            </a:r>
          </a:p>
          <a:p>
            <a:r>
              <a:rPr lang="en-US" sz="2400" b="1" dirty="0"/>
              <a:t>Benefits:</a:t>
            </a:r>
          </a:p>
          <a:p>
            <a:pPr marL="800100" lvl="1" indent="-342900">
              <a:buFont typeface="Arial" panose="020B0604020202020204" pitchFamily="34" charset="0"/>
              <a:buChar char="•"/>
            </a:pPr>
            <a:r>
              <a:rPr lang="en-US" sz="2000" dirty="0"/>
              <a:t>Easier to test and maintain.</a:t>
            </a:r>
          </a:p>
          <a:p>
            <a:pPr marL="800100" lvl="1" indent="-342900">
              <a:buFont typeface="Arial" panose="020B0604020202020204" pitchFamily="34" charset="0"/>
              <a:buChar char="•"/>
            </a:pPr>
            <a:r>
              <a:rPr lang="en-US" sz="2000" dirty="0"/>
              <a:t>Reduces the likelihood of errors when making changes.</a:t>
            </a:r>
          </a:p>
          <a:p>
            <a:pPr marL="800100" lvl="1" indent="-342900">
              <a:buFont typeface="Arial" panose="020B0604020202020204" pitchFamily="34" charset="0"/>
              <a:buChar char="•"/>
            </a:pPr>
            <a:r>
              <a:rPr lang="en-US" sz="2000" dirty="0"/>
              <a:t>Makes the code more readable and understandable to other developers.</a:t>
            </a:r>
          </a:p>
        </p:txBody>
      </p:sp>
      <p:sp>
        <p:nvSpPr>
          <p:cNvPr id="4" name="Title 3">
            <a:extLst>
              <a:ext uri="{FF2B5EF4-FFF2-40B4-BE49-F238E27FC236}">
                <a16:creationId xmlns:a16="http://schemas.microsoft.com/office/drawing/2014/main" id="{67B9B8DD-8F63-FFA2-EBDC-CACAD61777CE}"/>
              </a:ext>
            </a:extLst>
          </p:cNvPr>
          <p:cNvSpPr>
            <a:spLocks noGrp="1"/>
          </p:cNvSpPr>
          <p:nvPr>
            <p:ph type="title"/>
          </p:nvPr>
        </p:nvSpPr>
        <p:spPr/>
        <p:txBody>
          <a:bodyPr/>
          <a:lstStyle/>
          <a:p>
            <a:r>
              <a:rPr lang="en-US" dirty="0"/>
              <a:t>Scenario 3: Bad Smells in Code</a:t>
            </a:r>
          </a:p>
        </p:txBody>
      </p:sp>
    </p:spTree>
    <p:extLst>
      <p:ext uri="{BB962C8B-B14F-4D97-AF65-F5344CB8AC3E}">
        <p14:creationId xmlns:p14="http://schemas.microsoft.com/office/powerpoint/2010/main" val="158110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D75A72-8CE6-08F4-4C67-665074A76317}"/>
              </a:ext>
            </a:extLst>
          </p:cNvPr>
          <p:cNvSpPr>
            <a:spLocks noGrp="1"/>
          </p:cNvSpPr>
          <p:nvPr>
            <p:ph type="sldNum" sz="quarter" idx="13"/>
          </p:nvPr>
        </p:nvSpPr>
        <p:spPr/>
        <p:txBody>
          <a:bodyPr/>
          <a:lstStyle/>
          <a:p>
            <a:fld id="{12342C3A-DD85-7843-B416-BD52AB030D59}" type="slidenum">
              <a:rPr lang="en-US" smtClean="0"/>
              <a:pPr/>
              <a:t>8</a:t>
            </a:fld>
            <a:endParaRPr lang="en-US" dirty="0"/>
          </a:p>
        </p:txBody>
      </p:sp>
      <p:sp>
        <p:nvSpPr>
          <p:cNvPr id="3" name="Text Placeholder 2">
            <a:extLst>
              <a:ext uri="{FF2B5EF4-FFF2-40B4-BE49-F238E27FC236}">
                <a16:creationId xmlns:a16="http://schemas.microsoft.com/office/drawing/2014/main" id="{EF1C8EE0-7343-EF2F-E829-DA1020C07208}"/>
              </a:ext>
            </a:extLst>
          </p:cNvPr>
          <p:cNvSpPr>
            <a:spLocks noGrp="1"/>
          </p:cNvSpPr>
          <p:nvPr>
            <p:ph type="body" sz="quarter" idx="12"/>
          </p:nvPr>
        </p:nvSpPr>
        <p:spPr/>
        <p:txBody>
          <a:bodyPr>
            <a:normAutofit/>
          </a:bodyPr>
          <a:lstStyle/>
          <a:p>
            <a:r>
              <a:rPr lang="en-US" sz="2400" dirty="0"/>
              <a:t>Your team notices that the same block of code for user input validation appears in several places across the application. Each time the validation logic changes, multiple locations need to be updated.</a:t>
            </a:r>
          </a:p>
          <a:p>
            <a:pPr marL="800100" lvl="1" indent="-342900">
              <a:buFont typeface="Arial" panose="020B0604020202020204" pitchFamily="34" charset="0"/>
              <a:buChar char="•"/>
            </a:pPr>
            <a:r>
              <a:rPr lang="en-US" sz="2400" dirty="0"/>
              <a:t>What is the “bad smell” in this case?</a:t>
            </a:r>
          </a:p>
          <a:p>
            <a:pPr marL="800100" lvl="1" indent="-342900">
              <a:buFont typeface="Arial" panose="020B0604020202020204" pitchFamily="34" charset="0"/>
              <a:buChar char="•"/>
            </a:pPr>
            <a:r>
              <a:rPr lang="en-US" sz="2400" dirty="0"/>
              <a:t>How would you refactor the code to eliminate this duplication?</a:t>
            </a:r>
          </a:p>
          <a:p>
            <a:pPr marL="800100" lvl="1" indent="-342900">
              <a:buFont typeface="Arial" panose="020B0604020202020204" pitchFamily="34" charset="0"/>
              <a:buChar char="•"/>
            </a:pPr>
            <a:r>
              <a:rPr lang="en-US" sz="2400" dirty="0"/>
              <a:t>What are the benefits of doing this?</a:t>
            </a:r>
          </a:p>
        </p:txBody>
      </p:sp>
      <p:sp>
        <p:nvSpPr>
          <p:cNvPr id="4" name="Title 3">
            <a:extLst>
              <a:ext uri="{FF2B5EF4-FFF2-40B4-BE49-F238E27FC236}">
                <a16:creationId xmlns:a16="http://schemas.microsoft.com/office/drawing/2014/main" id="{109FD9E1-B571-C7FB-E92B-E14DE396DFC4}"/>
              </a:ext>
            </a:extLst>
          </p:cNvPr>
          <p:cNvSpPr>
            <a:spLocks noGrp="1"/>
          </p:cNvSpPr>
          <p:nvPr>
            <p:ph type="title"/>
          </p:nvPr>
        </p:nvSpPr>
        <p:spPr/>
        <p:txBody>
          <a:bodyPr/>
          <a:lstStyle/>
          <a:p>
            <a:r>
              <a:rPr lang="en-US" dirty="0"/>
              <a:t>Scenario 4: Duplicate Code (Bad Smell)</a:t>
            </a:r>
          </a:p>
        </p:txBody>
      </p:sp>
    </p:spTree>
    <p:extLst>
      <p:ext uri="{BB962C8B-B14F-4D97-AF65-F5344CB8AC3E}">
        <p14:creationId xmlns:p14="http://schemas.microsoft.com/office/powerpoint/2010/main" val="3135085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62A630-D722-3B63-5178-DDA69CCC0556}"/>
              </a:ext>
            </a:extLst>
          </p:cNvPr>
          <p:cNvSpPr>
            <a:spLocks noGrp="1"/>
          </p:cNvSpPr>
          <p:nvPr>
            <p:ph type="sldNum" sz="quarter" idx="13"/>
          </p:nvPr>
        </p:nvSpPr>
        <p:spPr/>
        <p:txBody>
          <a:bodyPr/>
          <a:lstStyle/>
          <a:p>
            <a:fld id="{12342C3A-DD85-7843-B416-BD52AB030D59}" type="slidenum">
              <a:rPr lang="en-US" smtClean="0"/>
              <a:pPr/>
              <a:t>9</a:t>
            </a:fld>
            <a:endParaRPr lang="en-US" dirty="0"/>
          </a:p>
        </p:txBody>
      </p:sp>
      <p:sp>
        <p:nvSpPr>
          <p:cNvPr id="3" name="Text Placeholder 2">
            <a:extLst>
              <a:ext uri="{FF2B5EF4-FFF2-40B4-BE49-F238E27FC236}">
                <a16:creationId xmlns:a16="http://schemas.microsoft.com/office/drawing/2014/main" id="{89DC7A27-C4DA-6A60-1BFE-FF76E2C798A5}"/>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400" b="1" dirty="0"/>
              <a:t>Bad Smell Identified: </a:t>
            </a:r>
            <a:r>
              <a:rPr lang="en-US" sz="2400" dirty="0"/>
              <a:t>Duplicate Code.</a:t>
            </a:r>
          </a:p>
          <a:p>
            <a:pPr marL="342900" indent="-342900">
              <a:buFont typeface="Arial" panose="020B0604020202020204" pitchFamily="34" charset="0"/>
              <a:buChar char="•"/>
            </a:pPr>
            <a:r>
              <a:rPr lang="en-US" sz="2400" b="1" dirty="0"/>
              <a:t>Centralize the Validation Logic</a:t>
            </a:r>
            <a:r>
              <a:rPr lang="en-US" sz="2400" dirty="0"/>
              <a:t>: Create a single validation function or class that can be used across multiple parts of the application.</a:t>
            </a:r>
          </a:p>
          <a:p>
            <a:pPr marL="342900" indent="-342900">
              <a:buFont typeface="Arial" panose="020B0604020202020204" pitchFamily="34" charset="0"/>
              <a:buChar char="•"/>
            </a:pPr>
            <a:r>
              <a:rPr lang="en-US" sz="2400" b="1" dirty="0"/>
              <a:t>Use Utility Functions or Libraries: </a:t>
            </a:r>
            <a:r>
              <a:rPr lang="en-US" sz="2400" dirty="0"/>
              <a:t>If possible, use or create a reusable validation library or service.</a:t>
            </a:r>
          </a:p>
          <a:p>
            <a:endParaRPr lang="en-US" sz="2400" b="1" dirty="0"/>
          </a:p>
          <a:p>
            <a:r>
              <a:rPr lang="en-US" sz="2400" b="1" dirty="0"/>
              <a:t>Benefits:</a:t>
            </a:r>
          </a:p>
          <a:p>
            <a:pPr marL="800100" lvl="1" indent="-342900">
              <a:buFont typeface="Arial" panose="020B0604020202020204" pitchFamily="34" charset="0"/>
              <a:buChar char="•"/>
            </a:pPr>
            <a:r>
              <a:rPr lang="en-US" sz="2000" dirty="0"/>
              <a:t>Reduces code duplication, making the code easier to maintain and update.</a:t>
            </a:r>
          </a:p>
          <a:p>
            <a:pPr marL="800100" lvl="1" indent="-342900">
              <a:buFont typeface="Arial" panose="020B0604020202020204" pitchFamily="34" charset="0"/>
              <a:buChar char="•"/>
            </a:pPr>
            <a:r>
              <a:rPr lang="en-US" sz="2000" dirty="0"/>
              <a:t>Less risk of inconsistencies in validation logic.</a:t>
            </a:r>
          </a:p>
          <a:p>
            <a:pPr marL="800100" lvl="1" indent="-342900">
              <a:buFont typeface="Arial" panose="020B0604020202020204" pitchFamily="34" charset="0"/>
              <a:buChar char="•"/>
            </a:pPr>
            <a:r>
              <a:rPr lang="en-US" sz="2000" dirty="0"/>
              <a:t>Changes to the validation logic only need to be made in one place.</a:t>
            </a:r>
          </a:p>
        </p:txBody>
      </p:sp>
      <p:sp>
        <p:nvSpPr>
          <p:cNvPr id="4" name="Title 3">
            <a:extLst>
              <a:ext uri="{FF2B5EF4-FFF2-40B4-BE49-F238E27FC236}">
                <a16:creationId xmlns:a16="http://schemas.microsoft.com/office/drawing/2014/main" id="{72E1EB54-0C87-AE62-4DB8-F2E8CA8ECBF1}"/>
              </a:ext>
            </a:extLst>
          </p:cNvPr>
          <p:cNvSpPr>
            <a:spLocks noGrp="1"/>
          </p:cNvSpPr>
          <p:nvPr>
            <p:ph type="title"/>
          </p:nvPr>
        </p:nvSpPr>
        <p:spPr/>
        <p:txBody>
          <a:bodyPr/>
          <a:lstStyle/>
          <a:p>
            <a:r>
              <a:rPr lang="en-US" dirty="0"/>
              <a:t>Scenario 4: Duplicate Code (Bad Smell)</a:t>
            </a:r>
          </a:p>
        </p:txBody>
      </p:sp>
    </p:spTree>
    <p:extLst>
      <p:ext uri="{BB962C8B-B14F-4D97-AF65-F5344CB8AC3E}">
        <p14:creationId xmlns:p14="http://schemas.microsoft.com/office/powerpoint/2010/main" val="3120641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27458C-98D7-D10B-6A3C-0681F239E5C3}"/>
              </a:ext>
            </a:extLst>
          </p:cNvPr>
          <p:cNvSpPr>
            <a:spLocks noGrp="1"/>
          </p:cNvSpPr>
          <p:nvPr>
            <p:ph type="sldNum" sz="quarter" idx="13"/>
          </p:nvPr>
        </p:nvSpPr>
        <p:spPr/>
        <p:txBody>
          <a:bodyPr/>
          <a:lstStyle/>
          <a:p>
            <a:fld id="{12342C3A-DD85-7843-B416-BD52AB030D59}" type="slidenum">
              <a:rPr lang="en-US" smtClean="0"/>
              <a:pPr/>
              <a:t>10</a:t>
            </a:fld>
            <a:endParaRPr lang="en-US" dirty="0"/>
          </a:p>
        </p:txBody>
      </p:sp>
      <p:sp>
        <p:nvSpPr>
          <p:cNvPr id="3" name="Text Placeholder 2">
            <a:extLst>
              <a:ext uri="{FF2B5EF4-FFF2-40B4-BE49-F238E27FC236}">
                <a16:creationId xmlns:a16="http://schemas.microsoft.com/office/drawing/2014/main" id="{FB945534-B354-0AC4-EC11-1D364D2E6AB0}"/>
              </a:ext>
            </a:extLst>
          </p:cNvPr>
          <p:cNvSpPr>
            <a:spLocks noGrp="1"/>
          </p:cNvSpPr>
          <p:nvPr>
            <p:ph type="body" sz="quarter" idx="12"/>
          </p:nvPr>
        </p:nvSpPr>
        <p:spPr/>
        <p:txBody>
          <a:bodyPr>
            <a:normAutofit/>
          </a:bodyPr>
          <a:lstStyle/>
          <a:p>
            <a:r>
              <a:rPr lang="en-US" sz="2400" dirty="0"/>
              <a:t>One of the developers in your team is highly focused on delivering features quickly but often overlooks the long-term implications of their code, such as scalability and maintainability. As a result, the codebase is becoming harder to manage, and technical debt is accumulating.</a:t>
            </a:r>
          </a:p>
          <a:p>
            <a:pPr marL="800100" lvl="1" indent="-342900">
              <a:buFont typeface="Arial" panose="020B0604020202020204" pitchFamily="34" charset="0"/>
              <a:buChar char="•"/>
            </a:pPr>
            <a:r>
              <a:rPr lang="en-US" sz="2400" dirty="0"/>
              <a:t>How would you encourage this developer to balance both the </a:t>
            </a:r>
            <a:r>
              <a:rPr lang="en-US" sz="2400" b="1" dirty="0"/>
              <a:t>Developer's Hat</a:t>
            </a:r>
            <a:r>
              <a:rPr lang="en-US" sz="2400" dirty="0"/>
              <a:t> and the </a:t>
            </a:r>
            <a:r>
              <a:rPr lang="en-US" sz="2400" b="1" dirty="0"/>
              <a:t>Architect's Hat</a:t>
            </a:r>
            <a:r>
              <a:rPr lang="en-US" sz="2400" dirty="0"/>
              <a:t>?</a:t>
            </a:r>
          </a:p>
          <a:p>
            <a:pPr marL="800100" lvl="1" indent="-342900">
              <a:buFont typeface="Arial" panose="020B0604020202020204" pitchFamily="34" charset="0"/>
              <a:buChar char="•"/>
            </a:pPr>
            <a:r>
              <a:rPr lang="en-US" sz="2400" dirty="0"/>
              <a:t>What steps can the team take to ensure both short-term feature delivery and long-term code health?</a:t>
            </a:r>
          </a:p>
        </p:txBody>
      </p:sp>
      <p:sp>
        <p:nvSpPr>
          <p:cNvPr id="4" name="Title 3">
            <a:extLst>
              <a:ext uri="{FF2B5EF4-FFF2-40B4-BE49-F238E27FC236}">
                <a16:creationId xmlns:a16="http://schemas.microsoft.com/office/drawing/2014/main" id="{CDDB1506-2D34-F7DB-ACD2-DBBA5858E5B1}"/>
              </a:ext>
            </a:extLst>
          </p:cNvPr>
          <p:cNvSpPr>
            <a:spLocks noGrp="1"/>
          </p:cNvSpPr>
          <p:nvPr>
            <p:ph type="title"/>
          </p:nvPr>
        </p:nvSpPr>
        <p:spPr/>
        <p:txBody>
          <a:bodyPr/>
          <a:lstStyle/>
          <a:p>
            <a:r>
              <a:rPr lang="en-US" dirty="0"/>
              <a:t>Scenario 5: Two Hats Metaphor</a:t>
            </a:r>
          </a:p>
        </p:txBody>
      </p:sp>
    </p:spTree>
    <p:extLst>
      <p:ext uri="{BB962C8B-B14F-4D97-AF65-F5344CB8AC3E}">
        <p14:creationId xmlns:p14="http://schemas.microsoft.com/office/powerpoint/2010/main" val="2800056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F51171-C14A-A9CC-5C44-37000983D9F8}"/>
              </a:ext>
            </a:extLst>
          </p:cNvPr>
          <p:cNvSpPr>
            <a:spLocks noGrp="1"/>
          </p:cNvSpPr>
          <p:nvPr>
            <p:ph type="sldNum" sz="quarter" idx="13"/>
          </p:nvPr>
        </p:nvSpPr>
        <p:spPr/>
        <p:txBody>
          <a:bodyPr/>
          <a:lstStyle/>
          <a:p>
            <a:fld id="{12342C3A-DD85-7843-B416-BD52AB030D59}" type="slidenum">
              <a:rPr lang="en-US" smtClean="0"/>
              <a:pPr/>
              <a:t>11</a:t>
            </a:fld>
            <a:endParaRPr lang="en-US" dirty="0"/>
          </a:p>
        </p:txBody>
      </p:sp>
      <p:sp>
        <p:nvSpPr>
          <p:cNvPr id="3" name="Text Placeholder 2">
            <a:extLst>
              <a:ext uri="{FF2B5EF4-FFF2-40B4-BE49-F238E27FC236}">
                <a16:creationId xmlns:a16="http://schemas.microsoft.com/office/drawing/2014/main" id="{6D24F625-2604-5426-1896-02D0347C7AD9}"/>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000" b="1" dirty="0"/>
              <a:t>Encourage Both Perspectives: </a:t>
            </a:r>
            <a:r>
              <a:rPr lang="en-US" sz="2000" dirty="0"/>
              <a:t>Remind the developer to consider both </a:t>
            </a:r>
            <a:r>
              <a:rPr lang="en-US" sz="2000" b="1" dirty="0"/>
              <a:t>feature development </a:t>
            </a:r>
            <a:r>
              <a:rPr lang="en-US" sz="2000" dirty="0"/>
              <a:t>and </a:t>
            </a:r>
            <a:r>
              <a:rPr lang="en-US" sz="2000" b="1" dirty="0"/>
              <a:t>code quality</a:t>
            </a:r>
            <a:r>
              <a:rPr lang="en-US" sz="2000" dirty="0"/>
              <a:t>. They should not only aim for quick delivery but also ensure scalability, maintainability, and testing.</a:t>
            </a:r>
          </a:p>
          <a:p>
            <a:pPr marL="342900" indent="-342900">
              <a:buFont typeface="Arial" panose="020B0604020202020204" pitchFamily="34" charset="0"/>
              <a:buChar char="•"/>
            </a:pPr>
            <a:r>
              <a:rPr lang="en-US" sz="2000" b="1" dirty="0"/>
              <a:t>Pair Programming: </a:t>
            </a:r>
            <a:r>
              <a:rPr lang="en-US" sz="2000" dirty="0"/>
              <a:t>Pair the developer with an architect or senior developer to help them consider both immediate and long-term needs.</a:t>
            </a:r>
          </a:p>
          <a:p>
            <a:pPr marL="342900" indent="-342900">
              <a:buFont typeface="Arial" panose="020B0604020202020204" pitchFamily="34" charset="0"/>
              <a:buChar char="•"/>
            </a:pPr>
            <a:r>
              <a:rPr lang="en-US" sz="2000" b="1" dirty="0"/>
              <a:t>Create Coding Guidelines: </a:t>
            </a:r>
            <a:r>
              <a:rPr lang="en-US" sz="2000" dirty="0"/>
              <a:t>Develop coding standards and best practices that emphasize maintainability and long-term scalability.</a:t>
            </a:r>
          </a:p>
          <a:p>
            <a:pPr marL="342900" indent="-342900">
              <a:buFont typeface="Arial" panose="020B0604020202020204" pitchFamily="34" charset="0"/>
              <a:buChar char="•"/>
            </a:pPr>
            <a:r>
              <a:rPr lang="en-US" sz="2000" b="1" dirty="0"/>
              <a:t>Code Reviews: </a:t>
            </a:r>
            <a:r>
              <a:rPr lang="en-US" sz="2000" dirty="0"/>
              <a:t>Ensure regular code reviews to check for both functionality and long-term maintainability.</a:t>
            </a:r>
          </a:p>
          <a:p>
            <a:r>
              <a:rPr lang="en-US" sz="2000" b="1" dirty="0"/>
              <a:t>Benefits:</a:t>
            </a:r>
          </a:p>
          <a:p>
            <a:pPr marL="800100" lvl="1" indent="-342900">
              <a:buFont typeface="Arial" panose="020B0604020202020204" pitchFamily="34" charset="0"/>
              <a:buChar char="•"/>
            </a:pPr>
            <a:r>
              <a:rPr lang="en-US" sz="2000" dirty="0"/>
              <a:t>Helps balance short-term productivity with long-term code quality.</a:t>
            </a:r>
          </a:p>
          <a:p>
            <a:pPr marL="800100" lvl="1" indent="-342900">
              <a:buFont typeface="Arial" panose="020B0604020202020204" pitchFamily="34" charset="0"/>
              <a:buChar char="•"/>
            </a:pPr>
            <a:r>
              <a:rPr lang="en-US" sz="2000" dirty="0"/>
              <a:t>Reduces the risk of creating hard-to-maintain, fragile code.</a:t>
            </a:r>
          </a:p>
          <a:p>
            <a:pPr marL="800100" lvl="1" indent="-342900">
              <a:buFont typeface="Arial" panose="020B0604020202020204" pitchFamily="34" charset="0"/>
              <a:buChar char="•"/>
            </a:pPr>
            <a:r>
              <a:rPr lang="en-US" sz="2000" dirty="0"/>
              <a:t>Builds a culture where developers understand the impact of their work on the overall system.</a:t>
            </a:r>
          </a:p>
        </p:txBody>
      </p:sp>
      <p:sp>
        <p:nvSpPr>
          <p:cNvPr id="4" name="Title 3">
            <a:extLst>
              <a:ext uri="{FF2B5EF4-FFF2-40B4-BE49-F238E27FC236}">
                <a16:creationId xmlns:a16="http://schemas.microsoft.com/office/drawing/2014/main" id="{9406B06C-8F3F-E0B2-C06B-883C2FC9CDCF}"/>
              </a:ext>
            </a:extLst>
          </p:cNvPr>
          <p:cNvSpPr>
            <a:spLocks noGrp="1"/>
          </p:cNvSpPr>
          <p:nvPr>
            <p:ph type="title"/>
          </p:nvPr>
        </p:nvSpPr>
        <p:spPr/>
        <p:txBody>
          <a:bodyPr/>
          <a:lstStyle/>
          <a:p>
            <a:r>
              <a:rPr lang="en-US" dirty="0"/>
              <a:t>Scenario 5: Two Hats Metaphor</a:t>
            </a:r>
          </a:p>
        </p:txBody>
      </p:sp>
    </p:spTree>
    <p:extLst>
      <p:ext uri="{BB962C8B-B14F-4D97-AF65-F5344CB8AC3E}">
        <p14:creationId xmlns:p14="http://schemas.microsoft.com/office/powerpoint/2010/main" val="2045099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122C8D-70A7-A72E-038D-7A0358B272B9}"/>
              </a:ext>
            </a:extLst>
          </p:cNvPr>
          <p:cNvSpPr>
            <a:spLocks noGrp="1"/>
          </p:cNvSpPr>
          <p:nvPr>
            <p:ph type="sldNum" sz="quarter" idx="13"/>
          </p:nvPr>
        </p:nvSpPr>
        <p:spPr/>
        <p:txBody>
          <a:bodyPr/>
          <a:lstStyle/>
          <a:p>
            <a:fld id="{12342C3A-DD85-7843-B416-BD52AB030D59}" type="slidenum">
              <a:rPr lang="en-US" smtClean="0"/>
              <a:pPr/>
              <a:t>12</a:t>
            </a:fld>
            <a:endParaRPr lang="en-US" dirty="0"/>
          </a:p>
        </p:txBody>
      </p:sp>
      <p:sp>
        <p:nvSpPr>
          <p:cNvPr id="3" name="Text Placeholder 2">
            <a:extLst>
              <a:ext uri="{FF2B5EF4-FFF2-40B4-BE49-F238E27FC236}">
                <a16:creationId xmlns:a16="http://schemas.microsoft.com/office/drawing/2014/main" id="{E1B75B50-49B7-6945-E3F1-73D0F7415830}"/>
              </a:ext>
            </a:extLst>
          </p:cNvPr>
          <p:cNvSpPr>
            <a:spLocks noGrp="1"/>
          </p:cNvSpPr>
          <p:nvPr>
            <p:ph type="body" sz="quarter" idx="12"/>
          </p:nvPr>
        </p:nvSpPr>
        <p:spPr/>
        <p:txBody>
          <a:bodyPr>
            <a:normAutofit/>
          </a:bodyPr>
          <a:lstStyle/>
          <a:p>
            <a:r>
              <a:rPr lang="en-US" sz="2400" dirty="0"/>
              <a:t>You come across an algorithm in the codebase that has excessive nesting, complicated conditionals, and is difficult to understand. This algorithm processes user data, but it has become hard to debug and extend.</a:t>
            </a:r>
          </a:p>
          <a:p>
            <a:pPr marL="800100" lvl="1" indent="-342900">
              <a:buFont typeface="Arial" panose="020B0604020202020204" pitchFamily="34" charset="0"/>
              <a:buChar char="•"/>
            </a:pPr>
            <a:r>
              <a:rPr lang="en-US" sz="2400" dirty="0"/>
              <a:t>What “bad smell” does this algorithm exhibit?</a:t>
            </a:r>
          </a:p>
          <a:p>
            <a:pPr marL="800100" lvl="1" indent="-342900">
              <a:buFont typeface="Arial" panose="020B0604020202020204" pitchFamily="34" charset="0"/>
              <a:buChar char="•"/>
            </a:pPr>
            <a:r>
              <a:rPr lang="en-US" sz="2400" dirty="0"/>
              <a:t>How would you simplify the code to make it more understandable and maintainable?</a:t>
            </a:r>
          </a:p>
          <a:p>
            <a:pPr marL="800100" lvl="1" indent="-342900">
              <a:buFont typeface="Arial" panose="020B0604020202020204" pitchFamily="34" charset="0"/>
              <a:buChar char="•"/>
            </a:pPr>
            <a:r>
              <a:rPr lang="en-US" sz="2400" dirty="0"/>
              <a:t>What are the risks of leaving it as-is?</a:t>
            </a:r>
          </a:p>
        </p:txBody>
      </p:sp>
      <p:sp>
        <p:nvSpPr>
          <p:cNvPr id="4" name="Title 3">
            <a:extLst>
              <a:ext uri="{FF2B5EF4-FFF2-40B4-BE49-F238E27FC236}">
                <a16:creationId xmlns:a16="http://schemas.microsoft.com/office/drawing/2014/main" id="{2B04EF8C-B943-E252-14EB-CE114A390BB3}"/>
              </a:ext>
            </a:extLst>
          </p:cNvPr>
          <p:cNvSpPr>
            <a:spLocks noGrp="1"/>
          </p:cNvSpPr>
          <p:nvPr>
            <p:ph type="title"/>
          </p:nvPr>
        </p:nvSpPr>
        <p:spPr/>
        <p:txBody>
          <a:bodyPr/>
          <a:lstStyle/>
          <a:p>
            <a:r>
              <a:rPr lang="en-US" dirty="0"/>
              <a:t>Scenario 6: Overcomplicated Code (Bad Smell)</a:t>
            </a:r>
          </a:p>
        </p:txBody>
      </p:sp>
    </p:spTree>
    <p:extLst>
      <p:ext uri="{BB962C8B-B14F-4D97-AF65-F5344CB8AC3E}">
        <p14:creationId xmlns:p14="http://schemas.microsoft.com/office/powerpoint/2010/main" val="3261909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8FEED0-6439-2D22-C7A8-34556EE30227}"/>
              </a:ext>
            </a:extLst>
          </p:cNvPr>
          <p:cNvSpPr>
            <a:spLocks noGrp="1"/>
          </p:cNvSpPr>
          <p:nvPr>
            <p:ph type="sldNum" sz="quarter" idx="13"/>
          </p:nvPr>
        </p:nvSpPr>
        <p:spPr/>
        <p:txBody>
          <a:bodyPr/>
          <a:lstStyle/>
          <a:p>
            <a:fld id="{12342C3A-DD85-7843-B416-BD52AB030D59}" type="slidenum">
              <a:rPr lang="en-US" smtClean="0"/>
              <a:pPr/>
              <a:t>13</a:t>
            </a:fld>
            <a:endParaRPr lang="en-US" dirty="0"/>
          </a:p>
        </p:txBody>
      </p:sp>
      <p:sp>
        <p:nvSpPr>
          <p:cNvPr id="3" name="Text Placeholder 2">
            <a:extLst>
              <a:ext uri="{FF2B5EF4-FFF2-40B4-BE49-F238E27FC236}">
                <a16:creationId xmlns:a16="http://schemas.microsoft.com/office/drawing/2014/main" id="{4D8945AF-8027-5594-ED0F-2FA2006A9471}"/>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000" b="1" dirty="0"/>
              <a:t>Bad Smell Identified: </a:t>
            </a:r>
            <a:r>
              <a:rPr lang="en-US" sz="2000" dirty="0"/>
              <a:t>Overcomplicated Code with Excessive Nesting and Conditionals.</a:t>
            </a:r>
          </a:p>
          <a:p>
            <a:pPr marL="342900" indent="-342900">
              <a:buFont typeface="Arial" panose="020B0604020202020204" pitchFamily="34" charset="0"/>
              <a:buChar char="•"/>
            </a:pPr>
            <a:r>
              <a:rPr lang="en-US" sz="2000" b="1" dirty="0"/>
              <a:t>Refactor the Algorithm: </a:t>
            </a:r>
            <a:r>
              <a:rPr lang="en-US" sz="2000" dirty="0"/>
              <a:t>Break down the logic into smaller, easier-to-understand methods or functions.</a:t>
            </a:r>
          </a:p>
          <a:p>
            <a:pPr marL="800100" lvl="1" indent="-342900">
              <a:buFont typeface="Arial" panose="020B0604020202020204" pitchFamily="34" charset="0"/>
              <a:buChar char="•"/>
            </a:pPr>
            <a:r>
              <a:rPr lang="en-US" sz="2000" dirty="0"/>
              <a:t>Use </a:t>
            </a:r>
            <a:r>
              <a:rPr lang="en-US" sz="2000" b="1" dirty="0"/>
              <a:t>guard clauses </a:t>
            </a:r>
            <a:r>
              <a:rPr lang="en-US" sz="2000" dirty="0"/>
              <a:t>to reduce nesting.</a:t>
            </a:r>
          </a:p>
          <a:p>
            <a:pPr marL="800100" lvl="1" indent="-342900">
              <a:buFont typeface="Arial" panose="020B0604020202020204" pitchFamily="34" charset="0"/>
              <a:buChar char="•"/>
            </a:pPr>
            <a:r>
              <a:rPr lang="en-US" sz="2000" dirty="0"/>
              <a:t>Remove unnecessary conditionals by simplifying the logic or using more suitable data structures.</a:t>
            </a:r>
          </a:p>
          <a:p>
            <a:pPr marL="342900" indent="-342900">
              <a:buFont typeface="Arial" panose="020B0604020202020204" pitchFamily="34" charset="0"/>
              <a:buChar char="•"/>
            </a:pPr>
            <a:r>
              <a:rPr lang="en-US" sz="2000" b="1" dirty="0"/>
              <a:t>Test after Refactoring</a:t>
            </a:r>
            <a:r>
              <a:rPr lang="en-US" sz="2000" dirty="0"/>
              <a:t>: Ensure that unit tests are created or updated to confirm the logic remains correct after changes.</a:t>
            </a:r>
          </a:p>
          <a:p>
            <a:r>
              <a:rPr lang="en-US" sz="2000" b="1" dirty="0"/>
              <a:t>Benefits:</a:t>
            </a:r>
          </a:p>
          <a:p>
            <a:pPr marL="800100" lvl="1" indent="-342900">
              <a:buFont typeface="Arial" panose="020B0604020202020204" pitchFamily="34" charset="0"/>
              <a:buChar char="•"/>
            </a:pPr>
            <a:r>
              <a:rPr lang="en-US" sz="2000" dirty="0"/>
              <a:t>Easier to understand, debug, and extend.</a:t>
            </a:r>
          </a:p>
          <a:p>
            <a:pPr marL="800100" lvl="1" indent="-342900">
              <a:buFont typeface="Arial" panose="020B0604020202020204" pitchFamily="34" charset="0"/>
              <a:buChar char="•"/>
            </a:pPr>
            <a:r>
              <a:rPr lang="en-US" sz="2000" dirty="0"/>
              <a:t>More maintainable and adaptable to changes.</a:t>
            </a:r>
          </a:p>
          <a:p>
            <a:pPr marL="800100" lvl="1" indent="-342900">
              <a:buFont typeface="Arial" panose="020B0604020202020204" pitchFamily="34" charset="0"/>
              <a:buChar char="•"/>
            </a:pPr>
            <a:r>
              <a:rPr lang="en-US" sz="2000" dirty="0"/>
              <a:t>Reduces the likelihood of introducing errors in the future.</a:t>
            </a:r>
          </a:p>
        </p:txBody>
      </p:sp>
      <p:sp>
        <p:nvSpPr>
          <p:cNvPr id="4" name="Title 3">
            <a:extLst>
              <a:ext uri="{FF2B5EF4-FFF2-40B4-BE49-F238E27FC236}">
                <a16:creationId xmlns:a16="http://schemas.microsoft.com/office/drawing/2014/main" id="{462FEF5F-63FF-8444-7163-31FF6A1885FB}"/>
              </a:ext>
            </a:extLst>
          </p:cNvPr>
          <p:cNvSpPr>
            <a:spLocks noGrp="1"/>
          </p:cNvSpPr>
          <p:nvPr>
            <p:ph type="title"/>
          </p:nvPr>
        </p:nvSpPr>
        <p:spPr/>
        <p:txBody>
          <a:bodyPr/>
          <a:lstStyle/>
          <a:p>
            <a:r>
              <a:rPr lang="en-US" dirty="0"/>
              <a:t>Scenario 6: Overcomplicated Code (Bad Smell)</a:t>
            </a:r>
          </a:p>
        </p:txBody>
      </p:sp>
    </p:spTree>
    <p:extLst>
      <p:ext uri="{BB962C8B-B14F-4D97-AF65-F5344CB8AC3E}">
        <p14:creationId xmlns:p14="http://schemas.microsoft.com/office/powerpoint/2010/main" val="912352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594FEF-8BA3-636D-77A9-0E5CC3F24FB0}"/>
              </a:ext>
            </a:extLst>
          </p:cNvPr>
          <p:cNvSpPr>
            <a:spLocks noGrp="1"/>
          </p:cNvSpPr>
          <p:nvPr>
            <p:ph type="sldNum" sz="quarter" idx="13"/>
          </p:nvPr>
        </p:nvSpPr>
        <p:spPr/>
        <p:txBody>
          <a:bodyPr/>
          <a:lstStyle/>
          <a:p>
            <a:fld id="{12342C3A-DD85-7843-B416-BD52AB030D59}" type="slidenum">
              <a:rPr lang="en-US" smtClean="0"/>
              <a:pPr/>
              <a:t>14</a:t>
            </a:fld>
            <a:endParaRPr lang="en-US" dirty="0"/>
          </a:p>
        </p:txBody>
      </p:sp>
      <p:sp>
        <p:nvSpPr>
          <p:cNvPr id="3" name="Text Placeholder 2">
            <a:extLst>
              <a:ext uri="{FF2B5EF4-FFF2-40B4-BE49-F238E27FC236}">
                <a16:creationId xmlns:a16="http://schemas.microsoft.com/office/drawing/2014/main" id="{29540F55-52A0-5280-95A3-036153360940}"/>
              </a:ext>
            </a:extLst>
          </p:cNvPr>
          <p:cNvSpPr>
            <a:spLocks noGrp="1"/>
          </p:cNvSpPr>
          <p:nvPr>
            <p:ph type="body" sz="quarter" idx="12"/>
          </p:nvPr>
        </p:nvSpPr>
        <p:spPr/>
        <p:txBody>
          <a:bodyPr>
            <a:normAutofit/>
          </a:bodyPr>
          <a:lstStyle/>
          <a:p>
            <a:r>
              <a:rPr lang="en-US" sz="2400" dirty="0"/>
              <a:t>In the middle of a sprint, your team decides to take shortcuts to meet an important deadline. These shortcuts include skipping tests and using quick-and-dirty solutions that are hard to maintain. Now, the code is more difficult to manage, and technical debt is piling up.</a:t>
            </a:r>
          </a:p>
          <a:p>
            <a:pPr marL="800100" lvl="1" indent="-342900">
              <a:buFont typeface="Arial" panose="020B0604020202020204" pitchFamily="34" charset="0"/>
              <a:buChar char="•"/>
            </a:pPr>
            <a:r>
              <a:rPr lang="en-US" sz="2400" dirty="0"/>
              <a:t>How would you address the technical debt that has been accumulated?</a:t>
            </a:r>
          </a:p>
          <a:p>
            <a:pPr marL="800100" lvl="1" indent="-342900">
              <a:buFont typeface="Arial" panose="020B0604020202020204" pitchFamily="34" charset="0"/>
              <a:buChar char="•"/>
            </a:pPr>
            <a:r>
              <a:rPr lang="en-US" sz="2400" dirty="0"/>
              <a:t>How would you prevent technical debt from accumulating in the future?</a:t>
            </a:r>
          </a:p>
        </p:txBody>
      </p:sp>
      <p:sp>
        <p:nvSpPr>
          <p:cNvPr id="4" name="Title 3">
            <a:extLst>
              <a:ext uri="{FF2B5EF4-FFF2-40B4-BE49-F238E27FC236}">
                <a16:creationId xmlns:a16="http://schemas.microsoft.com/office/drawing/2014/main" id="{D8BB9689-F908-A0A4-3155-51D26A367F5E}"/>
              </a:ext>
            </a:extLst>
          </p:cNvPr>
          <p:cNvSpPr>
            <a:spLocks noGrp="1"/>
          </p:cNvSpPr>
          <p:nvPr>
            <p:ph type="title"/>
          </p:nvPr>
        </p:nvSpPr>
        <p:spPr/>
        <p:txBody>
          <a:bodyPr/>
          <a:lstStyle/>
          <a:p>
            <a:r>
              <a:rPr lang="en-US" dirty="0"/>
              <a:t>Scenario 7: Managing Technical Debt</a:t>
            </a:r>
          </a:p>
        </p:txBody>
      </p:sp>
    </p:spTree>
    <p:extLst>
      <p:ext uri="{BB962C8B-B14F-4D97-AF65-F5344CB8AC3E}">
        <p14:creationId xmlns:p14="http://schemas.microsoft.com/office/powerpoint/2010/main" val="3143541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F44D07-4E7F-3385-DA33-B7B898DBA385}"/>
              </a:ext>
            </a:extLst>
          </p:cNvPr>
          <p:cNvSpPr>
            <a:spLocks noGrp="1"/>
          </p:cNvSpPr>
          <p:nvPr>
            <p:ph type="sldNum" sz="quarter" idx="13"/>
          </p:nvPr>
        </p:nvSpPr>
        <p:spPr/>
        <p:txBody>
          <a:bodyPr/>
          <a:lstStyle/>
          <a:p>
            <a:fld id="{12342C3A-DD85-7843-B416-BD52AB030D59}" type="slidenum">
              <a:rPr lang="en-US" smtClean="0"/>
              <a:pPr/>
              <a:t>15</a:t>
            </a:fld>
            <a:endParaRPr lang="en-US" dirty="0"/>
          </a:p>
        </p:txBody>
      </p:sp>
      <p:sp>
        <p:nvSpPr>
          <p:cNvPr id="3" name="Text Placeholder 2">
            <a:extLst>
              <a:ext uri="{FF2B5EF4-FFF2-40B4-BE49-F238E27FC236}">
                <a16:creationId xmlns:a16="http://schemas.microsoft.com/office/drawing/2014/main" id="{AA0850CE-68C3-BDAB-8BEB-552EC60D96EC}"/>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000" b="1" dirty="0"/>
              <a:t>Prioritize Refactoring: </a:t>
            </a:r>
            <a:r>
              <a:rPr lang="en-US" sz="2000" dirty="0"/>
              <a:t>Create a backlog of technical debt and prioritize the most critical items. Gradually address them in future sprints.</a:t>
            </a:r>
          </a:p>
          <a:p>
            <a:pPr marL="342900" indent="-342900">
              <a:buFont typeface="Arial" panose="020B0604020202020204" pitchFamily="34" charset="0"/>
              <a:buChar char="•"/>
            </a:pPr>
            <a:r>
              <a:rPr lang="en-US" sz="2000" b="1" dirty="0"/>
              <a:t>Create a Repayment Plan: </a:t>
            </a:r>
            <a:r>
              <a:rPr lang="en-US" sz="2000" dirty="0"/>
              <a:t>Allocate time in each sprint to pay off technical debt, such as adding missing tests or refactoring low-quality code.</a:t>
            </a:r>
          </a:p>
          <a:p>
            <a:pPr marL="342900" indent="-342900">
              <a:buFont typeface="Arial" panose="020B0604020202020204" pitchFamily="34" charset="0"/>
              <a:buChar char="•"/>
            </a:pPr>
            <a:r>
              <a:rPr lang="en-US" sz="2000" b="1" dirty="0"/>
              <a:t>Implement Best Practices: </a:t>
            </a:r>
            <a:r>
              <a:rPr lang="en-US" sz="2000" dirty="0"/>
              <a:t>Encourage developers to write clean, maintainable code from the start by adhering to coding standards and conducting code reviews.</a:t>
            </a:r>
          </a:p>
          <a:p>
            <a:endParaRPr lang="en-US" sz="2000" b="1" dirty="0"/>
          </a:p>
          <a:p>
            <a:r>
              <a:rPr lang="en-US" sz="2000" b="1" dirty="0"/>
              <a:t>Benefits:</a:t>
            </a:r>
          </a:p>
          <a:p>
            <a:pPr marL="800100" lvl="1" indent="-342900">
              <a:buFont typeface="Arial" panose="020B0604020202020204" pitchFamily="34" charset="0"/>
              <a:buChar char="•"/>
            </a:pPr>
            <a:r>
              <a:rPr lang="en-US" sz="2000" dirty="0"/>
              <a:t>Reduces long-term risks related to stability and maintainability.</a:t>
            </a:r>
          </a:p>
          <a:p>
            <a:pPr marL="800100" lvl="1" indent="-342900">
              <a:buFont typeface="Arial" panose="020B0604020202020204" pitchFamily="34" charset="0"/>
              <a:buChar char="•"/>
            </a:pPr>
            <a:r>
              <a:rPr lang="en-US" sz="2000" dirty="0"/>
              <a:t>Ensures that code quality does not degrade over time.</a:t>
            </a:r>
          </a:p>
          <a:p>
            <a:pPr marL="800100" lvl="1" indent="-342900">
              <a:buFont typeface="Arial" panose="020B0604020202020204" pitchFamily="34" charset="0"/>
              <a:buChar char="•"/>
            </a:pPr>
            <a:r>
              <a:rPr lang="en-US" sz="2000" dirty="0"/>
              <a:t>Improves the overall health of the codebase.</a:t>
            </a:r>
          </a:p>
        </p:txBody>
      </p:sp>
      <p:sp>
        <p:nvSpPr>
          <p:cNvPr id="4" name="Title 3">
            <a:extLst>
              <a:ext uri="{FF2B5EF4-FFF2-40B4-BE49-F238E27FC236}">
                <a16:creationId xmlns:a16="http://schemas.microsoft.com/office/drawing/2014/main" id="{483C11EB-93EA-4347-487F-13037815CCE9}"/>
              </a:ext>
            </a:extLst>
          </p:cNvPr>
          <p:cNvSpPr>
            <a:spLocks noGrp="1"/>
          </p:cNvSpPr>
          <p:nvPr>
            <p:ph type="title"/>
          </p:nvPr>
        </p:nvSpPr>
        <p:spPr/>
        <p:txBody>
          <a:bodyPr/>
          <a:lstStyle/>
          <a:p>
            <a:r>
              <a:rPr lang="en-US" dirty="0"/>
              <a:t>Scenario 7: Managing Technical Debt</a:t>
            </a:r>
          </a:p>
        </p:txBody>
      </p:sp>
    </p:spTree>
    <p:extLst>
      <p:ext uri="{BB962C8B-B14F-4D97-AF65-F5344CB8AC3E}">
        <p14:creationId xmlns:p14="http://schemas.microsoft.com/office/powerpoint/2010/main" val="2393337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1AB14F-1AA3-06E1-E0AF-EF3C5F60E288}"/>
              </a:ext>
            </a:extLst>
          </p:cNvPr>
          <p:cNvSpPr>
            <a:spLocks noGrp="1"/>
          </p:cNvSpPr>
          <p:nvPr>
            <p:ph type="sldNum" sz="quarter" idx="13"/>
          </p:nvPr>
        </p:nvSpPr>
        <p:spPr/>
        <p:txBody>
          <a:bodyPr/>
          <a:lstStyle/>
          <a:p>
            <a:fld id="{12342C3A-DD85-7843-B416-BD52AB030D59}" type="slidenum">
              <a:rPr lang="en-US" smtClean="0"/>
              <a:pPr/>
              <a:t>16</a:t>
            </a:fld>
            <a:endParaRPr lang="en-US" dirty="0"/>
          </a:p>
        </p:txBody>
      </p:sp>
      <p:sp>
        <p:nvSpPr>
          <p:cNvPr id="3" name="Text Placeholder 2">
            <a:extLst>
              <a:ext uri="{FF2B5EF4-FFF2-40B4-BE49-F238E27FC236}">
                <a16:creationId xmlns:a16="http://schemas.microsoft.com/office/drawing/2014/main" id="{AB50BB42-F9AB-E873-405D-F47C7B9892F1}"/>
              </a:ext>
            </a:extLst>
          </p:cNvPr>
          <p:cNvSpPr>
            <a:spLocks noGrp="1"/>
          </p:cNvSpPr>
          <p:nvPr>
            <p:ph type="body" sz="quarter" idx="12"/>
          </p:nvPr>
        </p:nvSpPr>
        <p:spPr/>
        <p:txBody>
          <a:bodyPr>
            <a:normAutofit/>
          </a:bodyPr>
          <a:lstStyle/>
          <a:p>
            <a:r>
              <a:rPr lang="en-US" sz="2400" dirty="0"/>
              <a:t>You’ve inherited a legacy codebase with monolithic classes, long methods, and tightly coupled code. Developers are finding it hard to work with the code, and bug fixes often lead to new issues.</a:t>
            </a:r>
          </a:p>
          <a:p>
            <a:pPr marL="800100" lvl="1" indent="-342900">
              <a:buFont typeface="Arial" panose="020B0604020202020204" pitchFamily="34" charset="0"/>
              <a:buChar char="•"/>
            </a:pPr>
            <a:r>
              <a:rPr lang="en-US" sz="2400" dirty="0"/>
              <a:t>What are the key code smells in this legacy codebase?</a:t>
            </a:r>
          </a:p>
          <a:p>
            <a:pPr marL="800100" lvl="1" indent="-342900">
              <a:buFont typeface="Arial" panose="020B0604020202020204" pitchFamily="34" charset="0"/>
              <a:buChar char="•"/>
            </a:pPr>
            <a:r>
              <a:rPr lang="en-US" sz="2400" dirty="0"/>
              <a:t>How would you address these issues to improve maintainability?</a:t>
            </a:r>
          </a:p>
          <a:p>
            <a:pPr marL="800100" lvl="1" indent="-342900">
              <a:buFont typeface="Arial" panose="020B0604020202020204" pitchFamily="34" charset="0"/>
              <a:buChar char="•"/>
            </a:pPr>
            <a:r>
              <a:rPr lang="en-US" sz="2400" dirty="0"/>
              <a:t>What steps would you take to prevent similar problems in the future?</a:t>
            </a:r>
          </a:p>
        </p:txBody>
      </p:sp>
      <p:sp>
        <p:nvSpPr>
          <p:cNvPr id="4" name="Title 3">
            <a:extLst>
              <a:ext uri="{FF2B5EF4-FFF2-40B4-BE49-F238E27FC236}">
                <a16:creationId xmlns:a16="http://schemas.microsoft.com/office/drawing/2014/main" id="{6786CEC8-D5DB-02BF-FFFE-5B1A02A31A94}"/>
              </a:ext>
            </a:extLst>
          </p:cNvPr>
          <p:cNvSpPr>
            <a:spLocks noGrp="1"/>
          </p:cNvSpPr>
          <p:nvPr>
            <p:ph type="title"/>
          </p:nvPr>
        </p:nvSpPr>
        <p:spPr/>
        <p:txBody>
          <a:bodyPr/>
          <a:lstStyle/>
          <a:p>
            <a:r>
              <a:rPr lang="en-US" dirty="0"/>
              <a:t>Scenario 8: Identifying Code Smells in Legacy Code</a:t>
            </a:r>
          </a:p>
        </p:txBody>
      </p:sp>
    </p:spTree>
    <p:extLst>
      <p:ext uri="{BB962C8B-B14F-4D97-AF65-F5344CB8AC3E}">
        <p14:creationId xmlns:p14="http://schemas.microsoft.com/office/powerpoint/2010/main" val="3370638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1C3EF4-A769-DBED-FBDD-746E88C26A0D}"/>
              </a:ext>
            </a:extLst>
          </p:cNvPr>
          <p:cNvSpPr>
            <a:spLocks noGrp="1"/>
          </p:cNvSpPr>
          <p:nvPr>
            <p:ph type="sldNum" sz="quarter" idx="13"/>
          </p:nvPr>
        </p:nvSpPr>
        <p:spPr/>
        <p:txBody>
          <a:bodyPr/>
          <a:lstStyle/>
          <a:p>
            <a:fld id="{12342C3A-DD85-7843-B416-BD52AB030D59}" type="slidenum">
              <a:rPr lang="en-US" smtClean="0"/>
              <a:pPr/>
              <a:t>17</a:t>
            </a:fld>
            <a:endParaRPr lang="en-US" dirty="0"/>
          </a:p>
        </p:txBody>
      </p:sp>
      <p:sp>
        <p:nvSpPr>
          <p:cNvPr id="3" name="Text Placeholder 2">
            <a:extLst>
              <a:ext uri="{FF2B5EF4-FFF2-40B4-BE49-F238E27FC236}">
                <a16:creationId xmlns:a16="http://schemas.microsoft.com/office/drawing/2014/main" id="{BDB749F4-1BD2-35B0-4A91-0A3886AE1906}"/>
              </a:ext>
            </a:extLst>
          </p:cNvPr>
          <p:cNvSpPr>
            <a:spLocks noGrp="1"/>
          </p:cNvSpPr>
          <p:nvPr>
            <p:ph type="body" sz="quarter" idx="12"/>
          </p:nvPr>
        </p:nvSpPr>
        <p:spPr/>
        <p:txBody>
          <a:bodyPr>
            <a:normAutofit fontScale="92500" lnSpcReduction="10000"/>
          </a:bodyPr>
          <a:lstStyle/>
          <a:p>
            <a:r>
              <a:rPr lang="en-US" sz="2000" b="1" dirty="0"/>
              <a:t>Key Smells Identified:</a:t>
            </a:r>
          </a:p>
          <a:p>
            <a:pPr marL="800100" lvl="1" indent="-342900">
              <a:buFont typeface="Arial" panose="020B0604020202020204" pitchFamily="34" charset="0"/>
              <a:buChar char="•"/>
            </a:pPr>
            <a:r>
              <a:rPr lang="en-US" sz="2000" b="1" dirty="0"/>
              <a:t>Monolithic Classes</a:t>
            </a:r>
            <a:r>
              <a:rPr lang="en-US" sz="2000" dirty="0"/>
              <a:t>: Break them into smaller, focused classes with single responsibilities.</a:t>
            </a:r>
          </a:p>
          <a:p>
            <a:pPr marL="800100" lvl="1" indent="-342900">
              <a:buFont typeface="Arial" panose="020B0604020202020204" pitchFamily="34" charset="0"/>
              <a:buChar char="•"/>
            </a:pPr>
            <a:r>
              <a:rPr lang="en-US" sz="2000" b="1" dirty="0"/>
              <a:t>Long Methods</a:t>
            </a:r>
            <a:r>
              <a:rPr lang="en-US" sz="2000" dirty="0"/>
              <a:t>: Refactor them into smaller, single-responsibility methods.</a:t>
            </a:r>
          </a:p>
          <a:p>
            <a:pPr marL="800100" lvl="1" indent="-342900">
              <a:buFont typeface="Arial" panose="020B0604020202020204" pitchFamily="34" charset="0"/>
              <a:buChar char="•"/>
            </a:pPr>
            <a:r>
              <a:rPr lang="en-US" sz="2000" b="1" dirty="0"/>
              <a:t>Tightly Coupled Code</a:t>
            </a:r>
            <a:r>
              <a:rPr lang="en-US" sz="2000" dirty="0"/>
              <a:t>: Use design patterns like dependency injection to decouple code and make it more testable.</a:t>
            </a:r>
          </a:p>
          <a:p>
            <a:pPr marL="342900" indent="-342900">
              <a:buFont typeface="Arial" panose="020B0604020202020204" pitchFamily="34" charset="0"/>
              <a:buChar char="•"/>
            </a:pPr>
            <a:r>
              <a:rPr lang="en-US" sz="2000" b="1" dirty="0"/>
              <a:t>Prioritize Refactoring</a:t>
            </a:r>
            <a:r>
              <a:rPr lang="en-US" sz="2000" dirty="0"/>
              <a:t>: Start by identifying the most problematic areas and refactor incrementally to improve readability and maintainability.</a:t>
            </a:r>
          </a:p>
          <a:p>
            <a:pPr marL="342900" indent="-342900">
              <a:buFont typeface="Arial" panose="020B0604020202020204" pitchFamily="34" charset="0"/>
              <a:buChar char="•"/>
            </a:pPr>
            <a:r>
              <a:rPr lang="en-US" sz="2000" b="1" dirty="0"/>
              <a:t>Introduce Unit Tests</a:t>
            </a:r>
            <a:r>
              <a:rPr lang="en-US" sz="2000" dirty="0"/>
              <a:t>: Write tests for legacy code to verify that refactoring does not introduce new bugs.</a:t>
            </a:r>
          </a:p>
          <a:p>
            <a:endParaRPr lang="en-US" sz="2000" b="1" dirty="0"/>
          </a:p>
          <a:p>
            <a:r>
              <a:rPr lang="en-US" sz="2000" b="1"/>
              <a:t>Benefits</a:t>
            </a:r>
            <a:r>
              <a:rPr lang="en-US" sz="2000" b="1" dirty="0"/>
              <a:t>:</a:t>
            </a:r>
          </a:p>
          <a:p>
            <a:pPr marL="800100" lvl="1" indent="-342900">
              <a:buFont typeface="Arial" panose="020B0604020202020204" pitchFamily="34" charset="0"/>
              <a:buChar char="•"/>
            </a:pPr>
            <a:r>
              <a:rPr lang="en-US" sz="2000" dirty="0"/>
              <a:t>More modular and maintainable code.</a:t>
            </a:r>
          </a:p>
          <a:p>
            <a:pPr marL="800100" lvl="1" indent="-342900">
              <a:buFont typeface="Arial" panose="020B0604020202020204" pitchFamily="34" charset="0"/>
              <a:buChar char="•"/>
            </a:pPr>
            <a:r>
              <a:rPr lang="en-US" sz="2000" dirty="0"/>
              <a:t>Easier to test and debug.</a:t>
            </a:r>
          </a:p>
          <a:p>
            <a:pPr marL="800100" lvl="1" indent="-342900">
              <a:buFont typeface="Arial" panose="020B0604020202020204" pitchFamily="34" charset="0"/>
              <a:buChar char="•"/>
            </a:pPr>
            <a:r>
              <a:rPr lang="en-US" sz="2000" dirty="0"/>
              <a:t>A more scalable and flexible codebase.</a:t>
            </a:r>
          </a:p>
        </p:txBody>
      </p:sp>
      <p:sp>
        <p:nvSpPr>
          <p:cNvPr id="4" name="Title 3">
            <a:extLst>
              <a:ext uri="{FF2B5EF4-FFF2-40B4-BE49-F238E27FC236}">
                <a16:creationId xmlns:a16="http://schemas.microsoft.com/office/drawing/2014/main" id="{E86AAD12-BF99-9A39-D55C-5F5805FEA894}"/>
              </a:ext>
            </a:extLst>
          </p:cNvPr>
          <p:cNvSpPr>
            <a:spLocks noGrp="1"/>
          </p:cNvSpPr>
          <p:nvPr>
            <p:ph type="title"/>
          </p:nvPr>
        </p:nvSpPr>
        <p:spPr/>
        <p:txBody>
          <a:bodyPr/>
          <a:lstStyle/>
          <a:p>
            <a:r>
              <a:rPr lang="en-US" dirty="0"/>
              <a:t>Scenario 8: Identifying Code Smells in Legacy Code</a:t>
            </a:r>
          </a:p>
        </p:txBody>
      </p:sp>
    </p:spTree>
    <p:extLst>
      <p:ext uri="{BB962C8B-B14F-4D97-AF65-F5344CB8AC3E}">
        <p14:creationId xmlns:p14="http://schemas.microsoft.com/office/powerpoint/2010/main" val="3573223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688526"/>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51844</TotalTime>
  <Words>1566</Words>
  <Application>Microsoft Office PowerPoint</Application>
  <PresentationFormat>Widescreen</PresentationFormat>
  <Paragraphs>133</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Scenario 1: Refactoring</vt:lpstr>
      <vt:lpstr>Scenario 1: Refactoring</vt:lpstr>
      <vt:lpstr>Scenario 2: Technical Debt</vt:lpstr>
      <vt:lpstr>Scenario 2: Technical Debt</vt:lpstr>
      <vt:lpstr>Scenario 3: Bad Smells in Code</vt:lpstr>
      <vt:lpstr>Scenario 3: Bad Smells in Code</vt:lpstr>
      <vt:lpstr>Scenario 4: Duplicate Code (Bad Smell)</vt:lpstr>
      <vt:lpstr>Scenario 4: Duplicate Code (Bad Smell)</vt:lpstr>
      <vt:lpstr>Scenario 5: Two Hats Metaphor</vt:lpstr>
      <vt:lpstr>Scenario 5: Two Hats Metaphor</vt:lpstr>
      <vt:lpstr>Scenario 6: Overcomplicated Code (Bad Smell)</vt:lpstr>
      <vt:lpstr>Scenario 6: Overcomplicated Code (Bad Smell)</vt:lpstr>
      <vt:lpstr>Scenario 7: Managing Technical Debt</vt:lpstr>
      <vt:lpstr>Scenario 7: Managing Technical Debt</vt:lpstr>
      <vt:lpstr>Scenario 8: Identifying Code Smells in Legacy Code</vt:lpstr>
      <vt:lpstr>Scenario 8: Identifying Code Smells in Legacy Code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312</cp:revision>
  <dcterms:created xsi:type="dcterms:W3CDTF">2022-11-18T01:51:09Z</dcterms:created>
  <dcterms:modified xsi:type="dcterms:W3CDTF">2025-10-14T18:40:52Z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