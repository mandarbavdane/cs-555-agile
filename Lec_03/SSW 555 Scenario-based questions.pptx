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5"/>
  </p:notesMasterIdLst>
  <p:sldIdLst>
    <p:sldId id="280" r:id="rId2"/>
    <p:sldId id="887" r:id="rId3"/>
    <p:sldId id="888" r:id="rId4"/>
    <p:sldId id="889" r:id="rId5"/>
    <p:sldId id="890" r:id="rId6"/>
    <p:sldId id="891" r:id="rId7"/>
    <p:sldId id="892" r:id="rId8"/>
    <p:sldId id="893" r:id="rId9"/>
    <p:sldId id="894" r:id="rId10"/>
    <p:sldId id="895" r:id="rId11"/>
    <p:sldId id="896" r:id="rId12"/>
    <p:sldId id="897" r:id="rId13"/>
    <p:sldId id="907" r:id="rId14"/>
    <p:sldId id="908" r:id="rId15"/>
    <p:sldId id="909" r:id="rId16"/>
    <p:sldId id="898" r:id="rId17"/>
    <p:sldId id="910" r:id="rId18"/>
    <p:sldId id="911" r:id="rId19"/>
    <p:sldId id="899" r:id="rId20"/>
    <p:sldId id="912" r:id="rId21"/>
    <p:sldId id="913" r:id="rId22"/>
    <p:sldId id="900" r:id="rId23"/>
    <p:sldId id="914" r:id="rId24"/>
    <p:sldId id="915" r:id="rId25"/>
    <p:sldId id="901" r:id="rId26"/>
    <p:sldId id="916" r:id="rId27"/>
    <p:sldId id="917" r:id="rId28"/>
    <p:sldId id="902" r:id="rId29"/>
    <p:sldId id="918" r:id="rId30"/>
    <p:sldId id="919" r:id="rId31"/>
    <p:sldId id="903" r:id="rId32"/>
    <p:sldId id="920" r:id="rId33"/>
    <p:sldId id="921" r:id="rId34"/>
    <p:sldId id="904" r:id="rId35"/>
    <p:sldId id="922" r:id="rId36"/>
    <p:sldId id="923" r:id="rId37"/>
    <p:sldId id="905" r:id="rId38"/>
    <p:sldId id="924" r:id="rId39"/>
    <p:sldId id="925" r:id="rId40"/>
    <p:sldId id="906" r:id="rId41"/>
    <p:sldId id="926" r:id="rId42"/>
    <p:sldId id="927" r:id="rId43"/>
    <p:sldId id="846" r:id="rId44"/>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13" autoAdjust="0"/>
    <p:restoredTop sz="72639" autoAdjust="0"/>
  </p:normalViewPr>
  <p:slideViewPr>
    <p:cSldViewPr snapToGrid="0" snapToObjects="1">
      <p:cViewPr varScale="1">
        <p:scale>
          <a:sx n="80" d="100"/>
          <a:sy n="80" d="100"/>
        </p:scale>
        <p:origin x="12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5DB341C-843E-6244-9C40-DD933A1134AC}" type="slidenum">
              <a:rPr lang="en-US" smtClean="0"/>
              <a:t>1</a:t>
            </a:fld>
            <a:endParaRPr lang="en-US"/>
          </a:p>
        </p:txBody>
      </p:sp>
    </p:spTree>
    <p:extLst>
      <p:ext uri="{BB962C8B-B14F-4D97-AF65-F5344CB8AC3E}">
        <p14:creationId xmlns:p14="http://schemas.microsoft.com/office/powerpoint/2010/main" val="10195884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4" y="2504926"/>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7" y="4591375"/>
            <a:ext cx="7041743"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1" y="5690091"/>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16213" y="6342039"/>
            <a:ext cx="1114407"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3"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4" name="Date Placeholder 3"/>
          <p:cNvSpPr>
            <a:spLocks noGrp="1"/>
          </p:cNvSpPr>
          <p:nvPr>
            <p:ph type="dt" sz="half" idx="10"/>
          </p:nvPr>
        </p:nvSpPr>
        <p:spPr>
          <a:xfrm>
            <a:off x="10406273" y="6342039"/>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53" y="0"/>
            <a:ext cx="11893551" cy="6858000"/>
          </a:xfrm>
          <a:prstGeom prst="rect">
            <a:avLst/>
          </a:prstGeom>
        </p:spPr>
      </p:pic>
      <p:sp>
        <p:nvSpPr>
          <p:cNvPr id="10" name="Title 1"/>
          <p:cNvSpPr>
            <a:spLocks noGrp="1"/>
          </p:cNvSpPr>
          <p:nvPr>
            <p:ph type="ctrTitle" hasCustomPrompt="1"/>
          </p:nvPr>
        </p:nvSpPr>
        <p:spPr>
          <a:xfrm>
            <a:off x="6324606" y="2504926"/>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75"/>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9" y="6362191"/>
            <a:ext cx="1084591"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91"/>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189" indent="0" algn="r">
              <a:buNone/>
              <a:defRPr/>
            </a:lvl2pPr>
            <a:lvl3pPr marL="914377" indent="0" algn="r">
              <a:buNone/>
              <a:defRPr/>
            </a:lvl3pPr>
            <a:lvl4pPr marL="1371566" indent="0" algn="r">
              <a:buNone/>
              <a:defRPr/>
            </a:lvl4pPr>
            <a:lvl5pPr marL="1828754" indent="0" algn="r">
              <a:buNone/>
              <a:defRPr/>
            </a:lvl5pPr>
          </a:lstStyle>
          <a:p>
            <a:pPr lvl="0"/>
            <a:r>
              <a:rPr lang="en-US" dirty="0"/>
              <a:t>PRESENTER’S NAME</a:t>
            </a:r>
          </a:p>
        </p:txBody>
      </p:sp>
      <p:sp>
        <p:nvSpPr>
          <p:cNvPr id="15" name="TextBox 14"/>
          <p:cNvSpPr txBox="1"/>
          <p:nvPr userDrawn="1"/>
        </p:nvSpPr>
        <p:spPr>
          <a:xfrm>
            <a:off x="912816" y="1325695"/>
            <a:ext cx="4215776" cy="5135445"/>
          </a:xfrm>
          <a:prstGeom prst="rect">
            <a:avLst/>
          </a:prstGeom>
          <a:noFill/>
        </p:spPr>
        <p:txBody>
          <a:bodyPr wrap="square" rtlCol="0">
            <a:spAutoFit/>
          </a:bodyPr>
          <a:lstStyle/>
          <a:p>
            <a:r>
              <a:rPr lang="en-US" sz="1800" b="1" dirty="0">
                <a:latin typeface="IBM Plex Sans" panose="020B0503050203000203" pitchFamily="34" charset="0"/>
              </a:rPr>
              <a:t>INSTRUCTIONS TO REPLACE IMAGE:</a:t>
            </a:r>
          </a:p>
          <a:p>
            <a:endParaRPr lang="en-US" sz="1800" b="1" dirty="0">
              <a:latin typeface="IBM Plex Sans" panose="020B0503050203000203" pitchFamily="34" charset="0"/>
            </a:endParaRPr>
          </a:p>
          <a:p>
            <a:pPr marL="342891" indent="-342891">
              <a:lnSpc>
                <a:spcPct val="150000"/>
              </a:lnSpc>
              <a:buFont typeface="+mj-lt"/>
              <a:buAutoNum type="arabicPeriod"/>
            </a:pPr>
            <a:r>
              <a:rPr lang="en-US" sz="1400" b="0" dirty="0">
                <a:latin typeface="IBM Plex Sans" panose="020B0503050203000203" pitchFamily="34" charset="0"/>
              </a:rPr>
              <a:t>Go to View&gt;Slide Master</a:t>
            </a:r>
          </a:p>
          <a:p>
            <a:pPr marL="342891" indent="-342891">
              <a:lnSpc>
                <a:spcPct val="150000"/>
              </a:lnSpc>
              <a:buFont typeface="+mj-lt"/>
              <a:buAutoNum type="arabicPeriod"/>
            </a:pPr>
            <a:r>
              <a:rPr lang="en-US" sz="1400" b="0" dirty="0">
                <a:latin typeface="IBM Plex Sans" panose="020B0503050203000203" pitchFamily="34" charset="0"/>
              </a:rPr>
              <a:t>Locate this layout and duplicate it</a:t>
            </a:r>
          </a:p>
          <a:p>
            <a:pPr marL="342891" indent="-342891">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891" indent="-342891">
              <a:lnSpc>
                <a:spcPct val="150000"/>
              </a:lnSpc>
              <a:buFont typeface="+mj-lt"/>
              <a:buAutoNum type="arabicPeriod"/>
            </a:pPr>
            <a:r>
              <a:rPr lang="en-US" sz="1400" b="0" dirty="0">
                <a:latin typeface="IBM Plex Sans" panose="020B0503050203000203" pitchFamily="34" charset="0"/>
              </a:rPr>
              <a:t>Scroll to “Change Picture”</a:t>
            </a:r>
          </a:p>
          <a:p>
            <a:pPr marL="342891" indent="-342891">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891" indent="-342891">
              <a:lnSpc>
                <a:spcPct val="150000"/>
              </a:lnSpc>
              <a:buFont typeface="+mj-lt"/>
              <a:buAutoNum type="arabicPeriod"/>
            </a:pPr>
            <a:r>
              <a:rPr lang="en-US" sz="1400" b="0" dirty="0">
                <a:latin typeface="IBM Plex Sans" panose="020B0503050203000203" pitchFamily="34" charset="0"/>
              </a:rPr>
              <a:t>Select desired image</a:t>
            </a:r>
          </a:p>
          <a:p>
            <a:pPr marL="342891" indent="-342891">
              <a:lnSpc>
                <a:spcPct val="150000"/>
              </a:lnSpc>
              <a:buFont typeface="+mj-lt"/>
              <a:buAutoNum type="arabicPeriod"/>
            </a:pPr>
            <a:r>
              <a:rPr lang="en-US" sz="1400" b="0" dirty="0">
                <a:latin typeface="IBM Plex Sans" panose="020B0503050203000203" pitchFamily="34" charset="0"/>
              </a:rPr>
              <a:t>Resize and crop image as necessary</a:t>
            </a:r>
          </a:p>
          <a:p>
            <a:pPr marL="342891" indent="-342891">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891" indent="-342891">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5" y="0"/>
            <a:ext cx="11893551" cy="6858000"/>
          </a:xfrm>
          <a:prstGeom prst="rect">
            <a:avLst/>
          </a:prstGeom>
        </p:spPr>
      </p:pic>
      <p:sp>
        <p:nvSpPr>
          <p:cNvPr id="2" name="Title 1"/>
          <p:cNvSpPr>
            <a:spLocks noGrp="1"/>
          </p:cNvSpPr>
          <p:nvPr>
            <p:ph type="title" hasCustomPrompt="1"/>
          </p:nvPr>
        </p:nvSpPr>
        <p:spPr>
          <a:xfrm>
            <a:off x="6617373" y="974043"/>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6" y="5394971"/>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594" indent="-228594">
              <a:defRPr/>
            </a:lvl1pPr>
            <a:lvl2pPr marL="502907" indent="-228594">
              <a:buSzPct val="100000"/>
              <a:buFont typeface="System Font Regular"/>
              <a:buChar char="-"/>
              <a:defRPr/>
            </a:lvl2pPr>
            <a:lvl3pPr marL="777221" indent="-228594">
              <a:buSzPct val="100000"/>
              <a:buFont typeface="System Font Regular"/>
              <a:buChar char="-"/>
              <a:defRPr/>
            </a:lvl3pPr>
            <a:lvl4pPr marL="1005815" indent="-228594">
              <a:buSzPct val="100000"/>
              <a:buFont typeface="System Font Regular"/>
              <a:buChar char="-"/>
              <a:defRPr/>
            </a:lvl4pPr>
            <a:lvl5pPr marL="1280128" indent="-228594">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5" y="2202880"/>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7"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7"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6"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5" y="2325842"/>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7"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8"/>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6"/>
            <a:ext cx="4954588" cy="1828165"/>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7"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41"/>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7"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7"/>
            <a:ext cx="4954588"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91"/>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45"/>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92"/>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7"/>
            <a:ext cx="2926080" cy="1651807"/>
          </a:xfrm>
        </p:spPr>
        <p:txBody>
          <a:bodyPr>
            <a:noAutofit/>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63" y="365133"/>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5"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189" indent="0">
              <a:buNone/>
              <a:defRPr b="0" i="0">
                <a:solidFill>
                  <a:schemeClr val="accent1"/>
                </a:solidFill>
                <a:latin typeface="IBM Plex Sans Light" panose="020B0403050203000203" pitchFamily="34" charset="0"/>
              </a:defRPr>
            </a:lvl2pPr>
            <a:lvl3pPr marL="914377" indent="0">
              <a:buNone/>
              <a:defRPr b="0" i="0">
                <a:solidFill>
                  <a:schemeClr val="accent1"/>
                </a:solidFill>
                <a:latin typeface="IBM Plex Sans Light" panose="020B0403050203000203" pitchFamily="34" charset="0"/>
              </a:defRPr>
            </a:lvl3pPr>
            <a:lvl4pPr marL="1371566" indent="0">
              <a:buNone/>
              <a:defRPr b="0" i="0">
                <a:solidFill>
                  <a:schemeClr val="accent1"/>
                </a:solidFill>
                <a:latin typeface="IBM Plex Sans Light" panose="020B0403050203000203" pitchFamily="34" charset="0"/>
              </a:defRPr>
            </a:lvl4pPr>
            <a:lvl5pPr marL="1828754"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42"/>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9"/>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3"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3"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3"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3"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34"/>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7"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7" y="2057402"/>
            <a:ext cx="4127255"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34"/>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3"/>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33"/>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3"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6" y="3144278"/>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6" y="5170424"/>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with no Subhead">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fld id="{12342C3A-DD85-7843-B416-BD52AB030D59}" type="slidenum">
              <a:rPr lang="en-US" smtClean="0"/>
              <a:pPr/>
              <a:t>‹#›</a:t>
            </a:fld>
            <a:endParaRPr lang="en-US" dirty="0"/>
          </a:p>
        </p:txBody>
      </p:sp>
      <p:sp>
        <p:nvSpPr>
          <p:cNvPr id="6" name="Text Placeholder 2"/>
          <p:cNvSpPr>
            <a:spLocks noGrp="1"/>
          </p:cNvSpPr>
          <p:nvPr>
            <p:ph type="body" sz="quarter" idx="12" hasCustomPrompt="1"/>
          </p:nvPr>
        </p:nvSpPr>
        <p:spPr>
          <a:xfrm>
            <a:off x="302684" y="1112109"/>
            <a:ext cx="11588749" cy="4981786"/>
          </a:xfrm>
          <a:prstGeom prst="rect">
            <a:avLst/>
          </a:prstGeom>
        </p:spPr>
        <p:txBody>
          <a:bodyPr vert="horz"/>
          <a:lstStyle>
            <a:lvl1pPr marL="0" indent="0">
              <a:spcBef>
                <a:spcPts val="0"/>
              </a:spcBef>
              <a:spcAft>
                <a:spcPts val="1200"/>
              </a:spcAft>
              <a:buFontTx/>
              <a:buNone/>
              <a:defRPr sz="1600" b="0" i="0">
                <a:latin typeface="Arial"/>
                <a:cs typeface="Arial"/>
              </a:defRPr>
            </a:lvl1pPr>
            <a:lvl2pPr marL="457200" indent="0">
              <a:spcBef>
                <a:spcPts val="0"/>
              </a:spcBef>
              <a:spcAft>
                <a:spcPts val="1200"/>
              </a:spcAft>
              <a:buFontTx/>
              <a:buNone/>
              <a:defRPr sz="1600" b="0" i="0">
                <a:latin typeface="Arial"/>
                <a:cs typeface="Arial"/>
              </a:defRPr>
            </a:lvl2pPr>
            <a:lvl3pPr marL="914400" indent="0">
              <a:spcBef>
                <a:spcPts val="0"/>
              </a:spcBef>
              <a:spcAft>
                <a:spcPts val="1200"/>
              </a:spcAft>
              <a:buFontTx/>
              <a:buNone/>
              <a:defRPr sz="1400" b="0" i="0" baseline="0">
                <a:latin typeface="Arial"/>
                <a:cs typeface="Arial"/>
              </a:defRPr>
            </a:lvl3pPr>
            <a:lvl4pPr marL="1371600" indent="0">
              <a:spcBef>
                <a:spcPts val="0"/>
              </a:spcBef>
              <a:spcAft>
                <a:spcPts val="1200"/>
              </a:spcAft>
              <a:buFontTx/>
              <a:buNone/>
              <a:defRPr sz="1200" b="0" i="0" baseline="0">
                <a:latin typeface="Arial"/>
                <a:cs typeface="Arial"/>
              </a:defRPr>
            </a:lvl4pPr>
            <a:lvl5pPr marL="1828800" indent="0">
              <a:spcBef>
                <a:spcPts val="0"/>
              </a:spcBef>
              <a:spcAft>
                <a:spcPts val="1200"/>
              </a:spcAft>
              <a:buFontTx/>
              <a:buNone/>
              <a:defRPr sz="1000" b="0" i="0">
                <a:latin typeface="Arial"/>
                <a:cs typeface="Arial"/>
              </a:defRPr>
            </a:lvl5pPr>
          </a:lstStyle>
          <a:p>
            <a:pPr lvl="0"/>
            <a:r>
              <a:rPr lang="en-US" dirty="0"/>
              <a:t>Insert Text Here</a:t>
            </a:r>
          </a:p>
        </p:txBody>
      </p:sp>
      <p:sp>
        <p:nvSpPr>
          <p:cNvPr id="8" name="Title 1"/>
          <p:cNvSpPr>
            <a:spLocks noGrp="1"/>
          </p:cNvSpPr>
          <p:nvPr>
            <p:ph type="title" hasCustomPrompt="1"/>
          </p:nvPr>
        </p:nvSpPr>
        <p:spPr>
          <a:xfrm>
            <a:off x="302684" y="418354"/>
            <a:ext cx="9737787" cy="535863"/>
          </a:xfrm>
          <a:prstGeom prst="rect">
            <a:avLst/>
          </a:prstGeom>
        </p:spPr>
        <p:txBody>
          <a:bodyPr/>
          <a:lstStyle>
            <a:lvl1pPr>
              <a:defRPr sz="3000" b="1" i="0">
                <a:latin typeface="Arial"/>
                <a:cs typeface="Arial"/>
              </a:defRPr>
            </a:lvl1pPr>
          </a:lstStyle>
          <a:p>
            <a:r>
              <a:rPr lang="en-US" dirty="0"/>
              <a:t>Insert Slide Title</a:t>
            </a:r>
          </a:p>
        </p:txBody>
      </p:sp>
    </p:spTree>
    <p:extLst>
      <p:ext uri="{BB962C8B-B14F-4D97-AF65-F5344CB8AC3E}">
        <p14:creationId xmlns:p14="http://schemas.microsoft.com/office/powerpoint/2010/main" val="2515202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6"/>
          <a:stretch>
            <a:fillRect/>
          </a:stretch>
        </p:blipFill>
        <p:spPr>
          <a:xfrm>
            <a:off x="0" y="0"/>
            <a:ext cx="12192000" cy="6858000"/>
          </a:xfrm>
          <a:prstGeom prst="rect">
            <a:avLst/>
          </a:prstGeom>
        </p:spPr>
      </p:pic>
      <p:sp>
        <p:nvSpPr>
          <p:cNvPr id="2" name="Title Placeholder 1"/>
          <p:cNvSpPr>
            <a:spLocks noGrp="1"/>
          </p:cNvSpPr>
          <p:nvPr>
            <p:ph type="title"/>
          </p:nvPr>
        </p:nvSpPr>
        <p:spPr>
          <a:xfrm>
            <a:off x="644775" y="365129"/>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5"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6"/>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4" r:id="rId24"/>
  </p:sldLayoutIdLst>
  <p:hf hdr="0" ftr="0"/>
  <p:txStyles>
    <p:titleStyle>
      <a:lvl1pPr algn="l" defTabSz="913742"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594" indent="-228594" algn="l" defTabSz="913742"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07" indent="-228594" algn="l" defTabSz="913742"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21"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15" indent="-228594" algn="l" defTabSz="913742"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28" indent="-228594" algn="l" defTabSz="913742"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537"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726"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914"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103" indent="-228594" algn="l" defTabSz="913742"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42" rtl="0" eaLnBrk="1" latinLnBrk="0" hangingPunct="1">
        <a:defRPr sz="1800" kern="1200">
          <a:solidFill>
            <a:schemeClr val="tx1"/>
          </a:solidFill>
          <a:latin typeface="+mn-lt"/>
          <a:ea typeface="+mn-ea"/>
          <a:cs typeface="+mn-cs"/>
        </a:defRPr>
      </a:lvl1pPr>
      <a:lvl2pPr marL="457189" algn="l" defTabSz="913742" rtl="0" eaLnBrk="1" latinLnBrk="0" hangingPunct="1">
        <a:defRPr sz="1800" kern="1200">
          <a:solidFill>
            <a:schemeClr val="tx1"/>
          </a:solidFill>
          <a:latin typeface="+mn-lt"/>
          <a:ea typeface="+mn-ea"/>
          <a:cs typeface="+mn-cs"/>
        </a:defRPr>
      </a:lvl2pPr>
      <a:lvl3pPr marL="914377" algn="l" defTabSz="913742" rtl="0" eaLnBrk="1" latinLnBrk="0" hangingPunct="1">
        <a:defRPr sz="1800" kern="1200">
          <a:solidFill>
            <a:schemeClr val="tx1"/>
          </a:solidFill>
          <a:latin typeface="+mn-lt"/>
          <a:ea typeface="+mn-ea"/>
          <a:cs typeface="+mn-cs"/>
        </a:defRPr>
      </a:lvl3pPr>
      <a:lvl4pPr marL="1371566" algn="l" defTabSz="913742" rtl="0" eaLnBrk="1" latinLnBrk="0" hangingPunct="1">
        <a:defRPr sz="1800" kern="1200">
          <a:solidFill>
            <a:schemeClr val="tx1"/>
          </a:solidFill>
          <a:latin typeface="+mn-lt"/>
          <a:ea typeface="+mn-ea"/>
          <a:cs typeface="+mn-cs"/>
        </a:defRPr>
      </a:lvl4pPr>
      <a:lvl5pPr marL="1828754" algn="l" defTabSz="913742" rtl="0" eaLnBrk="1" latinLnBrk="0" hangingPunct="1">
        <a:defRPr sz="1800" kern="1200">
          <a:solidFill>
            <a:schemeClr val="tx1"/>
          </a:solidFill>
          <a:latin typeface="+mn-lt"/>
          <a:ea typeface="+mn-ea"/>
          <a:cs typeface="+mn-cs"/>
        </a:defRPr>
      </a:lvl5pPr>
      <a:lvl6pPr marL="2285943" algn="l" defTabSz="913742" rtl="0" eaLnBrk="1" latinLnBrk="0" hangingPunct="1">
        <a:defRPr sz="1800" kern="1200">
          <a:solidFill>
            <a:schemeClr val="tx1"/>
          </a:solidFill>
          <a:latin typeface="+mn-lt"/>
          <a:ea typeface="+mn-ea"/>
          <a:cs typeface="+mn-cs"/>
        </a:defRPr>
      </a:lvl6pPr>
      <a:lvl7pPr marL="2743131" algn="l" defTabSz="913742" rtl="0" eaLnBrk="1" latinLnBrk="0" hangingPunct="1">
        <a:defRPr sz="1800" kern="1200">
          <a:solidFill>
            <a:schemeClr val="tx1"/>
          </a:solidFill>
          <a:latin typeface="+mn-lt"/>
          <a:ea typeface="+mn-ea"/>
          <a:cs typeface="+mn-cs"/>
        </a:defRPr>
      </a:lvl7pPr>
      <a:lvl8pPr marL="3200320" algn="l" defTabSz="913742" rtl="0" eaLnBrk="1" latinLnBrk="0" hangingPunct="1">
        <a:defRPr sz="1800" kern="1200">
          <a:solidFill>
            <a:schemeClr val="tx1"/>
          </a:solidFill>
          <a:latin typeface="+mn-lt"/>
          <a:ea typeface="+mn-ea"/>
          <a:cs typeface="+mn-cs"/>
        </a:defRPr>
      </a:lvl8pPr>
      <a:lvl9pPr marL="3657509" algn="l" defTabSz="9137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Arial Bold" panose="020B0604020202090204" charset="0"/>
              </a:rPr>
              <a:t>Scenario-based questions</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Engineering</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0D5A4E-AB32-F813-3B5E-E7414525DFE2}"/>
              </a:ext>
            </a:extLst>
          </p:cNvPr>
          <p:cNvSpPr>
            <a:spLocks noGrp="1"/>
          </p:cNvSpPr>
          <p:nvPr>
            <p:ph type="sldNum" sz="quarter" idx="13"/>
          </p:nvPr>
        </p:nvSpPr>
        <p:spPr/>
        <p:txBody>
          <a:bodyPr/>
          <a:lstStyle/>
          <a:p>
            <a:fld id="{12342C3A-DD85-7843-B416-BD52AB030D59}" type="slidenum">
              <a:rPr lang="en-US" smtClean="0"/>
              <a:pPr/>
              <a:t>2</a:t>
            </a:fld>
            <a:endParaRPr lang="en-US" dirty="0"/>
          </a:p>
        </p:txBody>
      </p:sp>
      <p:sp>
        <p:nvSpPr>
          <p:cNvPr id="3" name="Text Placeholder 2">
            <a:extLst>
              <a:ext uri="{FF2B5EF4-FFF2-40B4-BE49-F238E27FC236}">
                <a16:creationId xmlns:a16="http://schemas.microsoft.com/office/drawing/2014/main" id="{820DFDB6-CC6B-12BA-C3F1-A60DEA7EEAEF}"/>
              </a:ext>
            </a:extLst>
          </p:cNvPr>
          <p:cNvSpPr>
            <a:spLocks noGrp="1"/>
          </p:cNvSpPr>
          <p:nvPr>
            <p:ph type="body" sz="quarter" idx="12"/>
          </p:nvPr>
        </p:nvSpPr>
        <p:spPr/>
        <p:txBody>
          <a:bodyPr>
            <a:normAutofit/>
          </a:bodyPr>
          <a:lstStyle/>
          <a:p>
            <a:endParaRPr lang="en-US" sz="2000" b="1" dirty="0"/>
          </a:p>
          <a:p>
            <a:r>
              <a:rPr lang="en-US" sz="2000" b="1" dirty="0"/>
              <a:t>Use Case Example:</a:t>
            </a:r>
          </a:p>
          <a:p>
            <a:r>
              <a:rPr lang="en-US" sz="2000" dirty="0"/>
              <a:t>A </a:t>
            </a:r>
            <a:r>
              <a:rPr lang="en-US" sz="2000" b="1" dirty="0"/>
              <a:t>Use Case</a:t>
            </a:r>
            <a:r>
              <a:rPr lang="en-US" sz="2000" dirty="0"/>
              <a:t> describes a specific interaction between a user (or "actor") and the system to achieve a particular goal. It's often more detailed and focused on the steps to accomplish a task.</a:t>
            </a:r>
          </a:p>
          <a:p>
            <a:r>
              <a:rPr lang="en-US" sz="2000" b="1" dirty="0"/>
              <a:t>Use Case: Transfer Funds Between Accounts</a:t>
            </a:r>
            <a:endParaRPr lang="en-US" sz="2000" dirty="0"/>
          </a:p>
          <a:p>
            <a:pPr marL="800100" lvl="1" indent="-342900">
              <a:buFont typeface="Arial" panose="020B0604020202020204" pitchFamily="34" charset="0"/>
              <a:buChar char="•"/>
            </a:pPr>
            <a:r>
              <a:rPr lang="en-US" sz="2000" b="1" dirty="0"/>
              <a:t>Actor:</a:t>
            </a:r>
            <a:r>
              <a:rPr lang="en-US" sz="2000" dirty="0"/>
              <a:t> Customer (User of the Online Banking System)</a:t>
            </a:r>
          </a:p>
          <a:p>
            <a:pPr marL="800100" lvl="1" indent="-342900">
              <a:buFont typeface="Arial" panose="020B0604020202020204" pitchFamily="34" charset="0"/>
              <a:buChar char="•"/>
            </a:pPr>
            <a:r>
              <a:rPr lang="en-US" sz="2000" b="1" dirty="0"/>
              <a:t>Goal:</a:t>
            </a:r>
            <a:r>
              <a:rPr lang="en-US" sz="2000" dirty="0"/>
              <a:t> To transfer money from one account to another within the same bank.</a:t>
            </a:r>
          </a:p>
          <a:p>
            <a:endParaRPr lang="en-US" sz="2000" dirty="0"/>
          </a:p>
        </p:txBody>
      </p:sp>
      <p:sp>
        <p:nvSpPr>
          <p:cNvPr id="4" name="Title 3">
            <a:extLst>
              <a:ext uri="{FF2B5EF4-FFF2-40B4-BE49-F238E27FC236}">
                <a16:creationId xmlns:a16="http://schemas.microsoft.com/office/drawing/2014/main" id="{B0FD4FF8-D626-74F0-35C4-3DAC37D33949}"/>
              </a:ext>
            </a:extLst>
          </p:cNvPr>
          <p:cNvSpPr>
            <a:spLocks noGrp="1"/>
          </p:cNvSpPr>
          <p:nvPr>
            <p:ph type="title"/>
          </p:nvPr>
        </p:nvSpPr>
        <p:spPr/>
        <p:txBody>
          <a:bodyPr/>
          <a:lstStyle/>
          <a:p>
            <a:r>
              <a:rPr lang="en-US" dirty="0"/>
              <a:t>Scenario 1: Online Banking Application</a:t>
            </a:r>
          </a:p>
        </p:txBody>
      </p:sp>
    </p:spTree>
    <p:extLst>
      <p:ext uri="{BB962C8B-B14F-4D97-AF65-F5344CB8AC3E}">
        <p14:creationId xmlns:p14="http://schemas.microsoft.com/office/powerpoint/2010/main" val="1662646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8A1287-9125-BC84-F8AC-142A5A484A92}"/>
              </a:ext>
            </a:extLst>
          </p:cNvPr>
          <p:cNvSpPr>
            <a:spLocks noGrp="1"/>
          </p:cNvSpPr>
          <p:nvPr>
            <p:ph type="sldNum" sz="quarter" idx="13"/>
          </p:nvPr>
        </p:nvSpPr>
        <p:spPr/>
        <p:txBody>
          <a:bodyPr/>
          <a:lstStyle/>
          <a:p>
            <a:fld id="{12342C3A-DD85-7843-B416-BD52AB030D59}" type="slidenum">
              <a:rPr lang="en-US" smtClean="0"/>
              <a:pPr/>
              <a:t>3</a:t>
            </a:fld>
            <a:endParaRPr lang="en-US" dirty="0"/>
          </a:p>
        </p:txBody>
      </p:sp>
      <p:sp>
        <p:nvSpPr>
          <p:cNvPr id="3" name="Text Placeholder 2">
            <a:extLst>
              <a:ext uri="{FF2B5EF4-FFF2-40B4-BE49-F238E27FC236}">
                <a16:creationId xmlns:a16="http://schemas.microsoft.com/office/drawing/2014/main" id="{357222C3-5B61-3052-2AE3-F217D884D9A8}"/>
              </a:ext>
            </a:extLst>
          </p:cNvPr>
          <p:cNvSpPr>
            <a:spLocks noGrp="1"/>
          </p:cNvSpPr>
          <p:nvPr>
            <p:ph type="body" sz="quarter" idx="12"/>
          </p:nvPr>
        </p:nvSpPr>
        <p:spPr/>
        <p:txBody>
          <a:bodyPr>
            <a:normAutofit/>
          </a:bodyPr>
          <a:lstStyle/>
          <a:p>
            <a:endParaRPr lang="en-US" sz="2000" b="1" dirty="0"/>
          </a:p>
          <a:p>
            <a:r>
              <a:rPr lang="en-US" sz="2400" b="1" dirty="0"/>
              <a:t>Main Flow: </a:t>
            </a:r>
            <a:r>
              <a:rPr lang="en-US" sz="2400" dirty="0"/>
              <a:t>The customer selects the "Transfer Funds" option from the main menu.</a:t>
            </a:r>
          </a:p>
          <a:p>
            <a:pPr marL="914400" lvl="1" indent="-457200">
              <a:buFont typeface="+mj-lt"/>
              <a:buAutoNum type="arabicPeriod"/>
            </a:pPr>
            <a:r>
              <a:rPr lang="en-US" sz="2000" dirty="0"/>
              <a:t>The system prompts the customer to select the source account (e.g., checking or savings).</a:t>
            </a:r>
          </a:p>
          <a:p>
            <a:pPr marL="914400" lvl="1" indent="-457200">
              <a:buFont typeface="+mj-lt"/>
              <a:buAutoNum type="arabicPeriod"/>
            </a:pPr>
            <a:r>
              <a:rPr lang="en-US" sz="2000" dirty="0"/>
              <a:t>The customer selects the source account and enters the transfer amount.</a:t>
            </a:r>
          </a:p>
          <a:p>
            <a:pPr marL="914400" lvl="1" indent="-457200">
              <a:buFont typeface="+mj-lt"/>
              <a:buAutoNum type="arabicPeriod"/>
            </a:pPr>
            <a:r>
              <a:rPr lang="en-US" sz="2000" dirty="0"/>
              <a:t>The system prompts the customer to select the destination account.</a:t>
            </a:r>
          </a:p>
          <a:p>
            <a:pPr marL="914400" lvl="1" indent="-457200">
              <a:buFont typeface="+mj-lt"/>
              <a:buAutoNum type="arabicPeriod"/>
            </a:pPr>
            <a:r>
              <a:rPr lang="en-US" sz="2000" dirty="0"/>
              <a:t>The customer selects the destination account.</a:t>
            </a:r>
          </a:p>
          <a:p>
            <a:pPr marL="914400" lvl="1" indent="-457200">
              <a:buFont typeface="+mj-lt"/>
              <a:buAutoNum type="arabicPeriod"/>
            </a:pPr>
            <a:r>
              <a:rPr lang="en-US" sz="2000" dirty="0"/>
              <a:t>The system confirms the details and asks for verification.</a:t>
            </a:r>
          </a:p>
          <a:p>
            <a:pPr marL="914400" lvl="1" indent="-457200">
              <a:buFont typeface="+mj-lt"/>
              <a:buAutoNum type="arabicPeriod"/>
            </a:pPr>
            <a:r>
              <a:rPr lang="en-US" sz="2000" dirty="0"/>
              <a:t>The customer confirms the transfer.</a:t>
            </a:r>
          </a:p>
          <a:p>
            <a:pPr marL="914400" lvl="1" indent="-457200">
              <a:buFont typeface="+mj-lt"/>
              <a:buAutoNum type="arabicPeriod"/>
            </a:pPr>
            <a:r>
              <a:rPr lang="en-US" sz="2000" dirty="0"/>
              <a:t>The system processes the transfer, updates both accounts' balances, and sends a confirmation to the customer.</a:t>
            </a:r>
          </a:p>
          <a:p>
            <a:endParaRPr lang="en-US" sz="2000" dirty="0"/>
          </a:p>
        </p:txBody>
      </p:sp>
      <p:sp>
        <p:nvSpPr>
          <p:cNvPr id="4" name="Title 3">
            <a:extLst>
              <a:ext uri="{FF2B5EF4-FFF2-40B4-BE49-F238E27FC236}">
                <a16:creationId xmlns:a16="http://schemas.microsoft.com/office/drawing/2014/main" id="{A915FFDE-CBA3-DB31-FED0-262A2F3CF79D}"/>
              </a:ext>
            </a:extLst>
          </p:cNvPr>
          <p:cNvSpPr>
            <a:spLocks noGrp="1"/>
          </p:cNvSpPr>
          <p:nvPr>
            <p:ph type="title"/>
          </p:nvPr>
        </p:nvSpPr>
        <p:spPr/>
        <p:txBody>
          <a:bodyPr/>
          <a:lstStyle/>
          <a:p>
            <a:r>
              <a:rPr lang="en-US" dirty="0"/>
              <a:t>Use Case Example:</a:t>
            </a:r>
          </a:p>
        </p:txBody>
      </p:sp>
    </p:spTree>
    <p:extLst>
      <p:ext uri="{BB962C8B-B14F-4D97-AF65-F5344CB8AC3E}">
        <p14:creationId xmlns:p14="http://schemas.microsoft.com/office/powerpoint/2010/main" val="2740991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BB625D-1987-CB86-5949-3D1C7A093C9F}"/>
              </a:ext>
            </a:extLst>
          </p:cNvPr>
          <p:cNvSpPr>
            <a:spLocks noGrp="1"/>
          </p:cNvSpPr>
          <p:nvPr>
            <p:ph type="sldNum" sz="quarter" idx="13"/>
          </p:nvPr>
        </p:nvSpPr>
        <p:spPr/>
        <p:txBody>
          <a:bodyPr/>
          <a:lstStyle/>
          <a:p>
            <a:fld id="{12342C3A-DD85-7843-B416-BD52AB030D59}" type="slidenum">
              <a:rPr lang="en-US" smtClean="0"/>
              <a:pPr/>
              <a:t>4</a:t>
            </a:fld>
            <a:endParaRPr lang="en-US" dirty="0"/>
          </a:p>
        </p:txBody>
      </p:sp>
      <p:sp>
        <p:nvSpPr>
          <p:cNvPr id="3" name="Text Placeholder 2">
            <a:extLst>
              <a:ext uri="{FF2B5EF4-FFF2-40B4-BE49-F238E27FC236}">
                <a16:creationId xmlns:a16="http://schemas.microsoft.com/office/drawing/2014/main" id="{84428A13-6A48-CF50-8508-46AF2DE9F370}"/>
              </a:ext>
            </a:extLst>
          </p:cNvPr>
          <p:cNvSpPr>
            <a:spLocks noGrp="1"/>
          </p:cNvSpPr>
          <p:nvPr>
            <p:ph type="body" sz="quarter" idx="12"/>
          </p:nvPr>
        </p:nvSpPr>
        <p:spPr/>
        <p:txBody>
          <a:bodyPr>
            <a:normAutofit/>
          </a:bodyPr>
          <a:lstStyle/>
          <a:p>
            <a:endParaRPr lang="en-US" sz="2000" b="1" dirty="0"/>
          </a:p>
          <a:p>
            <a:r>
              <a:rPr lang="en-US" sz="2000" b="1" dirty="0"/>
              <a:t>Alternative Flows:</a:t>
            </a:r>
          </a:p>
          <a:p>
            <a:pPr marL="742950" lvl="1" indent="-285750">
              <a:buFont typeface="Arial" panose="020B0604020202020204" pitchFamily="34" charset="0"/>
              <a:buChar char="•"/>
            </a:pPr>
            <a:r>
              <a:rPr lang="en-US" sz="2000" dirty="0"/>
              <a:t>If the source account has insufficient funds, the system will display an error and ask the user to adjust the transfer amount.</a:t>
            </a:r>
          </a:p>
        </p:txBody>
      </p:sp>
      <p:sp>
        <p:nvSpPr>
          <p:cNvPr id="4" name="Title 3">
            <a:extLst>
              <a:ext uri="{FF2B5EF4-FFF2-40B4-BE49-F238E27FC236}">
                <a16:creationId xmlns:a16="http://schemas.microsoft.com/office/drawing/2014/main" id="{C9D6D486-E4A7-95DB-434A-97BC24E26AB5}"/>
              </a:ext>
            </a:extLst>
          </p:cNvPr>
          <p:cNvSpPr>
            <a:spLocks noGrp="1"/>
          </p:cNvSpPr>
          <p:nvPr>
            <p:ph type="title"/>
          </p:nvPr>
        </p:nvSpPr>
        <p:spPr/>
        <p:txBody>
          <a:bodyPr/>
          <a:lstStyle/>
          <a:p>
            <a:r>
              <a:rPr lang="en-US" dirty="0"/>
              <a:t>Use Case Example:</a:t>
            </a:r>
          </a:p>
        </p:txBody>
      </p:sp>
    </p:spTree>
    <p:extLst>
      <p:ext uri="{BB962C8B-B14F-4D97-AF65-F5344CB8AC3E}">
        <p14:creationId xmlns:p14="http://schemas.microsoft.com/office/powerpoint/2010/main" val="66682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033497-8701-82EF-212D-810C3CEE6E6E}"/>
              </a:ext>
            </a:extLst>
          </p:cNvPr>
          <p:cNvSpPr>
            <a:spLocks noGrp="1"/>
          </p:cNvSpPr>
          <p:nvPr>
            <p:ph type="sldNum" sz="quarter" idx="13"/>
          </p:nvPr>
        </p:nvSpPr>
        <p:spPr/>
        <p:txBody>
          <a:bodyPr/>
          <a:lstStyle/>
          <a:p>
            <a:fld id="{12342C3A-DD85-7843-B416-BD52AB030D59}" type="slidenum">
              <a:rPr lang="en-US" smtClean="0"/>
              <a:pPr/>
              <a:t>5</a:t>
            </a:fld>
            <a:endParaRPr lang="en-US" dirty="0"/>
          </a:p>
        </p:txBody>
      </p:sp>
      <p:sp>
        <p:nvSpPr>
          <p:cNvPr id="3" name="Text Placeholder 2">
            <a:extLst>
              <a:ext uri="{FF2B5EF4-FFF2-40B4-BE49-F238E27FC236}">
                <a16:creationId xmlns:a16="http://schemas.microsoft.com/office/drawing/2014/main" id="{55B321C4-D750-ACA3-7447-A2EF39624B24}"/>
              </a:ext>
            </a:extLst>
          </p:cNvPr>
          <p:cNvSpPr>
            <a:spLocks noGrp="1"/>
          </p:cNvSpPr>
          <p:nvPr>
            <p:ph type="body" sz="quarter" idx="12"/>
          </p:nvPr>
        </p:nvSpPr>
        <p:spPr/>
        <p:txBody>
          <a:bodyPr>
            <a:normAutofit fontScale="92500" lnSpcReduction="10000"/>
          </a:bodyPr>
          <a:lstStyle/>
          <a:p>
            <a:endParaRPr lang="en-US" sz="2000" dirty="0"/>
          </a:p>
          <a:p>
            <a:r>
              <a:rPr lang="en-US" sz="2000" dirty="0"/>
              <a:t>A </a:t>
            </a:r>
            <a:r>
              <a:rPr lang="en-US" sz="2000" b="1" dirty="0"/>
              <a:t>User Story</a:t>
            </a:r>
            <a:r>
              <a:rPr lang="en-US" sz="2000" dirty="0"/>
              <a:t> is more concise and focuses on the user’s need or value. It's a short description of a feature from the user's perspective.</a:t>
            </a:r>
          </a:p>
          <a:p>
            <a:r>
              <a:rPr lang="en-US" sz="2000" b="1" dirty="0"/>
              <a:t>User Story 1: Transfer Funds Between Accounts</a:t>
            </a:r>
            <a:endParaRPr lang="en-US" sz="2000" dirty="0"/>
          </a:p>
          <a:p>
            <a:pPr marL="742950" lvl="1" indent="-285750">
              <a:buFont typeface="Arial" panose="020B0604020202020204" pitchFamily="34" charset="0"/>
              <a:buChar char="•"/>
            </a:pPr>
            <a:r>
              <a:rPr lang="en-US" sz="2000" b="1" dirty="0"/>
              <a:t>As a</a:t>
            </a:r>
            <a:r>
              <a:rPr lang="en-US" sz="2000" dirty="0"/>
              <a:t> customer of the online banking system,</a:t>
            </a:r>
          </a:p>
          <a:p>
            <a:pPr marL="742950" lvl="1" indent="-285750">
              <a:buFont typeface="Arial" panose="020B0604020202020204" pitchFamily="34" charset="0"/>
              <a:buChar char="•"/>
            </a:pPr>
            <a:r>
              <a:rPr lang="en-US" sz="2000" b="1" dirty="0"/>
              <a:t>I want</a:t>
            </a:r>
            <a:r>
              <a:rPr lang="en-US" sz="2000" dirty="0"/>
              <a:t> to be able to transfer funds between my checking and savings accounts,</a:t>
            </a:r>
          </a:p>
          <a:p>
            <a:pPr marL="742950" lvl="1" indent="-285750">
              <a:buFont typeface="Arial" panose="020B0604020202020204" pitchFamily="34" charset="0"/>
              <a:buChar char="•"/>
            </a:pPr>
            <a:r>
              <a:rPr lang="en-US" sz="2000" b="1" dirty="0"/>
              <a:t>So that</a:t>
            </a:r>
            <a:r>
              <a:rPr lang="en-US" sz="2000" dirty="0"/>
              <a:t> I can manage my money and keep my accounts balanced.</a:t>
            </a:r>
          </a:p>
          <a:p>
            <a:endParaRPr lang="en-US" sz="2000" b="1" dirty="0"/>
          </a:p>
          <a:p>
            <a:r>
              <a:rPr lang="en-US" sz="2000" b="1" dirty="0"/>
              <a:t>Acceptance Criteria:</a:t>
            </a:r>
            <a:endParaRPr lang="en-US" sz="2000" dirty="0"/>
          </a:p>
          <a:p>
            <a:pPr marL="800100" lvl="1" indent="-342900">
              <a:buFont typeface="+mj-lt"/>
              <a:buAutoNum type="arabicPeriod"/>
            </a:pPr>
            <a:r>
              <a:rPr lang="en-US" sz="2000" dirty="0"/>
              <a:t>I can choose a source account (checking or savings) and a destination account.</a:t>
            </a:r>
          </a:p>
          <a:p>
            <a:pPr marL="800100" lvl="1" indent="-342900">
              <a:buFont typeface="+mj-lt"/>
              <a:buAutoNum type="arabicPeriod"/>
            </a:pPr>
            <a:r>
              <a:rPr lang="en-US" sz="2000" dirty="0"/>
              <a:t>I can enter the transfer amount.</a:t>
            </a:r>
          </a:p>
          <a:p>
            <a:pPr marL="800100" lvl="1" indent="-342900">
              <a:buFont typeface="+mj-lt"/>
              <a:buAutoNum type="arabicPeriod"/>
            </a:pPr>
            <a:r>
              <a:rPr lang="en-US" sz="2000" dirty="0"/>
              <a:t>I receive a confirmation message once the transfer is successful.</a:t>
            </a:r>
          </a:p>
          <a:p>
            <a:pPr marL="800100" lvl="1" indent="-342900">
              <a:buFont typeface="+mj-lt"/>
              <a:buAutoNum type="arabicPeriod"/>
            </a:pPr>
            <a:r>
              <a:rPr lang="en-US" sz="2000" dirty="0"/>
              <a:t>The transfer is processed within a reasonable amount of time (e.g., under 5 seconds).</a:t>
            </a:r>
          </a:p>
          <a:p>
            <a:pPr marL="742950" lvl="1" indent="-285750">
              <a:buFont typeface="Arial" panose="020B0604020202020204" pitchFamily="34" charset="0"/>
              <a:buChar char="•"/>
            </a:pPr>
            <a:endParaRPr lang="en-US" sz="2000" dirty="0"/>
          </a:p>
          <a:p>
            <a:endParaRPr lang="en-US" sz="2000" dirty="0"/>
          </a:p>
        </p:txBody>
      </p:sp>
      <p:sp>
        <p:nvSpPr>
          <p:cNvPr id="4" name="Title 3">
            <a:extLst>
              <a:ext uri="{FF2B5EF4-FFF2-40B4-BE49-F238E27FC236}">
                <a16:creationId xmlns:a16="http://schemas.microsoft.com/office/drawing/2014/main" id="{A524ACF3-73FB-869C-89DB-09004585F63F}"/>
              </a:ext>
            </a:extLst>
          </p:cNvPr>
          <p:cNvSpPr>
            <a:spLocks noGrp="1"/>
          </p:cNvSpPr>
          <p:nvPr>
            <p:ph type="title"/>
          </p:nvPr>
        </p:nvSpPr>
        <p:spPr/>
        <p:txBody>
          <a:bodyPr/>
          <a:lstStyle/>
          <a:p>
            <a:r>
              <a:rPr lang="en-US" dirty="0"/>
              <a:t>User Story Example:</a:t>
            </a:r>
          </a:p>
        </p:txBody>
      </p:sp>
    </p:spTree>
    <p:extLst>
      <p:ext uri="{BB962C8B-B14F-4D97-AF65-F5344CB8AC3E}">
        <p14:creationId xmlns:p14="http://schemas.microsoft.com/office/powerpoint/2010/main" val="3736973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83592C-C39E-2DED-49F7-A9F015442522}"/>
              </a:ext>
            </a:extLst>
          </p:cNvPr>
          <p:cNvSpPr>
            <a:spLocks noGrp="1"/>
          </p:cNvSpPr>
          <p:nvPr>
            <p:ph type="sldNum" sz="quarter" idx="13"/>
          </p:nvPr>
        </p:nvSpPr>
        <p:spPr/>
        <p:txBody>
          <a:bodyPr/>
          <a:lstStyle/>
          <a:p>
            <a:fld id="{12342C3A-DD85-7843-B416-BD52AB030D59}" type="slidenum">
              <a:rPr lang="en-US" smtClean="0"/>
              <a:pPr/>
              <a:t>6</a:t>
            </a:fld>
            <a:endParaRPr lang="en-US" dirty="0"/>
          </a:p>
        </p:txBody>
      </p:sp>
      <p:sp>
        <p:nvSpPr>
          <p:cNvPr id="3" name="Text Placeholder 2">
            <a:extLst>
              <a:ext uri="{FF2B5EF4-FFF2-40B4-BE49-F238E27FC236}">
                <a16:creationId xmlns:a16="http://schemas.microsoft.com/office/drawing/2014/main" id="{A80A2AAE-896B-6665-F3FE-E0FA53CEBF6F}"/>
              </a:ext>
            </a:extLst>
          </p:cNvPr>
          <p:cNvSpPr>
            <a:spLocks noGrp="1"/>
          </p:cNvSpPr>
          <p:nvPr>
            <p:ph type="body" sz="quarter" idx="12"/>
          </p:nvPr>
        </p:nvSpPr>
        <p:spPr/>
        <p:txBody>
          <a:bodyPr>
            <a:normAutofit/>
          </a:bodyPr>
          <a:lstStyle/>
          <a:p>
            <a:endParaRPr lang="en-US" sz="2000" b="1" dirty="0"/>
          </a:p>
          <a:p>
            <a:r>
              <a:rPr lang="en-US" sz="2000" b="1" dirty="0"/>
              <a:t>User Story 2: View Transaction History</a:t>
            </a:r>
            <a:endParaRPr lang="en-US" sz="2000" dirty="0"/>
          </a:p>
          <a:p>
            <a:pPr marL="742950" lvl="1" indent="-285750">
              <a:buFont typeface="Arial" panose="020B0604020202020204" pitchFamily="34" charset="0"/>
              <a:buChar char="•"/>
            </a:pPr>
            <a:r>
              <a:rPr lang="en-US" sz="2000" b="1" dirty="0"/>
              <a:t>As a</a:t>
            </a:r>
            <a:r>
              <a:rPr lang="en-US" sz="2000" dirty="0"/>
              <a:t> customer of the online banking system,</a:t>
            </a:r>
          </a:p>
          <a:p>
            <a:pPr marL="742950" lvl="1" indent="-285750">
              <a:buFont typeface="Arial" panose="020B0604020202020204" pitchFamily="34" charset="0"/>
              <a:buChar char="•"/>
            </a:pPr>
            <a:r>
              <a:rPr lang="en-US" sz="2000" b="1" dirty="0"/>
              <a:t>I want</a:t>
            </a:r>
            <a:r>
              <a:rPr lang="en-US" sz="2000" dirty="0"/>
              <a:t> to view my recent transactions,</a:t>
            </a:r>
          </a:p>
          <a:p>
            <a:pPr marL="742950" lvl="1" indent="-285750">
              <a:buFont typeface="Arial" panose="020B0604020202020204" pitchFamily="34" charset="0"/>
              <a:buChar char="•"/>
            </a:pPr>
            <a:r>
              <a:rPr lang="en-US" sz="2000" b="1" dirty="0"/>
              <a:t>So that</a:t>
            </a:r>
            <a:r>
              <a:rPr lang="en-US" sz="2000" dirty="0"/>
              <a:t> I can keep track of my spending and account activity.</a:t>
            </a:r>
          </a:p>
          <a:p>
            <a:endParaRPr lang="en-US" sz="2000" b="1" dirty="0"/>
          </a:p>
          <a:p>
            <a:r>
              <a:rPr lang="en-US" sz="2000" b="1" dirty="0"/>
              <a:t>Acceptance Criteria:</a:t>
            </a:r>
            <a:endParaRPr lang="en-US" sz="2000" dirty="0"/>
          </a:p>
          <a:p>
            <a:pPr marL="914400" lvl="1" indent="-457200">
              <a:buFont typeface="+mj-lt"/>
              <a:buAutoNum type="arabicPeriod"/>
            </a:pPr>
            <a:r>
              <a:rPr lang="en-US" sz="2000" dirty="0"/>
              <a:t>I can see a list of my recent transactions (e.g., last 10 transactions).</a:t>
            </a:r>
          </a:p>
          <a:p>
            <a:pPr marL="914400" lvl="1" indent="-457200">
              <a:buFont typeface="+mj-lt"/>
              <a:buAutoNum type="arabicPeriod"/>
            </a:pPr>
            <a:r>
              <a:rPr lang="en-US" sz="2000" dirty="0"/>
              <a:t>Each transaction displays the date, description, and amount.</a:t>
            </a:r>
          </a:p>
          <a:p>
            <a:pPr marL="914400" lvl="1" indent="-457200">
              <a:buFont typeface="+mj-lt"/>
              <a:buAutoNum type="arabicPeriod"/>
            </a:pPr>
            <a:r>
              <a:rPr lang="en-US" sz="2000" dirty="0"/>
              <a:t>I can filter transactions by date or type (e.g., transfers, payments).</a:t>
            </a:r>
          </a:p>
          <a:p>
            <a:endParaRPr lang="en-US" sz="2000" dirty="0"/>
          </a:p>
        </p:txBody>
      </p:sp>
      <p:sp>
        <p:nvSpPr>
          <p:cNvPr id="4" name="Title 3">
            <a:extLst>
              <a:ext uri="{FF2B5EF4-FFF2-40B4-BE49-F238E27FC236}">
                <a16:creationId xmlns:a16="http://schemas.microsoft.com/office/drawing/2014/main" id="{47DFC7ED-8B0D-F699-F695-7FB036121C65}"/>
              </a:ext>
            </a:extLst>
          </p:cNvPr>
          <p:cNvSpPr>
            <a:spLocks noGrp="1"/>
          </p:cNvSpPr>
          <p:nvPr>
            <p:ph type="title"/>
          </p:nvPr>
        </p:nvSpPr>
        <p:spPr/>
        <p:txBody>
          <a:bodyPr/>
          <a:lstStyle/>
          <a:p>
            <a:r>
              <a:rPr lang="en-US" dirty="0"/>
              <a:t>User Story Example:</a:t>
            </a:r>
          </a:p>
        </p:txBody>
      </p:sp>
    </p:spTree>
    <p:extLst>
      <p:ext uri="{BB962C8B-B14F-4D97-AF65-F5344CB8AC3E}">
        <p14:creationId xmlns:p14="http://schemas.microsoft.com/office/powerpoint/2010/main" val="242436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D58A33-918B-EC86-77F0-B0C62926883E}"/>
              </a:ext>
            </a:extLst>
          </p:cNvPr>
          <p:cNvSpPr>
            <a:spLocks noGrp="1"/>
          </p:cNvSpPr>
          <p:nvPr>
            <p:ph type="sldNum" sz="quarter" idx="13"/>
          </p:nvPr>
        </p:nvSpPr>
        <p:spPr/>
        <p:txBody>
          <a:bodyPr/>
          <a:lstStyle/>
          <a:p>
            <a:fld id="{12342C3A-DD85-7843-B416-BD52AB030D59}" type="slidenum">
              <a:rPr lang="en-US" smtClean="0"/>
              <a:pPr/>
              <a:t>7</a:t>
            </a:fld>
            <a:endParaRPr lang="en-US" dirty="0"/>
          </a:p>
        </p:txBody>
      </p:sp>
      <p:sp>
        <p:nvSpPr>
          <p:cNvPr id="3" name="Text Placeholder 2">
            <a:extLst>
              <a:ext uri="{FF2B5EF4-FFF2-40B4-BE49-F238E27FC236}">
                <a16:creationId xmlns:a16="http://schemas.microsoft.com/office/drawing/2014/main" id="{21916395-FF73-1307-C9D5-58D7CABE60D5}"/>
              </a:ext>
            </a:extLst>
          </p:cNvPr>
          <p:cNvSpPr>
            <a:spLocks noGrp="1"/>
          </p:cNvSpPr>
          <p:nvPr>
            <p:ph type="body" sz="quarter" idx="12"/>
          </p:nvPr>
        </p:nvSpPr>
        <p:spPr/>
        <p:txBody>
          <a:bodyPr>
            <a:normAutofit/>
          </a:bodyPr>
          <a:lstStyle/>
          <a:p>
            <a:endParaRPr lang="en-US" sz="2000" dirty="0"/>
          </a:p>
          <a:p>
            <a:pPr marL="342900" indent="-342900">
              <a:buFont typeface="Arial" panose="020B0604020202020204" pitchFamily="34" charset="0"/>
              <a:buChar char="•"/>
            </a:pPr>
            <a:r>
              <a:rPr lang="en-US" sz="2000" b="1" dirty="0"/>
              <a:t>Use Case: </a:t>
            </a:r>
            <a:r>
              <a:rPr lang="en-US" sz="2000" dirty="0"/>
              <a:t>More detailed, describes the sequence of steps for a user interaction with the system. It focuses on the system’s behavior and how it responds to user actions.</a:t>
            </a:r>
          </a:p>
          <a:p>
            <a:pPr marL="342900" indent="-342900">
              <a:buFont typeface="Arial" panose="020B0604020202020204" pitchFamily="34" charset="0"/>
              <a:buChar char="•"/>
            </a:pPr>
            <a:r>
              <a:rPr lang="en-US" sz="2000" b="1" dirty="0"/>
              <a:t>User Story: </a:t>
            </a:r>
            <a:r>
              <a:rPr lang="en-US" sz="2000" dirty="0"/>
              <a:t>Short, simple, and focused on the user’s need or goal. It emphasizes the value the user gets from the feature rather than the process.</a:t>
            </a:r>
          </a:p>
        </p:txBody>
      </p:sp>
      <p:sp>
        <p:nvSpPr>
          <p:cNvPr id="4" name="Title 3">
            <a:extLst>
              <a:ext uri="{FF2B5EF4-FFF2-40B4-BE49-F238E27FC236}">
                <a16:creationId xmlns:a16="http://schemas.microsoft.com/office/drawing/2014/main" id="{E3E4BF40-313A-79F5-53DE-829881666701}"/>
              </a:ext>
            </a:extLst>
          </p:cNvPr>
          <p:cNvSpPr>
            <a:spLocks noGrp="1"/>
          </p:cNvSpPr>
          <p:nvPr>
            <p:ph type="title"/>
          </p:nvPr>
        </p:nvSpPr>
        <p:spPr/>
        <p:txBody>
          <a:bodyPr/>
          <a:lstStyle/>
          <a:p>
            <a:r>
              <a:rPr lang="en-US" dirty="0"/>
              <a:t>Key Differences:</a:t>
            </a:r>
          </a:p>
        </p:txBody>
      </p:sp>
    </p:spTree>
    <p:extLst>
      <p:ext uri="{BB962C8B-B14F-4D97-AF65-F5344CB8AC3E}">
        <p14:creationId xmlns:p14="http://schemas.microsoft.com/office/powerpoint/2010/main" val="3410160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CD6AD1-1768-F864-7951-41874F6BD2A6}"/>
              </a:ext>
            </a:extLst>
          </p:cNvPr>
          <p:cNvSpPr>
            <a:spLocks noGrp="1"/>
          </p:cNvSpPr>
          <p:nvPr>
            <p:ph type="sldNum" sz="quarter" idx="13"/>
          </p:nvPr>
        </p:nvSpPr>
        <p:spPr/>
        <p:txBody>
          <a:bodyPr/>
          <a:lstStyle/>
          <a:p>
            <a:fld id="{12342C3A-DD85-7843-B416-BD52AB030D59}" type="slidenum">
              <a:rPr lang="en-US" smtClean="0"/>
              <a:pPr/>
              <a:t>8</a:t>
            </a:fld>
            <a:endParaRPr lang="en-US" dirty="0"/>
          </a:p>
        </p:txBody>
      </p:sp>
      <p:sp>
        <p:nvSpPr>
          <p:cNvPr id="3" name="Text Placeholder 2">
            <a:extLst>
              <a:ext uri="{FF2B5EF4-FFF2-40B4-BE49-F238E27FC236}">
                <a16:creationId xmlns:a16="http://schemas.microsoft.com/office/drawing/2014/main" id="{B5FBD3EE-14F4-0814-FCFD-93EB7CF348BD}"/>
              </a:ext>
            </a:extLst>
          </p:cNvPr>
          <p:cNvSpPr>
            <a:spLocks noGrp="1"/>
          </p:cNvSpPr>
          <p:nvPr>
            <p:ph type="body" sz="quarter" idx="12"/>
          </p:nvPr>
        </p:nvSpPr>
        <p:spPr/>
        <p:txBody>
          <a:bodyPr>
            <a:normAutofit/>
          </a:bodyPr>
          <a:lstStyle/>
          <a:p>
            <a:pPr marL="285750" indent="-285750">
              <a:buFont typeface="Arial" panose="020B0604020202020204" pitchFamily="34" charset="0"/>
              <a:buChar char="•"/>
            </a:pPr>
            <a:endParaRPr lang="en-US" sz="2000" dirty="0"/>
          </a:p>
          <a:p>
            <a:r>
              <a:rPr lang="en-US" sz="2000" dirty="0"/>
              <a:t>A customer visits the online shopping site to purchase products. They browse through various categories, select items, add them to their shopping cart, and proceed to checkout.</a:t>
            </a:r>
          </a:p>
          <a:p>
            <a:pPr marL="285750" indent="-285750">
              <a:buFont typeface="Arial" panose="020B0604020202020204" pitchFamily="34" charset="0"/>
              <a:buChar char="•"/>
            </a:pPr>
            <a:endParaRPr lang="en-US" sz="2000" dirty="0"/>
          </a:p>
          <a:p>
            <a:r>
              <a:rPr lang="en-US" sz="2000" b="1" dirty="0"/>
              <a:t>Use Case Question:</a:t>
            </a:r>
            <a:endParaRPr lang="en-US" sz="2000" dirty="0"/>
          </a:p>
          <a:p>
            <a:r>
              <a:rPr lang="en-US" sz="2000" i="1" dirty="0"/>
              <a:t>Scenario: The customer wants to add an item to their shopping cart.</a:t>
            </a:r>
            <a:endParaRPr lang="en-US" sz="2000" dirty="0"/>
          </a:p>
          <a:p>
            <a:endParaRPr lang="en-US" sz="2000" b="1" dirty="0"/>
          </a:p>
          <a:p>
            <a:r>
              <a:rPr lang="en-US" sz="2000" b="1" dirty="0"/>
              <a:t>Question:</a:t>
            </a:r>
            <a:br>
              <a:rPr lang="en-US" sz="2000" dirty="0"/>
            </a:br>
            <a:endParaRPr lang="en-US" sz="2000" dirty="0"/>
          </a:p>
          <a:p>
            <a:r>
              <a:rPr lang="en-US" sz="2000" dirty="0"/>
              <a:t>"Please write a </a:t>
            </a:r>
            <a:r>
              <a:rPr lang="en-US" sz="2000" b="1" dirty="0"/>
              <a:t>Use Case</a:t>
            </a:r>
            <a:r>
              <a:rPr lang="en-US" sz="2000" dirty="0"/>
              <a:t> for the action of </a:t>
            </a:r>
            <a:r>
              <a:rPr lang="en-US" sz="2000" b="1" dirty="0"/>
              <a:t>adding an item to the shopping cart</a:t>
            </a:r>
            <a:r>
              <a:rPr lang="en-US" sz="2000" dirty="0"/>
              <a:t> on the online shopping platform. Think about what steps the customer and the system need to take for the action to be completed. Include main flow, and any alternative flows."</a:t>
            </a:r>
          </a:p>
          <a:p>
            <a:pPr marL="285750" indent="-285750">
              <a:buFont typeface="Arial" panose="020B0604020202020204" pitchFamily="34" charset="0"/>
              <a:buChar char="•"/>
            </a:pPr>
            <a:endParaRPr lang="en-US" sz="2000" dirty="0"/>
          </a:p>
        </p:txBody>
      </p:sp>
      <p:sp>
        <p:nvSpPr>
          <p:cNvPr id="4" name="Title 3">
            <a:extLst>
              <a:ext uri="{FF2B5EF4-FFF2-40B4-BE49-F238E27FC236}">
                <a16:creationId xmlns:a16="http://schemas.microsoft.com/office/drawing/2014/main" id="{04431C3E-E409-44E2-9DB0-166B5D0A58E1}"/>
              </a:ext>
            </a:extLst>
          </p:cNvPr>
          <p:cNvSpPr>
            <a:spLocks noGrp="1"/>
          </p:cNvSpPr>
          <p:nvPr>
            <p:ph type="title"/>
          </p:nvPr>
        </p:nvSpPr>
        <p:spPr/>
        <p:txBody>
          <a:bodyPr>
            <a:normAutofit fontScale="90000"/>
          </a:bodyPr>
          <a:lstStyle/>
          <a:p>
            <a:r>
              <a:rPr lang="en-US" dirty="0"/>
              <a:t>Scenario 2: Online Shopping Site to Purchase Products</a:t>
            </a:r>
          </a:p>
        </p:txBody>
      </p:sp>
    </p:spTree>
    <p:extLst>
      <p:ext uri="{BB962C8B-B14F-4D97-AF65-F5344CB8AC3E}">
        <p14:creationId xmlns:p14="http://schemas.microsoft.com/office/powerpoint/2010/main" val="3622019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CAB512-6E3C-CA04-ED9E-25DEBCD2AE43}"/>
              </a:ext>
            </a:extLst>
          </p:cNvPr>
          <p:cNvSpPr>
            <a:spLocks noGrp="1"/>
          </p:cNvSpPr>
          <p:nvPr>
            <p:ph type="sldNum" sz="quarter" idx="13"/>
          </p:nvPr>
        </p:nvSpPr>
        <p:spPr/>
        <p:txBody>
          <a:bodyPr/>
          <a:lstStyle/>
          <a:p>
            <a:fld id="{12342C3A-DD85-7843-B416-BD52AB030D59}" type="slidenum">
              <a:rPr lang="en-US" smtClean="0"/>
              <a:pPr/>
              <a:t>9</a:t>
            </a:fld>
            <a:endParaRPr lang="en-US" dirty="0"/>
          </a:p>
        </p:txBody>
      </p:sp>
      <p:sp>
        <p:nvSpPr>
          <p:cNvPr id="3" name="Text Placeholder 2">
            <a:extLst>
              <a:ext uri="{FF2B5EF4-FFF2-40B4-BE49-F238E27FC236}">
                <a16:creationId xmlns:a16="http://schemas.microsoft.com/office/drawing/2014/main" id="{DC8D6CFE-829E-83B9-6B67-8EF6E113A1C6}"/>
              </a:ext>
            </a:extLst>
          </p:cNvPr>
          <p:cNvSpPr>
            <a:spLocks noGrp="1"/>
          </p:cNvSpPr>
          <p:nvPr>
            <p:ph type="body" sz="quarter" idx="12"/>
          </p:nvPr>
        </p:nvSpPr>
        <p:spPr/>
        <p:txBody>
          <a:bodyPr>
            <a:normAutofit fontScale="92500" lnSpcReduction="10000"/>
          </a:bodyPr>
          <a:lstStyle/>
          <a:p>
            <a:endParaRPr lang="en-US" sz="2000" b="1" dirty="0"/>
          </a:p>
          <a:p>
            <a:r>
              <a:rPr lang="en-US" sz="2000" b="1" dirty="0"/>
              <a:t>Use Case:</a:t>
            </a:r>
            <a:r>
              <a:rPr lang="en-US" sz="2000" dirty="0"/>
              <a:t> Add Item to Shopping Cart</a:t>
            </a:r>
          </a:p>
          <a:p>
            <a:pPr marL="742950" lvl="1" indent="-285750">
              <a:buFont typeface="Arial" panose="020B0604020202020204" pitchFamily="34" charset="0"/>
              <a:buChar char="•"/>
            </a:pPr>
            <a:r>
              <a:rPr lang="en-US" sz="2000" b="1" dirty="0"/>
              <a:t>Actor:</a:t>
            </a:r>
            <a:r>
              <a:rPr lang="en-US" sz="2000" dirty="0"/>
              <a:t> Customer</a:t>
            </a:r>
          </a:p>
          <a:p>
            <a:pPr marL="742950" lvl="1" indent="-285750">
              <a:buFont typeface="Arial" panose="020B0604020202020204" pitchFamily="34" charset="0"/>
              <a:buChar char="•"/>
            </a:pPr>
            <a:r>
              <a:rPr lang="en-US" sz="2000" b="1" dirty="0"/>
              <a:t>Goal:</a:t>
            </a:r>
            <a:r>
              <a:rPr lang="en-US" sz="2000" dirty="0"/>
              <a:t> To add a product to the shopping cart.</a:t>
            </a:r>
          </a:p>
          <a:p>
            <a:pPr marL="742950" lvl="1" indent="-285750">
              <a:buFont typeface="Arial" panose="020B0604020202020204" pitchFamily="34" charset="0"/>
              <a:buChar char="•"/>
            </a:pPr>
            <a:endParaRPr lang="en-US" sz="2000" dirty="0"/>
          </a:p>
          <a:p>
            <a:r>
              <a:rPr lang="en-US" sz="2000" b="1" dirty="0"/>
              <a:t>Main Flow:</a:t>
            </a:r>
          </a:p>
          <a:p>
            <a:pPr marL="800100" lvl="1" indent="-342900">
              <a:buFont typeface="+mj-lt"/>
              <a:buAutoNum type="arabicPeriod"/>
            </a:pPr>
            <a:r>
              <a:rPr lang="en-US" sz="2000" dirty="0"/>
              <a:t>The customer browses the product catalog.</a:t>
            </a:r>
          </a:p>
          <a:p>
            <a:pPr marL="800100" lvl="1" indent="-342900">
              <a:buFont typeface="+mj-lt"/>
              <a:buAutoNum type="arabicPeriod"/>
            </a:pPr>
            <a:r>
              <a:rPr lang="en-US" sz="2000" dirty="0"/>
              <a:t>The customer selects a product they wish to add.</a:t>
            </a:r>
          </a:p>
          <a:p>
            <a:pPr marL="800100" lvl="1" indent="-342900">
              <a:buFont typeface="+mj-lt"/>
              <a:buAutoNum type="arabicPeriod"/>
            </a:pPr>
            <a:r>
              <a:rPr lang="en-US" sz="2000" dirty="0"/>
              <a:t>The system prompts the customer for the desired quantity.</a:t>
            </a:r>
          </a:p>
          <a:p>
            <a:pPr marL="800100" lvl="1" indent="-342900">
              <a:buFont typeface="+mj-lt"/>
              <a:buAutoNum type="arabicPeriod"/>
            </a:pPr>
            <a:r>
              <a:rPr lang="en-US" sz="2000" dirty="0"/>
              <a:t>The customer selects the quantity and clicks “Add to Cart.”</a:t>
            </a:r>
          </a:p>
          <a:p>
            <a:pPr marL="800100" lvl="1" indent="-342900">
              <a:buFont typeface="+mj-lt"/>
              <a:buAutoNum type="arabicPeriod"/>
            </a:pPr>
            <a:r>
              <a:rPr lang="en-US" sz="2000" dirty="0"/>
              <a:t>The system adds the product to the shopping cart and updates the cart icon with the new item count.</a:t>
            </a:r>
          </a:p>
          <a:p>
            <a:pPr marL="800100" lvl="1" indent="-342900">
              <a:buFont typeface="+mj-lt"/>
              <a:buAutoNum type="arabicPeriod"/>
            </a:pPr>
            <a:r>
              <a:rPr lang="en-US" sz="2000" dirty="0"/>
              <a:t>The system displays a confirmation message or visual cue that the product has been added.</a:t>
            </a:r>
          </a:p>
          <a:p>
            <a:pPr marL="742950" lvl="1" indent="-285750">
              <a:buFont typeface="Arial" panose="020B0604020202020204" pitchFamily="34" charset="0"/>
              <a:buChar char="•"/>
            </a:pPr>
            <a:endParaRPr lang="en-US" sz="2000" dirty="0"/>
          </a:p>
          <a:p>
            <a:endParaRPr lang="en-US" sz="2000" dirty="0"/>
          </a:p>
        </p:txBody>
      </p:sp>
      <p:sp>
        <p:nvSpPr>
          <p:cNvPr id="4" name="Title 3">
            <a:extLst>
              <a:ext uri="{FF2B5EF4-FFF2-40B4-BE49-F238E27FC236}">
                <a16:creationId xmlns:a16="http://schemas.microsoft.com/office/drawing/2014/main" id="{CBC99AF2-1D46-1B6E-0B8B-BCE90C79C6DE}"/>
              </a:ext>
            </a:extLst>
          </p:cNvPr>
          <p:cNvSpPr>
            <a:spLocks noGrp="1"/>
          </p:cNvSpPr>
          <p:nvPr>
            <p:ph type="title"/>
          </p:nvPr>
        </p:nvSpPr>
        <p:spPr/>
        <p:txBody>
          <a:bodyPr/>
          <a:lstStyle/>
          <a:p>
            <a:r>
              <a:rPr lang="en-US" dirty="0"/>
              <a:t>Use Case Example:</a:t>
            </a:r>
          </a:p>
        </p:txBody>
      </p:sp>
    </p:spTree>
    <p:extLst>
      <p:ext uri="{BB962C8B-B14F-4D97-AF65-F5344CB8AC3E}">
        <p14:creationId xmlns:p14="http://schemas.microsoft.com/office/powerpoint/2010/main" val="1388783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883BCD-816B-F52C-222B-CD0D124DC536}"/>
              </a:ext>
            </a:extLst>
          </p:cNvPr>
          <p:cNvSpPr>
            <a:spLocks noGrp="1"/>
          </p:cNvSpPr>
          <p:nvPr>
            <p:ph type="sldNum" sz="quarter" idx="13"/>
          </p:nvPr>
        </p:nvSpPr>
        <p:spPr/>
        <p:txBody>
          <a:bodyPr/>
          <a:lstStyle/>
          <a:p>
            <a:fld id="{12342C3A-DD85-7843-B416-BD52AB030D59}" type="slidenum">
              <a:rPr lang="en-US" smtClean="0"/>
              <a:pPr/>
              <a:t>10</a:t>
            </a:fld>
            <a:endParaRPr lang="en-US" dirty="0"/>
          </a:p>
        </p:txBody>
      </p:sp>
      <p:sp>
        <p:nvSpPr>
          <p:cNvPr id="3" name="Text Placeholder 2">
            <a:extLst>
              <a:ext uri="{FF2B5EF4-FFF2-40B4-BE49-F238E27FC236}">
                <a16:creationId xmlns:a16="http://schemas.microsoft.com/office/drawing/2014/main" id="{6DE0790B-C2F2-4EB4-7B77-8089A28D97CB}"/>
              </a:ext>
            </a:extLst>
          </p:cNvPr>
          <p:cNvSpPr>
            <a:spLocks noGrp="1"/>
          </p:cNvSpPr>
          <p:nvPr>
            <p:ph type="body" sz="quarter" idx="12"/>
          </p:nvPr>
        </p:nvSpPr>
        <p:spPr/>
        <p:txBody>
          <a:bodyPr>
            <a:normAutofit/>
          </a:bodyPr>
          <a:lstStyle/>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Alternative Flows:</a:t>
            </a:r>
          </a:p>
          <a:p>
            <a:pPr marL="742950" lvl="1" indent="-285750">
              <a:buFont typeface="Arial" panose="020B0604020202020204" pitchFamily="34" charset="0"/>
              <a:buChar char="•"/>
            </a:pPr>
            <a:r>
              <a:rPr lang="en-US" sz="2000" dirty="0"/>
              <a:t>If the product is out of stock, the system displays an error message.</a:t>
            </a:r>
          </a:p>
          <a:p>
            <a:pPr marL="742950" lvl="1" indent="-285750">
              <a:buFont typeface="Arial" panose="020B0604020202020204" pitchFamily="34" charset="0"/>
              <a:buChar char="•"/>
            </a:pPr>
            <a:r>
              <a:rPr lang="en-US" sz="2000" dirty="0"/>
              <a:t>If the customer has reached the maximum quantity allowed, the system will prevent adding more items and show a warning.</a:t>
            </a:r>
          </a:p>
          <a:p>
            <a:endParaRPr lang="en-US" sz="2000" dirty="0"/>
          </a:p>
        </p:txBody>
      </p:sp>
      <p:sp>
        <p:nvSpPr>
          <p:cNvPr id="4" name="Title 3">
            <a:extLst>
              <a:ext uri="{FF2B5EF4-FFF2-40B4-BE49-F238E27FC236}">
                <a16:creationId xmlns:a16="http://schemas.microsoft.com/office/drawing/2014/main" id="{CE456D1D-F2FE-C390-D194-02490BFCF4BD}"/>
              </a:ext>
            </a:extLst>
          </p:cNvPr>
          <p:cNvSpPr>
            <a:spLocks noGrp="1"/>
          </p:cNvSpPr>
          <p:nvPr>
            <p:ph type="title"/>
          </p:nvPr>
        </p:nvSpPr>
        <p:spPr/>
        <p:txBody>
          <a:bodyPr/>
          <a:lstStyle/>
          <a:p>
            <a:r>
              <a:rPr lang="en-US" dirty="0"/>
              <a:t>Use Case Example:</a:t>
            </a:r>
          </a:p>
        </p:txBody>
      </p:sp>
    </p:spTree>
    <p:extLst>
      <p:ext uri="{BB962C8B-B14F-4D97-AF65-F5344CB8AC3E}">
        <p14:creationId xmlns:p14="http://schemas.microsoft.com/office/powerpoint/2010/main" val="1743178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CFE06A-C3C2-FBA5-9EFB-63C3D5BF15C0}"/>
              </a:ext>
            </a:extLst>
          </p:cNvPr>
          <p:cNvSpPr>
            <a:spLocks noGrp="1"/>
          </p:cNvSpPr>
          <p:nvPr>
            <p:ph type="sldNum" sz="quarter" idx="13"/>
          </p:nvPr>
        </p:nvSpPr>
        <p:spPr/>
        <p:txBody>
          <a:bodyPr/>
          <a:lstStyle/>
          <a:p>
            <a:fld id="{12342C3A-DD85-7843-B416-BD52AB030D59}" type="slidenum">
              <a:rPr lang="en-US" smtClean="0"/>
              <a:pPr/>
              <a:t>11</a:t>
            </a:fld>
            <a:endParaRPr lang="en-US" dirty="0"/>
          </a:p>
        </p:txBody>
      </p:sp>
      <p:sp>
        <p:nvSpPr>
          <p:cNvPr id="3" name="Text Placeholder 2">
            <a:extLst>
              <a:ext uri="{FF2B5EF4-FFF2-40B4-BE49-F238E27FC236}">
                <a16:creationId xmlns:a16="http://schemas.microsoft.com/office/drawing/2014/main" id="{766CB859-A3D1-002C-76A4-90986A7AAFC8}"/>
              </a:ext>
            </a:extLst>
          </p:cNvPr>
          <p:cNvSpPr>
            <a:spLocks noGrp="1"/>
          </p:cNvSpPr>
          <p:nvPr>
            <p:ph type="body" sz="quarter" idx="12"/>
          </p:nvPr>
        </p:nvSpPr>
        <p:spPr/>
        <p:txBody>
          <a:bodyPr>
            <a:normAutofit/>
          </a:bodyPr>
          <a:lstStyle/>
          <a:p>
            <a:endParaRPr lang="en-US" sz="2000" b="1" dirty="0"/>
          </a:p>
          <a:p>
            <a:r>
              <a:rPr lang="en-US" sz="2000" b="1" dirty="0"/>
              <a:t>User Story:</a:t>
            </a:r>
            <a:r>
              <a:rPr lang="en-US" sz="2000" dirty="0"/>
              <a:t> View Shopping Cart</a:t>
            </a:r>
          </a:p>
          <a:p>
            <a:pPr marL="742950" lvl="1" indent="-285750">
              <a:buFont typeface="Arial" panose="020B0604020202020204" pitchFamily="34" charset="0"/>
              <a:buChar char="•"/>
            </a:pPr>
            <a:r>
              <a:rPr lang="en-US" sz="2000" b="1" dirty="0"/>
              <a:t>As a</a:t>
            </a:r>
            <a:r>
              <a:rPr lang="en-US" sz="2000" dirty="0"/>
              <a:t> customer,</a:t>
            </a:r>
          </a:p>
          <a:p>
            <a:pPr marL="742950" lvl="1" indent="-285750">
              <a:buFont typeface="Arial" panose="020B0604020202020204" pitchFamily="34" charset="0"/>
              <a:buChar char="•"/>
            </a:pPr>
            <a:r>
              <a:rPr lang="en-US" sz="2000" b="1" dirty="0"/>
              <a:t>I want</a:t>
            </a:r>
            <a:r>
              <a:rPr lang="en-US" sz="2000" dirty="0"/>
              <a:t> to view the items in my shopping cart,</a:t>
            </a:r>
          </a:p>
          <a:p>
            <a:pPr marL="742950" lvl="1" indent="-285750">
              <a:buFont typeface="Arial" panose="020B0604020202020204" pitchFamily="34" charset="0"/>
              <a:buChar char="•"/>
            </a:pPr>
            <a:r>
              <a:rPr lang="en-US" sz="2000" b="1" dirty="0"/>
              <a:t>So that</a:t>
            </a:r>
            <a:r>
              <a:rPr lang="en-US" sz="2000" dirty="0"/>
              <a:t> I can review the products before proceeding to checkout.</a:t>
            </a:r>
          </a:p>
          <a:p>
            <a:r>
              <a:rPr lang="en-US" sz="2000" b="1" dirty="0"/>
              <a:t>Acceptance Criteria:</a:t>
            </a:r>
            <a:endParaRPr lang="en-US" sz="2000" dirty="0"/>
          </a:p>
          <a:p>
            <a:pPr marL="800100" lvl="1" indent="-342900">
              <a:buFont typeface="+mj-lt"/>
              <a:buAutoNum type="arabicPeriod"/>
            </a:pPr>
            <a:r>
              <a:rPr lang="en-US" sz="2000" dirty="0"/>
              <a:t>I can see a list of all the items in my cart.</a:t>
            </a:r>
          </a:p>
          <a:p>
            <a:pPr marL="800100" lvl="1" indent="-342900">
              <a:buFont typeface="+mj-lt"/>
              <a:buAutoNum type="arabicPeriod"/>
            </a:pPr>
            <a:r>
              <a:rPr lang="en-US" sz="2000" dirty="0"/>
              <a:t>I can view the product name, price, and quantity for each item.</a:t>
            </a:r>
          </a:p>
          <a:p>
            <a:pPr marL="800100" lvl="1" indent="-342900">
              <a:buFont typeface="+mj-lt"/>
              <a:buAutoNum type="arabicPeriod"/>
            </a:pPr>
            <a:r>
              <a:rPr lang="en-US" sz="2000" dirty="0"/>
              <a:t>I can update the quantity or remove an item from the cart.</a:t>
            </a:r>
          </a:p>
          <a:p>
            <a:pPr marL="800100" lvl="1" indent="-342900">
              <a:buFont typeface="+mj-lt"/>
              <a:buAutoNum type="arabicPeriod"/>
            </a:pPr>
            <a:r>
              <a:rPr lang="en-US" sz="2000" dirty="0"/>
              <a:t>I can proceed to checkout from the shopping cart page.</a:t>
            </a:r>
          </a:p>
          <a:p>
            <a:endParaRPr lang="en-US" sz="2000" dirty="0"/>
          </a:p>
        </p:txBody>
      </p:sp>
      <p:sp>
        <p:nvSpPr>
          <p:cNvPr id="4" name="Title 3">
            <a:extLst>
              <a:ext uri="{FF2B5EF4-FFF2-40B4-BE49-F238E27FC236}">
                <a16:creationId xmlns:a16="http://schemas.microsoft.com/office/drawing/2014/main" id="{946A2C78-9BF4-B6B4-4A40-3486DA2D5D39}"/>
              </a:ext>
            </a:extLst>
          </p:cNvPr>
          <p:cNvSpPr>
            <a:spLocks noGrp="1"/>
          </p:cNvSpPr>
          <p:nvPr>
            <p:ph type="title"/>
          </p:nvPr>
        </p:nvSpPr>
        <p:spPr/>
        <p:txBody>
          <a:bodyPr/>
          <a:lstStyle/>
          <a:p>
            <a:r>
              <a:rPr lang="en-US" dirty="0"/>
              <a:t>User Story Example:</a:t>
            </a:r>
          </a:p>
        </p:txBody>
      </p:sp>
    </p:spTree>
    <p:extLst>
      <p:ext uri="{BB962C8B-B14F-4D97-AF65-F5344CB8AC3E}">
        <p14:creationId xmlns:p14="http://schemas.microsoft.com/office/powerpoint/2010/main" val="310221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DDB126-DB6A-A099-201F-D0B8F81ABA20}"/>
              </a:ext>
            </a:extLst>
          </p:cNvPr>
          <p:cNvSpPr>
            <a:spLocks noGrp="1"/>
          </p:cNvSpPr>
          <p:nvPr>
            <p:ph type="sldNum" sz="quarter" idx="13"/>
          </p:nvPr>
        </p:nvSpPr>
        <p:spPr/>
        <p:txBody>
          <a:bodyPr/>
          <a:lstStyle/>
          <a:p>
            <a:fld id="{12342C3A-DD85-7843-B416-BD52AB030D59}" type="slidenum">
              <a:rPr lang="en-US" smtClean="0"/>
              <a:pPr/>
              <a:t>12</a:t>
            </a:fld>
            <a:endParaRPr lang="en-US" dirty="0"/>
          </a:p>
        </p:txBody>
      </p:sp>
      <p:sp>
        <p:nvSpPr>
          <p:cNvPr id="3" name="Text Placeholder 2">
            <a:extLst>
              <a:ext uri="{FF2B5EF4-FFF2-40B4-BE49-F238E27FC236}">
                <a16:creationId xmlns:a16="http://schemas.microsoft.com/office/drawing/2014/main" id="{EF13EB9E-1D9E-19C5-8367-D86B7A60B33F}"/>
              </a:ext>
            </a:extLst>
          </p:cNvPr>
          <p:cNvSpPr>
            <a:spLocks noGrp="1"/>
          </p:cNvSpPr>
          <p:nvPr>
            <p:ph type="body" sz="quarter" idx="12"/>
          </p:nvPr>
        </p:nvSpPr>
        <p:spPr/>
        <p:txBody>
          <a:bodyPr>
            <a:normAutofit/>
          </a:bodyPr>
          <a:lstStyle/>
          <a:p>
            <a:endParaRPr lang="en-US" sz="2000" dirty="0"/>
          </a:p>
          <a:p>
            <a:r>
              <a:rPr lang="en-US" sz="2000" dirty="0"/>
              <a:t>Your team is about to start a new Sprint for an e-commerce project. During the Sprint Planning meeting, the team discusses the next set of features to implement. The Product Owner has prioritized a feature to allow customers to filter products by size, color, and price.</a:t>
            </a:r>
          </a:p>
          <a:p>
            <a:pPr marL="742950" lvl="1" indent="-285750">
              <a:buFont typeface="Arial" panose="020B0604020202020204" pitchFamily="34" charset="0"/>
              <a:buChar char="•"/>
            </a:pPr>
            <a:r>
              <a:rPr lang="en-US" sz="2000" dirty="0"/>
              <a:t>As a </a:t>
            </a:r>
            <a:r>
              <a:rPr lang="en-US" sz="2000" b="1" dirty="0"/>
              <a:t>Scrum Master</a:t>
            </a:r>
            <a:r>
              <a:rPr lang="en-US" sz="2000" dirty="0"/>
              <a:t>, how would you facilitate the discussion in the Sprint Planning meeting to ensure the team fully understands the scope of the feature?</a:t>
            </a:r>
          </a:p>
          <a:p>
            <a:pPr marL="742950" lvl="1" indent="-285750">
              <a:buFont typeface="Arial" panose="020B0604020202020204" pitchFamily="34" charset="0"/>
              <a:buChar char="•"/>
            </a:pPr>
            <a:r>
              <a:rPr lang="en-US" sz="2000" dirty="0"/>
              <a:t>How would you ensure that the team breaks the feature down into manageable tasks for the Sprint?</a:t>
            </a:r>
          </a:p>
          <a:p>
            <a:pPr marL="742950" lvl="1" indent="-285750">
              <a:buFont typeface="Arial" panose="020B0604020202020204" pitchFamily="34" charset="0"/>
              <a:buChar char="•"/>
            </a:pPr>
            <a:r>
              <a:rPr lang="en-US" sz="2000" dirty="0"/>
              <a:t>What would you do if the team estimates the work as being too large for the Sprint?</a:t>
            </a:r>
          </a:p>
          <a:p>
            <a:endParaRPr lang="en-US" sz="2000" dirty="0"/>
          </a:p>
        </p:txBody>
      </p:sp>
      <p:sp>
        <p:nvSpPr>
          <p:cNvPr id="4" name="Title 3">
            <a:extLst>
              <a:ext uri="{FF2B5EF4-FFF2-40B4-BE49-F238E27FC236}">
                <a16:creationId xmlns:a16="http://schemas.microsoft.com/office/drawing/2014/main" id="{C43ECC00-FE87-592E-0FA1-C80C1495B478}"/>
              </a:ext>
            </a:extLst>
          </p:cNvPr>
          <p:cNvSpPr>
            <a:spLocks noGrp="1"/>
          </p:cNvSpPr>
          <p:nvPr>
            <p:ph type="title"/>
          </p:nvPr>
        </p:nvSpPr>
        <p:spPr/>
        <p:txBody>
          <a:bodyPr/>
          <a:lstStyle/>
          <a:p>
            <a:r>
              <a:rPr lang="en-US" dirty="0"/>
              <a:t>Sprint Planning</a:t>
            </a:r>
          </a:p>
        </p:txBody>
      </p:sp>
    </p:spTree>
    <p:extLst>
      <p:ext uri="{BB962C8B-B14F-4D97-AF65-F5344CB8AC3E}">
        <p14:creationId xmlns:p14="http://schemas.microsoft.com/office/powerpoint/2010/main" val="1880414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17159-39AB-7098-0732-EA974EFB01A0}"/>
              </a:ext>
            </a:extLst>
          </p:cNvPr>
          <p:cNvSpPr>
            <a:spLocks noGrp="1"/>
          </p:cNvSpPr>
          <p:nvPr>
            <p:ph type="sldNum" sz="quarter" idx="13"/>
          </p:nvPr>
        </p:nvSpPr>
        <p:spPr/>
        <p:txBody>
          <a:bodyPr/>
          <a:lstStyle/>
          <a:p>
            <a:fld id="{12342C3A-DD85-7843-B416-BD52AB030D59}" type="slidenum">
              <a:rPr lang="en-US" smtClean="0"/>
              <a:pPr/>
              <a:t>13</a:t>
            </a:fld>
            <a:endParaRPr lang="en-US" dirty="0"/>
          </a:p>
        </p:txBody>
      </p:sp>
      <p:sp>
        <p:nvSpPr>
          <p:cNvPr id="3" name="Text Placeholder 2">
            <a:extLst>
              <a:ext uri="{FF2B5EF4-FFF2-40B4-BE49-F238E27FC236}">
                <a16:creationId xmlns:a16="http://schemas.microsoft.com/office/drawing/2014/main" id="{FCA0189A-1428-3AEA-ABE9-C6BD22A55B07}"/>
              </a:ext>
            </a:extLst>
          </p:cNvPr>
          <p:cNvSpPr>
            <a:spLocks noGrp="1"/>
          </p:cNvSpPr>
          <p:nvPr>
            <p:ph type="body" sz="quarter" idx="12"/>
          </p:nvPr>
        </p:nvSpPr>
        <p:spPr/>
        <p:txBody>
          <a:bodyPr>
            <a:normAutofit/>
          </a:bodyPr>
          <a:lstStyle/>
          <a:p>
            <a:endParaRPr lang="en-US" sz="2000" b="1" dirty="0"/>
          </a:p>
          <a:p>
            <a:r>
              <a:rPr lang="en-US" sz="2000" b="1" dirty="0"/>
              <a:t>Facilitating the Discussion:</a:t>
            </a:r>
          </a:p>
          <a:p>
            <a:pPr marL="742950" lvl="1" indent="-285750">
              <a:buFont typeface="Arial" panose="020B0604020202020204" pitchFamily="34" charset="0"/>
              <a:buChar char="•"/>
            </a:pPr>
            <a:r>
              <a:rPr lang="en-US" sz="2000" b="1" dirty="0"/>
              <a:t>Clarify the Feature:</a:t>
            </a:r>
            <a:r>
              <a:rPr lang="en-US" sz="2000" dirty="0"/>
              <a:t> Ask the Product Owner to explain the feature and acceptance criteria, ensuring the team fully understands the scope.</a:t>
            </a:r>
          </a:p>
          <a:p>
            <a:pPr marL="742950" lvl="1" indent="-285750">
              <a:buFont typeface="Arial" panose="020B0604020202020204" pitchFamily="34" charset="0"/>
              <a:buChar char="•"/>
            </a:pPr>
            <a:r>
              <a:rPr lang="en-US" sz="2000" b="1" dirty="0"/>
              <a:t>Define the Scope:</a:t>
            </a:r>
            <a:r>
              <a:rPr lang="en-US" sz="2000" dirty="0"/>
              <a:t> Break the feature into smaller goals (size, color, price filters) and identify dependencies or blockers.</a:t>
            </a:r>
          </a:p>
          <a:p>
            <a:pPr marL="742950" lvl="1" indent="-285750">
              <a:buFont typeface="Arial" panose="020B0604020202020204" pitchFamily="34" charset="0"/>
              <a:buChar char="•"/>
            </a:pPr>
            <a:r>
              <a:rPr lang="en-US" sz="2000" b="1" dirty="0"/>
              <a:t>Encourage Questions:</a:t>
            </a:r>
            <a:r>
              <a:rPr lang="en-US" sz="2000" dirty="0"/>
              <a:t> Foster open communication between the Product Owner and the Development Team to clarify requirements.</a:t>
            </a:r>
          </a:p>
          <a:p>
            <a:endParaRPr lang="en-US" sz="2000" dirty="0"/>
          </a:p>
        </p:txBody>
      </p:sp>
      <p:sp>
        <p:nvSpPr>
          <p:cNvPr id="4" name="Title 3">
            <a:extLst>
              <a:ext uri="{FF2B5EF4-FFF2-40B4-BE49-F238E27FC236}">
                <a16:creationId xmlns:a16="http://schemas.microsoft.com/office/drawing/2014/main" id="{93F2FC95-9B45-5E3C-708E-AF1DEFD52BD5}"/>
              </a:ext>
            </a:extLst>
          </p:cNvPr>
          <p:cNvSpPr>
            <a:spLocks noGrp="1"/>
          </p:cNvSpPr>
          <p:nvPr>
            <p:ph type="title"/>
          </p:nvPr>
        </p:nvSpPr>
        <p:spPr/>
        <p:txBody>
          <a:bodyPr/>
          <a:lstStyle/>
          <a:p>
            <a:r>
              <a:rPr lang="en-US" dirty="0"/>
              <a:t>Sprint Planning</a:t>
            </a:r>
          </a:p>
        </p:txBody>
      </p:sp>
    </p:spTree>
    <p:extLst>
      <p:ext uri="{BB962C8B-B14F-4D97-AF65-F5344CB8AC3E}">
        <p14:creationId xmlns:p14="http://schemas.microsoft.com/office/powerpoint/2010/main" val="2129758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A8196C-9DC3-202A-2559-0A83F0099E59}"/>
              </a:ext>
            </a:extLst>
          </p:cNvPr>
          <p:cNvSpPr>
            <a:spLocks noGrp="1"/>
          </p:cNvSpPr>
          <p:nvPr>
            <p:ph type="sldNum" sz="quarter" idx="13"/>
          </p:nvPr>
        </p:nvSpPr>
        <p:spPr/>
        <p:txBody>
          <a:bodyPr/>
          <a:lstStyle/>
          <a:p>
            <a:fld id="{12342C3A-DD85-7843-B416-BD52AB030D59}" type="slidenum">
              <a:rPr lang="en-US" smtClean="0"/>
              <a:pPr/>
              <a:t>14</a:t>
            </a:fld>
            <a:endParaRPr lang="en-US" dirty="0"/>
          </a:p>
        </p:txBody>
      </p:sp>
      <p:sp>
        <p:nvSpPr>
          <p:cNvPr id="3" name="Text Placeholder 2">
            <a:extLst>
              <a:ext uri="{FF2B5EF4-FFF2-40B4-BE49-F238E27FC236}">
                <a16:creationId xmlns:a16="http://schemas.microsoft.com/office/drawing/2014/main" id="{44702EAF-3CBB-4F75-B782-A9C84CCAEA36}"/>
              </a:ext>
            </a:extLst>
          </p:cNvPr>
          <p:cNvSpPr>
            <a:spLocks noGrp="1"/>
          </p:cNvSpPr>
          <p:nvPr>
            <p:ph type="body" sz="quarter" idx="12"/>
          </p:nvPr>
        </p:nvSpPr>
        <p:spPr/>
        <p:txBody>
          <a:bodyPr>
            <a:normAutofit/>
          </a:bodyPr>
          <a:lstStyle/>
          <a:p>
            <a:endParaRPr lang="en-US" sz="2000" b="1" dirty="0"/>
          </a:p>
          <a:p>
            <a:r>
              <a:rPr lang="en-US" sz="2000" b="1" dirty="0"/>
              <a:t>Breaking the Feature into Manageable Tasks:</a:t>
            </a:r>
          </a:p>
          <a:p>
            <a:pPr marL="742950" lvl="1" indent="-285750">
              <a:buFont typeface="Arial" panose="020B0604020202020204" pitchFamily="34" charset="0"/>
              <a:buChar char="•"/>
            </a:pPr>
            <a:r>
              <a:rPr lang="en-US" sz="2000" b="1" dirty="0"/>
              <a:t>Decompose into User Stories:</a:t>
            </a:r>
            <a:r>
              <a:rPr lang="en-US" sz="2000" dirty="0"/>
              <a:t> Break the feature into smaller user stories (e.g., size, color, price filters).</a:t>
            </a:r>
          </a:p>
          <a:p>
            <a:pPr marL="742950" lvl="1" indent="-285750">
              <a:buFont typeface="Arial" panose="020B0604020202020204" pitchFamily="34" charset="0"/>
              <a:buChar char="•"/>
            </a:pPr>
            <a:r>
              <a:rPr lang="en-US" sz="2000" b="1" dirty="0"/>
              <a:t>Create Subtasks:</a:t>
            </a:r>
            <a:r>
              <a:rPr lang="en-US" sz="2000" dirty="0"/>
              <a:t> Break stories down into technical tasks (e.g., database updates, UI changes).</a:t>
            </a:r>
          </a:p>
          <a:p>
            <a:pPr marL="742950" lvl="1" indent="-285750">
              <a:buFont typeface="Arial" panose="020B0604020202020204" pitchFamily="34" charset="0"/>
              <a:buChar char="•"/>
            </a:pPr>
            <a:r>
              <a:rPr lang="en-US" sz="2000" b="1" dirty="0"/>
              <a:t>Estimate and Prioritize:</a:t>
            </a:r>
            <a:r>
              <a:rPr lang="en-US" sz="2000" dirty="0"/>
              <a:t> Have the team estimate effort and prioritize tasks based on dependencies.</a:t>
            </a:r>
          </a:p>
          <a:p>
            <a:endParaRPr lang="en-US" sz="2000" dirty="0"/>
          </a:p>
        </p:txBody>
      </p:sp>
      <p:sp>
        <p:nvSpPr>
          <p:cNvPr id="4" name="Title 3">
            <a:extLst>
              <a:ext uri="{FF2B5EF4-FFF2-40B4-BE49-F238E27FC236}">
                <a16:creationId xmlns:a16="http://schemas.microsoft.com/office/drawing/2014/main" id="{29FAD032-30A9-CEAB-6457-758A0EFF6272}"/>
              </a:ext>
            </a:extLst>
          </p:cNvPr>
          <p:cNvSpPr>
            <a:spLocks noGrp="1"/>
          </p:cNvSpPr>
          <p:nvPr>
            <p:ph type="title"/>
          </p:nvPr>
        </p:nvSpPr>
        <p:spPr/>
        <p:txBody>
          <a:bodyPr/>
          <a:lstStyle/>
          <a:p>
            <a:r>
              <a:rPr lang="en-US" dirty="0"/>
              <a:t>Sprint Planning</a:t>
            </a:r>
          </a:p>
        </p:txBody>
      </p:sp>
    </p:spTree>
    <p:extLst>
      <p:ext uri="{BB962C8B-B14F-4D97-AF65-F5344CB8AC3E}">
        <p14:creationId xmlns:p14="http://schemas.microsoft.com/office/powerpoint/2010/main" val="3138345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8C469F-2C6F-8C08-96FC-43E92EDAF64F}"/>
              </a:ext>
            </a:extLst>
          </p:cNvPr>
          <p:cNvSpPr>
            <a:spLocks noGrp="1"/>
          </p:cNvSpPr>
          <p:nvPr>
            <p:ph type="sldNum" sz="quarter" idx="13"/>
          </p:nvPr>
        </p:nvSpPr>
        <p:spPr/>
        <p:txBody>
          <a:bodyPr/>
          <a:lstStyle/>
          <a:p>
            <a:fld id="{12342C3A-DD85-7843-B416-BD52AB030D59}" type="slidenum">
              <a:rPr lang="en-US" smtClean="0"/>
              <a:pPr/>
              <a:t>15</a:t>
            </a:fld>
            <a:endParaRPr lang="en-US" dirty="0"/>
          </a:p>
        </p:txBody>
      </p:sp>
      <p:sp>
        <p:nvSpPr>
          <p:cNvPr id="3" name="Text Placeholder 2">
            <a:extLst>
              <a:ext uri="{FF2B5EF4-FFF2-40B4-BE49-F238E27FC236}">
                <a16:creationId xmlns:a16="http://schemas.microsoft.com/office/drawing/2014/main" id="{103ED6E5-108E-5F2B-C7AF-8938425E4F1C}"/>
              </a:ext>
            </a:extLst>
          </p:cNvPr>
          <p:cNvSpPr>
            <a:spLocks noGrp="1"/>
          </p:cNvSpPr>
          <p:nvPr>
            <p:ph type="body" sz="quarter" idx="12"/>
          </p:nvPr>
        </p:nvSpPr>
        <p:spPr/>
        <p:txBody>
          <a:bodyPr>
            <a:normAutofit/>
          </a:bodyPr>
          <a:lstStyle/>
          <a:p>
            <a:endParaRPr lang="en-US" sz="2000" b="1" dirty="0"/>
          </a:p>
          <a:p>
            <a:r>
              <a:rPr lang="en-US" sz="2000" b="1" dirty="0"/>
              <a:t>Handling Large Estimated Work:</a:t>
            </a:r>
          </a:p>
          <a:p>
            <a:pPr marL="742950" lvl="1" indent="-285750">
              <a:buFont typeface="Arial" panose="020B0604020202020204" pitchFamily="34" charset="0"/>
              <a:buChar char="•"/>
            </a:pPr>
            <a:r>
              <a:rPr lang="en-US" sz="2000" b="1" dirty="0"/>
              <a:t>Reassess the Scope:</a:t>
            </a:r>
            <a:r>
              <a:rPr lang="en-US" sz="2000" dirty="0"/>
              <a:t> Work with the Product Owner to split the feature into smaller, manageable user stories or defer some parts to future Sprints.</a:t>
            </a:r>
          </a:p>
          <a:p>
            <a:pPr marL="742950" lvl="1" indent="-285750">
              <a:buFont typeface="Arial" panose="020B0604020202020204" pitchFamily="34" charset="0"/>
              <a:buChar char="•"/>
            </a:pPr>
            <a:r>
              <a:rPr lang="en-US" sz="2000" b="1" dirty="0"/>
              <a:t>Adjust the Backlog:</a:t>
            </a:r>
            <a:r>
              <a:rPr lang="en-US" sz="2000" dirty="0"/>
              <a:t> Focus on delivering valuable increments and shift incomplete tasks to the next Sprint if necessary.</a:t>
            </a:r>
          </a:p>
          <a:p>
            <a:r>
              <a:rPr lang="en-US" sz="2000" dirty="0"/>
              <a:t>By facilitating clear communication, breaking down the work, and managing scope, the team can focus on delivering a valuable, achievable Sprint.</a:t>
            </a:r>
          </a:p>
          <a:p>
            <a:endParaRPr lang="en-US" sz="2000" dirty="0"/>
          </a:p>
        </p:txBody>
      </p:sp>
      <p:sp>
        <p:nvSpPr>
          <p:cNvPr id="4" name="Title 3">
            <a:extLst>
              <a:ext uri="{FF2B5EF4-FFF2-40B4-BE49-F238E27FC236}">
                <a16:creationId xmlns:a16="http://schemas.microsoft.com/office/drawing/2014/main" id="{BF7C2E02-F5E0-D984-18DA-B66EDF0978EC}"/>
              </a:ext>
            </a:extLst>
          </p:cNvPr>
          <p:cNvSpPr>
            <a:spLocks noGrp="1"/>
          </p:cNvSpPr>
          <p:nvPr>
            <p:ph type="title"/>
          </p:nvPr>
        </p:nvSpPr>
        <p:spPr/>
        <p:txBody>
          <a:bodyPr/>
          <a:lstStyle/>
          <a:p>
            <a:r>
              <a:rPr lang="en-US" dirty="0"/>
              <a:t>Sprint Planning</a:t>
            </a:r>
          </a:p>
        </p:txBody>
      </p:sp>
    </p:spTree>
    <p:extLst>
      <p:ext uri="{BB962C8B-B14F-4D97-AF65-F5344CB8AC3E}">
        <p14:creationId xmlns:p14="http://schemas.microsoft.com/office/powerpoint/2010/main" val="2319850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EF38C6-872B-8B87-EC32-D0955635FD94}"/>
              </a:ext>
            </a:extLst>
          </p:cNvPr>
          <p:cNvSpPr>
            <a:spLocks noGrp="1"/>
          </p:cNvSpPr>
          <p:nvPr>
            <p:ph type="sldNum" sz="quarter" idx="13"/>
          </p:nvPr>
        </p:nvSpPr>
        <p:spPr/>
        <p:txBody>
          <a:bodyPr/>
          <a:lstStyle/>
          <a:p>
            <a:fld id="{12342C3A-DD85-7843-B416-BD52AB030D59}" type="slidenum">
              <a:rPr lang="en-US" smtClean="0"/>
              <a:pPr/>
              <a:t>16</a:t>
            </a:fld>
            <a:endParaRPr lang="en-US" dirty="0"/>
          </a:p>
        </p:txBody>
      </p:sp>
      <p:sp>
        <p:nvSpPr>
          <p:cNvPr id="3" name="Text Placeholder 2">
            <a:extLst>
              <a:ext uri="{FF2B5EF4-FFF2-40B4-BE49-F238E27FC236}">
                <a16:creationId xmlns:a16="http://schemas.microsoft.com/office/drawing/2014/main" id="{EE1EB3FF-2120-B063-17C7-778048E2ABB7}"/>
              </a:ext>
            </a:extLst>
          </p:cNvPr>
          <p:cNvSpPr>
            <a:spLocks noGrp="1"/>
          </p:cNvSpPr>
          <p:nvPr>
            <p:ph type="body" sz="quarter" idx="12"/>
          </p:nvPr>
        </p:nvSpPr>
        <p:spPr/>
        <p:txBody>
          <a:bodyPr>
            <a:normAutofit/>
          </a:bodyPr>
          <a:lstStyle/>
          <a:p>
            <a:endParaRPr lang="en-US" sz="2000" dirty="0"/>
          </a:p>
          <a:p>
            <a:r>
              <a:rPr lang="en-US" sz="2000" dirty="0"/>
              <a:t>During the Daily Standup, one of the developers mentions that they are blocked because they cannot access the required API documentation to complete a task. The Sprint is halfway through, and there are only a few days left to finish the current user story.</a:t>
            </a:r>
          </a:p>
          <a:p>
            <a:pPr marL="742950" lvl="1" indent="-285750">
              <a:buFont typeface="Arial" panose="020B0604020202020204" pitchFamily="34" charset="0"/>
              <a:buChar char="•"/>
            </a:pPr>
            <a:r>
              <a:rPr lang="en-US" sz="2000" dirty="0"/>
              <a:t>As a </a:t>
            </a:r>
            <a:r>
              <a:rPr lang="en-US" sz="2000" b="1" dirty="0"/>
              <a:t>Scrum Master</a:t>
            </a:r>
            <a:r>
              <a:rPr lang="en-US" sz="2000" dirty="0"/>
              <a:t>, how would you address this issue during the Daily Standup?</a:t>
            </a:r>
          </a:p>
          <a:p>
            <a:pPr marL="742950" lvl="1" indent="-285750">
              <a:buFont typeface="Arial" panose="020B0604020202020204" pitchFamily="34" charset="0"/>
              <a:buChar char="•"/>
            </a:pPr>
            <a:r>
              <a:rPr lang="en-US" sz="2000" dirty="0"/>
              <a:t>What actions would you take after the standup to remove this blocker and keep the team on track?</a:t>
            </a:r>
          </a:p>
          <a:p>
            <a:endParaRPr lang="en-US" sz="2000" dirty="0"/>
          </a:p>
        </p:txBody>
      </p:sp>
      <p:sp>
        <p:nvSpPr>
          <p:cNvPr id="4" name="Title 3">
            <a:extLst>
              <a:ext uri="{FF2B5EF4-FFF2-40B4-BE49-F238E27FC236}">
                <a16:creationId xmlns:a16="http://schemas.microsoft.com/office/drawing/2014/main" id="{85B9B1B0-8F32-5713-E526-43F9A313E091}"/>
              </a:ext>
            </a:extLst>
          </p:cNvPr>
          <p:cNvSpPr>
            <a:spLocks noGrp="1"/>
          </p:cNvSpPr>
          <p:nvPr>
            <p:ph type="title"/>
          </p:nvPr>
        </p:nvSpPr>
        <p:spPr/>
        <p:txBody>
          <a:bodyPr/>
          <a:lstStyle/>
          <a:p>
            <a:r>
              <a:rPr lang="en-US" dirty="0"/>
              <a:t>Daily Standup</a:t>
            </a:r>
          </a:p>
        </p:txBody>
      </p:sp>
    </p:spTree>
    <p:extLst>
      <p:ext uri="{BB962C8B-B14F-4D97-AF65-F5344CB8AC3E}">
        <p14:creationId xmlns:p14="http://schemas.microsoft.com/office/powerpoint/2010/main" val="1988185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F4E97E-4F7D-E08F-967A-BE43E6CF752A}"/>
              </a:ext>
            </a:extLst>
          </p:cNvPr>
          <p:cNvSpPr>
            <a:spLocks noGrp="1"/>
          </p:cNvSpPr>
          <p:nvPr>
            <p:ph type="sldNum" sz="quarter" idx="13"/>
          </p:nvPr>
        </p:nvSpPr>
        <p:spPr/>
        <p:txBody>
          <a:bodyPr/>
          <a:lstStyle/>
          <a:p>
            <a:fld id="{12342C3A-DD85-7843-B416-BD52AB030D59}" type="slidenum">
              <a:rPr lang="en-US" smtClean="0"/>
              <a:pPr/>
              <a:t>17</a:t>
            </a:fld>
            <a:endParaRPr lang="en-US" dirty="0"/>
          </a:p>
        </p:txBody>
      </p:sp>
      <p:sp>
        <p:nvSpPr>
          <p:cNvPr id="3" name="Text Placeholder 2">
            <a:extLst>
              <a:ext uri="{FF2B5EF4-FFF2-40B4-BE49-F238E27FC236}">
                <a16:creationId xmlns:a16="http://schemas.microsoft.com/office/drawing/2014/main" id="{CF882A7D-805D-2B18-7D82-AFF92B1B12B0}"/>
              </a:ext>
            </a:extLst>
          </p:cNvPr>
          <p:cNvSpPr>
            <a:spLocks noGrp="1"/>
          </p:cNvSpPr>
          <p:nvPr>
            <p:ph type="body" sz="quarter" idx="12"/>
          </p:nvPr>
        </p:nvSpPr>
        <p:spPr/>
        <p:txBody>
          <a:bodyPr>
            <a:normAutofit/>
          </a:bodyPr>
          <a:lstStyle/>
          <a:p>
            <a:endParaRPr lang="en-US" sz="2000" b="1" dirty="0"/>
          </a:p>
          <a:p>
            <a:r>
              <a:rPr lang="en-US" sz="2000" b="1" dirty="0"/>
              <a:t>During the Daily Standup:</a:t>
            </a:r>
          </a:p>
          <a:p>
            <a:pPr marL="742950" lvl="1" indent="-285750">
              <a:buFont typeface="Arial" panose="020B0604020202020204" pitchFamily="34" charset="0"/>
              <a:buChar char="•"/>
            </a:pPr>
            <a:r>
              <a:rPr lang="en-US" sz="2000" b="1" dirty="0"/>
              <a:t>Acknowledge the Blocker:</a:t>
            </a:r>
            <a:r>
              <a:rPr lang="en-US" sz="2000" dirty="0"/>
              <a:t> Acknowledge the issue raised by the developer and ensure everyone is aware of the blocker.</a:t>
            </a:r>
          </a:p>
          <a:p>
            <a:pPr marL="742950" lvl="1" indent="-285750">
              <a:buFont typeface="Arial" panose="020B0604020202020204" pitchFamily="34" charset="0"/>
              <a:buChar char="•"/>
            </a:pPr>
            <a:r>
              <a:rPr lang="en-US" sz="2000" b="1" dirty="0"/>
              <a:t>Assess Urgency:</a:t>
            </a:r>
            <a:r>
              <a:rPr lang="en-US" sz="2000" dirty="0"/>
              <a:t> Quickly assess the impact of the blocker on the user story and Sprint goal.</a:t>
            </a:r>
          </a:p>
          <a:p>
            <a:pPr marL="742950" lvl="1" indent="-285750">
              <a:buFont typeface="Arial" panose="020B0604020202020204" pitchFamily="34" charset="0"/>
              <a:buChar char="•"/>
            </a:pPr>
            <a:r>
              <a:rPr lang="en-US" sz="2000" b="1" dirty="0"/>
              <a:t>Collaborate for Solutions:</a:t>
            </a:r>
            <a:r>
              <a:rPr lang="en-US" sz="2000" dirty="0"/>
              <a:t> Ask if anyone else can help or if there’s an alternative solution to access the API documentation.</a:t>
            </a:r>
          </a:p>
          <a:p>
            <a:endParaRPr lang="en-US" sz="2000" dirty="0"/>
          </a:p>
        </p:txBody>
      </p:sp>
      <p:sp>
        <p:nvSpPr>
          <p:cNvPr id="4" name="Title 3">
            <a:extLst>
              <a:ext uri="{FF2B5EF4-FFF2-40B4-BE49-F238E27FC236}">
                <a16:creationId xmlns:a16="http://schemas.microsoft.com/office/drawing/2014/main" id="{DAC01619-04A9-87C9-002E-7D91B70F83BE}"/>
              </a:ext>
            </a:extLst>
          </p:cNvPr>
          <p:cNvSpPr>
            <a:spLocks noGrp="1"/>
          </p:cNvSpPr>
          <p:nvPr>
            <p:ph type="title"/>
          </p:nvPr>
        </p:nvSpPr>
        <p:spPr/>
        <p:txBody>
          <a:bodyPr/>
          <a:lstStyle/>
          <a:p>
            <a:r>
              <a:rPr lang="en-US" dirty="0"/>
              <a:t>Daily Standup</a:t>
            </a:r>
          </a:p>
        </p:txBody>
      </p:sp>
    </p:spTree>
    <p:extLst>
      <p:ext uri="{BB962C8B-B14F-4D97-AF65-F5344CB8AC3E}">
        <p14:creationId xmlns:p14="http://schemas.microsoft.com/office/powerpoint/2010/main" val="3981140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C2ED92-E8AA-9175-2AEA-1CB01CE97860}"/>
              </a:ext>
            </a:extLst>
          </p:cNvPr>
          <p:cNvSpPr>
            <a:spLocks noGrp="1"/>
          </p:cNvSpPr>
          <p:nvPr>
            <p:ph type="sldNum" sz="quarter" idx="13"/>
          </p:nvPr>
        </p:nvSpPr>
        <p:spPr/>
        <p:txBody>
          <a:bodyPr/>
          <a:lstStyle/>
          <a:p>
            <a:fld id="{12342C3A-DD85-7843-B416-BD52AB030D59}" type="slidenum">
              <a:rPr lang="en-US" smtClean="0"/>
              <a:pPr/>
              <a:t>18</a:t>
            </a:fld>
            <a:endParaRPr lang="en-US" dirty="0"/>
          </a:p>
        </p:txBody>
      </p:sp>
      <p:sp>
        <p:nvSpPr>
          <p:cNvPr id="3" name="Text Placeholder 2">
            <a:extLst>
              <a:ext uri="{FF2B5EF4-FFF2-40B4-BE49-F238E27FC236}">
                <a16:creationId xmlns:a16="http://schemas.microsoft.com/office/drawing/2014/main" id="{B17C75F1-3E66-9F2D-AFFB-6CC4B9527058}"/>
              </a:ext>
            </a:extLst>
          </p:cNvPr>
          <p:cNvSpPr>
            <a:spLocks noGrp="1"/>
          </p:cNvSpPr>
          <p:nvPr>
            <p:ph type="body" sz="quarter" idx="12"/>
          </p:nvPr>
        </p:nvSpPr>
        <p:spPr/>
        <p:txBody>
          <a:bodyPr>
            <a:normAutofit/>
          </a:bodyPr>
          <a:lstStyle/>
          <a:p>
            <a:endParaRPr lang="en-US" sz="2000" b="1" dirty="0"/>
          </a:p>
          <a:p>
            <a:r>
              <a:rPr lang="en-US" sz="2000" b="1" dirty="0"/>
              <a:t>After the Standup:</a:t>
            </a:r>
          </a:p>
          <a:p>
            <a:pPr marL="742950" lvl="1" indent="-285750">
              <a:buFont typeface="Arial" panose="020B0604020202020204" pitchFamily="34" charset="0"/>
              <a:buChar char="•"/>
            </a:pPr>
            <a:r>
              <a:rPr lang="en-US" sz="2000" b="1" dirty="0"/>
              <a:t>Remove the Blocker:</a:t>
            </a:r>
            <a:r>
              <a:rPr lang="en-US" sz="2000" dirty="0"/>
              <a:t> Immediately reach out to the person or team responsible for providing the API documentation to get access for the developer.</a:t>
            </a:r>
          </a:p>
          <a:p>
            <a:pPr marL="742950" lvl="1" indent="-285750">
              <a:buFont typeface="Arial" panose="020B0604020202020204" pitchFamily="34" charset="0"/>
              <a:buChar char="•"/>
            </a:pPr>
            <a:r>
              <a:rPr lang="en-US" sz="2000" b="1" dirty="0"/>
              <a:t>Follow Up:</a:t>
            </a:r>
            <a:r>
              <a:rPr lang="en-US" sz="2000" dirty="0"/>
              <a:t> Ensure the developer receives the documentation quickly so they can continue working on the task.</a:t>
            </a:r>
          </a:p>
          <a:p>
            <a:pPr marL="742950" lvl="1" indent="-285750">
              <a:buFont typeface="Arial" panose="020B0604020202020204" pitchFamily="34" charset="0"/>
              <a:buChar char="•"/>
            </a:pPr>
            <a:r>
              <a:rPr lang="en-US" sz="2000" b="1" dirty="0"/>
              <a:t>Monitor Progress:</a:t>
            </a:r>
            <a:r>
              <a:rPr lang="en-US" sz="2000" dirty="0"/>
              <a:t> Keep track of the task to ensure no further delays and adjust priorities if necessary to keep the Sprint on track.</a:t>
            </a:r>
          </a:p>
          <a:p>
            <a:r>
              <a:rPr lang="en-US" sz="2000" dirty="0"/>
              <a:t>The goal is to remove the blocker quickly and help the developer continue their work without delay.</a:t>
            </a:r>
          </a:p>
          <a:p>
            <a:endParaRPr lang="en-US" sz="2000" dirty="0"/>
          </a:p>
        </p:txBody>
      </p:sp>
      <p:sp>
        <p:nvSpPr>
          <p:cNvPr id="4" name="Title 3">
            <a:extLst>
              <a:ext uri="{FF2B5EF4-FFF2-40B4-BE49-F238E27FC236}">
                <a16:creationId xmlns:a16="http://schemas.microsoft.com/office/drawing/2014/main" id="{6C9EEE04-CA78-3E5F-AFB3-D9E7DEA2BF38}"/>
              </a:ext>
            </a:extLst>
          </p:cNvPr>
          <p:cNvSpPr>
            <a:spLocks noGrp="1"/>
          </p:cNvSpPr>
          <p:nvPr>
            <p:ph type="title"/>
          </p:nvPr>
        </p:nvSpPr>
        <p:spPr/>
        <p:txBody>
          <a:bodyPr/>
          <a:lstStyle/>
          <a:p>
            <a:r>
              <a:rPr lang="en-US" dirty="0"/>
              <a:t>Daily Standup</a:t>
            </a:r>
          </a:p>
        </p:txBody>
      </p:sp>
    </p:spTree>
    <p:extLst>
      <p:ext uri="{BB962C8B-B14F-4D97-AF65-F5344CB8AC3E}">
        <p14:creationId xmlns:p14="http://schemas.microsoft.com/office/powerpoint/2010/main" val="1533423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F1A0EC-0901-7DA1-ABD2-11435B4CCD91}"/>
              </a:ext>
            </a:extLst>
          </p:cNvPr>
          <p:cNvSpPr>
            <a:spLocks noGrp="1"/>
          </p:cNvSpPr>
          <p:nvPr>
            <p:ph type="sldNum" sz="quarter" idx="13"/>
          </p:nvPr>
        </p:nvSpPr>
        <p:spPr/>
        <p:txBody>
          <a:bodyPr/>
          <a:lstStyle/>
          <a:p>
            <a:fld id="{12342C3A-DD85-7843-B416-BD52AB030D59}" type="slidenum">
              <a:rPr lang="en-US" smtClean="0"/>
              <a:pPr/>
              <a:t>19</a:t>
            </a:fld>
            <a:endParaRPr lang="en-US" dirty="0"/>
          </a:p>
        </p:txBody>
      </p:sp>
      <p:sp>
        <p:nvSpPr>
          <p:cNvPr id="3" name="Text Placeholder 2">
            <a:extLst>
              <a:ext uri="{FF2B5EF4-FFF2-40B4-BE49-F238E27FC236}">
                <a16:creationId xmlns:a16="http://schemas.microsoft.com/office/drawing/2014/main" id="{D906385D-DD6B-3B91-0D27-394C0F893D42}"/>
              </a:ext>
            </a:extLst>
          </p:cNvPr>
          <p:cNvSpPr>
            <a:spLocks noGrp="1"/>
          </p:cNvSpPr>
          <p:nvPr>
            <p:ph type="body" sz="quarter" idx="12"/>
          </p:nvPr>
        </p:nvSpPr>
        <p:spPr/>
        <p:txBody>
          <a:bodyPr>
            <a:normAutofit/>
          </a:bodyPr>
          <a:lstStyle/>
          <a:p>
            <a:endParaRPr lang="en-US" sz="2000" dirty="0"/>
          </a:p>
          <a:p>
            <a:r>
              <a:rPr lang="en-US" sz="2000" dirty="0"/>
              <a:t>At the end of the Sprint, your team is conducting the </a:t>
            </a:r>
            <a:r>
              <a:rPr lang="en-US" sz="2000" b="1" dirty="0"/>
              <a:t>Sprint Review</a:t>
            </a:r>
            <a:r>
              <a:rPr lang="en-US" sz="2000" dirty="0"/>
              <a:t> for a software product used for managing customer support tickets. The development team presents the newly completed feature of automated ticket routing based on categories.</a:t>
            </a:r>
          </a:p>
          <a:p>
            <a:pPr marL="742950" lvl="1" indent="-285750">
              <a:buFont typeface="Arial" panose="020B0604020202020204" pitchFamily="34" charset="0"/>
              <a:buChar char="•"/>
            </a:pPr>
            <a:r>
              <a:rPr lang="en-US" sz="2000" dirty="0"/>
              <a:t>How would you, as the </a:t>
            </a:r>
            <a:r>
              <a:rPr lang="en-US" sz="2000" b="1" dirty="0"/>
              <a:t>Scrum Master</a:t>
            </a:r>
            <a:r>
              <a:rPr lang="en-US" sz="2000" dirty="0"/>
              <a:t>, facilitate the Sprint Review to ensure valuable feedback from stakeholders?</a:t>
            </a:r>
          </a:p>
          <a:p>
            <a:pPr marL="742950" lvl="1" indent="-285750">
              <a:buFont typeface="Arial" panose="020B0604020202020204" pitchFamily="34" charset="0"/>
              <a:buChar char="•"/>
            </a:pPr>
            <a:r>
              <a:rPr lang="en-US" sz="2000" dirty="0"/>
              <a:t>How would you incorporate stakeholder feedback into the next Sprint backlog?</a:t>
            </a:r>
          </a:p>
          <a:p>
            <a:endParaRPr lang="en-US" sz="2000" dirty="0"/>
          </a:p>
        </p:txBody>
      </p:sp>
      <p:sp>
        <p:nvSpPr>
          <p:cNvPr id="4" name="Title 3">
            <a:extLst>
              <a:ext uri="{FF2B5EF4-FFF2-40B4-BE49-F238E27FC236}">
                <a16:creationId xmlns:a16="http://schemas.microsoft.com/office/drawing/2014/main" id="{7A95DE3A-9C30-6CB0-40EF-79B7BE622B84}"/>
              </a:ext>
            </a:extLst>
          </p:cNvPr>
          <p:cNvSpPr>
            <a:spLocks noGrp="1"/>
          </p:cNvSpPr>
          <p:nvPr>
            <p:ph type="title"/>
          </p:nvPr>
        </p:nvSpPr>
        <p:spPr/>
        <p:txBody>
          <a:bodyPr/>
          <a:lstStyle/>
          <a:p>
            <a:r>
              <a:rPr lang="en-US" dirty="0"/>
              <a:t>Sprint Review</a:t>
            </a:r>
          </a:p>
        </p:txBody>
      </p:sp>
    </p:spTree>
    <p:extLst>
      <p:ext uri="{BB962C8B-B14F-4D97-AF65-F5344CB8AC3E}">
        <p14:creationId xmlns:p14="http://schemas.microsoft.com/office/powerpoint/2010/main" val="1460146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D7E368-53E9-EFE3-7B7D-6B6EABD7EBC0}"/>
              </a:ext>
            </a:extLst>
          </p:cNvPr>
          <p:cNvSpPr>
            <a:spLocks noGrp="1"/>
          </p:cNvSpPr>
          <p:nvPr>
            <p:ph type="sldNum" sz="quarter" idx="13"/>
          </p:nvPr>
        </p:nvSpPr>
        <p:spPr/>
        <p:txBody>
          <a:bodyPr/>
          <a:lstStyle/>
          <a:p>
            <a:fld id="{12342C3A-DD85-7843-B416-BD52AB030D59}" type="slidenum">
              <a:rPr lang="en-US" smtClean="0"/>
              <a:pPr/>
              <a:t>20</a:t>
            </a:fld>
            <a:endParaRPr lang="en-US" dirty="0"/>
          </a:p>
        </p:txBody>
      </p:sp>
      <p:sp>
        <p:nvSpPr>
          <p:cNvPr id="3" name="Text Placeholder 2">
            <a:extLst>
              <a:ext uri="{FF2B5EF4-FFF2-40B4-BE49-F238E27FC236}">
                <a16:creationId xmlns:a16="http://schemas.microsoft.com/office/drawing/2014/main" id="{54D94C3B-AC0C-0659-A84D-12A96ECA1512}"/>
              </a:ext>
            </a:extLst>
          </p:cNvPr>
          <p:cNvSpPr>
            <a:spLocks noGrp="1"/>
          </p:cNvSpPr>
          <p:nvPr>
            <p:ph type="body" sz="quarter" idx="12"/>
          </p:nvPr>
        </p:nvSpPr>
        <p:spPr/>
        <p:txBody>
          <a:bodyPr>
            <a:normAutofit/>
          </a:bodyPr>
          <a:lstStyle/>
          <a:p>
            <a:endParaRPr lang="en-US" sz="2000" b="1" dirty="0"/>
          </a:p>
          <a:p>
            <a:r>
              <a:rPr lang="en-US" sz="2000" b="1" dirty="0"/>
              <a:t>Facilitating the Sprint Review:</a:t>
            </a:r>
          </a:p>
          <a:p>
            <a:pPr marL="742950" lvl="1" indent="-285750">
              <a:buFont typeface="Arial" panose="020B0604020202020204" pitchFamily="34" charset="0"/>
              <a:buChar char="•"/>
            </a:pPr>
            <a:r>
              <a:rPr lang="en-US" sz="2000" b="1" dirty="0"/>
              <a:t>Set the Stage:</a:t>
            </a:r>
            <a:r>
              <a:rPr lang="en-US" sz="2000" dirty="0"/>
              <a:t> Start by reminding the team of the Sprint Goal and what was planned.</a:t>
            </a:r>
          </a:p>
          <a:p>
            <a:pPr marL="742950" lvl="1" indent="-285750">
              <a:buFont typeface="Arial" panose="020B0604020202020204" pitchFamily="34" charset="0"/>
              <a:buChar char="•"/>
            </a:pPr>
            <a:r>
              <a:rPr lang="en-US" sz="2000" b="1" dirty="0"/>
              <a:t>Encourage Stakeholder Participation:</a:t>
            </a:r>
            <a:r>
              <a:rPr lang="en-US" sz="2000" dirty="0"/>
              <a:t> Invite stakeholders to provide feedback on the newly completed feature (automated ticket routing).</a:t>
            </a:r>
          </a:p>
          <a:p>
            <a:pPr marL="742950" lvl="1" indent="-285750">
              <a:buFont typeface="Arial" panose="020B0604020202020204" pitchFamily="34" charset="0"/>
              <a:buChar char="•"/>
            </a:pPr>
            <a:r>
              <a:rPr lang="en-US" sz="2000" b="1" dirty="0"/>
              <a:t>Ensure Clarity:</a:t>
            </a:r>
            <a:r>
              <a:rPr lang="en-US" sz="2000" dirty="0"/>
              <a:t> Ask the team to demonstrate the feature and highlight key functionalities, ensuring all stakeholders understand its value.</a:t>
            </a:r>
          </a:p>
          <a:p>
            <a:pPr marL="742950" lvl="1" indent="-285750">
              <a:buFont typeface="Arial" panose="020B0604020202020204" pitchFamily="34" charset="0"/>
              <a:buChar char="•"/>
            </a:pPr>
            <a:r>
              <a:rPr lang="en-US" sz="2000" b="1" dirty="0"/>
              <a:t>Promote Open Dialogue:</a:t>
            </a:r>
            <a:r>
              <a:rPr lang="en-US" sz="2000" dirty="0"/>
              <a:t> Foster a collaborative discussion, allowing stakeholders to ask questions and suggest improvements.</a:t>
            </a:r>
          </a:p>
          <a:p>
            <a:endParaRPr lang="en-US" sz="2000" dirty="0"/>
          </a:p>
        </p:txBody>
      </p:sp>
      <p:sp>
        <p:nvSpPr>
          <p:cNvPr id="4" name="Title 3">
            <a:extLst>
              <a:ext uri="{FF2B5EF4-FFF2-40B4-BE49-F238E27FC236}">
                <a16:creationId xmlns:a16="http://schemas.microsoft.com/office/drawing/2014/main" id="{17D4B8E6-950C-F855-0946-4514E611D07A}"/>
              </a:ext>
            </a:extLst>
          </p:cNvPr>
          <p:cNvSpPr>
            <a:spLocks noGrp="1"/>
          </p:cNvSpPr>
          <p:nvPr>
            <p:ph type="title"/>
          </p:nvPr>
        </p:nvSpPr>
        <p:spPr/>
        <p:txBody>
          <a:bodyPr/>
          <a:lstStyle/>
          <a:p>
            <a:r>
              <a:rPr lang="en-US" dirty="0"/>
              <a:t>Sprint Review</a:t>
            </a:r>
          </a:p>
        </p:txBody>
      </p:sp>
    </p:spTree>
    <p:extLst>
      <p:ext uri="{BB962C8B-B14F-4D97-AF65-F5344CB8AC3E}">
        <p14:creationId xmlns:p14="http://schemas.microsoft.com/office/powerpoint/2010/main" val="1158276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9FDE20-3617-B50F-473B-DD7D2B22BD9B}"/>
              </a:ext>
            </a:extLst>
          </p:cNvPr>
          <p:cNvSpPr>
            <a:spLocks noGrp="1"/>
          </p:cNvSpPr>
          <p:nvPr>
            <p:ph type="sldNum" sz="quarter" idx="13"/>
          </p:nvPr>
        </p:nvSpPr>
        <p:spPr/>
        <p:txBody>
          <a:bodyPr/>
          <a:lstStyle/>
          <a:p>
            <a:fld id="{12342C3A-DD85-7843-B416-BD52AB030D59}" type="slidenum">
              <a:rPr lang="en-US" smtClean="0"/>
              <a:pPr/>
              <a:t>21</a:t>
            </a:fld>
            <a:endParaRPr lang="en-US" dirty="0"/>
          </a:p>
        </p:txBody>
      </p:sp>
      <p:sp>
        <p:nvSpPr>
          <p:cNvPr id="3" name="Text Placeholder 2">
            <a:extLst>
              <a:ext uri="{FF2B5EF4-FFF2-40B4-BE49-F238E27FC236}">
                <a16:creationId xmlns:a16="http://schemas.microsoft.com/office/drawing/2014/main" id="{62F0F742-99C4-4F7F-958D-6FEF877538A3}"/>
              </a:ext>
            </a:extLst>
          </p:cNvPr>
          <p:cNvSpPr>
            <a:spLocks noGrp="1"/>
          </p:cNvSpPr>
          <p:nvPr>
            <p:ph type="body" sz="quarter" idx="12"/>
          </p:nvPr>
        </p:nvSpPr>
        <p:spPr/>
        <p:txBody>
          <a:bodyPr>
            <a:normAutofit/>
          </a:bodyPr>
          <a:lstStyle/>
          <a:p>
            <a:endParaRPr lang="en-US" sz="2000" b="1" dirty="0"/>
          </a:p>
          <a:p>
            <a:r>
              <a:rPr lang="en-US" sz="2000" b="1" dirty="0"/>
              <a:t>Incorporating Stakeholder Feedback:</a:t>
            </a:r>
          </a:p>
          <a:p>
            <a:pPr marL="742950" lvl="1" indent="-285750">
              <a:buFont typeface="Arial" panose="020B0604020202020204" pitchFamily="34" charset="0"/>
              <a:buChar char="•"/>
            </a:pPr>
            <a:r>
              <a:rPr lang="en-US" sz="2000" b="1" dirty="0"/>
              <a:t>Capture Feedback:</a:t>
            </a:r>
            <a:r>
              <a:rPr lang="en-US" sz="2000" dirty="0"/>
              <a:t> Document stakeholder feedback during the review.</a:t>
            </a:r>
          </a:p>
          <a:p>
            <a:pPr marL="742950" lvl="1" indent="-285750">
              <a:buFont typeface="Arial" panose="020B0604020202020204" pitchFamily="34" charset="0"/>
              <a:buChar char="•"/>
            </a:pPr>
            <a:r>
              <a:rPr lang="en-US" sz="2000" b="1" dirty="0"/>
              <a:t>Prioritize Feedback:</a:t>
            </a:r>
            <a:r>
              <a:rPr lang="en-US" sz="2000" dirty="0"/>
              <a:t> Work with the Product Owner to evaluate the feedback and decide what should be prioritized for the next Sprint.</a:t>
            </a:r>
          </a:p>
          <a:p>
            <a:pPr marL="742950" lvl="1" indent="-285750">
              <a:buFont typeface="Arial" panose="020B0604020202020204" pitchFamily="34" charset="0"/>
              <a:buChar char="•"/>
            </a:pPr>
            <a:r>
              <a:rPr lang="en-US" sz="2000" b="1" dirty="0"/>
              <a:t>Update the Backlog:</a:t>
            </a:r>
            <a:r>
              <a:rPr lang="en-US" sz="2000" dirty="0"/>
              <a:t> Add relevant feedback and improvements to the </a:t>
            </a:r>
            <a:r>
              <a:rPr lang="en-US" sz="2000" b="1" dirty="0"/>
              <a:t>Product Backlog</a:t>
            </a:r>
            <a:r>
              <a:rPr lang="en-US" sz="2000" dirty="0"/>
              <a:t>, ensuring the team addresses them in upcoming Sprints.</a:t>
            </a:r>
          </a:p>
          <a:p>
            <a:pPr marL="742950" lvl="1" indent="-285750">
              <a:buFont typeface="Arial" panose="020B0604020202020204" pitchFamily="34" charset="0"/>
              <a:buChar char="•"/>
            </a:pPr>
            <a:r>
              <a:rPr lang="en-US" sz="2000" b="1" dirty="0"/>
              <a:t>Communicate Changes:</a:t>
            </a:r>
            <a:r>
              <a:rPr lang="en-US" sz="2000" dirty="0"/>
              <a:t> Ensure that the team is aware of the feedback and its impact on the next Sprint's goals.</a:t>
            </a:r>
          </a:p>
          <a:p>
            <a:r>
              <a:rPr lang="en-US" sz="2000" dirty="0"/>
              <a:t>The focus is to gather actionable feedback and incorporate it into the team’s future planning to continuously improve the product.</a:t>
            </a:r>
          </a:p>
          <a:p>
            <a:endParaRPr lang="en-US" sz="2000" dirty="0"/>
          </a:p>
        </p:txBody>
      </p:sp>
      <p:sp>
        <p:nvSpPr>
          <p:cNvPr id="4" name="Title 3">
            <a:extLst>
              <a:ext uri="{FF2B5EF4-FFF2-40B4-BE49-F238E27FC236}">
                <a16:creationId xmlns:a16="http://schemas.microsoft.com/office/drawing/2014/main" id="{F82DDE1C-BAC0-CE27-0A7E-9EFB84981A0B}"/>
              </a:ext>
            </a:extLst>
          </p:cNvPr>
          <p:cNvSpPr>
            <a:spLocks noGrp="1"/>
          </p:cNvSpPr>
          <p:nvPr>
            <p:ph type="title"/>
          </p:nvPr>
        </p:nvSpPr>
        <p:spPr/>
        <p:txBody>
          <a:bodyPr/>
          <a:lstStyle/>
          <a:p>
            <a:r>
              <a:rPr lang="en-US" dirty="0"/>
              <a:t>Sprint Review</a:t>
            </a:r>
          </a:p>
        </p:txBody>
      </p:sp>
    </p:spTree>
    <p:extLst>
      <p:ext uri="{BB962C8B-B14F-4D97-AF65-F5344CB8AC3E}">
        <p14:creationId xmlns:p14="http://schemas.microsoft.com/office/powerpoint/2010/main" val="4002088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BEE7FD-E853-B462-924D-3BDDD6DAA3EB}"/>
              </a:ext>
            </a:extLst>
          </p:cNvPr>
          <p:cNvSpPr>
            <a:spLocks noGrp="1"/>
          </p:cNvSpPr>
          <p:nvPr>
            <p:ph type="sldNum" sz="quarter" idx="13"/>
          </p:nvPr>
        </p:nvSpPr>
        <p:spPr/>
        <p:txBody>
          <a:bodyPr/>
          <a:lstStyle/>
          <a:p>
            <a:fld id="{12342C3A-DD85-7843-B416-BD52AB030D59}" type="slidenum">
              <a:rPr lang="en-US" smtClean="0"/>
              <a:pPr/>
              <a:t>22</a:t>
            </a:fld>
            <a:endParaRPr lang="en-US" dirty="0"/>
          </a:p>
        </p:txBody>
      </p:sp>
      <p:sp>
        <p:nvSpPr>
          <p:cNvPr id="3" name="Text Placeholder 2">
            <a:extLst>
              <a:ext uri="{FF2B5EF4-FFF2-40B4-BE49-F238E27FC236}">
                <a16:creationId xmlns:a16="http://schemas.microsoft.com/office/drawing/2014/main" id="{0E85D51B-B4F6-31DA-1C07-D375BF9FF410}"/>
              </a:ext>
            </a:extLst>
          </p:cNvPr>
          <p:cNvSpPr>
            <a:spLocks noGrp="1"/>
          </p:cNvSpPr>
          <p:nvPr>
            <p:ph type="body" sz="quarter" idx="12"/>
          </p:nvPr>
        </p:nvSpPr>
        <p:spPr/>
        <p:txBody>
          <a:bodyPr>
            <a:normAutofit/>
          </a:bodyPr>
          <a:lstStyle/>
          <a:p>
            <a:endParaRPr lang="en-US" sz="2000" dirty="0"/>
          </a:p>
          <a:p>
            <a:r>
              <a:rPr lang="en-US" sz="2000" dirty="0"/>
              <a:t>The Product Owner has several high-priority items in the </a:t>
            </a:r>
            <a:r>
              <a:rPr lang="en-US" sz="2000" b="1" dirty="0"/>
              <a:t>Product Backlog</a:t>
            </a:r>
            <a:r>
              <a:rPr lang="en-US" sz="2000" dirty="0"/>
              <a:t> related to both new features and bug fixes. The backlog is large, and the team is finding it difficult to prioritize what to focus on next.</a:t>
            </a:r>
          </a:p>
          <a:p>
            <a:pPr marL="742950" lvl="1" indent="-285750">
              <a:buFont typeface="Arial" panose="020B0604020202020204" pitchFamily="34" charset="0"/>
              <a:buChar char="•"/>
            </a:pPr>
            <a:r>
              <a:rPr lang="en-US" sz="2000" dirty="0"/>
              <a:t>How would you guide the team and the Product Owner in conducting </a:t>
            </a:r>
            <a:r>
              <a:rPr lang="en-US" sz="2000" b="1" dirty="0"/>
              <a:t>Backlog Refinement</a:t>
            </a:r>
            <a:r>
              <a:rPr lang="en-US" sz="2000" dirty="0"/>
              <a:t> sessions?</a:t>
            </a:r>
          </a:p>
          <a:p>
            <a:pPr marL="742950" lvl="1" indent="-285750">
              <a:buFont typeface="Arial" panose="020B0604020202020204" pitchFamily="34" charset="0"/>
              <a:buChar char="•"/>
            </a:pPr>
            <a:r>
              <a:rPr lang="en-US" sz="2000" dirty="0"/>
              <a:t>How would you ensure that the items in the backlog are </a:t>
            </a:r>
            <a:r>
              <a:rPr lang="en-US" sz="2000" b="1" dirty="0"/>
              <a:t>well-defined</a:t>
            </a:r>
            <a:r>
              <a:rPr lang="en-US" sz="2000" dirty="0"/>
              <a:t> and </a:t>
            </a:r>
            <a:r>
              <a:rPr lang="en-US" sz="2000" b="1" dirty="0"/>
              <a:t>ready for future sprints</a:t>
            </a:r>
            <a:r>
              <a:rPr lang="en-US" sz="2000" dirty="0"/>
              <a:t>?</a:t>
            </a:r>
          </a:p>
          <a:p>
            <a:endParaRPr lang="en-US" sz="2000" dirty="0"/>
          </a:p>
        </p:txBody>
      </p:sp>
      <p:sp>
        <p:nvSpPr>
          <p:cNvPr id="4" name="Title 3">
            <a:extLst>
              <a:ext uri="{FF2B5EF4-FFF2-40B4-BE49-F238E27FC236}">
                <a16:creationId xmlns:a16="http://schemas.microsoft.com/office/drawing/2014/main" id="{8D70D24C-BC7E-4176-5B2C-4DA439B02CEF}"/>
              </a:ext>
            </a:extLst>
          </p:cNvPr>
          <p:cNvSpPr>
            <a:spLocks noGrp="1"/>
          </p:cNvSpPr>
          <p:nvPr>
            <p:ph type="title"/>
          </p:nvPr>
        </p:nvSpPr>
        <p:spPr/>
        <p:txBody>
          <a:bodyPr/>
          <a:lstStyle/>
          <a:p>
            <a:r>
              <a:rPr lang="en-US" dirty="0"/>
              <a:t>Product Backlog Refinement</a:t>
            </a:r>
          </a:p>
        </p:txBody>
      </p:sp>
    </p:spTree>
    <p:extLst>
      <p:ext uri="{BB962C8B-B14F-4D97-AF65-F5344CB8AC3E}">
        <p14:creationId xmlns:p14="http://schemas.microsoft.com/office/powerpoint/2010/main" val="3461165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24626D-C15C-B74C-4EC3-CD12108C3274}"/>
              </a:ext>
            </a:extLst>
          </p:cNvPr>
          <p:cNvSpPr>
            <a:spLocks noGrp="1"/>
          </p:cNvSpPr>
          <p:nvPr>
            <p:ph type="sldNum" sz="quarter" idx="13"/>
          </p:nvPr>
        </p:nvSpPr>
        <p:spPr/>
        <p:txBody>
          <a:bodyPr/>
          <a:lstStyle/>
          <a:p>
            <a:fld id="{12342C3A-DD85-7843-B416-BD52AB030D59}" type="slidenum">
              <a:rPr lang="en-US" smtClean="0"/>
              <a:pPr/>
              <a:t>23</a:t>
            </a:fld>
            <a:endParaRPr lang="en-US" dirty="0"/>
          </a:p>
        </p:txBody>
      </p:sp>
      <p:sp>
        <p:nvSpPr>
          <p:cNvPr id="3" name="Text Placeholder 2">
            <a:extLst>
              <a:ext uri="{FF2B5EF4-FFF2-40B4-BE49-F238E27FC236}">
                <a16:creationId xmlns:a16="http://schemas.microsoft.com/office/drawing/2014/main" id="{3A79533B-90E4-D785-163E-F6FD46F354B4}"/>
              </a:ext>
            </a:extLst>
          </p:cNvPr>
          <p:cNvSpPr>
            <a:spLocks noGrp="1"/>
          </p:cNvSpPr>
          <p:nvPr>
            <p:ph type="body" sz="quarter" idx="12"/>
          </p:nvPr>
        </p:nvSpPr>
        <p:spPr/>
        <p:txBody>
          <a:bodyPr>
            <a:normAutofit/>
          </a:bodyPr>
          <a:lstStyle/>
          <a:p>
            <a:endParaRPr lang="en-US" sz="2000" b="1" dirty="0"/>
          </a:p>
          <a:p>
            <a:r>
              <a:rPr lang="en-US" sz="2000" b="1" dirty="0"/>
              <a:t>Guiding the Team and Product Owner in Backlog Refinement:</a:t>
            </a:r>
          </a:p>
          <a:p>
            <a:pPr marL="742950" lvl="1" indent="-285750">
              <a:buFont typeface="Arial" panose="020B0604020202020204" pitchFamily="34" charset="0"/>
              <a:buChar char="•"/>
            </a:pPr>
            <a:r>
              <a:rPr lang="en-US" sz="2000" b="1" dirty="0"/>
              <a:t>Facilitate Regular Refinement Sessions:</a:t>
            </a:r>
            <a:r>
              <a:rPr lang="en-US" sz="2000" dirty="0"/>
              <a:t> Schedule frequent, time-boxed </a:t>
            </a:r>
            <a:r>
              <a:rPr lang="en-US" sz="2000" b="1" dirty="0"/>
              <a:t>Backlog Refinement</a:t>
            </a:r>
            <a:r>
              <a:rPr lang="en-US" sz="2000" dirty="0"/>
              <a:t> meetings (e.g., once a week) to prioritize and review backlog items.</a:t>
            </a:r>
          </a:p>
          <a:p>
            <a:pPr marL="742950" lvl="1" indent="-285750">
              <a:buFont typeface="Arial" panose="020B0604020202020204" pitchFamily="34" charset="0"/>
              <a:buChar char="•"/>
            </a:pPr>
            <a:r>
              <a:rPr lang="en-US" sz="2000" b="1" dirty="0"/>
              <a:t>Collaborate on Prioritization:</a:t>
            </a:r>
            <a:r>
              <a:rPr lang="en-US" sz="2000" dirty="0"/>
              <a:t> Work with the </a:t>
            </a:r>
            <a:r>
              <a:rPr lang="en-US" sz="2000" b="1" dirty="0"/>
              <a:t>Product Owner</a:t>
            </a:r>
            <a:r>
              <a:rPr lang="en-US" sz="2000" dirty="0"/>
              <a:t> to use prioritization techniques (e.g., </a:t>
            </a:r>
            <a:r>
              <a:rPr lang="en-US" sz="2000" b="1" dirty="0" err="1"/>
              <a:t>MoSCoW</a:t>
            </a:r>
            <a:r>
              <a:rPr lang="en-US" sz="2000" dirty="0"/>
              <a:t>, </a:t>
            </a:r>
            <a:r>
              <a:rPr lang="en-US" sz="2000" b="1" dirty="0"/>
              <a:t>Value vs. Effort</a:t>
            </a:r>
            <a:r>
              <a:rPr lang="en-US" sz="2000" dirty="0"/>
              <a:t> matrix) to rank items based on urgency and value.</a:t>
            </a:r>
          </a:p>
          <a:p>
            <a:pPr marL="742950" lvl="1" indent="-285750">
              <a:buFont typeface="Arial" panose="020B0604020202020204" pitchFamily="34" charset="0"/>
              <a:buChar char="•"/>
            </a:pPr>
            <a:r>
              <a:rPr lang="en-US" sz="2000" b="1" dirty="0"/>
              <a:t>Involve the Team:</a:t>
            </a:r>
            <a:r>
              <a:rPr lang="en-US" sz="2000" dirty="0"/>
              <a:t> Ensure the development team provides input on technical feasibility, dependencies, and effort estimates.</a:t>
            </a:r>
          </a:p>
          <a:p>
            <a:endParaRPr lang="en-US" sz="2000" dirty="0"/>
          </a:p>
        </p:txBody>
      </p:sp>
      <p:sp>
        <p:nvSpPr>
          <p:cNvPr id="4" name="Title 3">
            <a:extLst>
              <a:ext uri="{FF2B5EF4-FFF2-40B4-BE49-F238E27FC236}">
                <a16:creationId xmlns:a16="http://schemas.microsoft.com/office/drawing/2014/main" id="{1DC39CE7-83EE-16E9-6713-024F46C70FD1}"/>
              </a:ext>
            </a:extLst>
          </p:cNvPr>
          <p:cNvSpPr>
            <a:spLocks noGrp="1"/>
          </p:cNvSpPr>
          <p:nvPr>
            <p:ph type="title"/>
          </p:nvPr>
        </p:nvSpPr>
        <p:spPr/>
        <p:txBody>
          <a:bodyPr/>
          <a:lstStyle/>
          <a:p>
            <a:r>
              <a:rPr lang="en-US" dirty="0"/>
              <a:t>Product Backlog Refinement</a:t>
            </a:r>
          </a:p>
        </p:txBody>
      </p:sp>
    </p:spTree>
    <p:extLst>
      <p:ext uri="{BB962C8B-B14F-4D97-AF65-F5344CB8AC3E}">
        <p14:creationId xmlns:p14="http://schemas.microsoft.com/office/powerpoint/2010/main" val="2778173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61A087-3AB3-3C2E-EEC1-467EB76ABD36}"/>
              </a:ext>
            </a:extLst>
          </p:cNvPr>
          <p:cNvSpPr>
            <a:spLocks noGrp="1"/>
          </p:cNvSpPr>
          <p:nvPr>
            <p:ph type="sldNum" sz="quarter" idx="13"/>
          </p:nvPr>
        </p:nvSpPr>
        <p:spPr/>
        <p:txBody>
          <a:bodyPr/>
          <a:lstStyle/>
          <a:p>
            <a:fld id="{12342C3A-DD85-7843-B416-BD52AB030D59}" type="slidenum">
              <a:rPr lang="en-US" smtClean="0"/>
              <a:pPr/>
              <a:t>24</a:t>
            </a:fld>
            <a:endParaRPr lang="en-US" dirty="0"/>
          </a:p>
        </p:txBody>
      </p:sp>
      <p:sp>
        <p:nvSpPr>
          <p:cNvPr id="3" name="Text Placeholder 2">
            <a:extLst>
              <a:ext uri="{FF2B5EF4-FFF2-40B4-BE49-F238E27FC236}">
                <a16:creationId xmlns:a16="http://schemas.microsoft.com/office/drawing/2014/main" id="{74A24639-1705-EB2D-D985-8FC1389C5DDE}"/>
              </a:ext>
            </a:extLst>
          </p:cNvPr>
          <p:cNvSpPr>
            <a:spLocks noGrp="1"/>
          </p:cNvSpPr>
          <p:nvPr>
            <p:ph type="body" sz="quarter" idx="12"/>
          </p:nvPr>
        </p:nvSpPr>
        <p:spPr/>
        <p:txBody>
          <a:bodyPr>
            <a:normAutofit/>
          </a:bodyPr>
          <a:lstStyle/>
          <a:p>
            <a:endParaRPr lang="en-US" sz="2000" b="1" dirty="0"/>
          </a:p>
          <a:p>
            <a:r>
              <a:rPr lang="en-US" sz="2000" b="1" dirty="0"/>
              <a:t>Ensuring Items Are Well-Defined and Ready:</a:t>
            </a:r>
          </a:p>
          <a:p>
            <a:pPr marL="742950" lvl="1" indent="-285750">
              <a:buFont typeface="Arial" panose="020B0604020202020204" pitchFamily="34" charset="0"/>
              <a:buChar char="•"/>
            </a:pPr>
            <a:r>
              <a:rPr lang="en-US" sz="2000" b="1" dirty="0"/>
              <a:t>Clarify Requirements:</a:t>
            </a:r>
            <a:r>
              <a:rPr lang="en-US" sz="2000" dirty="0"/>
              <a:t> Ensure each item has clear </a:t>
            </a:r>
            <a:r>
              <a:rPr lang="en-US" sz="2000" b="1" dirty="0"/>
              <a:t>acceptance criteria</a:t>
            </a:r>
            <a:r>
              <a:rPr lang="en-US" sz="2000" dirty="0"/>
              <a:t> and is fully understood by the team.</a:t>
            </a:r>
          </a:p>
          <a:p>
            <a:pPr marL="742950" lvl="1" indent="-285750">
              <a:buFont typeface="Arial" panose="020B0604020202020204" pitchFamily="34" charset="0"/>
              <a:buChar char="•"/>
            </a:pPr>
            <a:r>
              <a:rPr lang="en-US" sz="2000" b="1" dirty="0"/>
              <a:t>Break Down Large Items:</a:t>
            </a:r>
            <a:r>
              <a:rPr lang="en-US" sz="2000" dirty="0"/>
              <a:t> Help decompose large user stories or epics into smaller, actionable stories.</a:t>
            </a:r>
          </a:p>
          <a:p>
            <a:pPr marL="742950" lvl="1" indent="-285750">
              <a:buFont typeface="Arial" panose="020B0604020202020204" pitchFamily="34" charset="0"/>
              <a:buChar char="•"/>
            </a:pPr>
            <a:r>
              <a:rPr lang="en-US" sz="2000" b="1" dirty="0"/>
              <a:t>Estimation:</a:t>
            </a:r>
            <a:r>
              <a:rPr lang="en-US" sz="2000" dirty="0"/>
              <a:t> Ensure items are estimated (e.g., using </a:t>
            </a:r>
            <a:r>
              <a:rPr lang="en-US" sz="2000" b="1" dirty="0"/>
              <a:t>story points</a:t>
            </a:r>
            <a:r>
              <a:rPr lang="en-US" sz="2000" dirty="0"/>
              <a:t> or time-based estimation) and small enough for the Sprint.</a:t>
            </a:r>
          </a:p>
          <a:p>
            <a:pPr marL="742950" lvl="1" indent="-285750">
              <a:buFont typeface="Arial" panose="020B0604020202020204" pitchFamily="34" charset="0"/>
              <a:buChar char="•"/>
            </a:pPr>
            <a:r>
              <a:rPr lang="en-US" sz="2000" b="1" dirty="0"/>
              <a:t>Review Dependencies:</a:t>
            </a:r>
            <a:r>
              <a:rPr lang="en-US" sz="2000" dirty="0"/>
              <a:t> Identify and address any external dependencies or blockers before the Sprint starts.</a:t>
            </a:r>
          </a:p>
          <a:p>
            <a:r>
              <a:rPr lang="en-US" sz="2000" dirty="0"/>
              <a:t>The goal is to regularly refine and prioritize the backlog, ensuring items are clear, well-defined, and ready for the team to work on in upcoming Sprints.</a:t>
            </a:r>
          </a:p>
        </p:txBody>
      </p:sp>
      <p:sp>
        <p:nvSpPr>
          <p:cNvPr id="4" name="Title 3">
            <a:extLst>
              <a:ext uri="{FF2B5EF4-FFF2-40B4-BE49-F238E27FC236}">
                <a16:creationId xmlns:a16="http://schemas.microsoft.com/office/drawing/2014/main" id="{FC2039A4-508F-30C9-576E-5092B5A76B97}"/>
              </a:ext>
            </a:extLst>
          </p:cNvPr>
          <p:cNvSpPr>
            <a:spLocks noGrp="1"/>
          </p:cNvSpPr>
          <p:nvPr>
            <p:ph type="title"/>
          </p:nvPr>
        </p:nvSpPr>
        <p:spPr/>
        <p:txBody>
          <a:bodyPr/>
          <a:lstStyle/>
          <a:p>
            <a:r>
              <a:rPr lang="en-US" dirty="0"/>
              <a:t>Product Backlog Refinement</a:t>
            </a:r>
          </a:p>
        </p:txBody>
      </p:sp>
    </p:spTree>
    <p:extLst>
      <p:ext uri="{BB962C8B-B14F-4D97-AF65-F5344CB8AC3E}">
        <p14:creationId xmlns:p14="http://schemas.microsoft.com/office/powerpoint/2010/main" val="496045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CEE6D8-C8CE-0FAC-289F-CDD253884189}"/>
              </a:ext>
            </a:extLst>
          </p:cNvPr>
          <p:cNvSpPr>
            <a:spLocks noGrp="1"/>
          </p:cNvSpPr>
          <p:nvPr>
            <p:ph type="sldNum" sz="quarter" idx="13"/>
          </p:nvPr>
        </p:nvSpPr>
        <p:spPr/>
        <p:txBody>
          <a:bodyPr/>
          <a:lstStyle/>
          <a:p>
            <a:fld id="{12342C3A-DD85-7843-B416-BD52AB030D59}" type="slidenum">
              <a:rPr lang="en-US" smtClean="0"/>
              <a:pPr/>
              <a:t>25</a:t>
            </a:fld>
            <a:endParaRPr lang="en-US" dirty="0"/>
          </a:p>
        </p:txBody>
      </p:sp>
      <p:sp>
        <p:nvSpPr>
          <p:cNvPr id="3" name="Text Placeholder 2">
            <a:extLst>
              <a:ext uri="{FF2B5EF4-FFF2-40B4-BE49-F238E27FC236}">
                <a16:creationId xmlns:a16="http://schemas.microsoft.com/office/drawing/2014/main" id="{4BE68DBF-F81F-0B24-EE13-16D08C023D7D}"/>
              </a:ext>
            </a:extLst>
          </p:cNvPr>
          <p:cNvSpPr>
            <a:spLocks noGrp="1"/>
          </p:cNvSpPr>
          <p:nvPr>
            <p:ph type="body" sz="quarter" idx="12"/>
          </p:nvPr>
        </p:nvSpPr>
        <p:spPr/>
        <p:txBody>
          <a:bodyPr>
            <a:normAutofit/>
          </a:bodyPr>
          <a:lstStyle/>
          <a:p>
            <a:endParaRPr lang="en-US" sz="2000" dirty="0"/>
          </a:p>
          <a:p>
            <a:r>
              <a:rPr lang="en-US" sz="2000" dirty="0"/>
              <a:t>At the end of a Sprint, the team meets for the </a:t>
            </a:r>
            <a:r>
              <a:rPr lang="en-US" sz="2000" b="1" dirty="0"/>
              <a:t>Sprint Retrospective</a:t>
            </a:r>
            <a:r>
              <a:rPr lang="en-US" sz="2000" dirty="0"/>
              <a:t>. There’s a pattern of consistent delays in completing user stories, and team morale is low due to poor collaboration.</a:t>
            </a:r>
          </a:p>
          <a:p>
            <a:pPr marL="742950" lvl="1" indent="-285750">
              <a:buFont typeface="Arial" panose="020B0604020202020204" pitchFamily="34" charset="0"/>
              <a:buChar char="•"/>
            </a:pPr>
            <a:r>
              <a:rPr lang="en-US" sz="2000" dirty="0"/>
              <a:t>How would you, as the </a:t>
            </a:r>
            <a:r>
              <a:rPr lang="en-US" sz="2000" b="1" dirty="0"/>
              <a:t>Scrum Master</a:t>
            </a:r>
            <a:r>
              <a:rPr lang="en-US" sz="2000" dirty="0"/>
              <a:t>, facilitate the Sprint Retrospective to help the team identify the root cause of the issues?</a:t>
            </a:r>
          </a:p>
          <a:p>
            <a:pPr marL="742950" lvl="1" indent="-285750">
              <a:buFont typeface="Arial" panose="020B0604020202020204" pitchFamily="34" charset="0"/>
              <a:buChar char="•"/>
            </a:pPr>
            <a:r>
              <a:rPr lang="en-US" sz="2000" dirty="0"/>
              <a:t>What actions would you take after the Retrospective to improve the team’s collaboration and address the delays?</a:t>
            </a:r>
          </a:p>
          <a:p>
            <a:endParaRPr lang="en-US" sz="2000" dirty="0"/>
          </a:p>
        </p:txBody>
      </p:sp>
      <p:sp>
        <p:nvSpPr>
          <p:cNvPr id="4" name="Title 3">
            <a:extLst>
              <a:ext uri="{FF2B5EF4-FFF2-40B4-BE49-F238E27FC236}">
                <a16:creationId xmlns:a16="http://schemas.microsoft.com/office/drawing/2014/main" id="{C7E357A6-1A0A-B433-69D3-7AE321275FF5}"/>
              </a:ext>
            </a:extLst>
          </p:cNvPr>
          <p:cNvSpPr>
            <a:spLocks noGrp="1"/>
          </p:cNvSpPr>
          <p:nvPr>
            <p:ph type="title"/>
          </p:nvPr>
        </p:nvSpPr>
        <p:spPr/>
        <p:txBody>
          <a:bodyPr/>
          <a:lstStyle/>
          <a:p>
            <a:r>
              <a:rPr lang="en-US" dirty="0"/>
              <a:t>Retrospective</a:t>
            </a:r>
          </a:p>
        </p:txBody>
      </p:sp>
    </p:spTree>
    <p:extLst>
      <p:ext uri="{BB962C8B-B14F-4D97-AF65-F5344CB8AC3E}">
        <p14:creationId xmlns:p14="http://schemas.microsoft.com/office/powerpoint/2010/main" val="2647145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E4B447-4362-26D5-C92E-26F3E86A5C47}"/>
              </a:ext>
            </a:extLst>
          </p:cNvPr>
          <p:cNvSpPr>
            <a:spLocks noGrp="1"/>
          </p:cNvSpPr>
          <p:nvPr>
            <p:ph type="sldNum" sz="quarter" idx="13"/>
          </p:nvPr>
        </p:nvSpPr>
        <p:spPr/>
        <p:txBody>
          <a:bodyPr/>
          <a:lstStyle/>
          <a:p>
            <a:fld id="{12342C3A-DD85-7843-B416-BD52AB030D59}" type="slidenum">
              <a:rPr lang="en-US" smtClean="0"/>
              <a:pPr/>
              <a:t>26</a:t>
            </a:fld>
            <a:endParaRPr lang="en-US" dirty="0"/>
          </a:p>
        </p:txBody>
      </p:sp>
      <p:sp>
        <p:nvSpPr>
          <p:cNvPr id="3" name="Text Placeholder 2">
            <a:extLst>
              <a:ext uri="{FF2B5EF4-FFF2-40B4-BE49-F238E27FC236}">
                <a16:creationId xmlns:a16="http://schemas.microsoft.com/office/drawing/2014/main" id="{3C92E0D7-16C0-B279-21F1-345EF689F1CB}"/>
              </a:ext>
            </a:extLst>
          </p:cNvPr>
          <p:cNvSpPr>
            <a:spLocks noGrp="1"/>
          </p:cNvSpPr>
          <p:nvPr>
            <p:ph type="body" sz="quarter" idx="12"/>
          </p:nvPr>
        </p:nvSpPr>
        <p:spPr/>
        <p:txBody>
          <a:bodyPr>
            <a:normAutofit/>
          </a:bodyPr>
          <a:lstStyle/>
          <a:p>
            <a:endParaRPr lang="en-US" sz="2000" b="1" dirty="0"/>
          </a:p>
          <a:p>
            <a:r>
              <a:rPr lang="en-US" sz="2000" b="1" dirty="0"/>
              <a:t>Facilitating the Sprint Retrospective:</a:t>
            </a:r>
          </a:p>
          <a:p>
            <a:pPr marL="742950" lvl="1" indent="-285750">
              <a:buFont typeface="Arial" panose="020B0604020202020204" pitchFamily="34" charset="0"/>
              <a:buChar char="•"/>
            </a:pPr>
            <a:r>
              <a:rPr lang="en-US" sz="2000" b="1" dirty="0"/>
              <a:t>Create a Safe Environment:</a:t>
            </a:r>
            <a:r>
              <a:rPr lang="en-US" sz="2000" dirty="0"/>
              <a:t> Foster a safe, open space where the team feels comfortable discussing issues without blame.</a:t>
            </a:r>
          </a:p>
          <a:p>
            <a:pPr marL="742950" lvl="1" indent="-285750">
              <a:buFont typeface="Arial" panose="020B0604020202020204" pitchFamily="34" charset="0"/>
              <a:buChar char="•"/>
            </a:pPr>
            <a:r>
              <a:rPr lang="en-US" sz="2000" b="1" dirty="0"/>
              <a:t>Use Data:</a:t>
            </a:r>
            <a:r>
              <a:rPr lang="en-US" sz="2000" dirty="0"/>
              <a:t> Review Sprint metrics (e.g., velocity, completed user stories) to identify patterns and highlight areas of concern.</a:t>
            </a:r>
          </a:p>
          <a:p>
            <a:pPr marL="742950" lvl="1" indent="-285750">
              <a:buFont typeface="Arial" panose="020B0604020202020204" pitchFamily="34" charset="0"/>
              <a:buChar char="•"/>
            </a:pPr>
            <a:r>
              <a:rPr lang="en-US" sz="2000" b="1" dirty="0"/>
              <a:t>Facilitate Root Cause Discussion:</a:t>
            </a:r>
            <a:r>
              <a:rPr lang="en-US" sz="2000" dirty="0"/>
              <a:t> Encourage the team to discuss the reasons behind delays and poor collaboration, using techniques like </a:t>
            </a:r>
            <a:r>
              <a:rPr lang="en-US" sz="2000" b="1" dirty="0"/>
              <a:t>5 Whys</a:t>
            </a:r>
            <a:r>
              <a:rPr lang="en-US" sz="2000" dirty="0"/>
              <a:t> or </a:t>
            </a:r>
            <a:r>
              <a:rPr lang="en-US" sz="2000" b="1" dirty="0"/>
              <a:t>Fishbone Diagram</a:t>
            </a:r>
            <a:r>
              <a:rPr lang="en-US" sz="2000" dirty="0"/>
              <a:t> to identify root causes.</a:t>
            </a:r>
          </a:p>
          <a:p>
            <a:pPr marL="742950" lvl="1" indent="-285750">
              <a:buFont typeface="Arial" panose="020B0604020202020204" pitchFamily="34" charset="0"/>
              <a:buChar char="•"/>
            </a:pPr>
            <a:r>
              <a:rPr lang="en-US" sz="2000" b="1" dirty="0"/>
              <a:t>Focus on Solutions:</a:t>
            </a:r>
            <a:r>
              <a:rPr lang="en-US" sz="2000" dirty="0"/>
              <a:t> Guide the team to focus on actionable improvements rather than just discussing problems.</a:t>
            </a:r>
          </a:p>
          <a:p>
            <a:endParaRPr lang="en-US" sz="2000" dirty="0"/>
          </a:p>
        </p:txBody>
      </p:sp>
      <p:sp>
        <p:nvSpPr>
          <p:cNvPr id="4" name="Title 3">
            <a:extLst>
              <a:ext uri="{FF2B5EF4-FFF2-40B4-BE49-F238E27FC236}">
                <a16:creationId xmlns:a16="http://schemas.microsoft.com/office/drawing/2014/main" id="{EFE2BC8B-8CE9-F7B3-84A1-957112F9AA93}"/>
              </a:ext>
            </a:extLst>
          </p:cNvPr>
          <p:cNvSpPr>
            <a:spLocks noGrp="1"/>
          </p:cNvSpPr>
          <p:nvPr>
            <p:ph type="title"/>
          </p:nvPr>
        </p:nvSpPr>
        <p:spPr/>
        <p:txBody>
          <a:bodyPr/>
          <a:lstStyle/>
          <a:p>
            <a:r>
              <a:rPr lang="en-US" dirty="0"/>
              <a:t>Retrospective</a:t>
            </a:r>
          </a:p>
        </p:txBody>
      </p:sp>
    </p:spTree>
    <p:extLst>
      <p:ext uri="{BB962C8B-B14F-4D97-AF65-F5344CB8AC3E}">
        <p14:creationId xmlns:p14="http://schemas.microsoft.com/office/powerpoint/2010/main" val="1188704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DB912-742C-2257-9FC3-9E90A982E4A6}"/>
              </a:ext>
            </a:extLst>
          </p:cNvPr>
          <p:cNvSpPr>
            <a:spLocks noGrp="1"/>
          </p:cNvSpPr>
          <p:nvPr>
            <p:ph type="sldNum" sz="quarter" idx="13"/>
          </p:nvPr>
        </p:nvSpPr>
        <p:spPr/>
        <p:txBody>
          <a:bodyPr/>
          <a:lstStyle/>
          <a:p>
            <a:fld id="{12342C3A-DD85-7843-B416-BD52AB030D59}" type="slidenum">
              <a:rPr lang="en-US" smtClean="0"/>
              <a:pPr/>
              <a:t>27</a:t>
            </a:fld>
            <a:endParaRPr lang="en-US" dirty="0"/>
          </a:p>
        </p:txBody>
      </p:sp>
      <p:sp>
        <p:nvSpPr>
          <p:cNvPr id="3" name="Text Placeholder 2">
            <a:extLst>
              <a:ext uri="{FF2B5EF4-FFF2-40B4-BE49-F238E27FC236}">
                <a16:creationId xmlns:a16="http://schemas.microsoft.com/office/drawing/2014/main" id="{1ABE9F7D-2015-5348-2400-C04324263411}"/>
              </a:ext>
            </a:extLst>
          </p:cNvPr>
          <p:cNvSpPr>
            <a:spLocks noGrp="1"/>
          </p:cNvSpPr>
          <p:nvPr>
            <p:ph type="body" sz="quarter" idx="12"/>
          </p:nvPr>
        </p:nvSpPr>
        <p:spPr/>
        <p:txBody>
          <a:bodyPr>
            <a:normAutofit/>
          </a:bodyPr>
          <a:lstStyle/>
          <a:p>
            <a:endParaRPr lang="en-US" sz="2000" b="1" dirty="0"/>
          </a:p>
          <a:p>
            <a:r>
              <a:rPr lang="en-US" sz="2000" b="1" dirty="0"/>
              <a:t>Actions After the Retrospective:</a:t>
            </a:r>
          </a:p>
          <a:p>
            <a:pPr marL="742950" lvl="1" indent="-285750">
              <a:buFont typeface="Arial" panose="020B0604020202020204" pitchFamily="34" charset="0"/>
              <a:buChar char="•"/>
            </a:pPr>
            <a:r>
              <a:rPr lang="en-US" sz="2000" b="1" dirty="0"/>
              <a:t>Implement Actionable Changes:</a:t>
            </a:r>
            <a:r>
              <a:rPr lang="en-US" sz="2000" dirty="0"/>
              <a:t> Work with the team to define </a:t>
            </a:r>
            <a:r>
              <a:rPr lang="en-US" sz="2000" b="1" dirty="0"/>
              <a:t>concrete actions</a:t>
            </a:r>
            <a:r>
              <a:rPr lang="en-US" sz="2000" dirty="0"/>
              <a:t> to improve collaboration and address delays (e.g., better communication, clearer requirements, daily check-ins).</a:t>
            </a:r>
          </a:p>
          <a:p>
            <a:pPr marL="742950" lvl="1" indent="-285750">
              <a:buFont typeface="Arial" panose="020B0604020202020204" pitchFamily="34" charset="0"/>
              <a:buChar char="•"/>
            </a:pPr>
            <a:r>
              <a:rPr lang="en-US" sz="2000" b="1" dirty="0"/>
              <a:t>Follow Up:</a:t>
            </a:r>
            <a:r>
              <a:rPr lang="en-US" sz="2000" dirty="0"/>
              <a:t> Track the progress of the action items in the next Sprint and ensure accountability.</a:t>
            </a:r>
          </a:p>
          <a:p>
            <a:pPr marL="742950" lvl="1" indent="-285750">
              <a:buFont typeface="Arial" panose="020B0604020202020204" pitchFamily="34" charset="0"/>
              <a:buChar char="•"/>
            </a:pPr>
            <a:r>
              <a:rPr lang="en-US" sz="2000" b="1" dirty="0"/>
              <a:t>Encourage Team Building:</a:t>
            </a:r>
            <a:r>
              <a:rPr lang="en-US" sz="2000" dirty="0"/>
              <a:t> Organize activities or workshops to improve collaboration and trust among team members.</a:t>
            </a:r>
          </a:p>
          <a:p>
            <a:r>
              <a:rPr lang="en-US" sz="2000" dirty="0"/>
              <a:t>The goal is to identify the root causes of delays and low morale, implement solutions, and continuously improve team dynamics and performance.</a:t>
            </a:r>
          </a:p>
          <a:p>
            <a:endParaRPr lang="en-US" sz="2000" dirty="0"/>
          </a:p>
        </p:txBody>
      </p:sp>
      <p:sp>
        <p:nvSpPr>
          <p:cNvPr id="4" name="Title 3">
            <a:extLst>
              <a:ext uri="{FF2B5EF4-FFF2-40B4-BE49-F238E27FC236}">
                <a16:creationId xmlns:a16="http://schemas.microsoft.com/office/drawing/2014/main" id="{345820C9-2045-452F-D60D-37F37069D507}"/>
              </a:ext>
            </a:extLst>
          </p:cNvPr>
          <p:cNvSpPr>
            <a:spLocks noGrp="1"/>
          </p:cNvSpPr>
          <p:nvPr>
            <p:ph type="title"/>
          </p:nvPr>
        </p:nvSpPr>
        <p:spPr/>
        <p:txBody>
          <a:bodyPr/>
          <a:lstStyle/>
          <a:p>
            <a:r>
              <a:rPr lang="en-US" dirty="0"/>
              <a:t>Retrospective</a:t>
            </a:r>
          </a:p>
        </p:txBody>
      </p:sp>
    </p:spTree>
    <p:extLst>
      <p:ext uri="{BB962C8B-B14F-4D97-AF65-F5344CB8AC3E}">
        <p14:creationId xmlns:p14="http://schemas.microsoft.com/office/powerpoint/2010/main" val="321448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A62A1E-04A9-C430-4B4C-91DD7DCB7E96}"/>
              </a:ext>
            </a:extLst>
          </p:cNvPr>
          <p:cNvSpPr>
            <a:spLocks noGrp="1"/>
          </p:cNvSpPr>
          <p:nvPr>
            <p:ph type="sldNum" sz="quarter" idx="13"/>
          </p:nvPr>
        </p:nvSpPr>
        <p:spPr/>
        <p:txBody>
          <a:bodyPr/>
          <a:lstStyle/>
          <a:p>
            <a:fld id="{12342C3A-DD85-7843-B416-BD52AB030D59}" type="slidenum">
              <a:rPr lang="en-US" smtClean="0"/>
              <a:pPr/>
              <a:t>28</a:t>
            </a:fld>
            <a:endParaRPr lang="en-US" dirty="0"/>
          </a:p>
        </p:txBody>
      </p:sp>
      <p:sp>
        <p:nvSpPr>
          <p:cNvPr id="3" name="Text Placeholder 2">
            <a:extLst>
              <a:ext uri="{FF2B5EF4-FFF2-40B4-BE49-F238E27FC236}">
                <a16:creationId xmlns:a16="http://schemas.microsoft.com/office/drawing/2014/main" id="{5D3C376F-74EA-9B88-6CCE-CD533FEA59A5}"/>
              </a:ext>
            </a:extLst>
          </p:cNvPr>
          <p:cNvSpPr>
            <a:spLocks noGrp="1"/>
          </p:cNvSpPr>
          <p:nvPr>
            <p:ph type="body" sz="quarter" idx="12"/>
          </p:nvPr>
        </p:nvSpPr>
        <p:spPr/>
        <p:txBody>
          <a:bodyPr>
            <a:normAutofit/>
          </a:bodyPr>
          <a:lstStyle/>
          <a:p>
            <a:endParaRPr lang="en-US" sz="2000" dirty="0"/>
          </a:p>
          <a:p>
            <a:r>
              <a:rPr lang="en-US" sz="2000" dirty="0"/>
              <a:t>Your Scrum Team consists of a Product Owner, a Scrum Master, and several developers. The Product Owner is often unavailable due to other commitments and is not providing timely clarifications for user stories.</a:t>
            </a:r>
          </a:p>
          <a:p>
            <a:pPr marL="742950" lvl="1" indent="-285750">
              <a:buFont typeface="Arial" panose="020B0604020202020204" pitchFamily="34" charset="0"/>
              <a:buChar char="•"/>
            </a:pPr>
            <a:r>
              <a:rPr lang="en-US" sz="2000" dirty="0"/>
              <a:t>As the </a:t>
            </a:r>
            <a:r>
              <a:rPr lang="en-US" sz="2000" b="1" dirty="0"/>
              <a:t>Scrum Master</a:t>
            </a:r>
            <a:r>
              <a:rPr lang="en-US" sz="2000" dirty="0"/>
              <a:t>, how would you address this situation to ensure that the team has the right support and information to complete their tasks?</a:t>
            </a:r>
          </a:p>
          <a:p>
            <a:pPr marL="742950" lvl="1" indent="-285750">
              <a:buFont typeface="Arial" panose="020B0604020202020204" pitchFamily="34" charset="0"/>
              <a:buChar char="•"/>
            </a:pPr>
            <a:r>
              <a:rPr lang="en-US" sz="2000" dirty="0"/>
              <a:t>How would you help the Product Owner balance their responsibilities without overburdening them?</a:t>
            </a:r>
          </a:p>
          <a:p>
            <a:endParaRPr lang="en-US" sz="2000" dirty="0"/>
          </a:p>
        </p:txBody>
      </p:sp>
      <p:sp>
        <p:nvSpPr>
          <p:cNvPr id="4" name="Title 3">
            <a:extLst>
              <a:ext uri="{FF2B5EF4-FFF2-40B4-BE49-F238E27FC236}">
                <a16:creationId xmlns:a16="http://schemas.microsoft.com/office/drawing/2014/main" id="{13A7F92F-3AE9-E4EE-F063-8173A7A61FF9}"/>
              </a:ext>
            </a:extLst>
          </p:cNvPr>
          <p:cNvSpPr>
            <a:spLocks noGrp="1"/>
          </p:cNvSpPr>
          <p:nvPr>
            <p:ph type="title"/>
          </p:nvPr>
        </p:nvSpPr>
        <p:spPr/>
        <p:txBody>
          <a:bodyPr/>
          <a:lstStyle/>
          <a:p>
            <a:r>
              <a:rPr lang="en-US" dirty="0"/>
              <a:t>Scrum Team Roles</a:t>
            </a:r>
          </a:p>
        </p:txBody>
      </p:sp>
    </p:spTree>
    <p:extLst>
      <p:ext uri="{BB962C8B-B14F-4D97-AF65-F5344CB8AC3E}">
        <p14:creationId xmlns:p14="http://schemas.microsoft.com/office/powerpoint/2010/main" val="990538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C6C4A5-C396-8AC0-B62E-8E39FB2D46ED}"/>
              </a:ext>
            </a:extLst>
          </p:cNvPr>
          <p:cNvSpPr>
            <a:spLocks noGrp="1"/>
          </p:cNvSpPr>
          <p:nvPr>
            <p:ph type="sldNum" sz="quarter" idx="13"/>
          </p:nvPr>
        </p:nvSpPr>
        <p:spPr/>
        <p:txBody>
          <a:bodyPr/>
          <a:lstStyle/>
          <a:p>
            <a:fld id="{12342C3A-DD85-7843-B416-BD52AB030D59}" type="slidenum">
              <a:rPr lang="en-US" smtClean="0"/>
              <a:pPr/>
              <a:t>29</a:t>
            </a:fld>
            <a:endParaRPr lang="en-US" dirty="0"/>
          </a:p>
        </p:txBody>
      </p:sp>
      <p:sp>
        <p:nvSpPr>
          <p:cNvPr id="3" name="Text Placeholder 2">
            <a:extLst>
              <a:ext uri="{FF2B5EF4-FFF2-40B4-BE49-F238E27FC236}">
                <a16:creationId xmlns:a16="http://schemas.microsoft.com/office/drawing/2014/main" id="{FDDAC9A9-8B44-836E-7CA4-223A01BCA1B8}"/>
              </a:ext>
            </a:extLst>
          </p:cNvPr>
          <p:cNvSpPr>
            <a:spLocks noGrp="1"/>
          </p:cNvSpPr>
          <p:nvPr>
            <p:ph type="body" sz="quarter" idx="12"/>
          </p:nvPr>
        </p:nvSpPr>
        <p:spPr/>
        <p:txBody>
          <a:bodyPr>
            <a:normAutofit/>
          </a:bodyPr>
          <a:lstStyle/>
          <a:p>
            <a:endParaRPr lang="en-US" sz="2000" b="1" dirty="0"/>
          </a:p>
          <a:p>
            <a:r>
              <a:rPr lang="en-US" sz="2000" b="1" dirty="0"/>
              <a:t>Addressing the Situation:</a:t>
            </a:r>
          </a:p>
          <a:p>
            <a:pPr marL="742950" lvl="1" indent="-285750">
              <a:buFont typeface="Arial" panose="020B0604020202020204" pitchFamily="34" charset="0"/>
              <a:buChar char="•"/>
            </a:pPr>
            <a:r>
              <a:rPr lang="en-US" sz="2000" b="1" dirty="0"/>
              <a:t>Raise Awareness:</a:t>
            </a:r>
            <a:r>
              <a:rPr lang="en-US" sz="2000" dirty="0"/>
              <a:t> Discuss the impact of the Product Owner’s unavailability on the team’s progress during the next </a:t>
            </a:r>
            <a:r>
              <a:rPr lang="en-US" sz="2000" b="1" dirty="0"/>
              <a:t>Sprint Planning</a:t>
            </a:r>
            <a:r>
              <a:rPr lang="en-US" sz="2000" dirty="0"/>
              <a:t> or </a:t>
            </a:r>
            <a:r>
              <a:rPr lang="en-US" sz="2000" b="1" dirty="0"/>
              <a:t>Retrospective</a:t>
            </a:r>
            <a:r>
              <a:rPr lang="en-US" sz="2000" dirty="0"/>
              <a:t> meeting.</a:t>
            </a:r>
          </a:p>
          <a:p>
            <a:pPr marL="742950" lvl="1" indent="-285750">
              <a:buFont typeface="Arial" panose="020B0604020202020204" pitchFamily="34" charset="0"/>
              <a:buChar char="•"/>
            </a:pPr>
            <a:r>
              <a:rPr lang="en-US" sz="2000" b="1" dirty="0"/>
              <a:t>Facilitate Communication:</a:t>
            </a:r>
            <a:r>
              <a:rPr lang="en-US" sz="2000" dirty="0"/>
              <a:t> Encourage the Product Owner to allocate specific time slots for regular check-ins or clarifications (e.g., daily/weekly).</a:t>
            </a:r>
          </a:p>
          <a:p>
            <a:pPr marL="742950" lvl="1" indent="-285750">
              <a:buFont typeface="Arial" panose="020B0604020202020204" pitchFamily="34" charset="0"/>
              <a:buChar char="•"/>
            </a:pPr>
            <a:r>
              <a:rPr lang="en-US" sz="2000" b="1" dirty="0"/>
              <a:t>Empower the Team:</a:t>
            </a:r>
            <a:r>
              <a:rPr lang="en-US" sz="2000" dirty="0"/>
              <a:t> Ensure the team has enough information to move forward, even if some details are unclear. Encourage them to make decisions based on available data and escalate only when necessary.</a:t>
            </a:r>
          </a:p>
          <a:p>
            <a:endParaRPr lang="en-US" sz="2000" dirty="0"/>
          </a:p>
        </p:txBody>
      </p:sp>
      <p:sp>
        <p:nvSpPr>
          <p:cNvPr id="4" name="Title 3">
            <a:extLst>
              <a:ext uri="{FF2B5EF4-FFF2-40B4-BE49-F238E27FC236}">
                <a16:creationId xmlns:a16="http://schemas.microsoft.com/office/drawing/2014/main" id="{4F5E2156-5B8B-19B2-4381-A10B6D37D5BF}"/>
              </a:ext>
            </a:extLst>
          </p:cNvPr>
          <p:cNvSpPr>
            <a:spLocks noGrp="1"/>
          </p:cNvSpPr>
          <p:nvPr>
            <p:ph type="title"/>
          </p:nvPr>
        </p:nvSpPr>
        <p:spPr/>
        <p:txBody>
          <a:bodyPr/>
          <a:lstStyle/>
          <a:p>
            <a:r>
              <a:rPr lang="en-US" dirty="0"/>
              <a:t>Scrum Team Roles</a:t>
            </a:r>
          </a:p>
        </p:txBody>
      </p:sp>
    </p:spTree>
    <p:extLst>
      <p:ext uri="{BB962C8B-B14F-4D97-AF65-F5344CB8AC3E}">
        <p14:creationId xmlns:p14="http://schemas.microsoft.com/office/powerpoint/2010/main" val="2051605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F13EFA-7D78-8973-E629-5D9AEC9925FA}"/>
              </a:ext>
            </a:extLst>
          </p:cNvPr>
          <p:cNvSpPr>
            <a:spLocks noGrp="1"/>
          </p:cNvSpPr>
          <p:nvPr>
            <p:ph type="sldNum" sz="quarter" idx="13"/>
          </p:nvPr>
        </p:nvSpPr>
        <p:spPr/>
        <p:txBody>
          <a:bodyPr/>
          <a:lstStyle/>
          <a:p>
            <a:fld id="{12342C3A-DD85-7843-B416-BD52AB030D59}" type="slidenum">
              <a:rPr lang="en-US" smtClean="0"/>
              <a:pPr/>
              <a:t>30</a:t>
            </a:fld>
            <a:endParaRPr lang="en-US" dirty="0"/>
          </a:p>
        </p:txBody>
      </p:sp>
      <p:sp>
        <p:nvSpPr>
          <p:cNvPr id="3" name="Text Placeholder 2">
            <a:extLst>
              <a:ext uri="{FF2B5EF4-FFF2-40B4-BE49-F238E27FC236}">
                <a16:creationId xmlns:a16="http://schemas.microsoft.com/office/drawing/2014/main" id="{11F4B85C-13D9-C91F-A67B-10616B9F7AEB}"/>
              </a:ext>
            </a:extLst>
          </p:cNvPr>
          <p:cNvSpPr>
            <a:spLocks noGrp="1"/>
          </p:cNvSpPr>
          <p:nvPr>
            <p:ph type="body" sz="quarter" idx="12"/>
          </p:nvPr>
        </p:nvSpPr>
        <p:spPr/>
        <p:txBody>
          <a:bodyPr>
            <a:normAutofit/>
          </a:bodyPr>
          <a:lstStyle/>
          <a:p>
            <a:endParaRPr lang="en-US" sz="2000" b="1" dirty="0"/>
          </a:p>
          <a:p>
            <a:r>
              <a:rPr lang="en-US" sz="2000" b="1" dirty="0"/>
              <a:t>Helping the Product Owner Balance Responsibilities:</a:t>
            </a:r>
          </a:p>
          <a:p>
            <a:pPr marL="742950" lvl="1" indent="-285750">
              <a:buFont typeface="Arial" panose="020B0604020202020204" pitchFamily="34" charset="0"/>
              <a:buChar char="•"/>
            </a:pPr>
            <a:r>
              <a:rPr lang="en-US" sz="2000" b="1" dirty="0"/>
              <a:t>Clarify Priorities:</a:t>
            </a:r>
            <a:r>
              <a:rPr lang="en-US" sz="2000" dirty="0"/>
              <a:t> Help the Product Owner prioritize their tasks and focus on key deliverables that drive the product forward.</a:t>
            </a:r>
          </a:p>
          <a:p>
            <a:pPr marL="742950" lvl="1" indent="-285750">
              <a:buFont typeface="Arial" panose="020B0604020202020204" pitchFamily="34" charset="0"/>
              <a:buChar char="•"/>
            </a:pPr>
            <a:r>
              <a:rPr lang="en-US" sz="2000" b="1" dirty="0"/>
              <a:t>Delegate Tasks:</a:t>
            </a:r>
            <a:r>
              <a:rPr lang="en-US" sz="2000" dirty="0"/>
              <a:t> Suggest that the Product Owner delegate certain responsibilities (e.g., backlog grooming) or work with a </a:t>
            </a:r>
            <a:r>
              <a:rPr lang="en-US" sz="2000" b="1" dirty="0"/>
              <a:t>proxy</a:t>
            </a:r>
            <a:r>
              <a:rPr lang="en-US" sz="2000" dirty="0"/>
              <a:t> (e.g., a lead developer) to ensure timely clarifications.</a:t>
            </a:r>
          </a:p>
          <a:p>
            <a:pPr marL="742950" lvl="1" indent="-285750">
              <a:buFont typeface="Arial" panose="020B0604020202020204" pitchFamily="34" charset="0"/>
              <a:buChar char="•"/>
            </a:pPr>
            <a:r>
              <a:rPr lang="en-US" sz="2000" b="1" dirty="0"/>
              <a:t>Manage Expectations:</a:t>
            </a:r>
            <a:r>
              <a:rPr lang="en-US" sz="2000" dirty="0"/>
              <a:t> Guide the Product Owner in setting realistic expectations about their availability and the impact on the team’s workflow.</a:t>
            </a:r>
          </a:p>
          <a:p>
            <a:r>
              <a:rPr lang="en-US" sz="2000" dirty="0"/>
              <a:t>The goal is to ensure that the team has the necessary support and information while also helping the Product Owner manage their responsibilities more effectively.</a:t>
            </a:r>
          </a:p>
          <a:p>
            <a:endParaRPr lang="en-US" sz="2000" dirty="0"/>
          </a:p>
        </p:txBody>
      </p:sp>
      <p:sp>
        <p:nvSpPr>
          <p:cNvPr id="4" name="Title 3">
            <a:extLst>
              <a:ext uri="{FF2B5EF4-FFF2-40B4-BE49-F238E27FC236}">
                <a16:creationId xmlns:a16="http://schemas.microsoft.com/office/drawing/2014/main" id="{9AF89463-6D8C-B383-5ABF-B2F0AC12F7DB}"/>
              </a:ext>
            </a:extLst>
          </p:cNvPr>
          <p:cNvSpPr>
            <a:spLocks noGrp="1"/>
          </p:cNvSpPr>
          <p:nvPr>
            <p:ph type="title"/>
          </p:nvPr>
        </p:nvSpPr>
        <p:spPr/>
        <p:txBody>
          <a:bodyPr/>
          <a:lstStyle/>
          <a:p>
            <a:r>
              <a:rPr lang="en-US" dirty="0"/>
              <a:t>Scrum Team Roles</a:t>
            </a:r>
          </a:p>
        </p:txBody>
      </p:sp>
    </p:spTree>
    <p:extLst>
      <p:ext uri="{BB962C8B-B14F-4D97-AF65-F5344CB8AC3E}">
        <p14:creationId xmlns:p14="http://schemas.microsoft.com/office/powerpoint/2010/main" val="1179214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FCE0E6-C777-F2DA-2F20-C1F7889F6666}"/>
              </a:ext>
            </a:extLst>
          </p:cNvPr>
          <p:cNvSpPr>
            <a:spLocks noGrp="1"/>
          </p:cNvSpPr>
          <p:nvPr>
            <p:ph type="sldNum" sz="quarter" idx="13"/>
          </p:nvPr>
        </p:nvSpPr>
        <p:spPr/>
        <p:txBody>
          <a:bodyPr/>
          <a:lstStyle/>
          <a:p>
            <a:fld id="{12342C3A-DD85-7843-B416-BD52AB030D59}" type="slidenum">
              <a:rPr lang="en-US" smtClean="0"/>
              <a:pPr/>
              <a:t>31</a:t>
            </a:fld>
            <a:endParaRPr lang="en-US" dirty="0"/>
          </a:p>
        </p:txBody>
      </p:sp>
      <p:sp>
        <p:nvSpPr>
          <p:cNvPr id="3" name="Text Placeholder 2">
            <a:extLst>
              <a:ext uri="{FF2B5EF4-FFF2-40B4-BE49-F238E27FC236}">
                <a16:creationId xmlns:a16="http://schemas.microsoft.com/office/drawing/2014/main" id="{049D3751-AB19-81BA-A053-528BCA738D37}"/>
              </a:ext>
            </a:extLst>
          </p:cNvPr>
          <p:cNvSpPr>
            <a:spLocks noGrp="1"/>
          </p:cNvSpPr>
          <p:nvPr>
            <p:ph type="body" sz="quarter" idx="12"/>
          </p:nvPr>
        </p:nvSpPr>
        <p:spPr/>
        <p:txBody>
          <a:bodyPr>
            <a:normAutofit/>
          </a:bodyPr>
          <a:lstStyle/>
          <a:p>
            <a:endParaRPr lang="en-US" sz="2000" dirty="0"/>
          </a:p>
          <a:p>
            <a:r>
              <a:rPr lang="en-US" sz="2000" dirty="0"/>
              <a:t>The team is working on an e-commerce platform, and the </a:t>
            </a:r>
            <a:r>
              <a:rPr lang="en-US" sz="2000" b="1" dirty="0"/>
              <a:t>Definition of Done (DoD)</a:t>
            </a:r>
            <a:r>
              <a:rPr lang="en-US" sz="2000" dirty="0"/>
              <a:t> is not clearly established. Some developers are pushing code to production without unit tests, while others are waiting for QA to finish testing before considering a task "done."</a:t>
            </a:r>
          </a:p>
          <a:p>
            <a:pPr marL="742950" lvl="1" indent="-285750">
              <a:buFont typeface="Arial" panose="020B0604020202020204" pitchFamily="34" charset="0"/>
              <a:buChar char="•"/>
            </a:pPr>
            <a:r>
              <a:rPr lang="en-US" sz="2000" dirty="0"/>
              <a:t>How would you, as a </a:t>
            </a:r>
            <a:r>
              <a:rPr lang="en-US" sz="2000" b="1" dirty="0"/>
              <a:t>Scrum Master</a:t>
            </a:r>
            <a:r>
              <a:rPr lang="en-US" sz="2000" dirty="0"/>
              <a:t>, help the team establish a clear </a:t>
            </a:r>
            <a:r>
              <a:rPr lang="en-US" sz="2000" b="1" dirty="0"/>
              <a:t>Definition of Done</a:t>
            </a:r>
            <a:r>
              <a:rPr lang="en-US" sz="2000" dirty="0"/>
              <a:t>?</a:t>
            </a:r>
          </a:p>
          <a:p>
            <a:pPr marL="742950" lvl="1" indent="-285750">
              <a:buFont typeface="Arial" panose="020B0604020202020204" pitchFamily="34" charset="0"/>
              <a:buChar char="•"/>
            </a:pPr>
            <a:r>
              <a:rPr lang="en-US" sz="2000" dirty="0"/>
              <a:t>Why is having a clear DoD important, and how can it affect the quality of the product?</a:t>
            </a:r>
          </a:p>
          <a:p>
            <a:endParaRPr lang="en-US" sz="2000" dirty="0"/>
          </a:p>
        </p:txBody>
      </p:sp>
      <p:sp>
        <p:nvSpPr>
          <p:cNvPr id="4" name="Title 3">
            <a:extLst>
              <a:ext uri="{FF2B5EF4-FFF2-40B4-BE49-F238E27FC236}">
                <a16:creationId xmlns:a16="http://schemas.microsoft.com/office/drawing/2014/main" id="{EC6FFD28-A14F-EE84-FA0B-AFDEE4220352}"/>
              </a:ext>
            </a:extLst>
          </p:cNvPr>
          <p:cNvSpPr>
            <a:spLocks noGrp="1"/>
          </p:cNvSpPr>
          <p:nvPr>
            <p:ph type="title"/>
          </p:nvPr>
        </p:nvSpPr>
        <p:spPr/>
        <p:txBody>
          <a:bodyPr/>
          <a:lstStyle/>
          <a:p>
            <a:r>
              <a:rPr lang="en-US" dirty="0"/>
              <a:t>Definition of Done</a:t>
            </a:r>
          </a:p>
        </p:txBody>
      </p:sp>
    </p:spTree>
    <p:extLst>
      <p:ext uri="{BB962C8B-B14F-4D97-AF65-F5344CB8AC3E}">
        <p14:creationId xmlns:p14="http://schemas.microsoft.com/office/powerpoint/2010/main" val="2632452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2ED470-E48B-D891-4F05-825FE4AD864D}"/>
              </a:ext>
            </a:extLst>
          </p:cNvPr>
          <p:cNvSpPr>
            <a:spLocks noGrp="1"/>
          </p:cNvSpPr>
          <p:nvPr>
            <p:ph type="sldNum" sz="quarter" idx="13"/>
          </p:nvPr>
        </p:nvSpPr>
        <p:spPr/>
        <p:txBody>
          <a:bodyPr/>
          <a:lstStyle/>
          <a:p>
            <a:fld id="{12342C3A-DD85-7843-B416-BD52AB030D59}" type="slidenum">
              <a:rPr lang="en-US" smtClean="0"/>
              <a:pPr/>
              <a:t>32</a:t>
            </a:fld>
            <a:endParaRPr lang="en-US" dirty="0"/>
          </a:p>
        </p:txBody>
      </p:sp>
      <p:sp>
        <p:nvSpPr>
          <p:cNvPr id="3" name="Text Placeholder 2">
            <a:extLst>
              <a:ext uri="{FF2B5EF4-FFF2-40B4-BE49-F238E27FC236}">
                <a16:creationId xmlns:a16="http://schemas.microsoft.com/office/drawing/2014/main" id="{7E773A4E-56AC-73DB-0E3F-07919AEDC51A}"/>
              </a:ext>
            </a:extLst>
          </p:cNvPr>
          <p:cNvSpPr>
            <a:spLocks noGrp="1"/>
          </p:cNvSpPr>
          <p:nvPr>
            <p:ph type="body" sz="quarter" idx="12"/>
          </p:nvPr>
        </p:nvSpPr>
        <p:spPr/>
        <p:txBody>
          <a:bodyPr>
            <a:normAutofit/>
          </a:bodyPr>
          <a:lstStyle/>
          <a:p>
            <a:endParaRPr lang="en-US" sz="2000" b="1" dirty="0"/>
          </a:p>
          <a:p>
            <a:r>
              <a:rPr lang="en-US" sz="2000" b="1" dirty="0"/>
              <a:t>Helping the Team Establish a Clear Definition of Done (DoD):</a:t>
            </a:r>
          </a:p>
          <a:p>
            <a:pPr marL="285750" indent="-285750">
              <a:buFont typeface="Arial" panose="020B0604020202020204" pitchFamily="34" charset="0"/>
              <a:buChar char="•"/>
            </a:pPr>
            <a:r>
              <a:rPr lang="en-US" sz="2000" b="1" dirty="0"/>
              <a:t>Facilitate Discussion:</a:t>
            </a:r>
            <a:r>
              <a:rPr lang="en-US" sz="2000" dirty="0"/>
              <a:t> Organize a meeting with the team to define the </a:t>
            </a:r>
            <a:r>
              <a:rPr lang="en-US" sz="2000" b="1" dirty="0"/>
              <a:t>criteria for when a task is considered "done"</a:t>
            </a:r>
            <a:r>
              <a:rPr lang="en-US" sz="2000" dirty="0"/>
              <a:t> (e.g., code review, unit tests, documentation, QA testing).</a:t>
            </a:r>
          </a:p>
          <a:p>
            <a:pPr marL="285750" indent="-285750">
              <a:buFont typeface="Arial" panose="020B0604020202020204" pitchFamily="34" charset="0"/>
              <a:buChar char="•"/>
            </a:pPr>
            <a:r>
              <a:rPr lang="en-US" sz="2000" b="1" dirty="0"/>
              <a:t>Include All Aspects:</a:t>
            </a:r>
            <a:r>
              <a:rPr lang="en-US" sz="2000" dirty="0"/>
              <a:t> Ensure the DoD covers key areas like </a:t>
            </a:r>
            <a:r>
              <a:rPr lang="en-US" sz="2000" b="1" dirty="0"/>
              <a:t>coding standards, testing, documentation, code review, deployment, and QA sign-off</a:t>
            </a:r>
            <a:r>
              <a:rPr lang="en-US" sz="2000" dirty="0"/>
              <a:t>.</a:t>
            </a:r>
          </a:p>
          <a:p>
            <a:pPr marL="285750" indent="-285750">
              <a:buFont typeface="Arial" panose="020B0604020202020204" pitchFamily="34" charset="0"/>
              <a:buChar char="•"/>
            </a:pPr>
            <a:r>
              <a:rPr lang="en-US" sz="2000" b="1" dirty="0"/>
              <a:t>Collaborate with Stakeholders:</a:t>
            </a:r>
            <a:r>
              <a:rPr lang="en-US" sz="2000" dirty="0"/>
              <a:t> Involve QA, developers, and the Product Owner to ensure alignment on what "done" means for each part of the product.</a:t>
            </a:r>
          </a:p>
          <a:p>
            <a:pPr marL="285750" indent="-285750">
              <a:buFont typeface="Arial" panose="020B0604020202020204" pitchFamily="34" charset="0"/>
              <a:buChar char="•"/>
            </a:pPr>
            <a:r>
              <a:rPr lang="en-US" sz="2000" b="1" dirty="0"/>
              <a:t>Document the DoD:</a:t>
            </a:r>
            <a:r>
              <a:rPr lang="en-US" sz="2000" dirty="0"/>
              <a:t> Create a clear and agreed-upon </a:t>
            </a:r>
            <a:r>
              <a:rPr lang="en-US" sz="2000" b="1" dirty="0"/>
              <a:t>Definition of Done document</a:t>
            </a:r>
            <a:r>
              <a:rPr lang="en-US" sz="2000" dirty="0"/>
              <a:t> and ensure it's easily accessible for reference.</a:t>
            </a:r>
          </a:p>
          <a:p>
            <a:endParaRPr lang="en-US" sz="2000" dirty="0"/>
          </a:p>
        </p:txBody>
      </p:sp>
      <p:sp>
        <p:nvSpPr>
          <p:cNvPr id="4" name="Title 3">
            <a:extLst>
              <a:ext uri="{FF2B5EF4-FFF2-40B4-BE49-F238E27FC236}">
                <a16:creationId xmlns:a16="http://schemas.microsoft.com/office/drawing/2014/main" id="{F61230F0-D287-D5AB-B7B5-3F987D6419E0}"/>
              </a:ext>
            </a:extLst>
          </p:cNvPr>
          <p:cNvSpPr>
            <a:spLocks noGrp="1"/>
          </p:cNvSpPr>
          <p:nvPr>
            <p:ph type="title"/>
          </p:nvPr>
        </p:nvSpPr>
        <p:spPr/>
        <p:txBody>
          <a:bodyPr/>
          <a:lstStyle/>
          <a:p>
            <a:r>
              <a:rPr lang="en-US" dirty="0"/>
              <a:t>Definition of Done</a:t>
            </a:r>
          </a:p>
        </p:txBody>
      </p:sp>
    </p:spTree>
    <p:extLst>
      <p:ext uri="{BB962C8B-B14F-4D97-AF65-F5344CB8AC3E}">
        <p14:creationId xmlns:p14="http://schemas.microsoft.com/office/powerpoint/2010/main" val="1847906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CFAD47-F21A-EA61-BBB5-CA589B057C04}"/>
              </a:ext>
            </a:extLst>
          </p:cNvPr>
          <p:cNvSpPr>
            <a:spLocks noGrp="1"/>
          </p:cNvSpPr>
          <p:nvPr>
            <p:ph type="sldNum" sz="quarter" idx="13"/>
          </p:nvPr>
        </p:nvSpPr>
        <p:spPr/>
        <p:txBody>
          <a:bodyPr/>
          <a:lstStyle/>
          <a:p>
            <a:fld id="{12342C3A-DD85-7843-B416-BD52AB030D59}" type="slidenum">
              <a:rPr lang="en-US" smtClean="0"/>
              <a:pPr/>
              <a:t>33</a:t>
            </a:fld>
            <a:endParaRPr lang="en-US" dirty="0"/>
          </a:p>
        </p:txBody>
      </p:sp>
      <p:sp>
        <p:nvSpPr>
          <p:cNvPr id="3" name="Text Placeholder 2">
            <a:extLst>
              <a:ext uri="{FF2B5EF4-FFF2-40B4-BE49-F238E27FC236}">
                <a16:creationId xmlns:a16="http://schemas.microsoft.com/office/drawing/2014/main" id="{25443CC5-F5D4-4BEE-D669-D474BF81B451}"/>
              </a:ext>
            </a:extLst>
          </p:cNvPr>
          <p:cNvSpPr>
            <a:spLocks noGrp="1"/>
          </p:cNvSpPr>
          <p:nvPr>
            <p:ph type="body" sz="quarter" idx="12"/>
          </p:nvPr>
        </p:nvSpPr>
        <p:spPr/>
        <p:txBody>
          <a:bodyPr>
            <a:normAutofit/>
          </a:bodyPr>
          <a:lstStyle/>
          <a:p>
            <a:endParaRPr lang="en-US" sz="2000" b="1" dirty="0"/>
          </a:p>
          <a:p>
            <a:r>
              <a:rPr lang="en-US" sz="2000" b="1" dirty="0"/>
              <a:t>Importance of a Clear DoD:</a:t>
            </a:r>
          </a:p>
          <a:p>
            <a:pPr marL="742950" lvl="1" indent="-285750">
              <a:buFont typeface="Arial" panose="020B0604020202020204" pitchFamily="34" charset="0"/>
              <a:buChar char="•"/>
            </a:pPr>
            <a:r>
              <a:rPr lang="en-US" sz="2000" b="1" dirty="0"/>
              <a:t>Consistency and Quality:</a:t>
            </a:r>
            <a:r>
              <a:rPr lang="en-US" sz="2000" dirty="0"/>
              <a:t> A well-defined DoD ensures all team members are aligned and work to the same standards, improving consistency and the overall </a:t>
            </a:r>
            <a:r>
              <a:rPr lang="en-US" sz="2000" b="1" dirty="0"/>
              <a:t>quality of the product</a:t>
            </a:r>
            <a:r>
              <a:rPr lang="en-US" sz="2000" dirty="0"/>
              <a:t>.</a:t>
            </a:r>
          </a:p>
          <a:p>
            <a:pPr marL="742950" lvl="1" indent="-285750">
              <a:buFont typeface="Arial" panose="020B0604020202020204" pitchFamily="34" charset="0"/>
              <a:buChar char="•"/>
            </a:pPr>
            <a:r>
              <a:rPr lang="en-US" sz="2000" b="1" dirty="0"/>
              <a:t>Reduces Ambiguity:</a:t>
            </a:r>
            <a:r>
              <a:rPr lang="en-US" sz="2000" dirty="0"/>
              <a:t> Eliminates confusion about when a task is considered complete, leading to more reliable releases and fewer </a:t>
            </a:r>
            <a:r>
              <a:rPr lang="en-US" sz="2000" b="1" dirty="0"/>
              <a:t>production issues</a:t>
            </a:r>
            <a:r>
              <a:rPr lang="en-US" sz="2000" dirty="0"/>
              <a:t>.</a:t>
            </a:r>
          </a:p>
          <a:p>
            <a:pPr marL="742950" lvl="1" indent="-285750">
              <a:buFont typeface="Arial" panose="020B0604020202020204" pitchFamily="34" charset="0"/>
              <a:buChar char="•"/>
            </a:pPr>
            <a:r>
              <a:rPr lang="en-US" sz="2000" b="1" dirty="0"/>
              <a:t>Ensures Transparency:</a:t>
            </a:r>
            <a:r>
              <a:rPr lang="en-US" sz="2000" dirty="0"/>
              <a:t> Helps the team and stakeholders track progress and identify any missing steps before releasing features.</a:t>
            </a:r>
          </a:p>
          <a:p>
            <a:endParaRPr lang="en-US" sz="2000" b="1" dirty="0"/>
          </a:p>
          <a:p>
            <a:r>
              <a:rPr lang="en-US" sz="2000" b="1" dirty="0"/>
              <a:t>Impact on Product Quality:</a:t>
            </a:r>
          </a:p>
          <a:p>
            <a:pPr marL="742950" lvl="1" indent="-285750">
              <a:buFont typeface="Arial" panose="020B0604020202020204" pitchFamily="34" charset="0"/>
              <a:buChar char="•"/>
            </a:pPr>
            <a:r>
              <a:rPr lang="en-US" sz="2000" dirty="0"/>
              <a:t>A clear DoD ensures that tasks are fully completed before being considered done, which results in fewer bugs, better performance, and higher customer satisfaction.</a:t>
            </a:r>
          </a:p>
          <a:p>
            <a:endParaRPr lang="en-US" sz="2000" dirty="0"/>
          </a:p>
        </p:txBody>
      </p:sp>
      <p:sp>
        <p:nvSpPr>
          <p:cNvPr id="4" name="Title 3">
            <a:extLst>
              <a:ext uri="{FF2B5EF4-FFF2-40B4-BE49-F238E27FC236}">
                <a16:creationId xmlns:a16="http://schemas.microsoft.com/office/drawing/2014/main" id="{384BD6B2-F186-16A9-0289-FABA98B2AE4C}"/>
              </a:ext>
            </a:extLst>
          </p:cNvPr>
          <p:cNvSpPr>
            <a:spLocks noGrp="1"/>
          </p:cNvSpPr>
          <p:nvPr>
            <p:ph type="title"/>
          </p:nvPr>
        </p:nvSpPr>
        <p:spPr/>
        <p:txBody>
          <a:bodyPr/>
          <a:lstStyle/>
          <a:p>
            <a:r>
              <a:rPr lang="en-US" dirty="0"/>
              <a:t>Definition of Done</a:t>
            </a:r>
          </a:p>
        </p:txBody>
      </p:sp>
    </p:spTree>
    <p:extLst>
      <p:ext uri="{BB962C8B-B14F-4D97-AF65-F5344CB8AC3E}">
        <p14:creationId xmlns:p14="http://schemas.microsoft.com/office/powerpoint/2010/main" val="390995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0021D2-9749-BC22-D67B-3DADED0AE843}"/>
              </a:ext>
            </a:extLst>
          </p:cNvPr>
          <p:cNvSpPr>
            <a:spLocks noGrp="1"/>
          </p:cNvSpPr>
          <p:nvPr>
            <p:ph type="sldNum" sz="quarter" idx="13"/>
          </p:nvPr>
        </p:nvSpPr>
        <p:spPr/>
        <p:txBody>
          <a:bodyPr/>
          <a:lstStyle/>
          <a:p>
            <a:fld id="{12342C3A-DD85-7843-B416-BD52AB030D59}" type="slidenum">
              <a:rPr lang="en-US" smtClean="0"/>
              <a:pPr/>
              <a:t>34</a:t>
            </a:fld>
            <a:endParaRPr lang="en-US" dirty="0"/>
          </a:p>
        </p:txBody>
      </p:sp>
      <p:sp>
        <p:nvSpPr>
          <p:cNvPr id="3" name="Text Placeholder 2">
            <a:extLst>
              <a:ext uri="{FF2B5EF4-FFF2-40B4-BE49-F238E27FC236}">
                <a16:creationId xmlns:a16="http://schemas.microsoft.com/office/drawing/2014/main" id="{C2518D97-F3EA-EA51-275D-8D5E0F103E47}"/>
              </a:ext>
            </a:extLst>
          </p:cNvPr>
          <p:cNvSpPr>
            <a:spLocks noGrp="1"/>
          </p:cNvSpPr>
          <p:nvPr>
            <p:ph type="body" sz="quarter" idx="12"/>
          </p:nvPr>
        </p:nvSpPr>
        <p:spPr/>
        <p:txBody>
          <a:bodyPr>
            <a:normAutofit/>
          </a:bodyPr>
          <a:lstStyle/>
          <a:p>
            <a:endParaRPr lang="en-US" sz="2000" dirty="0"/>
          </a:p>
          <a:p>
            <a:r>
              <a:rPr lang="en-US" sz="2000" dirty="0"/>
              <a:t>During the Sprint, the team begins to work on a user story, but the Product Owner is unclear about the goal and scope of the feature. As a result, the team is unsure about the expected outcome.</a:t>
            </a:r>
          </a:p>
          <a:p>
            <a:pPr marL="742950" lvl="1" indent="-285750">
              <a:buFont typeface="Arial" panose="020B0604020202020204" pitchFamily="34" charset="0"/>
              <a:buChar char="•"/>
            </a:pPr>
            <a:r>
              <a:rPr lang="en-US" sz="2000" dirty="0"/>
              <a:t>How would you, as the </a:t>
            </a:r>
            <a:r>
              <a:rPr lang="en-US" sz="2000" b="1" dirty="0"/>
              <a:t>Scrum Master</a:t>
            </a:r>
            <a:r>
              <a:rPr lang="en-US" sz="2000" dirty="0"/>
              <a:t>, help clarify the Sprint Goal for the team and ensure they align with the Product Owner's vision for the feature?</a:t>
            </a:r>
          </a:p>
          <a:p>
            <a:pPr marL="742950" lvl="1" indent="-285750">
              <a:buFont typeface="Arial" panose="020B0604020202020204" pitchFamily="34" charset="0"/>
              <a:buChar char="•"/>
            </a:pPr>
            <a:r>
              <a:rPr lang="en-US" sz="2000" dirty="0"/>
              <a:t>How do you manage the risk of scope creep during the Sprint while maintaining a clear focus on the Sprint Goal?</a:t>
            </a:r>
          </a:p>
          <a:p>
            <a:endParaRPr lang="en-US" sz="2000" dirty="0"/>
          </a:p>
        </p:txBody>
      </p:sp>
      <p:sp>
        <p:nvSpPr>
          <p:cNvPr id="4" name="Title 3">
            <a:extLst>
              <a:ext uri="{FF2B5EF4-FFF2-40B4-BE49-F238E27FC236}">
                <a16:creationId xmlns:a16="http://schemas.microsoft.com/office/drawing/2014/main" id="{4DBEB0B6-E6FA-BB6D-FC05-7392C17885C8}"/>
              </a:ext>
            </a:extLst>
          </p:cNvPr>
          <p:cNvSpPr>
            <a:spLocks noGrp="1"/>
          </p:cNvSpPr>
          <p:nvPr>
            <p:ph type="title"/>
          </p:nvPr>
        </p:nvSpPr>
        <p:spPr/>
        <p:txBody>
          <a:bodyPr/>
          <a:lstStyle/>
          <a:p>
            <a:r>
              <a:rPr lang="en-US" dirty="0"/>
              <a:t>Sprint Goal Clarity</a:t>
            </a:r>
          </a:p>
        </p:txBody>
      </p:sp>
    </p:spTree>
    <p:extLst>
      <p:ext uri="{BB962C8B-B14F-4D97-AF65-F5344CB8AC3E}">
        <p14:creationId xmlns:p14="http://schemas.microsoft.com/office/powerpoint/2010/main" val="4187152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0178DD-29FF-ED7A-2193-66E29C5EA81F}"/>
              </a:ext>
            </a:extLst>
          </p:cNvPr>
          <p:cNvSpPr>
            <a:spLocks noGrp="1"/>
          </p:cNvSpPr>
          <p:nvPr>
            <p:ph type="sldNum" sz="quarter" idx="13"/>
          </p:nvPr>
        </p:nvSpPr>
        <p:spPr/>
        <p:txBody>
          <a:bodyPr/>
          <a:lstStyle/>
          <a:p>
            <a:fld id="{12342C3A-DD85-7843-B416-BD52AB030D59}" type="slidenum">
              <a:rPr lang="en-US" smtClean="0"/>
              <a:pPr/>
              <a:t>35</a:t>
            </a:fld>
            <a:endParaRPr lang="en-US" dirty="0"/>
          </a:p>
        </p:txBody>
      </p:sp>
      <p:sp>
        <p:nvSpPr>
          <p:cNvPr id="3" name="Text Placeholder 2">
            <a:extLst>
              <a:ext uri="{FF2B5EF4-FFF2-40B4-BE49-F238E27FC236}">
                <a16:creationId xmlns:a16="http://schemas.microsoft.com/office/drawing/2014/main" id="{A281FF7F-8B29-A82E-659C-24FBC4E794DA}"/>
              </a:ext>
            </a:extLst>
          </p:cNvPr>
          <p:cNvSpPr>
            <a:spLocks noGrp="1"/>
          </p:cNvSpPr>
          <p:nvPr>
            <p:ph type="body" sz="quarter" idx="12"/>
          </p:nvPr>
        </p:nvSpPr>
        <p:spPr/>
        <p:txBody>
          <a:bodyPr>
            <a:normAutofit/>
          </a:bodyPr>
          <a:lstStyle/>
          <a:p>
            <a:endParaRPr lang="en-US" sz="2000" b="1" dirty="0"/>
          </a:p>
          <a:p>
            <a:r>
              <a:rPr lang="en-US" sz="2000" b="1" dirty="0"/>
              <a:t>Clarifying the Sprint Goal and Aligning the Team:</a:t>
            </a:r>
          </a:p>
          <a:p>
            <a:pPr marL="742950" lvl="1" indent="-285750">
              <a:buFont typeface="Arial" panose="020B0604020202020204" pitchFamily="34" charset="0"/>
              <a:buChar char="•"/>
            </a:pPr>
            <a:r>
              <a:rPr lang="en-US" sz="2000" b="1" dirty="0"/>
              <a:t>Facilitate a Discussion:</a:t>
            </a:r>
            <a:r>
              <a:rPr lang="en-US" sz="2000" dirty="0"/>
              <a:t> Organize a meeting with the Product Owner and the team to clarify the </a:t>
            </a:r>
            <a:r>
              <a:rPr lang="en-US" sz="2000" b="1" dirty="0"/>
              <a:t>goal</a:t>
            </a:r>
            <a:r>
              <a:rPr lang="en-US" sz="2000" dirty="0"/>
              <a:t> and </a:t>
            </a:r>
            <a:r>
              <a:rPr lang="en-US" sz="2000" b="1" dirty="0"/>
              <a:t>scope</a:t>
            </a:r>
            <a:r>
              <a:rPr lang="en-US" sz="2000" dirty="0"/>
              <a:t> of the user story.</a:t>
            </a:r>
          </a:p>
          <a:p>
            <a:pPr marL="742950" lvl="1" indent="-285750">
              <a:buFont typeface="Arial" panose="020B0604020202020204" pitchFamily="34" charset="0"/>
              <a:buChar char="•"/>
            </a:pPr>
            <a:r>
              <a:rPr lang="en-US" sz="2000" b="1" dirty="0"/>
              <a:t>Ensure Clear Communication:</a:t>
            </a:r>
            <a:r>
              <a:rPr lang="en-US" sz="2000" dirty="0"/>
              <a:t> Ask the Product Owner to provide detailed </a:t>
            </a:r>
            <a:r>
              <a:rPr lang="en-US" sz="2000" b="1" dirty="0"/>
              <a:t>acceptance criteria</a:t>
            </a:r>
            <a:r>
              <a:rPr lang="en-US" sz="2000" dirty="0"/>
              <a:t>, objectives, and desired outcomes for the feature.</a:t>
            </a:r>
          </a:p>
          <a:p>
            <a:pPr marL="742950" lvl="1" indent="-285750">
              <a:buFont typeface="Arial" panose="020B0604020202020204" pitchFamily="34" charset="0"/>
              <a:buChar char="•"/>
            </a:pPr>
            <a:r>
              <a:rPr lang="en-US" sz="2000" b="1" dirty="0"/>
              <a:t>Align Team Expectations:</a:t>
            </a:r>
            <a:r>
              <a:rPr lang="en-US" sz="2000" dirty="0"/>
              <a:t> Ensure that all team members understand the feature’s goals and how they align with the Sprint Goal.</a:t>
            </a:r>
          </a:p>
          <a:p>
            <a:pPr marL="742950" lvl="1" indent="-285750">
              <a:buFont typeface="Arial" panose="020B0604020202020204" pitchFamily="34" charset="0"/>
              <a:buChar char="•"/>
            </a:pPr>
            <a:r>
              <a:rPr lang="en-US" sz="2000" b="1" dirty="0"/>
              <a:t>Revisit the Sprint Goal:</a:t>
            </a:r>
            <a:r>
              <a:rPr lang="en-US" sz="2000" dirty="0"/>
              <a:t> Ensure the Sprint Goal is clear and agreed upon by everyone, so the team can stay focused.</a:t>
            </a:r>
          </a:p>
          <a:p>
            <a:endParaRPr lang="en-US" sz="2000" dirty="0"/>
          </a:p>
        </p:txBody>
      </p:sp>
      <p:sp>
        <p:nvSpPr>
          <p:cNvPr id="4" name="Title 3">
            <a:extLst>
              <a:ext uri="{FF2B5EF4-FFF2-40B4-BE49-F238E27FC236}">
                <a16:creationId xmlns:a16="http://schemas.microsoft.com/office/drawing/2014/main" id="{2CA4F6D4-61D9-DAE4-778B-B6ED978A78DA}"/>
              </a:ext>
            </a:extLst>
          </p:cNvPr>
          <p:cNvSpPr>
            <a:spLocks noGrp="1"/>
          </p:cNvSpPr>
          <p:nvPr>
            <p:ph type="title"/>
          </p:nvPr>
        </p:nvSpPr>
        <p:spPr/>
        <p:txBody>
          <a:bodyPr/>
          <a:lstStyle/>
          <a:p>
            <a:r>
              <a:rPr lang="en-US" dirty="0"/>
              <a:t>Sprint Goal Clarity</a:t>
            </a:r>
          </a:p>
        </p:txBody>
      </p:sp>
    </p:spTree>
    <p:extLst>
      <p:ext uri="{BB962C8B-B14F-4D97-AF65-F5344CB8AC3E}">
        <p14:creationId xmlns:p14="http://schemas.microsoft.com/office/powerpoint/2010/main" val="2484504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4CE39D-026C-567A-7AAD-C572181AFBD5}"/>
              </a:ext>
            </a:extLst>
          </p:cNvPr>
          <p:cNvSpPr>
            <a:spLocks noGrp="1"/>
          </p:cNvSpPr>
          <p:nvPr>
            <p:ph type="sldNum" sz="quarter" idx="13"/>
          </p:nvPr>
        </p:nvSpPr>
        <p:spPr/>
        <p:txBody>
          <a:bodyPr/>
          <a:lstStyle/>
          <a:p>
            <a:fld id="{12342C3A-DD85-7843-B416-BD52AB030D59}" type="slidenum">
              <a:rPr lang="en-US" smtClean="0"/>
              <a:pPr/>
              <a:t>36</a:t>
            </a:fld>
            <a:endParaRPr lang="en-US" dirty="0"/>
          </a:p>
        </p:txBody>
      </p:sp>
      <p:sp>
        <p:nvSpPr>
          <p:cNvPr id="3" name="Text Placeholder 2">
            <a:extLst>
              <a:ext uri="{FF2B5EF4-FFF2-40B4-BE49-F238E27FC236}">
                <a16:creationId xmlns:a16="http://schemas.microsoft.com/office/drawing/2014/main" id="{D00A8D5D-FF46-DC11-76AA-ABD00980E3EC}"/>
              </a:ext>
            </a:extLst>
          </p:cNvPr>
          <p:cNvSpPr>
            <a:spLocks noGrp="1"/>
          </p:cNvSpPr>
          <p:nvPr>
            <p:ph type="body" sz="quarter" idx="12"/>
          </p:nvPr>
        </p:nvSpPr>
        <p:spPr/>
        <p:txBody>
          <a:bodyPr>
            <a:normAutofit/>
          </a:bodyPr>
          <a:lstStyle/>
          <a:p>
            <a:endParaRPr lang="en-US" sz="2000" b="1" dirty="0"/>
          </a:p>
          <a:p>
            <a:r>
              <a:rPr lang="en-US" sz="2000" b="1" dirty="0"/>
              <a:t>Managing Scope Creep:</a:t>
            </a:r>
          </a:p>
          <a:p>
            <a:pPr marL="742950" lvl="1" indent="-285750">
              <a:buFont typeface="Arial" panose="020B0604020202020204" pitchFamily="34" charset="0"/>
              <a:buChar char="•"/>
            </a:pPr>
            <a:r>
              <a:rPr lang="en-US" sz="2000" b="1" dirty="0"/>
              <a:t>Enforce Sprint Focus:</a:t>
            </a:r>
            <a:r>
              <a:rPr lang="en-US" sz="2000" dirty="0"/>
              <a:t> Politely remind the team and the Product Owner of the agreed-upon </a:t>
            </a:r>
            <a:r>
              <a:rPr lang="en-US" sz="2000" b="1" dirty="0"/>
              <a:t>Sprint Goal</a:t>
            </a:r>
            <a:r>
              <a:rPr lang="en-US" sz="2000" dirty="0"/>
              <a:t> and encourage them to avoid introducing new requirements or changes during the Sprint.</a:t>
            </a:r>
          </a:p>
          <a:p>
            <a:pPr marL="742950" lvl="1" indent="-285750">
              <a:buFont typeface="Arial" panose="020B0604020202020204" pitchFamily="34" charset="0"/>
              <a:buChar char="•"/>
            </a:pPr>
            <a:r>
              <a:rPr lang="en-US" sz="2000" b="1" dirty="0"/>
              <a:t>Prioritize Changes:</a:t>
            </a:r>
            <a:r>
              <a:rPr lang="en-US" sz="2000" dirty="0"/>
              <a:t> If new ideas or scope changes arise, assess their impact on the current Sprint and defer less critical changes to future Sprints.</a:t>
            </a:r>
          </a:p>
          <a:p>
            <a:pPr marL="742950" lvl="1" indent="-285750">
              <a:buFont typeface="Arial" panose="020B0604020202020204" pitchFamily="34" charset="0"/>
              <a:buChar char="•"/>
            </a:pPr>
            <a:r>
              <a:rPr lang="en-US" sz="2000" b="1" dirty="0"/>
              <a:t>Maintain Transparency:</a:t>
            </a:r>
            <a:r>
              <a:rPr lang="en-US" sz="2000" dirty="0"/>
              <a:t> Keep open communication about the potential risks of scope creep, ensuring that any changes to scope are well-documented and agreed upon.</a:t>
            </a:r>
          </a:p>
          <a:p>
            <a:r>
              <a:rPr lang="en-US" sz="2000" dirty="0"/>
              <a:t>The goal is to ensure the team has a clear understanding of the feature and Sprint Goal, while managing any potential scope creep to stay focused and deliver the planned outcome.</a:t>
            </a:r>
          </a:p>
          <a:p>
            <a:endParaRPr lang="en-US" sz="2000" dirty="0"/>
          </a:p>
        </p:txBody>
      </p:sp>
      <p:sp>
        <p:nvSpPr>
          <p:cNvPr id="4" name="Title 3">
            <a:extLst>
              <a:ext uri="{FF2B5EF4-FFF2-40B4-BE49-F238E27FC236}">
                <a16:creationId xmlns:a16="http://schemas.microsoft.com/office/drawing/2014/main" id="{64A00FAF-A91D-9A97-A1CD-C765B284E169}"/>
              </a:ext>
            </a:extLst>
          </p:cNvPr>
          <p:cNvSpPr>
            <a:spLocks noGrp="1"/>
          </p:cNvSpPr>
          <p:nvPr>
            <p:ph type="title"/>
          </p:nvPr>
        </p:nvSpPr>
        <p:spPr/>
        <p:txBody>
          <a:bodyPr/>
          <a:lstStyle/>
          <a:p>
            <a:r>
              <a:rPr lang="en-US" dirty="0"/>
              <a:t>Sprint Goal Clarity</a:t>
            </a:r>
          </a:p>
        </p:txBody>
      </p:sp>
    </p:spTree>
    <p:extLst>
      <p:ext uri="{BB962C8B-B14F-4D97-AF65-F5344CB8AC3E}">
        <p14:creationId xmlns:p14="http://schemas.microsoft.com/office/powerpoint/2010/main" val="18064005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BE160-9736-31A9-51D4-4E1E5A7F37B9}"/>
              </a:ext>
            </a:extLst>
          </p:cNvPr>
          <p:cNvSpPr>
            <a:spLocks noGrp="1"/>
          </p:cNvSpPr>
          <p:nvPr>
            <p:ph type="sldNum" sz="quarter" idx="13"/>
          </p:nvPr>
        </p:nvSpPr>
        <p:spPr/>
        <p:txBody>
          <a:bodyPr/>
          <a:lstStyle/>
          <a:p>
            <a:fld id="{12342C3A-DD85-7843-B416-BD52AB030D59}" type="slidenum">
              <a:rPr lang="en-US" smtClean="0"/>
              <a:pPr/>
              <a:t>37</a:t>
            </a:fld>
            <a:endParaRPr lang="en-US" dirty="0"/>
          </a:p>
        </p:txBody>
      </p:sp>
      <p:sp>
        <p:nvSpPr>
          <p:cNvPr id="3" name="Text Placeholder 2">
            <a:extLst>
              <a:ext uri="{FF2B5EF4-FFF2-40B4-BE49-F238E27FC236}">
                <a16:creationId xmlns:a16="http://schemas.microsoft.com/office/drawing/2014/main" id="{4C375B47-D074-B6BF-3DAA-018188A94048}"/>
              </a:ext>
            </a:extLst>
          </p:cNvPr>
          <p:cNvSpPr>
            <a:spLocks noGrp="1"/>
          </p:cNvSpPr>
          <p:nvPr>
            <p:ph type="body" sz="quarter" idx="12"/>
          </p:nvPr>
        </p:nvSpPr>
        <p:spPr/>
        <p:txBody>
          <a:bodyPr>
            <a:normAutofit/>
          </a:bodyPr>
          <a:lstStyle/>
          <a:p>
            <a:endParaRPr lang="en-US" sz="2000" dirty="0"/>
          </a:p>
          <a:p>
            <a:r>
              <a:rPr lang="en-US" sz="2000" dirty="0"/>
              <a:t>After the Sprint Retrospective, the team agrees on a couple of action items: improving communication and adopting pair programming to reduce bugs. However, in the following Sprint, the same issues reoccur.</a:t>
            </a:r>
          </a:p>
          <a:p>
            <a:pPr marL="742950" lvl="1" indent="-285750">
              <a:buFont typeface="Arial" panose="020B0604020202020204" pitchFamily="34" charset="0"/>
              <a:buChar char="•"/>
            </a:pPr>
            <a:r>
              <a:rPr lang="en-US" sz="2000" dirty="0"/>
              <a:t>As a </a:t>
            </a:r>
            <a:r>
              <a:rPr lang="en-US" sz="2000" b="1" dirty="0"/>
              <a:t>Scrum Master</a:t>
            </a:r>
            <a:r>
              <a:rPr lang="en-US" sz="2000" dirty="0"/>
              <a:t>, how would you follow up on these action items to ensure they are implemented effectively?</a:t>
            </a:r>
          </a:p>
          <a:p>
            <a:pPr marL="742950" lvl="1" indent="-285750">
              <a:buFont typeface="Arial" panose="020B0604020202020204" pitchFamily="34" charset="0"/>
              <a:buChar char="•"/>
            </a:pPr>
            <a:r>
              <a:rPr lang="en-US" sz="2000" dirty="0"/>
              <a:t>What strategies could you employ to help the team </a:t>
            </a:r>
            <a:r>
              <a:rPr lang="en-US" sz="2000" b="1" dirty="0"/>
              <a:t>track progress</a:t>
            </a:r>
            <a:r>
              <a:rPr lang="en-US" sz="2000" dirty="0"/>
              <a:t> on these action items?</a:t>
            </a:r>
          </a:p>
          <a:p>
            <a:endParaRPr lang="en-US" sz="2000" dirty="0"/>
          </a:p>
        </p:txBody>
      </p:sp>
      <p:sp>
        <p:nvSpPr>
          <p:cNvPr id="4" name="Title 3">
            <a:extLst>
              <a:ext uri="{FF2B5EF4-FFF2-40B4-BE49-F238E27FC236}">
                <a16:creationId xmlns:a16="http://schemas.microsoft.com/office/drawing/2014/main" id="{4A9C5867-D9E5-19FD-83D2-62204D065DF6}"/>
              </a:ext>
            </a:extLst>
          </p:cNvPr>
          <p:cNvSpPr>
            <a:spLocks noGrp="1"/>
          </p:cNvSpPr>
          <p:nvPr>
            <p:ph type="title"/>
          </p:nvPr>
        </p:nvSpPr>
        <p:spPr/>
        <p:txBody>
          <a:bodyPr/>
          <a:lstStyle/>
          <a:p>
            <a:r>
              <a:rPr lang="en-US" dirty="0"/>
              <a:t>Sprint Retrospective Action Items</a:t>
            </a:r>
          </a:p>
        </p:txBody>
      </p:sp>
    </p:spTree>
    <p:extLst>
      <p:ext uri="{BB962C8B-B14F-4D97-AF65-F5344CB8AC3E}">
        <p14:creationId xmlns:p14="http://schemas.microsoft.com/office/powerpoint/2010/main" val="3180466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7EB0C-4C04-5902-0FF6-24BAEFDE711A}"/>
              </a:ext>
            </a:extLst>
          </p:cNvPr>
          <p:cNvSpPr>
            <a:spLocks noGrp="1"/>
          </p:cNvSpPr>
          <p:nvPr>
            <p:ph type="sldNum" sz="quarter" idx="13"/>
          </p:nvPr>
        </p:nvSpPr>
        <p:spPr/>
        <p:txBody>
          <a:bodyPr/>
          <a:lstStyle/>
          <a:p>
            <a:fld id="{12342C3A-DD85-7843-B416-BD52AB030D59}" type="slidenum">
              <a:rPr lang="en-US" smtClean="0"/>
              <a:pPr/>
              <a:t>38</a:t>
            </a:fld>
            <a:endParaRPr lang="en-US" dirty="0"/>
          </a:p>
        </p:txBody>
      </p:sp>
      <p:sp>
        <p:nvSpPr>
          <p:cNvPr id="3" name="Text Placeholder 2">
            <a:extLst>
              <a:ext uri="{FF2B5EF4-FFF2-40B4-BE49-F238E27FC236}">
                <a16:creationId xmlns:a16="http://schemas.microsoft.com/office/drawing/2014/main" id="{50BEA838-90FF-4B7A-AD40-8B07287B38E2}"/>
              </a:ext>
            </a:extLst>
          </p:cNvPr>
          <p:cNvSpPr>
            <a:spLocks noGrp="1"/>
          </p:cNvSpPr>
          <p:nvPr>
            <p:ph type="body" sz="quarter" idx="12"/>
          </p:nvPr>
        </p:nvSpPr>
        <p:spPr/>
        <p:txBody>
          <a:bodyPr>
            <a:normAutofit/>
          </a:bodyPr>
          <a:lstStyle/>
          <a:p>
            <a:endParaRPr lang="en-US" sz="2000" b="1" dirty="0"/>
          </a:p>
          <a:p>
            <a:r>
              <a:rPr lang="en-US" sz="2000" b="1" dirty="0"/>
              <a:t>Follow-Up on Action Items:</a:t>
            </a:r>
          </a:p>
          <a:p>
            <a:pPr marL="742950" lvl="1" indent="-285750">
              <a:buFont typeface="Arial" panose="020B0604020202020204" pitchFamily="34" charset="0"/>
              <a:buChar char="•"/>
            </a:pPr>
            <a:r>
              <a:rPr lang="en-US" sz="2000" b="1" dirty="0"/>
              <a:t>Review Action Items:</a:t>
            </a:r>
            <a:r>
              <a:rPr lang="en-US" sz="2000" dirty="0"/>
              <a:t> At the start of the new Sprint, remind the team of the action items from the previous Retrospective (communication and pair programming).</a:t>
            </a:r>
          </a:p>
          <a:p>
            <a:pPr marL="742950" lvl="1" indent="-285750">
              <a:buFont typeface="Arial" panose="020B0604020202020204" pitchFamily="34" charset="0"/>
              <a:buChar char="•"/>
            </a:pPr>
            <a:r>
              <a:rPr lang="en-US" sz="2000" b="1" dirty="0"/>
              <a:t>Encourage Accountability:</a:t>
            </a:r>
            <a:r>
              <a:rPr lang="en-US" sz="2000" dirty="0"/>
              <a:t> Ask team members for updates on how they’ve implemented the agreed actions (e.g., pairing up for programming tasks, improving communication during standups).</a:t>
            </a:r>
          </a:p>
          <a:p>
            <a:pPr marL="742950" lvl="1" indent="-285750">
              <a:buFont typeface="Arial" panose="020B0604020202020204" pitchFamily="34" charset="0"/>
              <a:buChar char="•"/>
            </a:pPr>
            <a:r>
              <a:rPr lang="en-US" sz="2000" b="1" dirty="0"/>
              <a:t>Address Obstacles:</a:t>
            </a:r>
            <a:r>
              <a:rPr lang="en-US" sz="2000" dirty="0"/>
              <a:t> Identify any challenges the team faced in implementing these actions and work together to find solutions.</a:t>
            </a:r>
          </a:p>
          <a:p>
            <a:endParaRPr lang="en-US" sz="2000" dirty="0"/>
          </a:p>
        </p:txBody>
      </p:sp>
      <p:sp>
        <p:nvSpPr>
          <p:cNvPr id="4" name="Title 3">
            <a:extLst>
              <a:ext uri="{FF2B5EF4-FFF2-40B4-BE49-F238E27FC236}">
                <a16:creationId xmlns:a16="http://schemas.microsoft.com/office/drawing/2014/main" id="{41651C58-D083-8AED-025C-F9926B207997}"/>
              </a:ext>
            </a:extLst>
          </p:cNvPr>
          <p:cNvSpPr>
            <a:spLocks noGrp="1"/>
          </p:cNvSpPr>
          <p:nvPr>
            <p:ph type="title"/>
          </p:nvPr>
        </p:nvSpPr>
        <p:spPr/>
        <p:txBody>
          <a:bodyPr/>
          <a:lstStyle/>
          <a:p>
            <a:r>
              <a:rPr lang="en-US" dirty="0"/>
              <a:t>Sprint Retrospective Action Items</a:t>
            </a:r>
          </a:p>
        </p:txBody>
      </p:sp>
    </p:spTree>
    <p:extLst>
      <p:ext uri="{BB962C8B-B14F-4D97-AF65-F5344CB8AC3E}">
        <p14:creationId xmlns:p14="http://schemas.microsoft.com/office/powerpoint/2010/main" val="2822254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FE1047-64BB-4E37-CD7D-C2ADC78057A2}"/>
              </a:ext>
            </a:extLst>
          </p:cNvPr>
          <p:cNvSpPr>
            <a:spLocks noGrp="1"/>
          </p:cNvSpPr>
          <p:nvPr>
            <p:ph type="sldNum" sz="quarter" idx="13"/>
          </p:nvPr>
        </p:nvSpPr>
        <p:spPr/>
        <p:txBody>
          <a:bodyPr/>
          <a:lstStyle/>
          <a:p>
            <a:fld id="{12342C3A-DD85-7843-B416-BD52AB030D59}" type="slidenum">
              <a:rPr lang="en-US" smtClean="0"/>
              <a:pPr/>
              <a:t>39</a:t>
            </a:fld>
            <a:endParaRPr lang="en-US" dirty="0"/>
          </a:p>
        </p:txBody>
      </p:sp>
      <p:sp>
        <p:nvSpPr>
          <p:cNvPr id="3" name="Text Placeholder 2">
            <a:extLst>
              <a:ext uri="{FF2B5EF4-FFF2-40B4-BE49-F238E27FC236}">
                <a16:creationId xmlns:a16="http://schemas.microsoft.com/office/drawing/2014/main" id="{B9F2F9D2-F7E7-9D99-320F-D09AF1A28254}"/>
              </a:ext>
            </a:extLst>
          </p:cNvPr>
          <p:cNvSpPr>
            <a:spLocks noGrp="1"/>
          </p:cNvSpPr>
          <p:nvPr>
            <p:ph type="body" sz="quarter" idx="12"/>
          </p:nvPr>
        </p:nvSpPr>
        <p:spPr/>
        <p:txBody>
          <a:bodyPr>
            <a:normAutofit/>
          </a:bodyPr>
          <a:lstStyle/>
          <a:p>
            <a:endParaRPr lang="en-US" sz="2000" b="1" dirty="0"/>
          </a:p>
          <a:p>
            <a:r>
              <a:rPr lang="en-US" sz="2000" b="1" dirty="0"/>
              <a:t>Tracking Progress on Action Items:</a:t>
            </a:r>
          </a:p>
          <a:p>
            <a:pPr marL="742950" lvl="1" indent="-285750">
              <a:buFont typeface="Arial" panose="020B0604020202020204" pitchFamily="34" charset="0"/>
              <a:buChar char="•"/>
            </a:pPr>
            <a:r>
              <a:rPr lang="en-US" sz="2000" b="1" dirty="0"/>
              <a:t>Regular Check-Ins:</a:t>
            </a:r>
            <a:r>
              <a:rPr lang="en-US" sz="2000" dirty="0"/>
              <a:t> Incorporate discussions about these action items in </a:t>
            </a:r>
            <a:r>
              <a:rPr lang="en-US" sz="2000" b="1" dirty="0"/>
              <a:t>Daily Standups</a:t>
            </a:r>
            <a:r>
              <a:rPr lang="en-US" sz="2000" dirty="0"/>
              <a:t> or </a:t>
            </a:r>
            <a:r>
              <a:rPr lang="en-US" sz="2000" b="1" dirty="0"/>
              <a:t>Sprint Reviews</a:t>
            </a:r>
            <a:r>
              <a:rPr lang="en-US" sz="2000" dirty="0"/>
              <a:t> to ensure progress is being made.</a:t>
            </a:r>
          </a:p>
          <a:p>
            <a:pPr marL="742950" lvl="1" indent="-285750">
              <a:buFont typeface="Arial" panose="020B0604020202020204" pitchFamily="34" charset="0"/>
              <a:buChar char="•"/>
            </a:pPr>
            <a:r>
              <a:rPr lang="en-US" sz="2000" b="1" dirty="0"/>
              <a:t>Visual Tracking:</a:t>
            </a:r>
            <a:r>
              <a:rPr lang="en-US" sz="2000" dirty="0"/>
              <a:t> Use a </a:t>
            </a:r>
            <a:r>
              <a:rPr lang="en-US" sz="2000" b="1" dirty="0"/>
              <a:t>Kanban board</a:t>
            </a:r>
            <a:r>
              <a:rPr lang="en-US" sz="2000" dirty="0"/>
              <a:t> or a </a:t>
            </a:r>
            <a:r>
              <a:rPr lang="en-US" sz="2000" b="1" dirty="0"/>
              <a:t>task tracker</a:t>
            </a:r>
            <a:r>
              <a:rPr lang="en-US" sz="2000" dirty="0"/>
              <a:t> to visualize and track the progress of action items.</a:t>
            </a:r>
          </a:p>
          <a:p>
            <a:pPr marL="742950" lvl="1" indent="-285750">
              <a:buFont typeface="Arial" panose="020B0604020202020204" pitchFamily="34" charset="0"/>
              <a:buChar char="•"/>
            </a:pPr>
            <a:r>
              <a:rPr lang="en-US" sz="2000" b="1" dirty="0"/>
              <a:t>Set Milestones:</a:t>
            </a:r>
            <a:r>
              <a:rPr lang="en-US" sz="2000" dirty="0"/>
              <a:t> Define clear, measurable goals for each action item (e.g., pairing up for X hours a week, reducing bug reports by X%).</a:t>
            </a:r>
          </a:p>
          <a:p>
            <a:pPr marL="742950" lvl="1" indent="-285750">
              <a:buFont typeface="Arial" panose="020B0604020202020204" pitchFamily="34" charset="0"/>
              <a:buChar char="•"/>
            </a:pPr>
            <a:r>
              <a:rPr lang="en-US" sz="2000" b="1" dirty="0"/>
              <a:t>Continuous Reflection:</a:t>
            </a:r>
            <a:r>
              <a:rPr lang="en-US" sz="2000" dirty="0"/>
              <a:t> At the next </a:t>
            </a:r>
            <a:r>
              <a:rPr lang="en-US" sz="2000" b="1" dirty="0"/>
              <a:t>Sprint Retrospective</a:t>
            </a:r>
            <a:r>
              <a:rPr lang="en-US" sz="2000" dirty="0"/>
              <a:t>, evaluate how well the actions were implemented and adjust as needed.</a:t>
            </a:r>
          </a:p>
          <a:p>
            <a:r>
              <a:rPr lang="en-US" sz="2000" dirty="0"/>
              <a:t>The goal is to ensure that the agreed improvements are consistently followed up on and that the team remains accountable for implementing them.</a:t>
            </a:r>
          </a:p>
          <a:p>
            <a:endParaRPr lang="en-US" sz="2000" dirty="0"/>
          </a:p>
        </p:txBody>
      </p:sp>
      <p:sp>
        <p:nvSpPr>
          <p:cNvPr id="4" name="Title 3">
            <a:extLst>
              <a:ext uri="{FF2B5EF4-FFF2-40B4-BE49-F238E27FC236}">
                <a16:creationId xmlns:a16="http://schemas.microsoft.com/office/drawing/2014/main" id="{9F87B4D3-9CC3-060D-DE46-D6733E47D13C}"/>
              </a:ext>
            </a:extLst>
          </p:cNvPr>
          <p:cNvSpPr>
            <a:spLocks noGrp="1"/>
          </p:cNvSpPr>
          <p:nvPr>
            <p:ph type="title"/>
          </p:nvPr>
        </p:nvSpPr>
        <p:spPr/>
        <p:txBody>
          <a:bodyPr/>
          <a:lstStyle/>
          <a:p>
            <a:r>
              <a:rPr lang="en-US" dirty="0"/>
              <a:t>Sprint Retrospective Action Items</a:t>
            </a:r>
          </a:p>
        </p:txBody>
      </p:sp>
    </p:spTree>
    <p:extLst>
      <p:ext uri="{BB962C8B-B14F-4D97-AF65-F5344CB8AC3E}">
        <p14:creationId xmlns:p14="http://schemas.microsoft.com/office/powerpoint/2010/main" val="2852810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CDA09F-3B06-6041-A9F5-BBC2412EF485}"/>
              </a:ext>
            </a:extLst>
          </p:cNvPr>
          <p:cNvSpPr>
            <a:spLocks noGrp="1"/>
          </p:cNvSpPr>
          <p:nvPr>
            <p:ph type="sldNum" sz="quarter" idx="13"/>
          </p:nvPr>
        </p:nvSpPr>
        <p:spPr/>
        <p:txBody>
          <a:bodyPr/>
          <a:lstStyle/>
          <a:p>
            <a:fld id="{12342C3A-DD85-7843-B416-BD52AB030D59}" type="slidenum">
              <a:rPr lang="en-US" smtClean="0"/>
              <a:pPr/>
              <a:t>40</a:t>
            </a:fld>
            <a:endParaRPr lang="en-US" dirty="0"/>
          </a:p>
        </p:txBody>
      </p:sp>
      <p:sp>
        <p:nvSpPr>
          <p:cNvPr id="3" name="Text Placeholder 2">
            <a:extLst>
              <a:ext uri="{FF2B5EF4-FFF2-40B4-BE49-F238E27FC236}">
                <a16:creationId xmlns:a16="http://schemas.microsoft.com/office/drawing/2014/main" id="{A82623B1-E35D-B4EA-D2F5-BB43C78AB439}"/>
              </a:ext>
            </a:extLst>
          </p:cNvPr>
          <p:cNvSpPr>
            <a:spLocks noGrp="1"/>
          </p:cNvSpPr>
          <p:nvPr>
            <p:ph type="body" sz="quarter" idx="12"/>
          </p:nvPr>
        </p:nvSpPr>
        <p:spPr/>
        <p:txBody>
          <a:bodyPr>
            <a:normAutofit/>
          </a:bodyPr>
          <a:lstStyle/>
          <a:p>
            <a:endParaRPr lang="en-US" sz="2000" dirty="0"/>
          </a:p>
          <a:p>
            <a:r>
              <a:rPr lang="en-US" sz="2000" dirty="0"/>
              <a:t>Your Scrum Team is working on an online payment feature, but the team is dependent on a third-party API for processing payments. The third-party API is experiencing frequent outages, which are delaying progress on the user story.</a:t>
            </a:r>
          </a:p>
          <a:p>
            <a:pPr marL="742950" lvl="1" indent="-285750">
              <a:buFont typeface="Arial" panose="020B0604020202020204" pitchFamily="34" charset="0"/>
              <a:buChar char="•"/>
            </a:pPr>
            <a:r>
              <a:rPr lang="en-US" sz="2000" dirty="0"/>
              <a:t>How would you, as a </a:t>
            </a:r>
            <a:r>
              <a:rPr lang="en-US" sz="2000" b="1" dirty="0"/>
              <a:t>Scrum Master</a:t>
            </a:r>
            <a:r>
              <a:rPr lang="en-US" sz="2000" dirty="0"/>
              <a:t>, help the team handle this external dependency during the Sprint?</a:t>
            </a:r>
          </a:p>
          <a:p>
            <a:pPr marL="742950" lvl="1" indent="-285750">
              <a:buFont typeface="Arial" panose="020B0604020202020204" pitchFamily="34" charset="0"/>
              <a:buChar char="•"/>
            </a:pPr>
            <a:r>
              <a:rPr lang="en-US" sz="2000" dirty="0"/>
              <a:t>What can you do to manage and mitigate such risks in future Sprints?</a:t>
            </a:r>
          </a:p>
          <a:p>
            <a:endParaRPr lang="en-US" sz="2000" dirty="0"/>
          </a:p>
        </p:txBody>
      </p:sp>
      <p:sp>
        <p:nvSpPr>
          <p:cNvPr id="4" name="Title 3">
            <a:extLst>
              <a:ext uri="{FF2B5EF4-FFF2-40B4-BE49-F238E27FC236}">
                <a16:creationId xmlns:a16="http://schemas.microsoft.com/office/drawing/2014/main" id="{19FD1B8A-02E0-CF4E-978A-F2FDD2ECC1D4}"/>
              </a:ext>
            </a:extLst>
          </p:cNvPr>
          <p:cNvSpPr>
            <a:spLocks noGrp="1"/>
          </p:cNvSpPr>
          <p:nvPr>
            <p:ph type="title"/>
          </p:nvPr>
        </p:nvSpPr>
        <p:spPr/>
        <p:txBody>
          <a:bodyPr/>
          <a:lstStyle/>
          <a:p>
            <a:r>
              <a:rPr lang="en-US" dirty="0"/>
              <a:t>Handling External Dependencies</a:t>
            </a:r>
          </a:p>
        </p:txBody>
      </p:sp>
    </p:spTree>
    <p:extLst>
      <p:ext uri="{BB962C8B-B14F-4D97-AF65-F5344CB8AC3E}">
        <p14:creationId xmlns:p14="http://schemas.microsoft.com/office/powerpoint/2010/main" val="2202471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696971-2F81-1B48-C685-CBB8EFE5179D}"/>
              </a:ext>
            </a:extLst>
          </p:cNvPr>
          <p:cNvSpPr>
            <a:spLocks noGrp="1"/>
          </p:cNvSpPr>
          <p:nvPr>
            <p:ph type="sldNum" sz="quarter" idx="13"/>
          </p:nvPr>
        </p:nvSpPr>
        <p:spPr/>
        <p:txBody>
          <a:bodyPr/>
          <a:lstStyle/>
          <a:p>
            <a:fld id="{12342C3A-DD85-7843-B416-BD52AB030D59}" type="slidenum">
              <a:rPr lang="en-US" smtClean="0"/>
              <a:pPr/>
              <a:t>41</a:t>
            </a:fld>
            <a:endParaRPr lang="en-US" dirty="0"/>
          </a:p>
        </p:txBody>
      </p:sp>
      <p:sp>
        <p:nvSpPr>
          <p:cNvPr id="3" name="Text Placeholder 2">
            <a:extLst>
              <a:ext uri="{FF2B5EF4-FFF2-40B4-BE49-F238E27FC236}">
                <a16:creationId xmlns:a16="http://schemas.microsoft.com/office/drawing/2014/main" id="{D377FF52-699F-8551-788C-3E765A0BD778}"/>
              </a:ext>
            </a:extLst>
          </p:cNvPr>
          <p:cNvSpPr>
            <a:spLocks noGrp="1"/>
          </p:cNvSpPr>
          <p:nvPr>
            <p:ph type="body" sz="quarter" idx="12"/>
          </p:nvPr>
        </p:nvSpPr>
        <p:spPr/>
        <p:txBody>
          <a:bodyPr>
            <a:normAutofit/>
          </a:bodyPr>
          <a:lstStyle/>
          <a:p>
            <a:endParaRPr lang="en-US" sz="2000" b="1" dirty="0"/>
          </a:p>
          <a:p>
            <a:r>
              <a:rPr lang="en-US" sz="2000" b="1" dirty="0"/>
              <a:t>Handling the External Dependency During the Sprint:</a:t>
            </a:r>
          </a:p>
          <a:p>
            <a:pPr marL="742950" lvl="1" indent="-285750">
              <a:buFont typeface="Arial" panose="020B0604020202020204" pitchFamily="34" charset="0"/>
              <a:buChar char="•"/>
            </a:pPr>
            <a:r>
              <a:rPr lang="en-US" sz="2000" b="1" dirty="0"/>
              <a:t>Identify the Impact:</a:t>
            </a:r>
            <a:r>
              <a:rPr lang="en-US" sz="2000" dirty="0"/>
              <a:t> Assess how the outages are affecting the team’s progress and discuss the impact on the </a:t>
            </a:r>
            <a:r>
              <a:rPr lang="en-US" sz="2000" b="1" dirty="0"/>
              <a:t>Sprint Goal</a:t>
            </a:r>
            <a:r>
              <a:rPr lang="en-US" sz="2000" dirty="0"/>
              <a:t>.</a:t>
            </a:r>
          </a:p>
          <a:p>
            <a:pPr marL="742950" lvl="1" indent="-285750">
              <a:buFont typeface="Arial" panose="020B0604020202020204" pitchFamily="34" charset="0"/>
              <a:buChar char="•"/>
            </a:pPr>
            <a:r>
              <a:rPr lang="en-US" sz="2000" b="1" dirty="0"/>
              <a:t>Facilitate Communication:</a:t>
            </a:r>
            <a:r>
              <a:rPr lang="en-US" sz="2000" dirty="0"/>
              <a:t> Work with the </a:t>
            </a:r>
            <a:r>
              <a:rPr lang="en-US" sz="2000" b="1" dirty="0"/>
              <a:t>Product Owner</a:t>
            </a:r>
            <a:r>
              <a:rPr lang="en-US" sz="2000" dirty="0"/>
              <a:t> and third-party API provider to understand the cause and potential solutions to minimize downtime.</a:t>
            </a:r>
          </a:p>
          <a:p>
            <a:pPr marL="742950" lvl="1" indent="-285750">
              <a:buFont typeface="Arial" panose="020B0604020202020204" pitchFamily="34" charset="0"/>
              <a:buChar char="•"/>
            </a:pPr>
            <a:r>
              <a:rPr lang="en-US" sz="2000" b="1" dirty="0"/>
              <a:t>Find Workarounds:</a:t>
            </a:r>
            <a:r>
              <a:rPr lang="en-US" sz="2000" dirty="0"/>
              <a:t> Encourage the team to explore alternative solutions or approaches (e.g., using mock data, simulating API responses, or working on other tasks until the API is functional).</a:t>
            </a:r>
          </a:p>
          <a:p>
            <a:endParaRPr lang="en-US" sz="2000" dirty="0"/>
          </a:p>
        </p:txBody>
      </p:sp>
      <p:sp>
        <p:nvSpPr>
          <p:cNvPr id="4" name="Title 3">
            <a:extLst>
              <a:ext uri="{FF2B5EF4-FFF2-40B4-BE49-F238E27FC236}">
                <a16:creationId xmlns:a16="http://schemas.microsoft.com/office/drawing/2014/main" id="{C09D1BB5-6E30-5800-C574-3542A6E4629A}"/>
              </a:ext>
            </a:extLst>
          </p:cNvPr>
          <p:cNvSpPr>
            <a:spLocks noGrp="1"/>
          </p:cNvSpPr>
          <p:nvPr>
            <p:ph type="title"/>
          </p:nvPr>
        </p:nvSpPr>
        <p:spPr/>
        <p:txBody>
          <a:bodyPr/>
          <a:lstStyle/>
          <a:p>
            <a:r>
              <a:rPr lang="en-US" dirty="0"/>
              <a:t>Handling External Dependencies</a:t>
            </a:r>
          </a:p>
        </p:txBody>
      </p:sp>
    </p:spTree>
    <p:extLst>
      <p:ext uri="{BB962C8B-B14F-4D97-AF65-F5344CB8AC3E}">
        <p14:creationId xmlns:p14="http://schemas.microsoft.com/office/powerpoint/2010/main" val="3228573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0A46F9-DBFD-4557-FF09-5CE497538607}"/>
              </a:ext>
            </a:extLst>
          </p:cNvPr>
          <p:cNvSpPr>
            <a:spLocks noGrp="1"/>
          </p:cNvSpPr>
          <p:nvPr>
            <p:ph type="sldNum" sz="quarter" idx="13"/>
          </p:nvPr>
        </p:nvSpPr>
        <p:spPr/>
        <p:txBody>
          <a:bodyPr/>
          <a:lstStyle/>
          <a:p>
            <a:fld id="{12342C3A-DD85-7843-B416-BD52AB030D59}" type="slidenum">
              <a:rPr lang="en-US" smtClean="0"/>
              <a:pPr/>
              <a:t>42</a:t>
            </a:fld>
            <a:endParaRPr lang="en-US" dirty="0"/>
          </a:p>
        </p:txBody>
      </p:sp>
      <p:sp>
        <p:nvSpPr>
          <p:cNvPr id="3" name="Text Placeholder 2">
            <a:extLst>
              <a:ext uri="{FF2B5EF4-FFF2-40B4-BE49-F238E27FC236}">
                <a16:creationId xmlns:a16="http://schemas.microsoft.com/office/drawing/2014/main" id="{7854DE87-80A8-560F-F1C0-6E0352805563}"/>
              </a:ext>
            </a:extLst>
          </p:cNvPr>
          <p:cNvSpPr>
            <a:spLocks noGrp="1"/>
          </p:cNvSpPr>
          <p:nvPr>
            <p:ph type="body" sz="quarter" idx="12"/>
          </p:nvPr>
        </p:nvSpPr>
        <p:spPr/>
        <p:txBody>
          <a:bodyPr>
            <a:normAutofit/>
          </a:bodyPr>
          <a:lstStyle/>
          <a:p>
            <a:endParaRPr lang="en-US" sz="2000" b="1" dirty="0"/>
          </a:p>
          <a:p>
            <a:r>
              <a:rPr lang="en-US" sz="2000" b="1" dirty="0"/>
              <a:t>Managing and Mitigating Risks in Future Sprints:</a:t>
            </a:r>
          </a:p>
          <a:p>
            <a:pPr marL="742950" lvl="1" indent="-285750">
              <a:buFont typeface="Arial" panose="020B0604020202020204" pitchFamily="34" charset="0"/>
              <a:buChar char="•"/>
            </a:pPr>
            <a:r>
              <a:rPr lang="en-US" sz="2000" b="1" dirty="0"/>
              <a:t>Plan for Dependencies:</a:t>
            </a:r>
            <a:r>
              <a:rPr lang="en-US" sz="2000" dirty="0"/>
              <a:t> During </a:t>
            </a:r>
            <a:r>
              <a:rPr lang="en-US" sz="2000" b="1" dirty="0"/>
              <a:t>Sprint Planning</a:t>
            </a:r>
            <a:r>
              <a:rPr lang="en-US" sz="2000" dirty="0"/>
              <a:t>, ensure that the team accounts for external dependencies and potential risks, allowing for buffer time or alternative solutions.</a:t>
            </a:r>
          </a:p>
          <a:p>
            <a:pPr marL="742950" lvl="1" indent="-285750">
              <a:buFont typeface="Arial" panose="020B0604020202020204" pitchFamily="34" charset="0"/>
              <a:buChar char="•"/>
            </a:pPr>
            <a:r>
              <a:rPr lang="en-US" sz="2000" b="1" dirty="0"/>
              <a:t>Work on Contingency Plans:</a:t>
            </a:r>
            <a:r>
              <a:rPr lang="en-US" sz="2000" dirty="0"/>
              <a:t> Collaborate with the </a:t>
            </a:r>
            <a:r>
              <a:rPr lang="en-US" sz="2000" b="1" dirty="0"/>
              <a:t>Product Owner</a:t>
            </a:r>
            <a:r>
              <a:rPr lang="en-US" sz="2000" dirty="0"/>
              <a:t> to identify alternative providers or build fallback mechanisms if the API continues to cause issues.</a:t>
            </a:r>
          </a:p>
          <a:p>
            <a:pPr marL="742950" lvl="1" indent="-285750">
              <a:buFont typeface="Arial" panose="020B0604020202020204" pitchFamily="34" charset="0"/>
              <a:buChar char="•"/>
            </a:pPr>
            <a:r>
              <a:rPr lang="en-US" sz="2000" b="1" dirty="0"/>
              <a:t>Monitor Dependencies:</a:t>
            </a:r>
            <a:r>
              <a:rPr lang="en-US" sz="2000" dirty="0"/>
              <a:t> Keep track of the third-party service’s reliability and escalate issues if outages continue to affect delivery.</a:t>
            </a:r>
          </a:p>
          <a:p>
            <a:pPr marL="742950" lvl="1" indent="-285750">
              <a:buFont typeface="Arial" panose="020B0604020202020204" pitchFamily="34" charset="0"/>
              <a:buChar char="•"/>
            </a:pPr>
            <a:r>
              <a:rPr lang="en-US" sz="2000" b="1" dirty="0"/>
              <a:t>Manage Expectations:</a:t>
            </a:r>
            <a:r>
              <a:rPr lang="en-US" sz="2000" dirty="0"/>
              <a:t> Set clear expectations with stakeholders regarding the potential delays caused by external factors.</a:t>
            </a:r>
          </a:p>
          <a:p>
            <a:r>
              <a:rPr lang="en-US" sz="2000" dirty="0"/>
              <a:t>The goal is to address the immediate impact of the external dependency while planning proactively to manage similar risks in the future.</a:t>
            </a:r>
          </a:p>
          <a:p>
            <a:endParaRPr lang="en-US" sz="2000" dirty="0"/>
          </a:p>
        </p:txBody>
      </p:sp>
      <p:sp>
        <p:nvSpPr>
          <p:cNvPr id="4" name="Title 3">
            <a:extLst>
              <a:ext uri="{FF2B5EF4-FFF2-40B4-BE49-F238E27FC236}">
                <a16:creationId xmlns:a16="http://schemas.microsoft.com/office/drawing/2014/main" id="{141F7290-4556-F09F-04CA-7E0F201CF15F}"/>
              </a:ext>
            </a:extLst>
          </p:cNvPr>
          <p:cNvSpPr>
            <a:spLocks noGrp="1"/>
          </p:cNvSpPr>
          <p:nvPr>
            <p:ph type="title"/>
          </p:nvPr>
        </p:nvSpPr>
        <p:spPr/>
        <p:txBody>
          <a:bodyPr/>
          <a:lstStyle/>
          <a:p>
            <a:r>
              <a:rPr lang="en-US" dirty="0"/>
              <a:t>Handling External Dependencies</a:t>
            </a:r>
          </a:p>
        </p:txBody>
      </p:sp>
    </p:spTree>
    <p:extLst>
      <p:ext uri="{BB962C8B-B14F-4D97-AF65-F5344CB8AC3E}">
        <p14:creationId xmlns:p14="http://schemas.microsoft.com/office/powerpoint/2010/main" val="2504110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688526"/>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51631</TotalTime>
  <Words>3896</Words>
  <Application>Microsoft Office PowerPoint</Application>
  <PresentationFormat>Widescreen</PresentationFormat>
  <Paragraphs>331</Paragraphs>
  <Slides>43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Scenario 1: Online Banking Application</vt:lpstr>
      <vt:lpstr>Use Case Example:</vt:lpstr>
      <vt:lpstr>Use Case Example:</vt:lpstr>
      <vt:lpstr>User Story Example:</vt:lpstr>
      <vt:lpstr>User Story Example:</vt:lpstr>
      <vt:lpstr>Key Differences:</vt:lpstr>
      <vt:lpstr>Scenario 2: Online Shopping Site to Purchase Products</vt:lpstr>
      <vt:lpstr>Use Case Example:</vt:lpstr>
      <vt:lpstr>Use Case Example:</vt:lpstr>
      <vt:lpstr>User Story Example:</vt:lpstr>
      <vt:lpstr>Sprint Planning</vt:lpstr>
      <vt:lpstr>Sprint Planning</vt:lpstr>
      <vt:lpstr>Sprint Planning</vt:lpstr>
      <vt:lpstr>Sprint Planning</vt:lpstr>
      <vt:lpstr>Daily Standup</vt:lpstr>
      <vt:lpstr>Daily Standup</vt:lpstr>
      <vt:lpstr>Daily Standup</vt:lpstr>
      <vt:lpstr>Sprint Review</vt:lpstr>
      <vt:lpstr>Sprint Review</vt:lpstr>
      <vt:lpstr>Sprint Review</vt:lpstr>
      <vt:lpstr>Product Backlog Refinement</vt:lpstr>
      <vt:lpstr>Product Backlog Refinement</vt:lpstr>
      <vt:lpstr>Product Backlog Refinement</vt:lpstr>
      <vt:lpstr>Retrospective</vt:lpstr>
      <vt:lpstr>Retrospective</vt:lpstr>
      <vt:lpstr>Retrospective</vt:lpstr>
      <vt:lpstr>Scrum Team Roles</vt:lpstr>
      <vt:lpstr>Scrum Team Roles</vt:lpstr>
      <vt:lpstr>Scrum Team Roles</vt:lpstr>
      <vt:lpstr>Definition of Done</vt:lpstr>
      <vt:lpstr>Definition of Done</vt:lpstr>
      <vt:lpstr>Definition of Done</vt:lpstr>
      <vt:lpstr>Sprint Goal Clarity</vt:lpstr>
      <vt:lpstr>Sprint Goal Clarity</vt:lpstr>
      <vt:lpstr>Sprint Goal Clarity</vt:lpstr>
      <vt:lpstr>Sprint Retrospective Action Items</vt:lpstr>
      <vt:lpstr>Sprint Retrospective Action Items</vt:lpstr>
      <vt:lpstr>Sprint Retrospective Action Items</vt:lpstr>
      <vt:lpstr>Handling External Dependencies</vt:lpstr>
      <vt:lpstr>Handling External Dependencies</vt:lpstr>
      <vt:lpstr>Handling External Dependencies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232</cp:revision>
  <dcterms:created xsi:type="dcterms:W3CDTF">2022-11-18T01:51:09Z</dcterms:created>
  <dcterms:modified xsi:type="dcterms:W3CDTF">2025-09-22T18:42:06Z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