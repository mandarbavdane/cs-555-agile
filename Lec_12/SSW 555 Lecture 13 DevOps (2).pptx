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3"/>
  </p:notesMasterIdLst>
  <p:sldIdLst>
    <p:sldId id="280" r:id="rId2"/>
    <p:sldId id="301" r:id="rId3"/>
    <p:sldId id="295" r:id="rId4"/>
    <p:sldId id="391" r:id="rId5"/>
    <p:sldId id="392" r:id="rId6"/>
    <p:sldId id="339" r:id="rId7"/>
    <p:sldId id="340" r:id="rId8"/>
    <p:sldId id="361" r:id="rId9"/>
    <p:sldId id="371" r:id="rId10"/>
    <p:sldId id="372" r:id="rId11"/>
    <p:sldId id="373" r:id="rId12"/>
    <p:sldId id="374" r:id="rId13"/>
    <p:sldId id="375" r:id="rId14"/>
    <p:sldId id="394" r:id="rId15"/>
    <p:sldId id="395" r:id="rId16"/>
    <p:sldId id="402" r:id="rId17"/>
    <p:sldId id="403" r:id="rId18"/>
    <p:sldId id="404" r:id="rId19"/>
    <p:sldId id="396" r:id="rId20"/>
    <p:sldId id="376" r:id="rId21"/>
    <p:sldId id="377" r:id="rId22"/>
    <p:sldId id="378" r:id="rId23"/>
    <p:sldId id="379" r:id="rId24"/>
    <p:sldId id="380" r:id="rId25"/>
    <p:sldId id="381" r:id="rId26"/>
    <p:sldId id="397" r:id="rId27"/>
    <p:sldId id="398" r:id="rId28"/>
    <p:sldId id="399" r:id="rId29"/>
    <p:sldId id="400" r:id="rId30"/>
    <p:sldId id="401" r:id="rId31"/>
    <p:sldId id="382" r:id="rId32"/>
    <p:sldId id="383" r:id="rId33"/>
    <p:sldId id="385" r:id="rId34"/>
    <p:sldId id="384" r:id="rId35"/>
    <p:sldId id="386" r:id="rId36"/>
    <p:sldId id="387" r:id="rId37"/>
    <p:sldId id="388" r:id="rId38"/>
    <p:sldId id="389" r:id="rId39"/>
    <p:sldId id="390" r:id="rId40"/>
    <p:sldId id="317" r:id="rId41"/>
    <p:sldId id="285" r:id="rId42"/>
  </p:sldIdLst>
  <p:sldSz cx="12192000" cy="6858000"/>
  <p:notesSz cx="6858000" cy="9144000"/>
  <p:defaultText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38"/>
    <p:restoredTop sz="94694"/>
  </p:normalViewPr>
  <p:slideViewPr>
    <p:cSldViewPr snapToGrid="0" snapToObjects="1">
      <p:cViewPr varScale="1">
        <p:scale>
          <a:sx n="105" d="100"/>
          <a:sy n="105" d="100"/>
        </p:scale>
        <p:origin x="864"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948F17-CD88-C84D-81CB-EFB18C377763}" type="datetimeFigureOut">
              <a:rPr lang="en-US" smtClean="0"/>
              <a:t>4/17/2025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B341C-843E-6244-9C40-DD933A1134AC}" type="slidenum">
              <a:rPr lang="en-US" smtClean="0"/>
              <a:t>‹#›</a:t>
            </a:fld>
            <a:endParaRPr lang="en-US"/>
          </a:p>
        </p:txBody>
      </p:sp>
    </p:spTree>
    <p:extLst>
      <p:ext uri="{BB962C8B-B14F-4D97-AF65-F5344CB8AC3E}">
        <p14:creationId xmlns:p14="http://schemas.microsoft.com/office/powerpoint/2010/main" val="1998174990"/>
      </p:ext>
    </p:extLst>
  </p:cSld>
  <p:clrMap bg1="lt1" tx1="dk1" bg2="lt2" tx2="dk2" accent1="accent1" accent2="accent2" accent3="accent3" accent4="accent4" accent5="accent5" accent6="accent6" hlink="hlink" folHlink="folHlink"/>
  <p:notesStyle>
    <a:lvl1pPr marL="0" algn="l" defTabSz="913765" rtl="0" eaLnBrk="1" latinLnBrk="0" hangingPunct="1">
      <a:defRPr sz="1200" kern="1200">
        <a:solidFill>
          <a:schemeClr val="tx1"/>
        </a:solidFill>
        <a:latin typeface="+mn-lt"/>
        <a:ea typeface="+mn-ea"/>
        <a:cs typeface="+mn-cs"/>
      </a:defRPr>
    </a:lvl1pPr>
    <a:lvl2pPr marL="457200" algn="l" defTabSz="913765" rtl="0" eaLnBrk="1" latinLnBrk="0" hangingPunct="1">
      <a:defRPr sz="1200" kern="1200">
        <a:solidFill>
          <a:schemeClr val="tx1"/>
        </a:solidFill>
        <a:latin typeface="+mn-lt"/>
        <a:ea typeface="+mn-ea"/>
        <a:cs typeface="+mn-cs"/>
      </a:defRPr>
    </a:lvl2pPr>
    <a:lvl3pPr marL="914400" algn="l" defTabSz="913765" rtl="0" eaLnBrk="1" latinLnBrk="0" hangingPunct="1">
      <a:defRPr sz="1200" kern="1200">
        <a:solidFill>
          <a:schemeClr val="tx1"/>
        </a:solidFill>
        <a:latin typeface="+mn-lt"/>
        <a:ea typeface="+mn-ea"/>
        <a:cs typeface="+mn-cs"/>
      </a:defRPr>
    </a:lvl3pPr>
    <a:lvl4pPr marL="1371600" algn="l" defTabSz="913765" rtl="0" eaLnBrk="1" latinLnBrk="0" hangingPunct="1">
      <a:defRPr sz="1200" kern="1200">
        <a:solidFill>
          <a:schemeClr val="tx1"/>
        </a:solidFill>
        <a:latin typeface="+mn-lt"/>
        <a:ea typeface="+mn-ea"/>
        <a:cs typeface="+mn-cs"/>
      </a:defRPr>
    </a:lvl4pPr>
    <a:lvl5pPr marL="1828800" algn="l" defTabSz="913765" rtl="0" eaLnBrk="1" latinLnBrk="0" hangingPunct="1">
      <a:defRPr sz="1200" kern="1200">
        <a:solidFill>
          <a:schemeClr val="tx1"/>
        </a:solidFill>
        <a:latin typeface="+mn-lt"/>
        <a:ea typeface="+mn-ea"/>
        <a:cs typeface="+mn-cs"/>
      </a:defRPr>
    </a:lvl5pPr>
    <a:lvl6pPr marL="2286000" algn="l" defTabSz="913765" rtl="0" eaLnBrk="1" latinLnBrk="0" hangingPunct="1">
      <a:defRPr sz="1200" kern="1200">
        <a:solidFill>
          <a:schemeClr val="tx1"/>
        </a:solidFill>
        <a:latin typeface="+mn-lt"/>
        <a:ea typeface="+mn-ea"/>
        <a:cs typeface="+mn-cs"/>
      </a:defRPr>
    </a:lvl6pPr>
    <a:lvl7pPr marL="2743200" algn="l" defTabSz="913765" rtl="0" eaLnBrk="1" latinLnBrk="0" hangingPunct="1">
      <a:defRPr sz="1200" kern="1200">
        <a:solidFill>
          <a:schemeClr val="tx1"/>
        </a:solidFill>
        <a:latin typeface="+mn-lt"/>
        <a:ea typeface="+mn-ea"/>
        <a:cs typeface="+mn-cs"/>
      </a:defRPr>
    </a:lvl7pPr>
    <a:lvl8pPr marL="3200400" algn="l" defTabSz="913765" rtl="0" eaLnBrk="1" latinLnBrk="0" hangingPunct="1">
      <a:defRPr sz="1200" kern="1200">
        <a:solidFill>
          <a:schemeClr val="tx1"/>
        </a:solidFill>
        <a:latin typeface="+mn-lt"/>
        <a:ea typeface="+mn-ea"/>
        <a:cs typeface="+mn-cs"/>
      </a:defRPr>
    </a:lvl8pPr>
    <a:lvl9pPr marL="3657600"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5DB341C-843E-6244-9C40-DD933A1134AC}" type="slidenum">
              <a:rPr lang="en-US" smtClean="0"/>
              <a:t>1</a:t>
            </a:fld>
            <a:endParaRPr lang="en-US"/>
          </a:p>
        </p:txBody>
      </p:sp>
    </p:spTree>
    <p:extLst>
      <p:ext uri="{BB962C8B-B14F-4D97-AF65-F5344CB8AC3E}">
        <p14:creationId xmlns:p14="http://schemas.microsoft.com/office/powerpoint/2010/main" val="6057338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descr="Background pattern&#10;&#10;Description automatically generated"/>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249881" y="2504921"/>
            <a:ext cx="7280733"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4488873" y="4591369"/>
            <a:ext cx="7041742"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7" name="Text Placeholder 16"/>
          <p:cNvSpPr>
            <a:spLocks noGrp="1"/>
          </p:cNvSpPr>
          <p:nvPr>
            <p:ph type="body" sz="quarter" idx="11" hasCustomPrompt="1"/>
          </p:nvPr>
        </p:nvSpPr>
        <p:spPr>
          <a:xfrm>
            <a:off x="4675910" y="5690085"/>
            <a:ext cx="6854708"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16209" y="6342033"/>
            <a:ext cx="1114406"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Picture 6" descr="A statue of a person riding a horse&#10;&#10;Description automatically generated with medium confidence"/>
          <p:cNvPicPr>
            <a:picLocks noChangeAspect="1"/>
          </p:cNvPicPr>
          <p:nvPr userDrawn="1"/>
        </p:nvPicPr>
        <p:blipFill rotWithShape="1">
          <a:blip r:embed="rId2"/>
          <a:srcRect l="16253"/>
          <a:stretch>
            <a:fillRect/>
          </a:stretch>
        </p:blipFill>
        <p:spPr>
          <a:xfrm>
            <a:off x="2" y="0"/>
            <a:ext cx="8636340" cy="6858000"/>
          </a:xfrm>
          <a:prstGeom prst="rect">
            <a:avLst/>
          </a:prstGeom>
        </p:spPr>
      </p:pic>
      <p:pic>
        <p:nvPicPr>
          <p:cNvPr id="6" name="Picture 5"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3"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2"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4" name="Date Placeholder 3"/>
          <p:cNvSpPr>
            <a:spLocks noGrp="1"/>
          </p:cNvSpPr>
          <p:nvPr>
            <p:ph type="dt" sz="half" idx="10"/>
          </p:nvPr>
        </p:nvSpPr>
        <p:spPr>
          <a:xfrm>
            <a:off x="10406269" y="6342033"/>
            <a:ext cx="1124345"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Date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Custom Image">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a:srcRect l="103" r="14569"/>
          <a:stretch>
            <a:fillRect/>
          </a:stretch>
        </p:blipFill>
        <p:spPr>
          <a:xfrm>
            <a:off x="-2033456" y="0"/>
            <a:ext cx="10392405" cy="6858000"/>
          </a:xfrm>
          <a:prstGeom prst="rect">
            <a:avLst/>
          </a:prstGeom>
        </p:spPr>
      </p:pic>
      <p:pic>
        <p:nvPicPr>
          <p:cNvPr id="9" name="Picture 8" descr="A picture containing shape&#10;&#10;Description automatically generated"/>
          <p:cNvPicPr>
            <a:picLocks noChangeAspect="1"/>
          </p:cNvPicPr>
          <p:nvPr userDrawn="1"/>
        </p:nvPicPr>
        <p:blipFill>
          <a:blip r:embed="rId3"/>
          <a:stretch>
            <a:fillRect/>
          </a:stretch>
        </p:blipFill>
        <p:spPr>
          <a:xfrm>
            <a:off x="298449" y="0"/>
            <a:ext cx="11893551" cy="6858000"/>
          </a:xfrm>
          <a:prstGeom prst="rect">
            <a:avLst/>
          </a:prstGeom>
        </p:spPr>
      </p:pic>
      <p:sp>
        <p:nvSpPr>
          <p:cNvPr id="10" name="Title 1"/>
          <p:cNvSpPr>
            <a:spLocks noGrp="1"/>
          </p:cNvSpPr>
          <p:nvPr>
            <p:ph type="ctrTitle" hasCustomPrompt="1"/>
          </p:nvPr>
        </p:nvSpPr>
        <p:spPr>
          <a:xfrm>
            <a:off x="6324602" y="2504921"/>
            <a:ext cx="5206015" cy="2061531"/>
          </a:xfrm>
        </p:spPr>
        <p:txBody>
          <a:bodyPr anchor="b">
            <a:normAutofit/>
          </a:bodyPr>
          <a:lstStyle>
            <a:lvl1pPr algn="r">
              <a:defRPr sz="5400" b="0" i="0">
                <a:solidFill>
                  <a:schemeClr val="bg1"/>
                </a:solidFill>
                <a:latin typeface="Saira Condensed Condensed Light" pitchFamily="2" charset="77"/>
              </a:defRPr>
            </a:lvl1pPr>
          </a:lstStyle>
          <a:p>
            <a:r>
              <a:rPr lang="en-US" dirty="0"/>
              <a:t>CLICK TO EDIT TITLE</a:t>
            </a:r>
          </a:p>
        </p:txBody>
      </p:sp>
      <p:sp>
        <p:nvSpPr>
          <p:cNvPr id="11" name="Subtitle 2"/>
          <p:cNvSpPr>
            <a:spLocks noGrp="1"/>
          </p:cNvSpPr>
          <p:nvPr>
            <p:ph type="subTitle" idx="1" hasCustomPrompt="1"/>
          </p:nvPr>
        </p:nvSpPr>
        <p:spPr>
          <a:xfrm>
            <a:off x="6616701" y="4591369"/>
            <a:ext cx="4913915" cy="934635"/>
          </a:xfrm>
        </p:spPr>
        <p:txBody>
          <a:bodyPr>
            <a:normAutofit/>
          </a:bodyPr>
          <a:lstStyle>
            <a:lvl1pPr marL="0" indent="0" algn="r">
              <a:buNone/>
              <a:defRPr sz="2000" b="0" i="0">
                <a:solidFill>
                  <a:schemeClr val="bg1"/>
                </a:solidFill>
                <a:latin typeface="IBM Plex Sans" panose="020B050305020300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3" name="Date Placeholder 3"/>
          <p:cNvSpPr>
            <a:spLocks noGrp="1"/>
          </p:cNvSpPr>
          <p:nvPr>
            <p:ph type="dt" sz="half" idx="10"/>
          </p:nvPr>
        </p:nvSpPr>
        <p:spPr>
          <a:xfrm>
            <a:off x="10446026" y="6362185"/>
            <a:ext cx="1084590" cy="246221"/>
          </a:xfrm>
          <a:prstGeom prst="rect">
            <a:avLst/>
          </a:prstGeom>
          <a:solidFill>
            <a:schemeClr val="accent1"/>
          </a:solidFill>
        </p:spPr>
        <p:txBody>
          <a:bodyPr wrap="square">
            <a:spAutoFit/>
          </a:bodyPr>
          <a:lstStyle>
            <a:lvl1pPr algn="r">
              <a:defRPr sz="1000" b="1" i="0">
                <a:solidFill>
                  <a:schemeClr val="bg1"/>
                </a:solidFill>
                <a:latin typeface="IBM Plex Sans" panose="020B0503050203000203" pitchFamily="34" charset="0"/>
              </a:defRPr>
            </a:lvl1pPr>
          </a:lstStyle>
          <a:p>
            <a:r>
              <a:rPr lang="en-US" dirty="0"/>
              <a:t> Date</a:t>
            </a:r>
          </a:p>
        </p:txBody>
      </p:sp>
      <p:sp>
        <p:nvSpPr>
          <p:cNvPr id="14" name="Text Placeholder 16"/>
          <p:cNvSpPr>
            <a:spLocks noGrp="1"/>
          </p:cNvSpPr>
          <p:nvPr>
            <p:ph type="body" sz="quarter" idx="11" hasCustomPrompt="1"/>
          </p:nvPr>
        </p:nvSpPr>
        <p:spPr>
          <a:xfrm>
            <a:off x="6794501" y="5690085"/>
            <a:ext cx="4736115" cy="422507"/>
          </a:xfrm>
        </p:spPr>
        <p:txBody>
          <a:bodyPr>
            <a:normAutofit/>
          </a:bodyPr>
          <a:lstStyle>
            <a:lvl1pPr marL="0" indent="0" algn="r">
              <a:buNone/>
              <a:defRPr sz="1800" b="1" i="0">
                <a:solidFill>
                  <a:schemeClr val="bg1"/>
                </a:solidFill>
                <a:latin typeface="IBM Plex Sans SemiBold" panose="020B0503050203000203" pitchFamily="34" charset="0"/>
              </a:defRPr>
            </a:lvl1pPr>
            <a:lvl2pPr marL="457200" indent="0" algn="r">
              <a:buNone/>
              <a:defRPr/>
            </a:lvl2pPr>
            <a:lvl3pPr marL="914400" indent="0" algn="r">
              <a:buNone/>
              <a:defRPr/>
            </a:lvl3pPr>
            <a:lvl4pPr marL="1371600" indent="0" algn="r">
              <a:buNone/>
              <a:defRPr/>
            </a:lvl4pPr>
            <a:lvl5pPr marL="1828800" indent="0" algn="r">
              <a:buNone/>
              <a:defRPr/>
            </a:lvl5pPr>
          </a:lstStyle>
          <a:p>
            <a:pPr lvl="0"/>
            <a:r>
              <a:rPr lang="en-US" dirty="0"/>
              <a:t>PRESENTER’S NAME</a:t>
            </a:r>
          </a:p>
        </p:txBody>
      </p:sp>
      <p:sp>
        <p:nvSpPr>
          <p:cNvPr id="15" name="TextBox 14"/>
          <p:cNvSpPr txBox="1"/>
          <p:nvPr userDrawn="1"/>
        </p:nvSpPr>
        <p:spPr>
          <a:xfrm>
            <a:off x="912816" y="1325690"/>
            <a:ext cx="4215776" cy="5135445"/>
          </a:xfrm>
          <a:prstGeom prst="rect">
            <a:avLst/>
          </a:prstGeom>
          <a:noFill/>
        </p:spPr>
        <p:txBody>
          <a:bodyPr wrap="square" rtlCol="0">
            <a:spAutoFit/>
          </a:bodyPr>
          <a:lstStyle/>
          <a:p>
            <a:r>
              <a:rPr lang="en-US" b="1" dirty="0">
                <a:latin typeface="IBM Plex Sans" panose="020B0503050203000203" pitchFamily="34" charset="0"/>
              </a:rPr>
              <a:t>INSTRUCTIONS TO REPLACE IMAGE:</a:t>
            </a:r>
          </a:p>
          <a:p>
            <a:endParaRPr lang="en-US" b="1" dirty="0">
              <a:latin typeface="IBM Plex Sans" panose="020B0503050203000203" pitchFamily="34" charset="0"/>
            </a:endParaRPr>
          </a:p>
          <a:p>
            <a:pPr marL="342900" indent="-342900">
              <a:lnSpc>
                <a:spcPct val="150000"/>
              </a:lnSpc>
              <a:buFont typeface="+mj-lt"/>
              <a:buAutoNum type="arabicPeriod"/>
            </a:pPr>
            <a:r>
              <a:rPr lang="en-US" sz="1400" b="0" dirty="0">
                <a:latin typeface="IBM Plex Sans" panose="020B0503050203000203" pitchFamily="34" charset="0"/>
              </a:rPr>
              <a:t>Go to View&gt;Slide Master</a:t>
            </a:r>
          </a:p>
          <a:p>
            <a:pPr marL="342900" indent="-342900">
              <a:lnSpc>
                <a:spcPct val="150000"/>
              </a:lnSpc>
              <a:buFont typeface="+mj-lt"/>
              <a:buAutoNum type="arabicPeriod"/>
            </a:pPr>
            <a:r>
              <a:rPr lang="en-US" sz="1400" b="0" dirty="0">
                <a:latin typeface="IBM Plex Sans" panose="020B0503050203000203" pitchFamily="34" charset="0"/>
              </a:rPr>
              <a:t>Locate this layout and duplicate it</a:t>
            </a:r>
          </a:p>
          <a:p>
            <a:pPr marL="342900" indent="-342900">
              <a:lnSpc>
                <a:spcPct val="150000"/>
              </a:lnSpc>
              <a:buFont typeface="+mj-lt"/>
              <a:buAutoNum type="arabicPeriod"/>
            </a:pPr>
            <a:r>
              <a:rPr lang="en-US" sz="1400" b="0" dirty="0">
                <a:latin typeface="IBM Plex Sans" panose="020B0503050203000203" pitchFamily="34" charset="0"/>
              </a:rPr>
              <a:t>Right-click the orange circle on the far-left side of this image</a:t>
            </a:r>
          </a:p>
          <a:p>
            <a:pPr marL="342900" indent="-342900">
              <a:lnSpc>
                <a:spcPct val="150000"/>
              </a:lnSpc>
              <a:buFont typeface="+mj-lt"/>
              <a:buAutoNum type="arabicPeriod"/>
            </a:pPr>
            <a:r>
              <a:rPr lang="en-US" sz="1400" b="0" dirty="0">
                <a:latin typeface="IBM Plex Sans" panose="020B0503050203000203" pitchFamily="34" charset="0"/>
              </a:rPr>
              <a:t>Scroll to “Change Picture”</a:t>
            </a:r>
          </a:p>
          <a:p>
            <a:pPr marL="342900" indent="-342900">
              <a:lnSpc>
                <a:spcPct val="150000"/>
              </a:lnSpc>
              <a:buFont typeface="+mj-lt"/>
              <a:buAutoNum type="arabicPeriod"/>
            </a:pPr>
            <a:r>
              <a:rPr lang="en-US" sz="1400" b="0" dirty="0">
                <a:latin typeface="IBM Plex Sans" panose="020B0503050203000203" pitchFamily="34" charset="0"/>
              </a:rPr>
              <a:t>Select “From File” (note that your version of PowerPoint may use different menu language)</a:t>
            </a:r>
          </a:p>
          <a:p>
            <a:pPr marL="342900" indent="-342900">
              <a:lnSpc>
                <a:spcPct val="150000"/>
              </a:lnSpc>
              <a:buFont typeface="+mj-lt"/>
              <a:buAutoNum type="arabicPeriod"/>
            </a:pPr>
            <a:r>
              <a:rPr lang="en-US" sz="1400" b="0" dirty="0">
                <a:latin typeface="IBM Plex Sans" panose="020B0503050203000203" pitchFamily="34" charset="0"/>
              </a:rPr>
              <a:t>Select desired image</a:t>
            </a:r>
          </a:p>
          <a:p>
            <a:pPr marL="342900" indent="-342900">
              <a:lnSpc>
                <a:spcPct val="150000"/>
              </a:lnSpc>
              <a:buFont typeface="+mj-lt"/>
              <a:buAutoNum type="arabicPeriod"/>
            </a:pPr>
            <a:r>
              <a:rPr lang="en-US" sz="1400" b="0" dirty="0">
                <a:latin typeface="IBM Plex Sans" panose="020B0503050203000203" pitchFamily="34" charset="0"/>
              </a:rPr>
              <a:t>Resize and crop image as necessary</a:t>
            </a:r>
          </a:p>
          <a:p>
            <a:pPr marL="342900" indent="-342900">
              <a:lnSpc>
                <a:spcPct val="150000"/>
              </a:lnSpc>
              <a:buFont typeface="+mj-lt"/>
              <a:buAutoNum type="arabicPeriod"/>
            </a:pPr>
            <a:r>
              <a:rPr lang="en-US" sz="1400" b="0" dirty="0">
                <a:latin typeface="IBM Plex Sans" panose="020B0503050203000203" pitchFamily="34" charset="0"/>
              </a:rPr>
              <a:t>Make sure image is sent to back (right click on image)</a:t>
            </a:r>
          </a:p>
          <a:p>
            <a:pPr marL="342900" indent="-342900">
              <a:lnSpc>
                <a:spcPct val="150000"/>
              </a:lnSpc>
              <a:buFont typeface="+mj-lt"/>
              <a:buAutoNum type="arabicPeriod"/>
            </a:pPr>
            <a:r>
              <a:rPr lang="en-US" sz="1400" b="0" dirty="0">
                <a:latin typeface="IBM Plex Sans" panose="020B0503050203000203" pitchFamily="34" charset="0"/>
              </a:rPr>
              <a:t>Close slide master and insert a new slide using the new, then delete this text box from your presentation slide.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 name="Picture 4" descr="A body of water with buildings along it&#10;&#10;Description automatically generated with medium confidence"/>
          <p:cNvPicPr>
            <a:picLocks noChangeAspect="1"/>
          </p:cNvPicPr>
          <p:nvPr userDrawn="1"/>
        </p:nvPicPr>
        <p:blipFill>
          <a:blip r:embed="rId2"/>
          <a:stretch>
            <a:fillRect/>
          </a:stretch>
        </p:blipFill>
        <p:spPr>
          <a:xfrm>
            <a:off x="0" y="0"/>
            <a:ext cx="12090400" cy="6858000"/>
          </a:xfrm>
          <a:prstGeom prst="rect">
            <a:avLst/>
          </a:prstGeom>
        </p:spPr>
      </p:pic>
      <p:pic>
        <p:nvPicPr>
          <p:cNvPr id="7" name="Picture 6" descr="A picture containing shape&#10;&#10;Description automatically generated"/>
          <p:cNvPicPr>
            <a:picLocks noChangeAspect="1"/>
          </p:cNvPicPr>
          <p:nvPr userDrawn="1"/>
        </p:nvPicPr>
        <p:blipFill>
          <a:blip r:embed="rId3"/>
          <a:stretch>
            <a:fillRect/>
          </a:stretch>
        </p:blipFill>
        <p:spPr>
          <a:xfrm>
            <a:off x="298451" y="0"/>
            <a:ext cx="11893551" cy="6858000"/>
          </a:xfrm>
          <a:prstGeom prst="rect">
            <a:avLst/>
          </a:prstGeom>
        </p:spPr>
      </p:pic>
      <p:sp>
        <p:nvSpPr>
          <p:cNvPr id="2" name="Title 1"/>
          <p:cNvSpPr>
            <a:spLocks noGrp="1"/>
          </p:cNvSpPr>
          <p:nvPr>
            <p:ph type="title" hasCustomPrompt="1"/>
          </p:nvPr>
        </p:nvSpPr>
        <p:spPr>
          <a:xfrm>
            <a:off x="6617373" y="974037"/>
            <a:ext cx="4913243" cy="4254363"/>
          </a:xfrm>
        </p:spPr>
        <p:txBody>
          <a:bodyPr anchor="b">
            <a:normAutofit/>
          </a:bodyPr>
          <a:lstStyle>
            <a:lvl1pPr algn="r">
              <a:defRPr sz="5400"/>
            </a:lvl1pPr>
          </a:lstStyle>
          <a:p>
            <a:r>
              <a:rPr lang="en-US" dirty="0"/>
              <a:t>CLICK TO EDIT TITLE</a:t>
            </a:r>
          </a:p>
        </p:txBody>
      </p:sp>
      <p:sp>
        <p:nvSpPr>
          <p:cNvPr id="3" name="Text Placeholder 2"/>
          <p:cNvSpPr>
            <a:spLocks noGrp="1"/>
          </p:cNvSpPr>
          <p:nvPr>
            <p:ph type="body" idx="1" hasCustomPrompt="1"/>
          </p:nvPr>
        </p:nvSpPr>
        <p:spPr>
          <a:xfrm>
            <a:off x="6858002" y="5394965"/>
            <a:ext cx="4672615" cy="931499"/>
          </a:xfrm>
        </p:spPr>
        <p:txBody>
          <a:bodyPr>
            <a:normAutofit/>
          </a:bodyPr>
          <a:lstStyle>
            <a:lvl1pPr marL="0" indent="0" algn="r">
              <a:buNone/>
              <a:defRPr sz="2000" b="0" i="0">
                <a:solidFill>
                  <a:schemeClr val="tx1"/>
                </a:solidFill>
                <a:latin typeface="IBM Plex Sans" panose="020B050305020300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idx="1" hasCustomPrompt="1"/>
          </p:nvPr>
        </p:nvSpPr>
        <p:spPr/>
        <p:txBody>
          <a:bodyPr/>
          <a:lstStyle>
            <a:lvl1pPr marL="228600" indent="-228600">
              <a:defRPr/>
            </a:lvl1pPr>
            <a:lvl2pPr marL="502920" indent="-228600">
              <a:buSzPct val="100000"/>
              <a:buFont typeface="System Font Regular"/>
              <a:buChar char="-"/>
              <a:defRPr/>
            </a:lvl2pPr>
            <a:lvl3pPr marL="777240" indent="-228600">
              <a:buSzPct val="100000"/>
              <a:buFont typeface="System Font Regular"/>
              <a:buChar char="-"/>
              <a:defRPr/>
            </a:lvl3pPr>
            <a:lvl4pPr marL="1005840" indent="-228600">
              <a:buSzPct val="100000"/>
              <a:buFont typeface="System Font Regular"/>
              <a:buChar char="-"/>
              <a:defRPr/>
            </a:lvl4pPr>
            <a:lvl5pPr marL="1280160" indent="-228600">
              <a:buSzPct val="100000"/>
              <a:buFont typeface="System Font Regular"/>
              <a:buChar char="-"/>
              <a:defRPr/>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head and Content">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4"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Make sure to use brand colors when creating tables and graphs. If graphs are placed from an outside source, please reformat to use the Stevens Theme Colors set in this template.</a:t>
            </a:r>
          </a:p>
        </p:txBody>
      </p:sp>
      <p:sp>
        <p:nvSpPr>
          <p:cNvPr id="3" name="Content Placeholder 2"/>
          <p:cNvSpPr>
            <a:spLocks noGrp="1"/>
          </p:cNvSpPr>
          <p:nvPr>
            <p:ph idx="1" hasCustomPrompt="1"/>
          </p:nvPr>
        </p:nvSpPr>
        <p:spPr>
          <a:xfrm>
            <a:off x="644771" y="2202874"/>
            <a:ext cx="10709031" cy="387927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69"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Content Placeholder 2"/>
          <p:cNvSpPr>
            <a:spLocks noGrp="1"/>
          </p:cNvSpPr>
          <p:nvPr>
            <p:ph sz="half" idx="1" hasCustomPrompt="1"/>
          </p:nvPr>
        </p:nvSpPr>
        <p:spPr>
          <a:xfrm>
            <a:off x="644773"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1825625"/>
            <a:ext cx="3296919" cy="435133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and Subhead">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1" name="Text Placeholder 3"/>
          <p:cNvSpPr>
            <a:spLocks noGrp="1"/>
          </p:cNvSpPr>
          <p:nvPr>
            <p:ph type="body" sz="quarter" idx="14"/>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endParaRPr lang="en-US" dirty="0"/>
          </a:p>
        </p:txBody>
      </p:sp>
      <p:sp>
        <p:nvSpPr>
          <p:cNvPr id="3" name="Content Placeholder 2"/>
          <p:cNvSpPr>
            <a:spLocks noGrp="1"/>
          </p:cNvSpPr>
          <p:nvPr>
            <p:ph sz="half" idx="1" hasCustomPrompt="1"/>
          </p:nvPr>
        </p:nvSpPr>
        <p:spPr>
          <a:xfrm>
            <a:off x="644773"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3"/>
          <p:cNvSpPr>
            <a:spLocks noGrp="1"/>
          </p:cNvSpPr>
          <p:nvPr>
            <p:ph sz="half" idx="13" hasCustomPrompt="1"/>
          </p:nvPr>
        </p:nvSpPr>
        <p:spPr>
          <a:xfrm>
            <a:off x="4351622"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8058471" y="2325836"/>
            <a:ext cx="3296919"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5" name="Text Placeholder 4"/>
          <p:cNvSpPr>
            <a:spLocks noGrp="1"/>
          </p:cNvSpPr>
          <p:nvPr>
            <p:ph type="body" sz="quarter" idx="13" hasCustomPrompt="1"/>
          </p:nvPr>
        </p:nvSpPr>
        <p:spPr>
          <a:xfrm>
            <a:off x="644526"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1962352"/>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119680"/>
            <a:ext cx="4954588" cy="1828165"/>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5" name="Text Placeholder 4"/>
          <p:cNvSpPr>
            <a:spLocks noGrp="1"/>
          </p:cNvSpPr>
          <p:nvPr>
            <p:ph type="body" sz="quarter" idx="13" hasCustomPrompt="1"/>
          </p:nvPr>
        </p:nvSpPr>
        <p:spPr>
          <a:xfrm>
            <a:off x="644526"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6400803" y="2233235"/>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644526"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6400803" y="4448441"/>
            <a:ext cx="4954588"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ntent">
    <p:spTree>
      <p:nvGrpSpPr>
        <p:cNvPr id="1" name=""/>
        <p:cNvGrpSpPr/>
        <p:nvPr/>
      </p:nvGrpSpPr>
      <p:grpSpPr>
        <a:xfrm>
          <a:off x="0" y="0"/>
          <a:ext cx="0" cy="0"/>
          <a:chOff x="0" y="0"/>
          <a:chExt cx="0" cy="0"/>
        </a:xfrm>
      </p:grpSpPr>
      <p:sp>
        <p:nvSpPr>
          <p:cNvPr id="14"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999" y="2210085"/>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9308"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999" y="4448439"/>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9308"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ve Content and subhead">
    <p:spTree>
      <p:nvGrpSpPr>
        <p:cNvPr id="1" name=""/>
        <p:cNvGrpSpPr/>
        <p:nvPr/>
      </p:nvGrpSpPr>
      <p:grpSpPr>
        <a:xfrm>
          <a:off x="0" y="0"/>
          <a:ext cx="0" cy="0"/>
          <a:chOff x="0" y="0"/>
          <a:chExt cx="0" cy="0"/>
        </a:xfrm>
      </p:grpSpPr>
      <p:sp>
        <p:nvSpPr>
          <p:cNvPr id="12"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13" name="Text Placeholder 3"/>
          <p:cNvSpPr>
            <a:spLocks noGrp="1"/>
          </p:cNvSpPr>
          <p:nvPr>
            <p:ph type="body" sz="quarter" idx="17"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15" name="Content Placeholder 2"/>
          <p:cNvSpPr>
            <a:spLocks noGrp="1"/>
          </p:cNvSpPr>
          <p:nvPr>
            <p:ph sz="half" idx="1" hasCustomPrompt="1"/>
          </p:nvPr>
        </p:nvSpPr>
        <p:spPr>
          <a:xfrm>
            <a:off x="644771" y="2210082"/>
            <a:ext cx="4572000" cy="3890163"/>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3" hasCustomPrompt="1"/>
          </p:nvPr>
        </p:nvSpPr>
        <p:spPr>
          <a:xfrm>
            <a:off x="5359205"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9" name="Text Placeholder 4"/>
          <p:cNvSpPr>
            <a:spLocks noGrp="1"/>
          </p:cNvSpPr>
          <p:nvPr>
            <p:ph type="body" sz="quarter" idx="14" hasCustomPrompt="1"/>
          </p:nvPr>
        </p:nvSpPr>
        <p:spPr>
          <a:xfrm>
            <a:off x="8427720" y="2210086"/>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0" name="Text Placeholder 4"/>
          <p:cNvSpPr>
            <a:spLocks noGrp="1"/>
          </p:cNvSpPr>
          <p:nvPr>
            <p:ph type="body" sz="quarter" idx="15" hasCustomPrompt="1"/>
          </p:nvPr>
        </p:nvSpPr>
        <p:spPr>
          <a:xfrm>
            <a:off x="5359205"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11" name="Text Placeholder 4"/>
          <p:cNvSpPr>
            <a:spLocks noGrp="1"/>
          </p:cNvSpPr>
          <p:nvPr>
            <p:ph type="body" sz="quarter" idx="16" hasCustomPrompt="1"/>
          </p:nvPr>
        </p:nvSpPr>
        <p:spPr>
          <a:xfrm>
            <a:off x="8427720" y="4448441"/>
            <a:ext cx="2926080" cy="1651807"/>
          </a:xfrm>
        </p:spPr>
        <p:txBody>
          <a:bodyPr>
            <a:noAutofit/>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text</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Subhead">
    <p:spTree>
      <p:nvGrpSpPr>
        <p:cNvPr id="1" name=""/>
        <p:cNvGrpSpPr/>
        <p:nvPr/>
      </p:nvGrpSpPr>
      <p:grpSpPr>
        <a:xfrm>
          <a:off x="0" y="0"/>
          <a:ext cx="0" cy="0"/>
          <a:chOff x="0" y="0"/>
          <a:chExt cx="0" cy="0"/>
        </a:xfrm>
      </p:grpSpPr>
      <p:sp>
        <p:nvSpPr>
          <p:cNvPr id="6" name="Title 1"/>
          <p:cNvSpPr>
            <a:spLocks noGrp="1"/>
          </p:cNvSpPr>
          <p:nvPr>
            <p:ph type="title" hasCustomPrompt="1"/>
          </p:nvPr>
        </p:nvSpPr>
        <p:spPr>
          <a:xfrm>
            <a:off x="646359" y="365127"/>
            <a:ext cx="10709031" cy="734621"/>
          </a:xfrm>
        </p:spPr>
        <p:txBody>
          <a:bodyPr/>
          <a:lstStyle/>
          <a:p>
            <a:r>
              <a:rPr lang="en-US" dirty="0"/>
              <a:t>CLICK TO EDIT TITLE</a:t>
            </a:r>
          </a:p>
        </p:txBody>
      </p:sp>
      <p:sp>
        <p:nvSpPr>
          <p:cNvPr id="9" name="Text Placeholder 3"/>
          <p:cNvSpPr>
            <a:spLocks noGrp="1"/>
          </p:cNvSpPr>
          <p:nvPr>
            <p:ph type="body" sz="quarter" idx="13" hasCustomPrompt="1"/>
          </p:nvPr>
        </p:nvSpPr>
        <p:spPr>
          <a:xfrm>
            <a:off x="644771" y="1345482"/>
            <a:ext cx="10709031" cy="734620"/>
          </a:xfrm>
        </p:spPr>
        <p:txBody>
          <a:bodyPr>
            <a:normAutofit/>
          </a:bodyPr>
          <a:lstStyle>
            <a:lvl1pPr marL="0" indent="0">
              <a:buNone/>
              <a:defRPr sz="2000" b="0" i="0">
                <a:solidFill>
                  <a:schemeClr val="accent1"/>
                </a:solidFill>
                <a:latin typeface="IBM Plex Sans Light" panose="020B0403050203000203" pitchFamily="34" charset="0"/>
              </a:defRPr>
            </a:lvl1pPr>
            <a:lvl2pPr marL="457200" indent="0">
              <a:buNone/>
              <a:defRPr b="0" i="0">
                <a:solidFill>
                  <a:schemeClr val="accent1"/>
                </a:solidFill>
                <a:latin typeface="IBM Plex Sans Light" panose="020B0403050203000203" pitchFamily="34" charset="0"/>
              </a:defRPr>
            </a:lvl2pPr>
            <a:lvl3pPr marL="914400" indent="0">
              <a:buNone/>
              <a:defRPr b="0" i="0">
                <a:solidFill>
                  <a:schemeClr val="accent1"/>
                </a:solidFill>
                <a:latin typeface="IBM Plex Sans Light" panose="020B0403050203000203" pitchFamily="34" charset="0"/>
              </a:defRPr>
            </a:lvl3pPr>
            <a:lvl4pPr marL="1371600" indent="0">
              <a:buNone/>
              <a:defRPr b="0" i="0">
                <a:solidFill>
                  <a:schemeClr val="accent1"/>
                </a:solidFill>
                <a:latin typeface="IBM Plex Sans Light" panose="020B0403050203000203" pitchFamily="34" charset="0"/>
              </a:defRPr>
            </a:lvl4pPr>
            <a:lvl5pPr marL="1828800" indent="0">
              <a:buNone/>
              <a:defRPr b="0" i="0">
                <a:solidFill>
                  <a:schemeClr val="accent1"/>
                </a:solidFill>
                <a:latin typeface="IBM Plex Sans Light" panose="020B0403050203000203" pitchFamily="34" charset="0"/>
              </a:defRPr>
            </a:lvl5pPr>
          </a:lstStyle>
          <a:p>
            <a:pPr lvl="0"/>
            <a:r>
              <a:rPr lang="en-US" dirty="0"/>
              <a:t>Click to edit subhead</a:t>
            </a:r>
          </a:p>
        </p:txBody>
      </p:sp>
      <p:sp>
        <p:nvSpPr>
          <p:cNvPr id="3" name="Content Placeholder 2"/>
          <p:cNvSpPr>
            <a:spLocks noGrp="1"/>
          </p:cNvSpPr>
          <p:nvPr>
            <p:ph sz="half" idx="1" hasCustomPrompt="1"/>
          </p:nvPr>
        </p:nvSpPr>
        <p:spPr>
          <a:xfrm>
            <a:off x="644769"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2325836"/>
            <a:ext cx="5181600" cy="3851129"/>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69" y="365125"/>
            <a:ext cx="10710619" cy="1325563"/>
          </a:xfrm>
        </p:spPr>
        <p:txBody>
          <a:bodyPr/>
          <a:lstStyle/>
          <a:p>
            <a:r>
              <a:rPr lang="en-US" dirty="0"/>
              <a:t>CLICK TO EDIT TITLE</a:t>
            </a:r>
          </a:p>
        </p:txBody>
      </p:sp>
      <p:sp>
        <p:nvSpPr>
          <p:cNvPr id="3" name="Text Placeholder 2"/>
          <p:cNvSpPr>
            <a:spLocks noGrp="1"/>
          </p:cNvSpPr>
          <p:nvPr>
            <p:ph type="body" idx="1" hasCustomPrompt="1"/>
          </p:nvPr>
        </p:nvSpPr>
        <p:spPr>
          <a:xfrm>
            <a:off x="644772"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4" name="Content Placeholder 3"/>
          <p:cNvSpPr>
            <a:spLocks noGrp="1"/>
          </p:cNvSpPr>
          <p:nvPr>
            <p:ph sz="half" idx="2" hasCustomPrompt="1"/>
          </p:nvPr>
        </p:nvSpPr>
        <p:spPr>
          <a:xfrm>
            <a:off x="644772" y="2505075"/>
            <a:ext cx="5157787"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p>
        </p:txBody>
      </p:sp>
      <p:sp>
        <p:nvSpPr>
          <p:cNvPr id="6" name="Content Placeholder 5"/>
          <p:cNvSpPr>
            <a:spLocks noGrp="1"/>
          </p:cNvSpPr>
          <p:nvPr>
            <p:ph sz="quarter" idx="4" hasCustomPrompt="1"/>
          </p:nvPr>
        </p:nvSpPr>
        <p:spPr>
          <a:xfrm>
            <a:off x="6172202" y="2505075"/>
            <a:ext cx="5183188" cy="3684588"/>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5" name="Slide Number Placeholder 4"/>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Rectangle 1"/>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
        <p:nvSpPr>
          <p:cNvPr id="3" name="Content Placeholder 2"/>
          <p:cNvSpPr>
            <a:spLocks noGrp="1"/>
          </p:cNvSpPr>
          <p:nvPr>
            <p:ph idx="1" hasCustomPrompt="1"/>
          </p:nvPr>
        </p:nvSpPr>
        <p:spPr>
          <a:xfrm>
            <a:off x="5183188" y="987428"/>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44773" y="457200"/>
            <a:ext cx="4127255" cy="1600200"/>
          </a:xfrm>
        </p:spPr>
        <p:txBody>
          <a:bodyPr anchor="b"/>
          <a:lstStyle>
            <a:lvl1pPr>
              <a:defRPr sz="3200"/>
            </a:lvl1pPr>
          </a:lstStyle>
          <a:p>
            <a:r>
              <a:rPr lang="en-US" dirty="0"/>
              <a:t>Click to edit title</a:t>
            </a:r>
          </a:p>
        </p:txBody>
      </p:sp>
      <p:sp>
        <p:nvSpPr>
          <p:cNvPr id="4" name="Text Placeholder 3"/>
          <p:cNvSpPr>
            <a:spLocks noGrp="1"/>
          </p:cNvSpPr>
          <p:nvPr>
            <p:ph type="body" sz="half" idx="2" hasCustomPrompt="1"/>
          </p:nvPr>
        </p:nvSpPr>
        <p:spPr>
          <a:xfrm>
            <a:off x="644773" y="2057402"/>
            <a:ext cx="412725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text</a:t>
            </a:r>
          </a:p>
        </p:txBody>
      </p:sp>
      <p:sp>
        <p:nvSpPr>
          <p:cNvPr id="3" name="Picture Placeholder 2"/>
          <p:cNvSpPr>
            <a:spLocks noGrp="1"/>
          </p:cNvSpPr>
          <p:nvPr>
            <p:ph type="pic" idx="1"/>
          </p:nvPr>
        </p:nvSpPr>
        <p:spPr>
          <a:xfrm>
            <a:off x="5183188" y="987428"/>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7" name="Slide Number Placeholder 6"/>
          <p:cNvSpPr>
            <a:spLocks noGrp="1"/>
          </p:cNvSpPr>
          <p:nvPr>
            <p:ph type="sldNum" sz="quarter" idx="12"/>
          </p:nvPr>
        </p:nvSpPr>
        <p:spPr/>
        <p:txBody>
          <a:bodyPr/>
          <a:lstStyle/>
          <a:p>
            <a:fld id="{4267CD5E-26CF-4249-8540-BB1D07FD4227}"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title</a:t>
            </a:r>
          </a:p>
        </p:txBody>
      </p:sp>
      <p:sp>
        <p:nvSpPr>
          <p:cNvPr id="3" name="Vertical Text Placeholder 2"/>
          <p:cNvSpPr>
            <a:spLocks noGrp="1"/>
          </p:cNvSpPr>
          <p:nvPr>
            <p:ph type="body" orient="vert" idx="1" hasCustomPrompt="1"/>
          </p:nvPr>
        </p:nvSpPr>
        <p:spPr/>
        <p:txBody>
          <a:bodyPr vert="eaVert"/>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2" y="365127"/>
            <a:ext cx="2628900" cy="581183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4769" y="365127"/>
            <a:ext cx="7927731"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pic>
        <p:nvPicPr>
          <p:cNvPr id="6" name="Picture 5" descr="A picture containing person, crowd, event, several&#10;&#10;Description automatically generated"/>
          <p:cNvPicPr>
            <a:picLocks noChangeAspect="1"/>
          </p:cNvPicPr>
          <p:nvPr userDrawn="1"/>
        </p:nvPicPr>
        <p:blipFill rotWithShape="1">
          <a:blip r:embed="rId2"/>
          <a:srcRect l="28985"/>
          <a:stretch>
            <a:fillRect/>
          </a:stretch>
        </p:blipFill>
        <p:spPr>
          <a:xfrm>
            <a:off x="2" y="0"/>
            <a:ext cx="7305260" cy="6858000"/>
          </a:xfrm>
          <a:prstGeom prst="rect">
            <a:avLst/>
          </a:prstGeom>
        </p:spPr>
      </p:pic>
      <p:pic>
        <p:nvPicPr>
          <p:cNvPr id="3" name="Picture 2" descr="A picture containing shape&#10;&#10;Description automatically generated"/>
          <p:cNvPicPr>
            <a:picLocks noChangeAspect="1"/>
          </p:cNvPicPr>
          <p:nvPr userDrawn="1"/>
        </p:nvPicPr>
        <p:blipFill>
          <a:blip r:embed="rId3"/>
          <a:stretch>
            <a:fillRect/>
          </a:stretch>
        </p:blipFill>
        <p:spPr>
          <a:xfrm>
            <a:off x="0" y="0"/>
            <a:ext cx="12192000" cy="6858000"/>
          </a:xfrm>
          <a:prstGeom prst="rect">
            <a:avLst/>
          </a:prstGeom>
        </p:spPr>
      </p:pic>
      <p:sp>
        <p:nvSpPr>
          <p:cNvPr id="5" name="TextBox 4"/>
          <p:cNvSpPr txBox="1"/>
          <p:nvPr userDrawn="1"/>
        </p:nvSpPr>
        <p:spPr>
          <a:xfrm>
            <a:off x="7284722" y="3144277"/>
            <a:ext cx="4245895" cy="923330"/>
          </a:xfrm>
          <a:prstGeom prst="rect">
            <a:avLst/>
          </a:prstGeom>
          <a:noFill/>
        </p:spPr>
        <p:txBody>
          <a:bodyPr wrap="square" rtlCol="0">
            <a:spAutoFit/>
          </a:bodyPr>
          <a:lstStyle/>
          <a:p>
            <a:pPr algn="r"/>
            <a:r>
              <a:rPr lang="en-US" sz="5400" b="0" i="0" dirty="0">
                <a:solidFill>
                  <a:schemeClr val="bg1"/>
                </a:solidFill>
                <a:latin typeface="Saira Condensed Condensed Light" pitchFamily="2" charset="77"/>
              </a:rPr>
              <a:t>THANK </a:t>
            </a:r>
            <a:r>
              <a:rPr lang="en-US" sz="5400" b="1" i="0" dirty="0">
                <a:solidFill>
                  <a:schemeClr val="bg1"/>
                </a:solidFill>
                <a:latin typeface="Saira Condensed Condensed Light" pitchFamily="2" charset="77"/>
              </a:rPr>
              <a:t>YOU</a:t>
            </a:r>
          </a:p>
        </p:txBody>
      </p:sp>
      <p:sp>
        <p:nvSpPr>
          <p:cNvPr id="9" name="TextBox 8"/>
          <p:cNvSpPr txBox="1"/>
          <p:nvPr userDrawn="1"/>
        </p:nvSpPr>
        <p:spPr>
          <a:xfrm>
            <a:off x="6096002" y="5170418"/>
            <a:ext cx="5434615" cy="584775"/>
          </a:xfrm>
          <a:prstGeom prst="rect">
            <a:avLst/>
          </a:prstGeom>
          <a:noFill/>
        </p:spPr>
        <p:txBody>
          <a:bodyPr wrap="square" rtlCol="0">
            <a:spAutoFit/>
          </a:bodyPr>
          <a:lstStyle/>
          <a:p>
            <a:pPr algn="r"/>
            <a:r>
              <a:rPr lang="en-US" sz="1600" b="1" kern="1200" dirty="0">
                <a:solidFill>
                  <a:schemeClr val="bg1"/>
                </a:solidFill>
                <a:effectLst/>
                <a:latin typeface="IBM Plex Sans" panose="020B0503050203000203" pitchFamily="34" charset="0"/>
                <a:ea typeface="+mn-ea"/>
                <a:cs typeface="+mn-cs"/>
              </a:rPr>
              <a:t>Stevens Institute of Technology</a:t>
            </a:r>
            <a:br>
              <a:rPr lang="en-US" sz="1600" b="1" kern="1200" dirty="0">
                <a:solidFill>
                  <a:schemeClr val="bg1"/>
                </a:solidFill>
                <a:effectLst/>
                <a:latin typeface="IBM Plex Sans" panose="020B0503050203000203" pitchFamily="34" charset="0"/>
                <a:ea typeface="+mn-ea"/>
                <a:cs typeface="+mn-cs"/>
              </a:rPr>
            </a:br>
            <a:r>
              <a:rPr lang="en-US" sz="1600" kern="1200" dirty="0">
                <a:solidFill>
                  <a:schemeClr val="bg1"/>
                </a:solidFill>
                <a:effectLst/>
                <a:latin typeface="IBM Plex Sans" panose="020B0503050203000203" pitchFamily="34" charset="0"/>
                <a:ea typeface="+mn-ea"/>
                <a:cs typeface="+mn-cs"/>
              </a:rPr>
              <a:t>1 Castle Point Terrace, Hoboken, NJ 07030</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5"/>
          <a:stretch>
            <a:fillRect/>
          </a:stretch>
        </p:blipFill>
        <p:spPr>
          <a:xfrm>
            <a:off x="0" y="0"/>
            <a:ext cx="12192000" cy="6858000"/>
          </a:xfrm>
          <a:prstGeom prst="rect">
            <a:avLst/>
          </a:prstGeom>
        </p:spPr>
      </p:pic>
      <p:sp>
        <p:nvSpPr>
          <p:cNvPr id="2" name="Title Placeholder 1"/>
          <p:cNvSpPr>
            <a:spLocks noGrp="1"/>
          </p:cNvSpPr>
          <p:nvPr>
            <p:ph type="title"/>
          </p:nvPr>
        </p:nvSpPr>
        <p:spPr>
          <a:xfrm>
            <a:off x="644771" y="365125"/>
            <a:ext cx="10709031" cy="1325563"/>
          </a:xfrm>
          <a:prstGeom prst="rect">
            <a:avLst/>
          </a:prstGeom>
        </p:spPr>
        <p:txBody>
          <a:bodyPr vert="horz" lIns="91440" tIns="45720" rIns="91440" bIns="45720" rtlCol="0" anchor="t">
            <a:normAutofit/>
          </a:bodyPr>
          <a:lstStyle/>
          <a:p>
            <a:r>
              <a:rPr lang="en-US" dirty="0"/>
              <a:t>CLICK TO EDIT TITLE</a:t>
            </a:r>
          </a:p>
        </p:txBody>
      </p:sp>
      <p:sp>
        <p:nvSpPr>
          <p:cNvPr id="3" name="Text Placeholder 2"/>
          <p:cNvSpPr>
            <a:spLocks noGrp="1"/>
          </p:cNvSpPr>
          <p:nvPr>
            <p:ph type="body" idx="1"/>
          </p:nvPr>
        </p:nvSpPr>
        <p:spPr>
          <a:xfrm>
            <a:off x="644771" y="1825625"/>
            <a:ext cx="10709031" cy="4235176"/>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4"/>
          </p:nvPr>
        </p:nvSpPr>
        <p:spPr>
          <a:xfrm>
            <a:off x="9375913" y="6276840"/>
            <a:ext cx="2743200" cy="365125"/>
          </a:xfrm>
          <a:prstGeom prst="rect">
            <a:avLst/>
          </a:prstGeom>
        </p:spPr>
        <p:txBody>
          <a:bodyPr vert="horz" lIns="91440" tIns="45720" rIns="91440" bIns="45720" rtlCol="0" anchor="ctr"/>
          <a:lstStyle>
            <a:lvl1pPr algn="r">
              <a:defRPr sz="1200" b="1" i="0">
                <a:solidFill>
                  <a:schemeClr val="accent1"/>
                </a:solidFill>
                <a:latin typeface="IBM Plex Sans" panose="020B0503050203000203" pitchFamily="34" charset="0"/>
              </a:defRPr>
            </a:lvl1pPr>
          </a:lstStyle>
          <a:p>
            <a:fld id="{4267CD5E-26CF-4249-8540-BB1D07FD4227}"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p:txStyles>
    <p:titleStyle>
      <a:lvl1pPr algn="l" defTabSz="913765" rtl="0" eaLnBrk="1" latinLnBrk="0" hangingPunct="1">
        <a:lnSpc>
          <a:spcPct val="90000"/>
        </a:lnSpc>
        <a:spcBef>
          <a:spcPct val="0"/>
        </a:spcBef>
        <a:buNone/>
        <a:defRPr sz="4000" b="1" i="0" kern="1200">
          <a:solidFill>
            <a:schemeClr val="tx1"/>
          </a:solidFill>
          <a:latin typeface="Saira Condensed Condensed SemiBold" pitchFamily="2" charset="77"/>
          <a:ea typeface="+mj-ea"/>
          <a:cs typeface="+mj-cs"/>
        </a:defRPr>
      </a:lvl1pPr>
    </p:titleStyle>
    <p:bodyStyle>
      <a:lvl1pPr marL="228600" indent="-228600" algn="l" defTabSz="913765" rtl="0" eaLnBrk="1" latinLnBrk="0" hangingPunct="1">
        <a:lnSpc>
          <a:spcPct val="90000"/>
        </a:lnSpc>
        <a:spcBef>
          <a:spcPts val="1000"/>
        </a:spcBef>
        <a:buClr>
          <a:schemeClr val="accent4"/>
        </a:buClr>
        <a:buFont typeface="Wingdings" panose="05000000000000000000" pitchFamily="2" charset="2"/>
        <a:buChar char="§"/>
        <a:defRPr sz="1800" b="0" i="0" kern="1200">
          <a:solidFill>
            <a:schemeClr val="tx1"/>
          </a:solidFill>
          <a:latin typeface="IBM Plex Sans" panose="020B0503050203000203" pitchFamily="34" charset="0"/>
          <a:ea typeface="+mn-ea"/>
          <a:cs typeface="+mn-cs"/>
        </a:defRPr>
      </a:lvl1pPr>
      <a:lvl2pPr marL="502920" indent="-228600" algn="l" defTabSz="913765" rtl="0" eaLnBrk="1" latinLnBrk="0" hangingPunct="1">
        <a:lnSpc>
          <a:spcPct val="90000"/>
        </a:lnSpc>
        <a:spcBef>
          <a:spcPts val="500"/>
        </a:spcBef>
        <a:buClr>
          <a:schemeClr val="accent4"/>
        </a:buClr>
        <a:buFont typeface="System Font Regular"/>
        <a:buChar char="-"/>
        <a:defRPr sz="1800" b="0" i="0" kern="1200">
          <a:solidFill>
            <a:schemeClr val="tx1"/>
          </a:solidFill>
          <a:latin typeface="IBM Plex Sans" panose="020B0503050203000203" pitchFamily="34" charset="0"/>
          <a:ea typeface="+mn-ea"/>
          <a:cs typeface="+mn-cs"/>
        </a:defRPr>
      </a:lvl2pPr>
      <a:lvl3pPr marL="7772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3pPr>
      <a:lvl4pPr marL="1005840" indent="-228600" algn="l" defTabSz="913765" rtl="0" eaLnBrk="1" latinLnBrk="0" hangingPunct="1">
        <a:lnSpc>
          <a:spcPct val="90000"/>
        </a:lnSpc>
        <a:spcBef>
          <a:spcPts val="500"/>
        </a:spcBef>
        <a:buClr>
          <a:schemeClr val="accent4"/>
        </a:buClr>
        <a:buFont typeface="System Font Regular"/>
        <a:buChar char="-"/>
        <a:defRPr sz="1600" b="0" i="0" kern="1200">
          <a:solidFill>
            <a:schemeClr val="tx1"/>
          </a:solidFill>
          <a:latin typeface="IBM Plex Sans" panose="020B0503050203000203" pitchFamily="34" charset="0"/>
          <a:ea typeface="+mn-ea"/>
          <a:cs typeface="+mn-cs"/>
        </a:defRPr>
      </a:lvl4pPr>
      <a:lvl5pPr marL="1280160" indent="-228600" algn="l" defTabSz="913765" rtl="0" eaLnBrk="1" latinLnBrk="0" hangingPunct="1">
        <a:lnSpc>
          <a:spcPct val="90000"/>
        </a:lnSpc>
        <a:spcBef>
          <a:spcPts val="500"/>
        </a:spcBef>
        <a:buClr>
          <a:schemeClr val="accent4"/>
        </a:buClr>
        <a:buFont typeface="System Font Regular"/>
        <a:buChar char="-"/>
        <a:defRPr sz="1400" b="0" i="0" kern="1200">
          <a:solidFill>
            <a:schemeClr val="tx1"/>
          </a:solidFill>
          <a:latin typeface="IBM Plex Sans" panose="020B0503050203000203" pitchFamily="34" charset="0"/>
          <a:ea typeface="+mn-ea"/>
          <a:cs typeface="+mn-cs"/>
        </a:defRPr>
      </a:lvl5pPr>
      <a:lvl6pPr marL="25146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9059" y="1111974"/>
            <a:ext cx="8726170" cy="2061210"/>
          </a:xfrm>
        </p:spPr>
        <p:txBody>
          <a:bodyPr>
            <a:normAutofit/>
          </a:bodyPr>
          <a:lstStyle/>
          <a:p>
            <a:pPr algn="l"/>
            <a:r>
              <a:rPr lang="en-US" sz="4400" b="1" dirty="0">
                <a:latin typeface="Arial" panose="020B0604020202090204"/>
                <a:sym typeface="+mn-ea"/>
              </a:rPr>
              <a:t>SSW-555: Agile Methods for Software Development</a:t>
            </a:r>
            <a:endParaRPr lang="en-US" sz="4400" dirty="0"/>
          </a:p>
        </p:txBody>
      </p:sp>
      <p:sp>
        <p:nvSpPr>
          <p:cNvPr id="3" name="Subtitle 2"/>
          <p:cNvSpPr>
            <a:spLocks noGrp="1"/>
          </p:cNvSpPr>
          <p:nvPr>
            <p:ph type="subTitle" idx="1"/>
          </p:nvPr>
        </p:nvSpPr>
        <p:spPr>
          <a:xfrm>
            <a:off x="779349" y="3564436"/>
            <a:ext cx="7041742" cy="934635"/>
          </a:xfrm>
        </p:spPr>
        <p:txBody>
          <a:bodyPr>
            <a:normAutofit/>
          </a:bodyPr>
          <a:lstStyle/>
          <a:p>
            <a:pPr algn="l"/>
            <a:r>
              <a:rPr lang="en-US" sz="3200" b="1" dirty="0">
                <a:latin typeface="Arial Bold" panose="020B0604020202090204" charset="0"/>
                <a:cs typeface="Arial Bold" panose="020B0604020202090204" charset="0"/>
                <a:sym typeface="+mn-ea"/>
              </a:rPr>
              <a:t>DevOps</a:t>
            </a:r>
            <a:endParaRPr lang="en-US" sz="3200" b="1" dirty="0">
              <a:latin typeface="Arial Bold" panose="020B0604020202090204" charset="0"/>
              <a:cs typeface="Arial Bold" panose="020B0604020202090204" charset="0"/>
            </a:endParaRPr>
          </a:p>
        </p:txBody>
      </p:sp>
      <p:sp>
        <p:nvSpPr>
          <p:cNvPr id="5" name="Text Placeholder 4"/>
          <p:cNvSpPr>
            <a:spLocks noGrp="1"/>
          </p:cNvSpPr>
          <p:nvPr>
            <p:ph type="body" sz="quarter" idx="11"/>
          </p:nvPr>
        </p:nvSpPr>
        <p:spPr>
          <a:xfrm>
            <a:off x="873125" y="4726864"/>
            <a:ext cx="6854190" cy="903605"/>
          </a:xfrm>
        </p:spPr>
        <p:txBody>
          <a:bodyPr>
            <a:noAutofit/>
          </a:bodyPr>
          <a:lstStyle/>
          <a:p>
            <a:pPr algn="l"/>
            <a:r>
              <a:rPr lang="en-US" dirty="0">
                <a:latin typeface="Calibri"/>
                <a:sym typeface="+mn-ea"/>
              </a:rPr>
              <a:t>Instructor: Dr. Nafiseh Ghorbani </a:t>
            </a:r>
          </a:p>
          <a:p>
            <a:pPr algn="l"/>
            <a:r>
              <a:rPr lang="en-US" dirty="0">
                <a:latin typeface="Calibri"/>
                <a:sym typeface="+mn-ea"/>
              </a:rPr>
              <a:t>Department of Systems and Enterprises </a:t>
            </a:r>
          </a:p>
          <a:p>
            <a:pPr algn="l"/>
            <a:r>
              <a:rPr lang="en-US" dirty="0">
                <a:latin typeface="Calibri"/>
                <a:sym typeface="+mn-ea"/>
              </a:rPr>
              <a:t>Stevens Institute of Technology</a:t>
            </a:r>
            <a:endParaRPr lang="en-US" dirty="0">
              <a:latin typeface="Calibri"/>
            </a:endParaRPr>
          </a:p>
          <a:p>
            <a:pPr algn="l"/>
            <a:endParaRPr lang="en-US" dirty="0">
              <a:latin typeface="Calibri"/>
            </a:endParaRPr>
          </a:p>
        </p:txBody>
      </p:sp>
      <p:sp>
        <p:nvSpPr>
          <p:cNvPr id="4" name="Date Placeholder 3"/>
          <p:cNvSpPr>
            <a:spLocks noGrp="1"/>
          </p:cNvSpPr>
          <p:nvPr>
            <p:ph type="dt" sz="half" idx="10"/>
          </p:nvPr>
        </p:nvSpPr>
        <p:spPr>
          <a:xfrm>
            <a:off x="7727315" y="6489096"/>
            <a:ext cx="4318746" cy="369332"/>
          </a:xfrm>
        </p:spPr>
        <p:txBody>
          <a:bodyPr/>
          <a:lstStyle/>
          <a:p>
            <a:r>
              <a:rPr lang="en-US" sz="900" b="0" dirty="0"/>
              <a:t>This Lecture is based on material from Prof. Jim Rowland and Prof. Richard Ens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44769" y="365125"/>
            <a:ext cx="10710619" cy="1325563"/>
          </a:xfrm>
        </p:spPr>
        <p:txBody>
          <a:bodyPr anchor="t">
            <a:normAutofit/>
          </a:bodyPr>
          <a:lstStyle/>
          <a:p>
            <a:r>
              <a:rPr lang="en-US" dirty="0"/>
              <a:t>Acknowledgements</a:t>
            </a:r>
          </a:p>
        </p:txBody>
      </p:sp>
      <p:sp>
        <p:nvSpPr>
          <p:cNvPr id="2" name="Content Placeholder 1"/>
          <p:cNvSpPr>
            <a:spLocks noGrp="1"/>
          </p:cNvSpPr>
          <p:nvPr>
            <p:ph sz="half" idx="1"/>
          </p:nvPr>
        </p:nvSpPr>
        <p:spPr>
          <a:xfrm>
            <a:off x="644768" y="1825625"/>
            <a:ext cx="5564007" cy="4351339"/>
          </a:xfrm>
        </p:spPr>
        <p:txBody>
          <a:bodyPr>
            <a:normAutofit/>
          </a:bodyPr>
          <a:lstStyle/>
          <a:p>
            <a:pPr indent="419100"/>
            <a:endParaRPr lang="en-US" sz="2000" dirty="0"/>
          </a:p>
          <a:p>
            <a:pPr indent="0">
              <a:buNone/>
            </a:pPr>
            <a:r>
              <a:rPr lang="en-US" sz="2400" dirty="0">
                <a:latin typeface="Arial" panose="020B0604020202020204" pitchFamily="34" charset="0"/>
                <a:cs typeface="Arial" panose="020B0604020202020204" pitchFamily="34" charset="0"/>
              </a:rPr>
              <a:t>Some of the material in these slides is from a talk by </a:t>
            </a:r>
            <a:r>
              <a:rPr lang="en-US" sz="2400" b="1" dirty="0">
                <a:latin typeface="Arial" panose="020B0604020202020204" pitchFamily="34" charset="0"/>
                <a:cs typeface="Arial" panose="020B0604020202020204" pitchFamily="34" charset="0"/>
              </a:rPr>
              <a:t>David Myers</a:t>
            </a:r>
          </a:p>
        </p:txBody>
      </p:sp>
      <p:pic>
        <p:nvPicPr>
          <p:cNvPr id="6" name="Picture 5">
            <a:extLst>
              <a:ext uri="{FF2B5EF4-FFF2-40B4-BE49-F238E27FC236}">
                <a16:creationId xmlns:a16="http://schemas.microsoft.com/office/drawing/2014/main" id="{B7419E33-1EF3-7CB9-FAA3-84627179FC40}"/>
              </a:ext>
            </a:extLst>
          </p:cNvPr>
          <p:cNvPicPr>
            <a:picLocks noChangeAspect="1"/>
          </p:cNvPicPr>
          <p:nvPr/>
        </p:nvPicPr>
        <p:blipFill>
          <a:blip r:embed="rId2"/>
          <a:stretch>
            <a:fillRect/>
          </a:stretch>
        </p:blipFill>
        <p:spPr>
          <a:xfrm>
            <a:off x="6975240" y="1825625"/>
            <a:ext cx="3575519" cy="4351339"/>
          </a:xfrm>
          <a:prstGeom prst="rect">
            <a:avLst/>
          </a:prstGeom>
          <a:noFill/>
        </p:spPr>
      </p:pic>
      <p:sp>
        <p:nvSpPr>
          <p:cNvPr id="3" name="Slide Number Placeholder 2"/>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44769" y="365125"/>
            <a:ext cx="10710619" cy="1325563"/>
          </a:xfrm>
        </p:spPr>
        <p:txBody>
          <a:bodyPr anchor="t">
            <a:normAutofit/>
          </a:bodyPr>
          <a:lstStyle/>
          <a:p>
            <a:r>
              <a:rPr lang="en-US"/>
              <a:t>Today's topics</a:t>
            </a:r>
          </a:p>
        </p:txBody>
      </p:sp>
      <p:sp>
        <p:nvSpPr>
          <p:cNvPr id="2" name="Content Placeholder 1"/>
          <p:cNvSpPr>
            <a:spLocks noGrp="1"/>
          </p:cNvSpPr>
          <p:nvPr>
            <p:ph sz="half" idx="1"/>
          </p:nvPr>
        </p:nvSpPr>
        <p:spPr>
          <a:xfrm>
            <a:off x="644769" y="1825625"/>
            <a:ext cx="5632206" cy="4351339"/>
          </a:xfrm>
        </p:spPr>
        <p:txBody>
          <a:bodyPr>
            <a:normAutofit/>
          </a:bodyPr>
          <a:lstStyle/>
          <a:p>
            <a:r>
              <a:rPr lang="en-US" sz="2400" dirty="0">
                <a:latin typeface="Arial" panose="020B0604020202020204" pitchFamily="34" charset="0"/>
                <a:cs typeface="Arial" panose="020B0604020202020204" pitchFamily="34" charset="0"/>
              </a:rPr>
              <a:t>What is DevOps?</a:t>
            </a:r>
          </a:p>
          <a:p>
            <a:pPr lvl="1"/>
            <a:r>
              <a:rPr lang="en-US" sz="2000" dirty="0">
                <a:latin typeface="Arial" panose="020B0604020202020204" pitchFamily="34" charset="0"/>
                <a:cs typeface="Arial" panose="020B0604020202020204" pitchFamily="34" charset="0"/>
              </a:rPr>
              <a:t>What problem are we trying to solve?</a:t>
            </a:r>
          </a:p>
          <a:p>
            <a:pPr lvl="1"/>
            <a:r>
              <a:rPr lang="en-US" sz="2000" dirty="0">
                <a:latin typeface="Arial" panose="020B0604020202020204" pitchFamily="34" charset="0"/>
                <a:cs typeface="Arial" panose="020B0604020202020204" pitchFamily="34" charset="0"/>
              </a:rPr>
              <a:t>Evolution from Waterfall to Agile to DevOps</a:t>
            </a:r>
          </a:p>
          <a:p>
            <a:r>
              <a:rPr lang="en-US" sz="2400" dirty="0">
                <a:latin typeface="Arial" panose="020B0604020202020204" pitchFamily="34" charset="0"/>
                <a:cs typeface="Arial" panose="020B0604020202020204" pitchFamily="34" charset="0"/>
              </a:rPr>
              <a:t>How is DevOps related to Agile?</a:t>
            </a:r>
          </a:p>
          <a:p>
            <a:r>
              <a:rPr lang="en-US" sz="2400" dirty="0">
                <a:latin typeface="Arial" panose="020B0604020202020204" pitchFamily="34" charset="0"/>
                <a:cs typeface="Arial" panose="020B0604020202020204" pitchFamily="34" charset="0"/>
              </a:rPr>
              <a:t>DevOps principles</a:t>
            </a:r>
          </a:p>
          <a:p>
            <a:r>
              <a:rPr lang="en-US" sz="2400" dirty="0">
                <a:latin typeface="Arial" panose="020B0604020202020204" pitchFamily="34" charset="0"/>
                <a:cs typeface="Arial" panose="020B0604020202020204" pitchFamily="34" charset="0"/>
              </a:rPr>
              <a:t>DevOps tools</a:t>
            </a:r>
          </a:p>
        </p:txBody>
      </p:sp>
      <p:pic>
        <p:nvPicPr>
          <p:cNvPr id="6" name="Picture 5">
            <a:extLst>
              <a:ext uri="{FF2B5EF4-FFF2-40B4-BE49-F238E27FC236}">
                <a16:creationId xmlns:a16="http://schemas.microsoft.com/office/drawing/2014/main" id="{0D5A28D3-4E6F-2184-6F73-6EE97B026BEC}"/>
              </a:ext>
            </a:extLst>
          </p:cNvPr>
          <p:cNvPicPr>
            <a:picLocks noChangeAspect="1"/>
          </p:cNvPicPr>
          <p:nvPr/>
        </p:nvPicPr>
        <p:blipFill>
          <a:blip r:embed="rId2"/>
          <a:stretch>
            <a:fillRect/>
          </a:stretch>
        </p:blipFill>
        <p:spPr>
          <a:xfrm>
            <a:off x="6694182" y="2495550"/>
            <a:ext cx="4659617" cy="3391402"/>
          </a:xfrm>
          <a:prstGeom prst="rect">
            <a:avLst/>
          </a:prstGeom>
          <a:noFill/>
        </p:spPr>
      </p:pic>
      <p:sp>
        <p:nvSpPr>
          <p:cNvPr id="3" name="Slide Number Placeholder 2"/>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D6DB6-ACBD-05A1-CD4B-6EB07FD92BCF}"/>
              </a:ext>
            </a:extLst>
          </p:cNvPr>
          <p:cNvSpPr>
            <a:spLocks noGrp="1"/>
          </p:cNvSpPr>
          <p:nvPr>
            <p:ph type="title"/>
          </p:nvPr>
        </p:nvSpPr>
        <p:spPr/>
        <p:txBody>
          <a:bodyPr/>
          <a:lstStyle/>
          <a:p>
            <a:r>
              <a:rPr lang="en-US" dirty="0"/>
              <a:t>Module overview: </a:t>
            </a:r>
            <a:r>
              <a:rPr lang="en-US" sz="4000" dirty="0">
                <a:latin typeface="Arial" panose="020B0604020202020204" pitchFamily="34" charset="0"/>
                <a:cs typeface="Arial" panose="020B0604020202020204" pitchFamily="34" charset="0"/>
              </a:rPr>
              <a:t>DevOps</a:t>
            </a:r>
            <a:endParaRPr lang="en-US" dirty="0"/>
          </a:p>
        </p:txBody>
      </p:sp>
      <p:sp>
        <p:nvSpPr>
          <p:cNvPr id="3" name="Content Placeholder 2">
            <a:extLst>
              <a:ext uri="{FF2B5EF4-FFF2-40B4-BE49-F238E27FC236}">
                <a16:creationId xmlns:a16="http://schemas.microsoft.com/office/drawing/2014/main" id="{B612259D-9EBD-3727-3EC4-5FE634510EC9}"/>
              </a:ext>
            </a:extLst>
          </p:cNvPr>
          <p:cNvSpPr>
            <a:spLocks noGrp="1"/>
          </p:cNvSpPr>
          <p:nvPr>
            <p:ph sz="half" idx="1"/>
          </p:nvPr>
        </p:nvSpPr>
        <p:spPr>
          <a:xfrm>
            <a:off x="644768" y="1825625"/>
            <a:ext cx="10710619" cy="4351339"/>
          </a:xfrm>
        </p:spPr>
        <p:txBody>
          <a:bodyPr>
            <a:normAutofit/>
          </a:bodyPr>
          <a:lstStyle/>
          <a:p>
            <a:r>
              <a:rPr lang="en-US" sz="2000" dirty="0">
                <a:latin typeface="Arial" panose="020B0604020202020204" pitchFamily="34" charset="0"/>
                <a:cs typeface="Arial" panose="020B0604020202020204" pitchFamily="34" charset="0"/>
              </a:rPr>
              <a:t>DevOps is an </a:t>
            </a:r>
            <a:r>
              <a:rPr lang="en-US" sz="2000" b="1" dirty="0">
                <a:latin typeface="Arial" panose="020B0604020202020204" pitchFamily="34" charset="0"/>
                <a:cs typeface="Arial" panose="020B0604020202020204" pitchFamily="34" charset="0"/>
              </a:rPr>
              <a:t>application lifecycle </a:t>
            </a:r>
            <a:r>
              <a:rPr lang="en-US" sz="2000" dirty="0">
                <a:latin typeface="Arial" panose="020B0604020202020204" pitchFamily="34" charset="0"/>
                <a:cs typeface="Arial" panose="020B0604020202020204" pitchFamily="34" charset="0"/>
              </a:rPr>
              <a:t>that not only includes application development but incorporates the </a:t>
            </a:r>
            <a:r>
              <a:rPr lang="en-US" sz="2000" b="1" dirty="0">
                <a:latin typeface="Arial" panose="020B0604020202020204" pitchFamily="34" charset="0"/>
                <a:cs typeface="Arial" panose="020B0604020202020204" pitchFamily="34" charset="0"/>
              </a:rPr>
              <a:t>operation of the application</a:t>
            </a:r>
            <a:r>
              <a:rPr lang="en-US" sz="2000" dirty="0">
                <a:latin typeface="Arial" panose="020B0604020202020204" pitchFamily="34" charset="0"/>
                <a:cs typeface="Arial" panose="020B0604020202020204" pitchFamily="34" charset="0"/>
              </a:rPr>
              <a:t>. </a:t>
            </a:r>
          </a:p>
          <a:p>
            <a:r>
              <a:rPr lang="en-US" sz="2000" dirty="0">
                <a:latin typeface="Arial" panose="020B0604020202020204" pitchFamily="34" charset="0"/>
                <a:cs typeface="Arial" panose="020B0604020202020204" pitchFamily="34" charset="0"/>
              </a:rPr>
              <a:t>DevOps promotes collaboration across application and operations disciplines and includes </a:t>
            </a:r>
            <a:r>
              <a:rPr lang="en-US" sz="2000" b="1" dirty="0">
                <a:latin typeface="Arial" panose="020B0604020202020204" pitchFamily="34" charset="0"/>
                <a:cs typeface="Arial" panose="020B0604020202020204" pitchFamily="34" charset="0"/>
              </a:rPr>
              <a:t>requirements</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development</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deployment operations</a:t>
            </a:r>
            <a:r>
              <a:rPr lang="en-US" sz="2000" dirty="0">
                <a:latin typeface="Arial" panose="020B0604020202020204" pitchFamily="34" charset="0"/>
                <a:cs typeface="Arial" panose="020B0604020202020204" pitchFamily="34" charset="0"/>
              </a:rPr>
              <a:t>.</a:t>
            </a: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Module Outcomes</a:t>
            </a:r>
          </a:p>
          <a:p>
            <a:r>
              <a:rPr lang="en-US" sz="2000" dirty="0">
                <a:latin typeface="Arial" panose="020B0604020202020204" pitchFamily="34" charset="0"/>
                <a:cs typeface="Arial" panose="020B0604020202020204" pitchFamily="34" charset="0"/>
              </a:rPr>
              <a:t>As a result of this module, you will be able to do the following:</a:t>
            </a:r>
          </a:p>
          <a:p>
            <a:pPr lvl="1"/>
            <a:r>
              <a:rPr lang="en-US" b="1" dirty="0">
                <a:latin typeface="Arial" panose="020B0604020202020204" pitchFamily="34" charset="0"/>
                <a:cs typeface="Arial" panose="020B0604020202020204" pitchFamily="34" charset="0"/>
              </a:rPr>
              <a:t>Compare and contrast </a:t>
            </a:r>
            <a:r>
              <a:rPr lang="en-US" dirty="0" err="1">
                <a:latin typeface="Arial" panose="020B0604020202020204" pitchFamily="34" charset="0"/>
                <a:cs typeface="Arial" panose="020B0604020202020204" pitchFamily="34" charset="0"/>
              </a:rPr>
              <a:t>DevOPS</a:t>
            </a:r>
            <a:r>
              <a:rPr lang="en-US" dirty="0">
                <a:latin typeface="Arial" panose="020B0604020202020204" pitchFamily="34" charset="0"/>
                <a:cs typeface="Arial" panose="020B0604020202020204" pitchFamily="34" charset="0"/>
              </a:rPr>
              <a:t> vs. other Agile methodologies.</a:t>
            </a:r>
          </a:p>
          <a:p>
            <a:pPr lvl="1"/>
            <a:r>
              <a:rPr lang="en-US" b="1" dirty="0">
                <a:latin typeface="Arial" panose="020B0604020202020204" pitchFamily="34" charset="0"/>
                <a:cs typeface="Arial" panose="020B0604020202020204" pitchFamily="34" charset="0"/>
              </a:rPr>
              <a:t>Evaluate</a:t>
            </a:r>
            <a:r>
              <a:rPr lang="en-US" dirty="0">
                <a:latin typeface="Arial" panose="020B0604020202020204" pitchFamily="34" charset="0"/>
                <a:cs typeface="Arial" panose="020B0604020202020204" pitchFamily="34" charset="0"/>
              </a:rPr>
              <a:t> the limitations of Agile in reference to software operations.</a:t>
            </a:r>
          </a:p>
        </p:txBody>
      </p:sp>
      <p:sp>
        <p:nvSpPr>
          <p:cNvPr id="5" name="Slide Number Placeholder 4">
            <a:extLst>
              <a:ext uri="{FF2B5EF4-FFF2-40B4-BE49-F238E27FC236}">
                <a16:creationId xmlns:a16="http://schemas.microsoft.com/office/drawing/2014/main" id="{687CBD07-352C-ED79-EF58-263C55DD5947}"/>
              </a:ext>
            </a:extLst>
          </p:cNvPr>
          <p:cNvSpPr>
            <a:spLocks noGrp="1"/>
          </p:cNvSpPr>
          <p:nvPr>
            <p:ph type="sldNum" sz="quarter" idx="12"/>
          </p:nvPr>
        </p:nvSpPr>
        <p:spPr/>
        <p:txBody>
          <a:bodyPr/>
          <a:lstStyle/>
          <a:p>
            <a:fld id="{4267CD5E-26CF-4249-8540-BB1D07FD4227}" type="slidenum">
              <a:rPr lang="en-US" smtClean="0"/>
              <a:t>4</a:t>
            </a:fld>
            <a:endParaRPr lang="en-US"/>
          </a:p>
        </p:txBody>
      </p:sp>
    </p:spTree>
    <p:extLst>
      <p:ext uri="{BB962C8B-B14F-4D97-AF65-F5344CB8AC3E}">
        <p14:creationId xmlns:p14="http://schemas.microsoft.com/office/powerpoint/2010/main" val="3794280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18312-7810-74ED-B819-37A6101C3F9D}"/>
              </a:ext>
            </a:extLst>
          </p:cNvPr>
          <p:cNvSpPr>
            <a:spLocks noGrp="1"/>
          </p:cNvSpPr>
          <p:nvPr>
            <p:ph type="title"/>
          </p:nvPr>
        </p:nvSpPr>
        <p:spPr/>
        <p:txBody>
          <a:bodyPr/>
          <a:lstStyle/>
          <a:p>
            <a:r>
              <a:rPr lang="en-US" dirty="0"/>
              <a:t>Module overview: </a:t>
            </a:r>
            <a:r>
              <a:rPr lang="en-US" sz="4000" dirty="0">
                <a:latin typeface="Arial" panose="020B0604020202020204" pitchFamily="34" charset="0"/>
                <a:cs typeface="Arial" panose="020B0604020202020204" pitchFamily="34" charset="0"/>
              </a:rPr>
              <a:t>DevOps</a:t>
            </a:r>
            <a:endParaRPr lang="en-US" dirty="0"/>
          </a:p>
        </p:txBody>
      </p:sp>
      <p:sp>
        <p:nvSpPr>
          <p:cNvPr id="3" name="Content Placeholder 2">
            <a:extLst>
              <a:ext uri="{FF2B5EF4-FFF2-40B4-BE49-F238E27FC236}">
                <a16:creationId xmlns:a16="http://schemas.microsoft.com/office/drawing/2014/main" id="{5F87E80E-A10B-1481-819C-D888BF1CCB7B}"/>
              </a:ext>
            </a:extLst>
          </p:cNvPr>
          <p:cNvSpPr>
            <a:spLocks noGrp="1"/>
          </p:cNvSpPr>
          <p:nvPr>
            <p:ph sz="half" idx="1"/>
          </p:nvPr>
        </p:nvSpPr>
        <p:spPr>
          <a:xfrm>
            <a:off x="644768" y="1825625"/>
            <a:ext cx="10710619" cy="4351339"/>
          </a:xfrm>
        </p:spPr>
        <p:txBody>
          <a:bodyPr>
            <a:normAutofit/>
          </a:bodyPr>
          <a:lstStyle/>
          <a:p>
            <a:pPr>
              <a:spcBef>
                <a:spcPts val="900"/>
              </a:spcBef>
              <a:spcAft>
                <a:spcPts val="900"/>
              </a:spcAft>
            </a:pPr>
            <a:r>
              <a:rPr lang="en-US" sz="2000" b="0" i="0" dirty="0">
                <a:solidFill>
                  <a:srgbClr val="363D45"/>
                </a:solidFill>
                <a:effectLst/>
                <a:latin typeface="Arial" panose="020B0604020202020204" pitchFamily="34" charset="0"/>
                <a:cs typeface="Arial" panose="020B0604020202020204" pitchFamily="34" charset="0"/>
              </a:rPr>
              <a:t>As we go through the slides, you will learn about the 5 key principles of DevOps, which include </a:t>
            </a:r>
            <a:r>
              <a:rPr lang="en-US" sz="2000" b="1" i="0" dirty="0">
                <a:solidFill>
                  <a:srgbClr val="363D45"/>
                </a:solidFill>
                <a:effectLst/>
                <a:latin typeface="Arial" panose="020B0604020202020204" pitchFamily="34" charset="0"/>
                <a:cs typeface="Arial" panose="020B0604020202020204" pitchFamily="34" charset="0"/>
              </a:rPr>
              <a:t>Collaboration and Communication, Automation, Continuous Integration and Continuous Delivery (CI/CD), Monitoring and Feedback, and Infrastructure as Code (</a:t>
            </a:r>
            <a:r>
              <a:rPr lang="en-US" sz="2000" b="1" i="0" dirty="0" err="1">
                <a:solidFill>
                  <a:srgbClr val="363D45"/>
                </a:solidFill>
                <a:effectLst/>
                <a:latin typeface="Arial" panose="020B0604020202020204" pitchFamily="34" charset="0"/>
                <a:cs typeface="Arial" panose="020B0604020202020204" pitchFamily="34" charset="0"/>
              </a:rPr>
              <a:t>IaC</a:t>
            </a:r>
            <a:r>
              <a:rPr lang="en-US" sz="2000" b="1" i="0" dirty="0">
                <a:solidFill>
                  <a:srgbClr val="363D45"/>
                </a:solidFill>
                <a:effectLst/>
                <a:latin typeface="Arial" panose="020B0604020202020204" pitchFamily="34" charset="0"/>
                <a:cs typeface="Arial" panose="020B0604020202020204" pitchFamily="34" charset="0"/>
              </a:rPr>
              <a:t>)</a:t>
            </a:r>
            <a:r>
              <a:rPr lang="en-US" sz="2000" b="0" i="0" dirty="0">
                <a:solidFill>
                  <a:srgbClr val="363D45"/>
                </a:solidFill>
                <a:effectLst/>
                <a:latin typeface="Arial" panose="020B0604020202020204" pitchFamily="34" charset="0"/>
                <a:cs typeface="Arial" panose="020B0604020202020204" pitchFamily="34" charset="0"/>
              </a:rPr>
              <a:t>. </a:t>
            </a:r>
          </a:p>
          <a:p>
            <a:pPr>
              <a:spcBef>
                <a:spcPts val="900"/>
              </a:spcBef>
              <a:spcAft>
                <a:spcPts val="900"/>
              </a:spcAft>
            </a:pPr>
            <a:r>
              <a:rPr lang="en-US" sz="2000" b="0" i="0" dirty="0">
                <a:solidFill>
                  <a:srgbClr val="363D45"/>
                </a:solidFill>
                <a:effectLst/>
                <a:latin typeface="Arial" panose="020B0604020202020204" pitchFamily="34" charset="0"/>
                <a:cs typeface="Arial" panose="020B0604020202020204" pitchFamily="34" charset="0"/>
              </a:rPr>
              <a:t>T</a:t>
            </a:r>
            <a:r>
              <a:rPr lang="en-US" sz="2000" dirty="0">
                <a:latin typeface="Arial" panose="020B0604020202020204" pitchFamily="34" charset="0"/>
                <a:cs typeface="Arial" panose="020B0604020202020204" pitchFamily="34" charset="0"/>
              </a:rPr>
              <a:t>hese principles aim to streamline the software delivery process and ensure faster, more reliable releases. </a:t>
            </a:r>
          </a:p>
          <a:p>
            <a:pPr>
              <a:spcBef>
                <a:spcPts val="900"/>
              </a:spcBef>
              <a:spcAft>
                <a:spcPts val="900"/>
              </a:spcAft>
            </a:pPr>
            <a:r>
              <a:rPr lang="en-US" sz="2000" b="0" i="0" dirty="0">
                <a:solidFill>
                  <a:srgbClr val="363D45"/>
                </a:solidFill>
                <a:effectLst/>
                <a:latin typeface="Arial" panose="020B0604020202020204" pitchFamily="34" charset="0"/>
                <a:cs typeface="Arial" panose="020B0604020202020204" pitchFamily="34" charset="0"/>
              </a:rPr>
              <a:t>Many of these concepts are from other Agile methods, while a few are unique to DevOps. </a:t>
            </a:r>
          </a:p>
          <a:p>
            <a:pPr algn="l">
              <a:spcBef>
                <a:spcPts val="450"/>
              </a:spcBef>
              <a:spcAft>
                <a:spcPts val="450"/>
              </a:spcAft>
              <a:buNone/>
            </a:pPr>
            <a:r>
              <a:rPr lang="en-US" sz="2000" b="0" i="0" dirty="0">
                <a:solidFill>
                  <a:srgbClr val="363D45"/>
                </a:solidFill>
                <a:effectLst/>
                <a:latin typeface="Arial" panose="020B0604020202020204" pitchFamily="34" charset="0"/>
                <a:cs typeface="Arial" panose="020B0604020202020204" pitchFamily="34" charset="0"/>
              </a:rPr>
              <a:t>As you listen, consider the following:</a:t>
            </a:r>
          </a:p>
          <a:p>
            <a:pPr lvl="1">
              <a:spcAft>
                <a:spcPts val="450"/>
              </a:spcAft>
              <a:buFont typeface="Arial" panose="020B0604020202020204" pitchFamily="34" charset="0"/>
              <a:buChar char="•"/>
            </a:pPr>
            <a:r>
              <a:rPr lang="en-US" sz="2000" b="0" i="0" dirty="0">
                <a:solidFill>
                  <a:srgbClr val="363D45"/>
                </a:solidFill>
                <a:effectLst/>
                <a:latin typeface="Arial" panose="020B0604020202020204" pitchFamily="34" charset="0"/>
                <a:cs typeface="Arial" panose="020B0604020202020204" pitchFamily="34" charset="0"/>
              </a:rPr>
              <a:t>What concepts does DevOps take from other Agile methodologies?</a:t>
            </a:r>
          </a:p>
          <a:p>
            <a:pPr lvl="1">
              <a:spcAft>
                <a:spcPts val="450"/>
              </a:spcAft>
              <a:buFont typeface="Arial" panose="020B0604020202020204" pitchFamily="34" charset="0"/>
              <a:buChar char="•"/>
            </a:pPr>
            <a:r>
              <a:rPr lang="en-US" sz="2000" b="0" i="0" dirty="0">
                <a:solidFill>
                  <a:srgbClr val="363D45"/>
                </a:solidFill>
                <a:effectLst/>
                <a:latin typeface="Arial" panose="020B0604020202020204" pitchFamily="34" charset="0"/>
                <a:cs typeface="Arial" panose="020B0604020202020204" pitchFamily="34" charset="0"/>
              </a:rPr>
              <a:t>What concepts are new to DevOps?</a:t>
            </a:r>
          </a:p>
          <a:p>
            <a:pPr lvl="1">
              <a:spcAft>
                <a:spcPts val="450"/>
              </a:spcAft>
              <a:buFont typeface="Arial" panose="020B0604020202020204" pitchFamily="34" charset="0"/>
              <a:buChar char="•"/>
            </a:pPr>
            <a:r>
              <a:rPr lang="en-US" sz="2000" b="0" i="0" dirty="0">
                <a:solidFill>
                  <a:srgbClr val="363D45"/>
                </a:solidFill>
                <a:effectLst/>
                <a:latin typeface="Arial" panose="020B0604020202020204" pitchFamily="34" charset="0"/>
                <a:cs typeface="Arial" panose="020B0604020202020204" pitchFamily="34" charset="0"/>
              </a:rPr>
              <a:t>Are there missing roles?</a:t>
            </a:r>
          </a:p>
          <a:p>
            <a:endParaRPr lang="en-US" sz="2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DC2F0634-C8D1-9156-F97F-1C0687B23CF2}"/>
              </a:ext>
            </a:extLst>
          </p:cNvPr>
          <p:cNvSpPr>
            <a:spLocks noGrp="1"/>
          </p:cNvSpPr>
          <p:nvPr>
            <p:ph type="sldNum" sz="quarter" idx="12"/>
          </p:nvPr>
        </p:nvSpPr>
        <p:spPr/>
        <p:txBody>
          <a:bodyPr/>
          <a:lstStyle/>
          <a:p>
            <a:fld id="{4267CD5E-26CF-4249-8540-BB1D07FD4227}" type="slidenum">
              <a:rPr lang="en-US" smtClean="0"/>
              <a:t>5</a:t>
            </a:fld>
            <a:endParaRPr lang="en-US"/>
          </a:p>
        </p:txBody>
      </p:sp>
    </p:spTree>
    <p:extLst>
      <p:ext uri="{BB962C8B-B14F-4D97-AF65-F5344CB8AC3E}">
        <p14:creationId xmlns:p14="http://schemas.microsoft.com/office/powerpoint/2010/main" val="1681860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F5420-5ADC-23D6-FD37-51E4D4FF5338}"/>
              </a:ext>
            </a:extLst>
          </p:cNvPr>
          <p:cNvSpPr>
            <a:spLocks noGrp="1"/>
          </p:cNvSpPr>
          <p:nvPr>
            <p:ph type="title"/>
          </p:nvPr>
        </p:nvSpPr>
        <p:spPr>
          <a:xfrm>
            <a:off x="646359" y="365127"/>
            <a:ext cx="10709031" cy="734621"/>
          </a:xfrm>
        </p:spPr>
        <p:txBody>
          <a:bodyPr anchor="t">
            <a:normAutofit/>
          </a:bodyPr>
          <a:lstStyle/>
          <a:p>
            <a:r>
              <a:rPr lang="en-US"/>
              <a:t>SDLC evolution: What now?</a:t>
            </a:r>
          </a:p>
        </p:txBody>
      </p:sp>
      <p:sp>
        <p:nvSpPr>
          <p:cNvPr id="4" name="Content Placeholder 3">
            <a:extLst>
              <a:ext uri="{FF2B5EF4-FFF2-40B4-BE49-F238E27FC236}">
                <a16:creationId xmlns:a16="http://schemas.microsoft.com/office/drawing/2014/main" id="{7C609136-4E3C-BB85-4FF4-179E4729EA23}"/>
              </a:ext>
            </a:extLst>
          </p:cNvPr>
          <p:cNvSpPr>
            <a:spLocks noGrp="1"/>
          </p:cNvSpPr>
          <p:nvPr>
            <p:ph type="body" sz="quarter" idx="13"/>
          </p:nvPr>
        </p:nvSpPr>
        <p:spPr>
          <a:xfrm>
            <a:off x="644771" y="1345482"/>
            <a:ext cx="10709031" cy="734620"/>
          </a:xfrm>
        </p:spPr>
        <p:txBody>
          <a:bodyPr>
            <a:normAutofit/>
          </a:bodyPr>
          <a:lstStyle/>
          <a:p>
            <a:pPr marL="0" indent="0">
              <a:spcAft>
                <a:spcPts val="450"/>
              </a:spcAft>
              <a:buNone/>
            </a:pPr>
            <a:r>
              <a:rPr lang="en-US" sz="2400" b="0" i="0" dirty="0">
                <a:effectLst/>
                <a:latin typeface="Arial" panose="020B0604020202020204" pitchFamily="34" charset="0"/>
                <a:cs typeface="Arial" panose="020B0604020202020204" pitchFamily="34" charset="0"/>
              </a:rPr>
              <a:t>We improved the Waterfall model with Agile Methods</a:t>
            </a:r>
          </a:p>
          <a:p>
            <a:endParaRPr lang="en-US" dirty="0"/>
          </a:p>
        </p:txBody>
      </p:sp>
      <p:pic>
        <p:nvPicPr>
          <p:cNvPr id="6" name="Picture 5">
            <a:extLst>
              <a:ext uri="{FF2B5EF4-FFF2-40B4-BE49-F238E27FC236}">
                <a16:creationId xmlns:a16="http://schemas.microsoft.com/office/drawing/2014/main" id="{D61188C0-12BA-C926-F63A-1D776A76ABF6}"/>
              </a:ext>
            </a:extLst>
          </p:cNvPr>
          <p:cNvPicPr>
            <a:picLocks noChangeAspect="1"/>
          </p:cNvPicPr>
          <p:nvPr/>
        </p:nvPicPr>
        <p:blipFill>
          <a:blip r:embed="rId2"/>
          <a:stretch>
            <a:fillRect/>
          </a:stretch>
        </p:blipFill>
        <p:spPr>
          <a:xfrm>
            <a:off x="2196077" y="2080102"/>
            <a:ext cx="7606418" cy="3879273"/>
          </a:xfrm>
          <a:prstGeom prst="rect">
            <a:avLst/>
          </a:prstGeom>
          <a:noFill/>
        </p:spPr>
      </p:pic>
      <p:sp>
        <p:nvSpPr>
          <p:cNvPr id="5" name="Slide Number Placeholder 4">
            <a:extLst>
              <a:ext uri="{FF2B5EF4-FFF2-40B4-BE49-F238E27FC236}">
                <a16:creationId xmlns:a16="http://schemas.microsoft.com/office/drawing/2014/main" id="{4B85A68E-9D29-E785-E25B-22E97A8DECF0}"/>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6</a:t>
            </a:fld>
            <a:endParaRPr lang="en-US"/>
          </a:p>
        </p:txBody>
      </p:sp>
    </p:spTree>
    <p:extLst>
      <p:ext uri="{BB962C8B-B14F-4D97-AF65-F5344CB8AC3E}">
        <p14:creationId xmlns:p14="http://schemas.microsoft.com/office/powerpoint/2010/main" val="4047495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66934-E1DC-F4E4-ACFB-10BB6755286C}"/>
              </a:ext>
            </a:extLst>
          </p:cNvPr>
          <p:cNvSpPr>
            <a:spLocks noGrp="1"/>
          </p:cNvSpPr>
          <p:nvPr>
            <p:ph type="title"/>
          </p:nvPr>
        </p:nvSpPr>
        <p:spPr>
          <a:xfrm>
            <a:off x="644769" y="365125"/>
            <a:ext cx="10710619" cy="1325563"/>
          </a:xfrm>
        </p:spPr>
        <p:txBody>
          <a:bodyPr anchor="t">
            <a:normAutofit/>
          </a:bodyPr>
          <a:lstStyle/>
          <a:p>
            <a:r>
              <a:rPr lang="en-US"/>
              <a:t>Delivering value to the customer</a:t>
            </a:r>
          </a:p>
        </p:txBody>
      </p:sp>
      <p:sp>
        <p:nvSpPr>
          <p:cNvPr id="4" name="Content Placeholder 3">
            <a:extLst>
              <a:ext uri="{FF2B5EF4-FFF2-40B4-BE49-F238E27FC236}">
                <a16:creationId xmlns:a16="http://schemas.microsoft.com/office/drawing/2014/main" id="{DFCEDB69-8870-3DB1-F36B-76545A10E329}"/>
              </a:ext>
            </a:extLst>
          </p:cNvPr>
          <p:cNvSpPr>
            <a:spLocks noGrp="1"/>
          </p:cNvSpPr>
          <p:nvPr>
            <p:ph sz="half" idx="1"/>
          </p:nvPr>
        </p:nvSpPr>
        <p:spPr>
          <a:xfrm>
            <a:off x="644769" y="1825625"/>
            <a:ext cx="5181600" cy="4351339"/>
          </a:xfrm>
        </p:spPr>
        <p:txBody>
          <a:bodyPr>
            <a:normAutofit/>
          </a:bodyPr>
          <a:lstStyle/>
          <a:p>
            <a:pPr>
              <a:spcAft>
                <a:spcPts val="450"/>
              </a:spcAft>
            </a:pPr>
            <a:r>
              <a:rPr lang="en-US" sz="2000" dirty="0">
                <a:latin typeface="Arial" panose="020B0604020202020204" pitchFamily="34" charset="0"/>
                <a:cs typeface="Arial" panose="020B0604020202020204" pitchFamily="34" charset="0"/>
              </a:rPr>
              <a:t>Agile methods help to build new features more quickly </a:t>
            </a:r>
          </a:p>
          <a:p>
            <a:pPr>
              <a:spcAft>
                <a:spcPts val="450"/>
              </a:spcAft>
            </a:pPr>
            <a:r>
              <a:rPr lang="en-US" sz="2000" dirty="0">
                <a:latin typeface="Arial" panose="020B0604020202020204" pitchFamily="34" charset="0"/>
                <a:cs typeface="Arial" panose="020B0604020202020204" pitchFamily="34" charset="0"/>
              </a:rPr>
              <a:t>But, we don’t achieve value until we deliver to customers </a:t>
            </a:r>
          </a:p>
          <a:p>
            <a:pPr>
              <a:spcAft>
                <a:spcPts val="450"/>
              </a:spcAft>
            </a:pPr>
            <a:r>
              <a:rPr lang="en-US" sz="2000" dirty="0">
                <a:latin typeface="Arial" panose="020B0604020202020204" pitchFamily="34" charset="0"/>
                <a:cs typeface="Arial" panose="020B0604020202020204" pitchFamily="34" charset="0"/>
              </a:rPr>
              <a:t>How to deliver those features to customers more quickly?</a:t>
            </a:r>
          </a:p>
        </p:txBody>
      </p:sp>
      <p:pic>
        <p:nvPicPr>
          <p:cNvPr id="6" name="Picture 5">
            <a:extLst>
              <a:ext uri="{FF2B5EF4-FFF2-40B4-BE49-F238E27FC236}">
                <a16:creationId xmlns:a16="http://schemas.microsoft.com/office/drawing/2014/main" id="{4282AC5B-C20B-78BD-F46B-6D9C230FD2E5}"/>
              </a:ext>
            </a:extLst>
          </p:cNvPr>
          <p:cNvPicPr>
            <a:picLocks noChangeAspect="1"/>
          </p:cNvPicPr>
          <p:nvPr/>
        </p:nvPicPr>
        <p:blipFill>
          <a:blip r:embed="rId2"/>
          <a:srcRect l="12977" r="20339" b="2"/>
          <a:stretch/>
        </p:blipFill>
        <p:spPr>
          <a:xfrm>
            <a:off x="6172200" y="1825625"/>
            <a:ext cx="5181600" cy="4351339"/>
          </a:xfrm>
          <a:prstGeom prst="rect">
            <a:avLst/>
          </a:prstGeom>
          <a:noFill/>
        </p:spPr>
      </p:pic>
      <p:sp>
        <p:nvSpPr>
          <p:cNvPr id="5" name="Slide Number Placeholder 4">
            <a:extLst>
              <a:ext uri="{FF2B5EF4-FFF2-40B4-BE49-F238E27FC236}">
                <a16:creationId xmlns:a16="http://schemas.microsoft.com/office/drawing/2014/main" id="{FA6CB515-A66C-8A45-98CD-B25D0C2221F8}"/>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7</a:t>
            </a:fld>
            <a:endParaRPr lang="en-US"/>
          </a:p>
        </p:txBody>
      </p:sp>
    </p:spTree>
    <p:extLst>
      <p:ext uri="{BB962C8B-B14F-4D97-AF65-F5344CB8AC3E}">
        <p14:creationId xmlns:p14="http://schemas.microsoft.com/office/powerpoint/2010/main" val="4221020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78E8B-709F-4FDA-FB3F-EF06FDA50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1AF41-9659-BD8B-6EF3-2ABBCEAE3705}"/>
              </a:ext>
            </a:extLst>
          </p:cNvPr>
          <p:cNvSpPr>
            <a:spLocks noGrp="1"/>
          </p:cNvSpPr>
          <p:nvPr>
            <p:ph type="title"/>
          </p:nvPr>
        </p:nvSpPr>
        <p:spPr>
          <a:xfrm>
            <a:off x="644769" y="365125"/>
            <a:ext cx="10710619" cy="1325563"/>
          </a:xfrm>
        </p:spPr>
        <p:txBody>
          <a:bodyPr anchor="t">
            <a:normAutofit/>
          </a:bodyPr>
          <a:lstStyle/>
          <a:p>
            <a:r>
              <a:rPr lang="en-US"/>
              <a:t>Development vs. Deployment/Ops</a:t>
            </a:r>
          </a:p>
        </p:txBody>
      </p:sp>
      <p:pic>
        <p:nvPicPr>
          <p:cNvPr id="6" name="Content Placeholder 5">
            <a:extLst>
              <a:ext uri="{FF2B5EF4-FFF2-40B4-BE49-F238E27FC236}">
                <a16:creationId xmlns:a16="http://schemas.microsoft.com/office/drawing/2014/main" id="{712280DC-16FE-CD13-4E5D-F821F1B7849E}"/>
              </a:ext>
            </a:extLst>
          </p:cNvPr>
          <p:cNvPicPr>
            <a:picLocks noGrp="1" noChangeAspect="1"/>
          </p:cNvPicPr>
          <p:nvPr>
            <p:ph idx="1"/>
          </p:nvPr>
        </p:nvPicPr>
        <p:blipFill>
          <a:blip r:embed="rId2"/>
          <a:stretch>
            <a:fillRect/>
          </a:stretch>
        </p:blipFill>
        <p:spPr>
          <a:xfrm>
            <a:off x="2131545" y="1825625"/>
            <a:ext cx="7735482" cy="4235176"/>
          </a:xfrm>
          <a:noFill/>
        </p:spPr>
      </p:pic>
      <p:sp>
        <p:nvSpPr>
          <p:cNvPr id="5" name="Slide Number Placeholder 4">
            <a:extLst>
              <a:ext uri="{FF2B5EF4-FFF2-40B4-BE49-F238E27FC236}">
                <a16:creationId xmlns:a16="http://schemas.microsoft.com/office/drawing/2014/main" id="{78B06531-3383-F06B-5D57-B5997F5B47C7}"/>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8</a:t>
            </a:fld>
            <a:endParaRPr lang="en-US"/>
          </a:p>
        </p:txBody>
      </p:sp>
    </p:spTree>
    <p:extLst>
      <p:ext uri="{BB962C8B-B14F-4D97-AF65-F5344CB8AC3E}">
        <p14:creationId xmlns:p14="http://schemas.microsoft.com/office/powerpoint/2010/main" val="155518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5063D-F19C-74EC-4A20-D560408206E4}"/>
              </a:ext>
            </a:extLst>
          </p:cNvPr>
          <p:cNvSpPr>
            <a:spLocks noGrp="1"/>
          </p:cNvSpPr>
          <p:nvPr>
            <p:ph type="title"/>
          </p:nvPr>
        </p:nvSpPr>
        <p:spPr>
          <a:xfrm>
            <a:off x="644769" y="365125"/>
            <a:ext cx="10710619" cy="1325563"/>
          </a:xfrm>
        </p:spPr>
        <p:txBody>
          <a:bodyPr anchor="t">
            <a:normAutofit/>
          </a:bodyPr>
          <a:lstStyle/>
          <a:p>
            <a:r>
              <a:rPr lang="en-US" dirty="0"/>
              <a:t>Agile is not enough…</a:t>
            </a:r>
          </a:p>
        </p:txBody>
      </p:sp>
      <p:pic>
        <p:nvPicPr>
          <p:cNvPr id="6" name="Content Placeholder 5">
            <a:extLst>
              <a:ext uri="{FF2B5EF4-FFF2-40B4-BE49-F238E27FC236}">
                <a16:creationId xmlns:a16="http://schemas.microsoft.com/office/drawing/2014/main" id="{B1E9B1F0-0151-CAC3-F200-3A18BE301ED9}"/>
              </a:ext>
            </a:extLst>
          </p:cNvPr>
          <p:cNvPicPr>
            <a:picLocks noGrp="1" noChangeAspect="1"/>
          </p:cNvPicPr>
          <p:nvPr>
            <p:ph idx="1"/>
          </p:nvPr>
        </p:nvPicPr>
        <p:blipFill>
          <a:blip r:embed="rId2"/>
          <a:stretch/>
        </p:blipFill>
        <p:spPr>
          <a:xfrm>
            <a:off x="2469973" y="1825625"/>
            <a:ext cx="7058627" cy="4235176"/>
          </a:xfrm>
          <a:noFill/>
        </p:spPr>
      </p:pic>
      <p:sp>
        <p:nvSpPr>
          <p:cNvPr id="4" name="Slide Number Placeholder 3">
            <a:extLst>
              <a:ext uri="{FF2B5EF4-FFF2-40B4-BE49-F238E27FC236}">
                <a16:creationId xmlns:a16="http://schemas.microsoft.com/office/drawing/2014/main" id="{9D1B4ADB-179D-3FDF-134C-E599827EE7CE}"/>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9</a:t>
            </a:fld>
            <a:endParaRPr lang="en-US"/>
          </a:p>
        </p:txBody>
      </p:sp>
    </p:spTree>
    <p:extLst>
      <p:ext uri="{BB962C8B-B14F-4D97-AF65-F5344CB8AC3E}">
        <p14:creationId xmlns:p14="http://schemas.microsoft.com/office/powerpoint/2010/main" val="2931031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3D69B-B38C-53EA-9E9A-7D5BB8982B23}"/>
              </a:ext>
            </a:extLst>
          </p:cNvPr>
          <p:cNvSpPr>
            <a:spLocks noGrp="1"/>
          </p:cNvSpPr>
          <p:nvPr>
            <p:ph type="title"/>
          </p:nvPr>
        </p:nvSpPr>
        <p:spPr>
          <a:xfrm>
            <a:off x="644769" y="365125"/>
            <a:ext cx="10710619" cy="1325563"/>
          </a:xfrm>
        </p:spPr>
        <p:txBody>
          <a:bodyPr anchor="t">
            <a:normAutofit/>
          </a:bodyPr>
          <a:lstStyle/>
          <a:p>
            <a:r>
              <a:rPr lang="en-US" dirty="0"/>
              <a:t>Application Lifecycle Management</a:t>
            </a:r>
          </a:p>
        </p:txBody>
      </p:sp>
      <p:pic>
        <p:nvPicPr>
          <p:cNvPr id="6" name="Content Placeholder 5">
            <a:extLst>
              <a:ext uri="{FF2B5EF4-FFF2-40B4-BE49-F238E27FC236}">
                <a16:creationId xmlns:a16="http://schemas.microsoft.com/office/drawing/2014/main" id="{D4BAF21A-508F-AD2A-B5C2-E43845973981}"/>
              </a:ext>
            </a:extLst>
          </p:cNvPr>
          <p:cNvPicPr>
            <a:picLocks noGrp="1" noChangeAspect="1"/>
          </p:cNvPicPr>
          <p:nvPr>
            <p:ph idx="1"/>
          </p:nvPr>
        </p:nvPicPr>
        <p:blipFill>
          <a:blip r:embed="rId2"/>
          <a:srcRect t="23946" r="2" b="2"/>
          <a:stretch/>
        </p:blipFill>
        <p:spPr>
          <a:xfrm>
            <a:off x="644771" y="1825625"/>
            <a:ext cx="10709031" cy="4235176"/>
          </a:xfrm>
          <a:noFill/>
        </p:spPr>
      </p:pic>
      <p:sp>
        <p:nvSpPr>
          <p:cNvPr id="4" name="Slide Number Placeholder 3">
            <a:extLst>
              <a:ext uri="{FF2B5EF4-FFF2-40B4-BE49-F238E27FC236}">
                <a16:creationId xmlns:a16="http://schemas.microsoft.com/office/drawing/2014/main" id="{A5153F8F-5D01-09BE-3C36-2420E2CA5B2C}"/>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10</a:t>
            </a:fld>
            <a:endParaRPr lang="en-US"/>
          </a:p>
        </p:txBody>
      </p:sp>
    </p:spTree>
    <p:extLst>
      <p:ext uri="{BB962C8B-B14F-4D97-AF65-F5344CB8AC3E}">
        <p14:creationId xmlns:p14="http://schemas.microsoft.com/office/powerpoint/2010/main" val="61717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67152-53D2-4775-6FF3-A33588C0E4A2}"/>
              </a:ext>
            </a:extLst>
          </p:cNvPr>
          <p:cNvSpPr>
            <a:spLocks noGrp="1"/>
          </p:cNvSpPr>
          <p:nvPr>
            <p:ph type="title"/>
          </p:nvPr>
        </p:nvSpPr>
        <p:spPr>
          <a:xfrm>
            <a:off x="644769" y="365125"/>
            <a:ext cx="10710619" cy="1325563"/>
          </a:xfrm>
        </p:spPr>
        <p:txBody>
          <a:bodyPr anchor="t">
            <a:normAutofit/>
          </a:bodyPr>
          <a:lstStyle/>
          <a:p>
            <a:r>
              <a:rPr lang="en-US" dirty="0"/>
              <a:t>Siloed delivery challenges</a:t>
            </a:r>
          </a:p>
        </p:txBody>
      </p:sp>
      <p:pic>
        <p:nvPicPr>
          <p:cNvPr id="6" name="Content Placeholder 5">
            <a:extLst>
              <a:ext uri="{FF2B5EF4-FFF2-40B4-BE49-F238E27FC236}">
                <a16:creationId xmlns:a16="http://schemas.microsoft.com/office/drawing/2014/main" id="{5F4E43FE-1967-E7DE-E90E-13A9B1810553}"/>
              </a:ext>
            </a:extLst>
          </p:cNvPr>
          <p:cNvPicPr>
            <a:picLocks noGrp="1" noChangeAspect="1"/>
          </p:cNvPicPr>
          <p:nvPr>
            <p:ph idx="1"/>
          </p:nvPr>
        </p:nvPicPr>
        <p:blipFill>
          <a:blip r:embed="rId2"/>
          <a:stretch>
            <a:fillRect/>
          </a:stretch>
        </p:blipFill>
        <p:spPr>
          <a:xfrm>
            <a:off x="2410154" y="1825625"/>
            <a:ext cx="7178264" cy="4235176"/>
          </a:xfrm>
          <a:noFill/>
        </p:spPr>
      </p:pic>
      <p:sp>
        <p:nvSpPr>
          <p:cNvPr id="4" name="Slide Number Placeholder 3">
            <a:extLst>
              <a:ext uri="{FF2B5EF4-FFF2-40B4-BE49-F238E27FC236}">
                <a16:creationId xmlns:a16="http://schemas.microsoft.com/office/drawing/2014/main" id="{A5D7E6AF-939A-93D2-3AD9-1FC0FB4408C9}"/>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11</a:t>
            </a:fld>
            <a:endParaRPr lang="en-US"/>
          </a:p>
        </p:txBody>
      </p:sp>
    </p:spTree>
    <p:extLst>
      <p:ext uri="{BB962C8B-B14F-4D97-AF65-F5344CB8AC3E}">
        <p14:creationId xmlns:p14="http://schemas.microsoft.com/office/powerpoint/2010/main" val="3563043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604FA1-A35C-C1D2-26DA-4C2ED146B320}"/>
              </a:ext>
            </a:extLst>
          </p:cNvPr>
          <p:cNvSpPr>
            <a:spLocks noGrp="1"/>
          </p:cNvSpPr>
          <p:nvPr>
            <p:ph type="title"/>
          </p:nvPr>
        </p:nvSpPr>
        <p:spPr>
          <a:xfrm>
            <a:off x="644769" y="365125"/>
            <a:ext cx="10710619" cy="1325563"/>
          </a:xfrm>
        </p:spPr>
        <p:txBody>
          <a:bodyPr vert="horz" lIns="91440" tIns="45720" rIns="91440" bIns="45720" rtlCol="0" anchor="t">
            <a:normAutofit/>
          </a:bodyPr>
          <a:lstStyle/>
          <a:p>
            <a:r>
              <a:rPr lang="en-US" b="1" i="0" kern="1200" dirty="0">
                <a:latin typeface="Saira Condensed Condensed SemiBold" pitchFamily="2" charset="77"/>
                <a:ea typeface="+mj-ea"/>
                <a:cs typeface="+mj-cs"/>
              </a:rPr>
              <a:t>How often to release new features?</a:t>
            </a:r>
          </a:p>
        </p:txBody>
      </p:sp>
      <p:sp>
        <p:nvSpPr>
          <p:cNvPr id="3" name="Content Placeholder 2">
            <a:extLst>
              <a:ext uri="{FF2B5EF4-FFF2-40B4-BE49-F238E27FC236}">
                <a16:creationId xmlns:a16="http://schemas.microsoft.com/office/drawing/2014/main" id="{5F759800-A208-F6A3-54E2-06B9B084F533}"/>
              </a:ext>
            </a:extLst>
          </p:cNvPr>
          <p:cNvSpPr>
            <a:spLocks noGrp="1"/>
          </p:cNvSpPr>
          <p:nvPr>
            <p:ph sz="half" idx="1"/>
          </p:nvPr>
        </p:nvSpPr>
        <p:spPr>
          <a:xfrm>
            <a:off x="644773" y="1307592"/>
            <a:ext cx="4546352" cy="4869373"/>
          </a:xfrm>
        </p:spPr>
        <p:txBody>
          <a:bodyPr vert="horz" lIns="91440" tIns="45720" rIns="91440" bIns="45720" rtlCol="0">
            <a:normAutofit/>
          </a:bodyPr>
          <a:lstStyle/>
          <a:p>
            <a:r>
              <a:rPr lang="en-US" sz="2000" dirty="0">
                <a:latin typeface="Arial" panose="020B0604020202020204" pitchFamily="34" charset="0"/>
                <a:cs typeface="Arial" panose="020B0604020202020204" pitchFamily="34" charset="0"/>
              </a:rPr>
              <a:t>Operating systems, mission critical systems </a:t>
            </a:r>
          </a:p>
          <a:p>
            <a:r>
              <a:rPr lang="en-US" sz="2000" dirty="0">
                <a:latin typeface="Arial" panose="020B0604020202020204" pitchFamily="34" charset="0"/>
                <a:cs typeface="Arial" panose="020B0604020202020204" pitchFamily="34" charset="0"/>
              </a:rPr>
              <a:t>DSDM and </a:t>
            </a:r>
            <a:r>
              <a:rPr lang="en-US" sz="2000" dirty="0" err="1">
                <a:latin typeface="Arial" panose="020B0604020202020204" pitchFamily="34" charset="0"/>
                <a:cs typeface="Arial" panose="020B0604020202020204" pitchFamily="34" charset="0"/>
              </a:rPr>
              <a:t>SAFe</a:t>
            </a:r>
            <a:r>
              <a:rPr lang="en-US" sz="2000" dirty="0">
                <a:latin typeface="Arial" panose="020B0604020202020204" pitchFamily="34" charset="0"/>
                <a:cs typeface="Arial" panose="020B0604020202020204" pitchFamily="34" charset="0"/>
              </a:rPr>
              <a:t> minimize customer disruption by pacing releases </a:t>
            </a:r>
          </a:p>
          <a:p>
            <a:r>
              <a:rPr lang="en-US" sz="2000" dirty="0">
                <a:latin typeface="Arial" panose="020B0604020202020204" pitchFamily="34" charset="0"/>
                <a:cs typeface="Arial" panose="020B0604020202020204" pitchFamily="34" charset="0"/>
              </a:rPr>
              <a:t>How frequently can the customer absorb new releases?</a:t>
            </a:r>
          </a:p>
        </p:txBody>
      </p:sp>
      <p:pic>
        <p:nvPicPr>
          <p:cNvPr id="10" name="Picture 9">
            <a:extLst>
              <a:ext uri="{FF2B5EF4-FFF2-40B4-BE49-F238E27FC236}">
                <a16:creationId xmlns:a16="http://schemas.microsoft.com/office/drawing/2014/main" id="{E932D2F2-2F5A-6241-6AE0-15E4DA4DAA55}"/>
              </a:ext>
            </a:extLst>
          </p:cNvPr>
          <p:cNvPicPr>
            <a:picLocks noChangeAspect="1"/>
          </p:cNvPicPr>
          <p:nvPr/>
        </p:nvPicPr>
        <p:blipFill>
          <a:blip r:embed="rId2"/>
          <a:stretch>
            <a:fillRect/>
          </a:stretch>
        </p:blipFill>
        <p:spPr>
          <a:xfrm>
            <a:off x="2785188" y="5268494"/>
            <a:ext cx="6429779" cy="1093060"/>
          </a:xfrm>
          <a:prstGeom prst="rect">
            <a:avLst/>
          </a:prstGeom>
          <a:noFill/>
        </p:spPr>
      </p:pic>
      <p:sp>
        <p:nvSpPr>
          <p:cNvPr id="6" name="TextBox 5">
            <a:extLst>
              <a:ext uri="{FF2B5EF4-FFF2-40B4-BE49-F238E27FC236}">
                <a16:creationId xmlns:a16="http://schemas.microsoft.com/office/drawing/2014/main" id="{B60C96F3-6621-FB68-237B-C8C006F7F8BE}"/>
              </a:ext>
            </a:extLst>
          </p:cNvPr>
          <p:cNvSpPr txBox="1"/>
          <p:nvPr/>
        </p:nvSpPr>
        <p:spPr>
          <a:xfrm>
            <a:off x="6391275" y="1307592"/>
            <a:ext cx="4878391" cy="4848667"/>
          </a:xfrm>
          <a:prstGeom prst="rect">
            <a:avLst/>
          </a:prstGeom>
        </p:spPr>
        <p:txBody>
          <a:bodyPr vert="horz" lIns="91440" tIns="45720" rIns="91440" bIns="45720" rtlCol="0">
            <a:normAutofit/>
          </a:bodyPr>
          <a:lstStyle/>
          <a:p>
            <a:pPr marL="228600" indent="-228600">
              <a:lnSpc>
                <a:spcPct val="90000"/>
              </a:lnSpc>
              <a:spcBef>
                <a:spcPts val="1000"/>
              </a:spcBef>
              <a:buClr>
                <a:schemeClr val="accent4"/>
              </a:buClr>
              <a:buFont typeface="Wingdings" panose="05000000000000000000" pitchFamily="2" charset="2"/>
              <a:buChar char="§"/>
            </a:pPr>
            <a:r>
              <a:rPr lang="en-US" sz="2000" dirty="0">
                <a:latin typeface="Arial" panose="020B0604020202020204" pitchFamily="34" charset="0"/>
                <a:cs typeface="Arial" panose="020B0604020202020204" pitchFamily="34" charset="0"/>
              </a:rPr>
              <a:t>Web based services</a:t>
            </a:r>
          </a:p>
          <a:p>
            <a:pPr marL="228600" indent="-228600">
              <a:lnSpc>
                <a:spcPct val="90000"/>
              </a:lnSpc>
              <a:spcBef>
                <a:spcPts val="1000"/>
              </a:spcBef>
              <a:buClr>
                <a:schemeClr val="accent4"/>
              </a:buClr>
              <a:buFont typeface="Wingdings" panose="05000000000000000000" pitchFamily="2" charset="2"/>
              <a:buChar char="§"/>
            </a:pPr>
            <a:r>
              <a:rPr lang="en-US" sz="2000" dirty="0">
                <a:latin typeface="Arial" panose="020B0604020202020204" pitchFamily="34" charset="0"/>
                <a:cs typeface="Arial" panose="020B0604020202020204" pitchFamily="34" charset="0"/>
              </a:rPr>
              <a:t>Spotify: weekly releases</a:t>
            </a:r>
          </a:p>
          <a:p>
            <a:pPr marL="228600" lvl="1" indent="-228600">
              <a:lnSpc>
                <a:spcPct val="90000"/>
              </a:lnSpc>
              <a:spcBef>
                <a:spcPts val="1000"/>
              </a:spcBef>
              <a:buClr>
                <a:schemeClr val="accent4"/>
              </a:buClr>
              <a:buFont typeface="Wingdings" panose="05000000000000000000" pitchFamily="2" charset="2"/>
              <a:buChar char="§"/>
            </a:pPr>
            <a:r>
              <a:rPr lang="en-US" sz="2000" dirty="0">
                <a:latin typeface="Arial" panose="020B0604020202020204" pitchFamily="34" charset="0"/>
                <a:cs typeface="Arial" panose="020B0604020202020204" pitchFamily="34" charset="0"/>
              </a:rPr>
              <a:t>Feature toggles and </a:t>
            </a:r>
          </a:p>
          <a:p>
            <a:pPr marL="228600" lvl="1" indent="-228600">
              <a:lnSpc>
                <a:spcPct val="90000"/>
              </a:lnSpc>
              <a:spcBef>
                <a:spcPts val="1000"/>
              </a:spcBef>
              <a:buClr>
                <a:schemeClr val="accent4"/>
              </a:buClr>
              <a:buFont typeface="Wingdings" panose="05000000000000000000" pitchFamily="2" charset="2"/>
              <a:buChar char="§"/>
            </a:pPr>
            <a:r>
              <a:rPr lang="en-US" sz="2000" dirty="0">
                <a:latin typeface="Arial" panose="020B0604020202020204" pitchFamily="34" charset="0"/>
                <a:cs typeface="Arial" panose="020B0604020202020204" pitchFamily="34" charset="0"/>
              </a:rPr>
              <a:t>Limited blast radius</a:t>
            </a:r>
          </a:p>
          <a:p>
            <a:pPr marL="228600" indent="-228600">
              <a:lnSpc>
                <a:spcPct val="90000"/>
              </a:lnSpc>
              <a:spcBef>
                <a:spcPts val="1000"/>
              </a:spcBef>
              <a:buClr>
                <a:schemeClr val="accent4"/>
              </a:buClr>
              <a:buFont typeface="Wingdings" panose="05000000000000000000" pitchFamily="2" charset="2"/>
              <a:buChar char="§"/>
            </a:pPr>
            <a:r>
              <a:rPr lang="en-US" sz="2000" dirty="0">
                <a:latin typeface="Arial" panose="020B0604020202020204" pitchFamily="34" charset="0"/>
                <a:cs typeface="Arial" panose="020B0604020202020204" pitchFamily="34" charset="0"/>
              </a:rPr>
              <a:t>Amazon: 50M, deployments in 2014, (1.5/second)</a:t>
            </a:r>
          </a:p>
          <a:p>
            <a:pPr marL="685800" lvl="1" indent="-228600">
              <a:lnSpc>
                <a:spcPct val="90000"/>
              </a:lnSpc>
              <a:spcBef>
                <a:spcPts val="1000"/>
              </a:spcBef>
              <a:buClr>
                <a:schemeClr val="accent4"/>
              </a:buClr>
              <a:buFont typeface="Wingdings" panose="05000000000000000000" pitchFamily="2" charset="2"/>
              <a:buChar char="§"/>
            </a:pPr>
            <a:r>
              <a:rPr lang="en-US" dirty="0">
                <a:latin typeface="Arial" panose="020B0604020202020204" pitchFamily="34" charset="0"/>
                <a:cs typeface="Arial" panose="020B0604020202020204" pitchFamily="34" charset="0"/>
              </a:rPr>
              <a:t>Amazon deployed new code or changes to production </a:t>
            </a:r>
            <a:r>
              <a:rPr lang="en-US" b="1" dirty="0">
                <a:latin typeface="Arial" panose="020B0604020202020204" pitchFamily="34" charset="0"/>
                <a:cs typeface="Arial" panose="020B0604020202020204" pitchFamily="34" charset="0"/>
              </a:rPr>
              <a:t>50 million times</a:t>
            </a:r>
            <a:r>
              <a:rPr lang="en-US" dirty="0">
                <a:latin typeface="Arial" panose="020B0604020202020204" pitchFamily="34" charset="0"/>
                <a:cs typeface="Arial" panose="020B0604020202020204" pitchFamily="34" charset="0"/>
              </a:rPr>
              <a:t> in 2014.</a:t>
            </a:r>
          </a:p>
          <a:p>
            <a:pPr marL="685800" lvl="1" indent="-228600">
              <a:lnSpc>
                <a:spcPct val="90000"/>
              </a:lnSpc>
              <a:spcBef>
                <a:spcPts val="1000"/>
              </a:spcBef>
              <a:buClr>
                <a:schemeClr val="accent4"/>
              </a:buClr>
              <a:buFont typeface="Wingdings" panose="05000000000000000000" pitchFamily="2" charset="2"/>
              <a:buChar char="§"/>
            </a:pPr>
            <a:r>
              <a:rPr lang="en-US" dirty="0">
                <a:latin typeface="Arial" panose="020B0604020202020204" pitchFamily="34" charset="0"/>
                <a:cs typeface="Arial" panose="020B0604020202020204" pitchFamily="34" charset="0"/>
              </a:rPr>
              <a:t>That averages out to </a:t>
            </a:r>
            <a:r>
              <a:rPr lang="en-US" b="1" dirty="0">
                <a:latin typeface="Arial" panose="020B0604020202020204" pitchFamily="34" charset="0"/>
                <a:cs typeface="Arial" panose="020B0604020202020204" pitchFamily="34" charset="0"/>
              </a:rPr>
              <a:t>1.5 deployments per second </a:t>
            </a:r>
            <a:r>
              <a:rPr lang="en-US" dirty="0">
                <a:latin typeface="Arial" panose="020B0604020202020204" pitchFamily="34" charset="0"/>
                <a:cs typeface="Arial" panose="020B0604020202020204" pitchFamily="34" charset="0"/>
              </a:rPr>
              <a:t>across its infrastructure.</a:t>
            </a:r>
          </a:p>
          <a:p>
            <a:pPr marL="228600" indent="-228600">
              <a:lnSpc>
                <a:spcPct val="90000"/>
              </a:lnSpc>
              <a:spcBef>
                <a:spcPts val="1000"/>
              </a:spcBef>
              <a:buClr>
                <a:schemeClr val="accent4"/>
              </a:buClr>
              <a:buFont typeface="Wingdings" panose="05000000000000000000" pitchFamily="2" charset="2"/>
              <a:buChar char="§"/>
            </a:pPr>
            <a:r>
              <a:rPr lang="en-US" sz="2000" dirty="0">
                <a:latin typeface="Arial" panose="020B0604020202020204" pitchFamily="34" charset="0"/>
                <a:cs typeface="Arial" panose="020B0604020202020204" pitchFamily="34" charset="0"/>
              </a:rPr>
              <a:t>Netflix, Facebook</a:t>
            </a:r>
            <a:endParaRPr lang="en-US"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D6A1BB5-0746-B7C5-DC1C-D0A499CB355B}"/>
              </a:ext>
            </a:extLst>
          </p:cNvPr>
          <p:cNvSpPr>
            <a:spLocks noGrp="1"/>
          </p:cNvSpPr>
          <p:nvPr>
            <p:ph type="sldNum" sz="quarter" idx="12"/>
          </p:nvPr>
        </p:nvSpPr>
        <p:spPr>
          <a:xfrm>
            <a:off x="9375913" y="6276840"/>
            <a:ext cx="2743200" cy="365125"/>
          </a:xfrm>
        </p:spPr>
        <p:txBody>
          <a:bodyPr vert="horz" lIns="91440" tIns="45720" rIns="91440" bIns="45720" rtlCol="0" anchor="ctr">
            <a:normAutofit/>
          </a:bodyPr>
          <a:lstStyle/>
          <a:p>
            <a:pPr>
              <a:spcAft>
                <a:spcPts val="600"/>
              </a:spcAft>
            </a:pPr>
            <a:fld id="{4267CD5E-26CF-4249-8540-BB1D07FD4227}" type="slidenum">
              <a:rPr lang="en-US" smtClean="0"/>
              <a:pPr>
                <a:spcAft>
                  <a:spcPts val="600"/>
                </a:spcAft>
              </a:pPr>
              <a:t>12</a:t>
            </a:fld>
            <a:endParaRPr lang="en-US"/>
          </a:p>
        </p:txBody>
      </p:sp>
    </p:spTree>
    <p:extLst>
      <p:ext uri="{BB962C8B-B14F-4D97-AF65-F5344CB8AC3E}">
        <p14:creationId xmlns:p14="http://schemas.microsoft.com/office/powerpoint/2010/main" val="17053213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EB9D3-47D6-A04A-87A4-6FEBFBDFFF9B}"/>
              </a:ext>
            </a:extLst>
          </p:cNvPr>
          <p:cNvSpPr>
            <a:spLocks noGrp="1"/>
          </p:cNvSpPr>
          <p:nvPr>
            <p:ph type="title"/>
          </p:nvPr>
        </p:nvSpPr>
        <p:spPr>
          <a:xfrm>
            <a:off x="644769" y="365125"/>
            <a:ext cx="10710619" cy="1325563"/>
          </a:xfrm>
        </p:spPr>
        <p:txBody>
          <a:bodyPr anchor="t">
            <a:normAutofit/>
          </a:bodyPr>
          <a:lstStyle/>
          <a:p>
            <a:r>
              <a:rPr lang="en-US" dirty="0"/>
              <a:t>DevOps Solution</a:t>
            </a:r>
            <a:br>
              <a:rPr lang="en-US" dirty="0"/>
            </a:br>
            <a:endParaRPr lang="en-US" dirty="0"/>
          </a:p>
        </p:txBody>
      </p:sp>
      <p:sp>
        <p:nvSpPr>
          <p:cNvPr id="3" name="Content Placeholder 2">
            <a:extLst>
              <a:ext uri="{FF2B5EF4-FFF2-40B4-BE49-F238E27FC236}">
                <a16:creationId xmlns:a16="http://schemas.microsoft.com/office/drawing/2014/main" id="{D6677420-65EB-A2E7-302D-8F602131EBE5}"/>
              </a:ext>
            </a:extLst>
          </p:cNvPr>
          <p:cNvSpPr>
            <a:spLocks noGrp="1"/>
          </p:cNvSpPr>
          <p:nvPr>
            <p:ph sz="half" idx="1"/>
          </p:nvPr>
        </p:nvSpPr>
        <p:spPr>
          <a:xfrm>
            <a:off x="644769" y="1527049"/>
            <a:ext cx="5181600" cy="4649916"/>
          </a:xfrm>
        </p:spPr>
        <p:txBody>
          <a:bodyPr>
            <a:normAutofit/>
          </a:bodyPr>
          <a:lstStyle/>
          <a:p>
            <a:pPr marL="342900" indent="-342900">
              <a:buFont typeface="Wingdings" panose="05000000000000000000" pitchFamily="2" charset="2"/>
              <a:buChar char="§"/>
            </a:pPr>
            <a:r>
              <a:rPr lang="en-US" sz="2400" dirty="0">
                <a:latin typeface="Arial" panose="020B0604020202020204" pitchFamily="34" charset="0"/>
                <a:cs typeface="Arial" panose="020B0604020202020204" pitchFamily="34" charset="0"/>
              </a:rPr>
              <a:t>Tear down the silos!</a:t>
            </a:r>
            <a:endParaRPr lang="en-US" sz="2400"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Break down barriers between teams</a:t>
            </a:r>
            <a:r>
              <a:rPr lang="en-US" dirty="0">
                <a:latin typeface="Arial" panose="020B0604020202020204" pitchFamily="34" charset="0"/>
                <a:cs typeface="Arial" panose="020B0604020202020204" pitchFamily="34" charset="0"/>
              </a:rPr>
              <a:t> (e.g., Dev, Ops, QA, Security).</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Promote cross-functional collaboration</a:t>
            </a:r>
            <a:r>
              <a:rPr lang="en-US" dirty="0">
                <a:latin typeface="Arial" panose="020B0604020202020204" pitchFamily="34" charset="0"/>
                <a:cs typeface="Arial" panose="020B0604020202020204" pitchFamily="34" charset="0"/>
              </a:rPr>
              <a:t> instead of isolated workstreams.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Encourage shared responsibility</a:t>
            </a:r>
            <a:r>
              <a:rPr lang="en-US" dirty="0">
                <a:latin typeface="Arial" panose="020B0604020202020204" pitchFamily="34" charset="0"/>
                <a:cs typeface="Arial" panose="020B0604020202020204" pitchFamily="34" charset="0"/>
              </a:rPr>
              <a:t> for the product lifecycle, from development to deployment.</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Improve communication and transparency</a:t>
            </a:r>
            <a:r>
              <a:rPr lang="en-US" dirty="0">
                <a:latin typeface="Arial" panose="020B0604020202020204" pitchFamily="34" charset="0"/>
                <a:cs typeface="Arial" panose="020B0604020202020204" pitchFamily="34" charset="0"/>
              </a:rPr>
              <a:t> across departments.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Reduce handoffs and delays</a:t>
            </a:r>
            <a:r>
              <a:rPr lang="en-US" dirty="0">
                <a:latin typeface="Arial" panose="020B0604020202020204" pitchFamily="34" charset="0"/>
                <a:cs typeface="Arial" panose="020B0604020202020204" pitchFamily="34" charset="0"/>
              </a:rPr>
              <a:t> that occur when teams work in isolation.</a:t>
            </a:r>
          </a:p>
          <a:p>
            <a:pPr marL="342900" indent="-342900">
              <a:buFont typeface="Wingdings" panose="05000000000000000000" pitchFamily="2" charset="2"/>
              <a:buChar char="§"/>
            </a:pPr>
            <a:r>
              <a:rPr lang="en-US" sz="2000" dirty="0">
                <a:latin typeface="Arial" panose="020B0604020202020204" pitchFamily="34" charset="0"/>
                <a:cs typeface="Arial" panose="020B0604020202020204" pitchFamily="34" charset="0"/>
              </a:rPr>
              <a:t>Breaking down silos = Encouraging collaboration, communication, and shared responsibility across teams.</a:t>
            </a:r>
          </a:p>
        </p:txBody>
      </p:sp>
      <p:pic>
        <p:nvPicPr>
          <p:cNvPr id="8" name="Picture 7">
            <a:extLst>
              <a:ext uri="{FF2B5EF4-FFF2-40B4-BE49-F238E27FC236}">
                <a16:creationId xmlns:a16="http://schemas.microsoft.com/office/drawing/2014/main" id="{21E71E1B-C0E2-0FE1-CDB8-113E41AD00D7}"/>
              </a:ext>
            </a:extLst>
          </p:cNvPr>
          <p:cNvPicPr>
            <a:picLocks noChangeAspect="1"/>
          </p:cNvPicPr>
          <p:nvPr/>
        </p:nvPicPr>
        <p:blipFill>
          <a:blip r:embed="rId2"/>
          <a:stretch>
            <a:fillRect/>
          </a:stretch>
        </p:blipFill>
        <p:spPr>
          <a:xfrm>
            <a:off x="6172200" y="2692940"/>
            <a:ext cx="5181600" cy="2616708"/>
          </a:xfrm>
          <a:prstGeom prst="rect">
            <a:avLst/>
          </a:prstGeom>
          <a:noFill/>
        </p:spPr>
      </p:pic>
      <p:sp>
        <p:nvSpPr>
          <p:cNvPr id="6" name="Slide Number Placeholder 5">
            <a:extLst>
              <a:ext uri="{FF2B5EF4-FFF2-40B4-BE49-F238E27FC236}">
                <a16:creationId xmlns:a16="http://schemas.microsoft.com/office/drawing/2014/main" id="{0C95B905-76F3-13CB-7C45-9D3D961C909D}"/>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13</a:t>
            </a:fld>
            <a:endParaRPr lang="en-US"/>
          </a:p>
        </p:txBody>
      </p:sp>
    </p:spTree>
    <p:extLst>
      <p:ext uri="{BB962C8B-B14F-4D97-AF65-F5344CB8AC3E}">
        <p14:creationId xmlns:p14="http://schemas.microsoft.com/office/powerpoint/2010/main" val="3377547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1F629-C5E8-9BD8-7AE4-220F3E23E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2323A3-3864-7500-52C9-9938D656791E}"/>
              </a:ext>
            </a:extLst>
          </p:cNvPr>
          <p:cNvSpPr>
            <a:spLocks noGrp="1"/>
          </p:cNvSpPr>
          <p:nvPr>
            <p:ph type="title"/>
          </p:nvPr>
        </p:nvSpPr>
        <p:spPr>
          <a:xfrm>
            <a:off x="644769" y="365125"/>
            <a:ext cx="10710619" cy="1325563"/>
          </a:xfrm>
        </p:spPr>
        <p:txBody>
          <a:bodyPr anchor="t">
            <a:normAutofit/>
          </a:bodyPr>
          <a:lstStyle/>
          <a:p>
            <a:r>
              <a:rPr lang="en-US" dirty="0"/>
              <a:t>DevOps Solution</a:t>
            </a:r>
            <a:br>
              <a:rPr lang="en-US" dirty="0"/>
            </a:br>
            <a:endParaRPr lang="en-US" dirty="0"/>
          </a:p>
        </p:txBody>
      </p:sp>
      <p:sp>
        <p:nvSpPr>
          <p:cNvPr id="3" name="Content Placeholder 2">
            <a:extLst>
              <a:ext uri="{FF2B5EF4-FFF2-40B4-BE49-F238E27FC236}">
                <a16:creationId xmlns:a16="http://schemas.microsoft.com/office/drawing/2014/main" id="{C8FD5FD1-C400-A213-30AF-2DAB18E2E274}"/>
              </a:ext>
            </a:extLst>
          </p:cNvPr>
          <p:cNvSpPr>
            <a:spLocks noGrp="1"/>
          </p:cNvSpPr>
          <p:nvPr>
            <p:ph sz="half" idx="1"/>
          </p:nvPr>
        </p:nvSpPr>
        <p:spPr>
          <a:xfrm>
            <a:off x="644769" y="1825625"/>
            <a:ext cx="5181600" cy="4351339"/>
          </a:xfrm>
        </p:spPr>
        <p:txBody>
          <a:bodyPr>
            <a:normAutofit/>
          </a:bodyPr>
          <a:lstStyle/>
          <a:p>
            <a:pPr marL="342900" indent="-342900">
              <a:buFont typeface="Wingdings" panose="05000000000000000000" pitchFamily="2" charset="2"/>
              <a:buChar char="§"/>
            </a:pPr>
            <a:r>
              <a:rPr lang="en-US" sz="2400" dirty="0">
                <a:latin typeface="Arial" panose="020B0604020202020204" pitchFamily="34" charset="0"/>
                <a:cs typeface="Arial" panose="020B0604020202020204" pitchFamily="34" charset="0"/>
              </a:rPr>
              <a:t>Re-integrate IT to deliver business value faster and better </a:t>
            </a:r>
            <a:endParaRPr lang="en-US" sz="2400"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Align IT teams with business goals</a:t>
            </a:r>
            <a:r>
              <a:rPr lang="en-US" dirty="0">
                <a:latin typeface="Arial" panose="020B0604020202020204" pitchFamily="34" charset="0"/>
                <a:cs typeface="Arial" panose="020B0604020202020204" pitchFamily="34" charset="0"/>
              </a:rPr>
              <a:t> to ensure technical work drives real value.</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Adopt unified workflows</a:t>
            </a:r>
            <a:r>
              <a:rPr lang="en-US" dirty="0">
                <a:latin typeface="Arial" panose="020B0604020202020204" pitchFamily="34" charset="0"/>
                <a:cs typeface="Arial" panose="020B0604020202020204" pitchFamily="34" charset="0"/>
              </a:rPr>
              <a:t> that span development, operations, and business stakeholders.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Use shared tools and platforms</a:t>
            </a:r>
            <a:r>
              <a:rPr lang="en-US" dirty="0">
                <a:latin typeface="Arial" panose="020B0604020202020204" pitchFamily="34" charset="0"/>
                <a:cs typeface="Arial" panose="020B0604020202020204" pitchFamily="34" charset="0"/>
              </a:rPr>
              <a:t> for continuous integration, deployment, and monitoring.</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Foster a culture of collaboration</a:t>
            </a:r>
            <a:r>
              <a:rPr lang="en-US" dirty="0">
                <a:latin typeface="Arial" panose="020B0604020202020204" pitchFamily="34" charset="0"/>
                <a:cs typeface="Arial" panose="020B0604020202020204" pitchFamily="34" charset="0"/>
              </a:rPr>
              <a:t> between developers, operations, and business units.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Enable end-to-end visibility</a:t>
            </a:r>
            <a:r>
              <a:rPr lang="en-US" dirty="0">
                <a:latin typeface="Arial" panose="020B0604020202020204" pitchFamily="34" charset="0"/>
                <a:cs typeface="Arial" panose="020B0604020202020204" pitchFamily="34" charset="0"/>
              </a:rPr>
              <a:t> into the value stream from idea to production.</a:t>
            </a:r>
          </a:p>
          <a:p>
            <a:pPr marL="342900" indent="-342900">
              <a:buFont typeface="Wingdings" panose="05000000000000000000" pitchFamily="2" charset="2"/>
              <a:buChar char="§"/>
            </a:pPr>
            <a:endParaRPr lang="en-US" sz="24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9735BE45-78B5-2901-9F81-FC15F8CFC80E}"/>
              </a:ext>
            </a:extLst>
          </p:cNvPr>
          <p:cNvPicPr>
            <a:picLocks noChangeAspect="1"/>
          </p:cNvPicPr>
          <p:nvPr/>
        </p:nvPicPr>
        <p:blipFill>
          <a:blip r:embed="rId2"/>
          <a:stretch>
            <a:fillRect/>
          </a:stretch>
        </p:blipFill>
        <p:spPr>
          <a:xfrm>
            <a:off x="6172200" y="2692940"/>
            <a:ext cx="5181600" cy="2616708"/>
          </a:xfrm>
          <a:prstGeom prst="rect">
            <a:avLst/>
          </a:prstGeom>
          <a:noFill/>
        </p:spPr>
      </p:pic>
      <p:sp>
        <p:nvSpPr>
          <p:cNvPr id="6" name="Slide Number Placeholder 5">
            <a:extLst>
              <a:ext uri="{FF2B5EF4-FFF2-40B4-BE49-F238E27FC236}">
                <a16:creationId xmlns:a16="http://schemas.microsoft.com/office/drawing/2014/main" id="{E7A49D43-9E9C-C5BE-F36F-BE06FE8ECABF}"/>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14</a:t>
            </a:fld>
            <a:endParaRPr lang="en-US"/>
          </a:p>
        </p:txBody>
      </p:sp>
    </p:spTree>
    <p:extLst>
      <p:ext uri="{BB962C8B-B14F-4D97-AF65-F5344CB8AC3E}">
        <p14:creationId xmlns:p14="http://schemas.microsoft.com/office/powerpoint/2010/main" val="2042936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338A9-E601-A002-59A4-6333360134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3376D7-0F32-85AF-BC9E-7A9D329BFED3}"/>
              </a:ext>
            </a:extLst>
          </p:cNvPr>
          <p:cNvSpPr>
            <a:spLocks noGrp="1"/>
          </p:cNvSpPr>
          <p:nvPr>
            <p:ph type="title"/>
          </p:nvPr>
        </p:nvSpPr>
        <p:spPr>
          <a:xfrm>
            <a:off x="644769" y="365125"/>
            <a:ext cx="10710619" cy="1325563"/>
          </a:xfrm>
        </p:spPr>
        <p:txBody>
          <a:bodyPr anchor="t">
            <a:normAutofit/>
          </a:bodyPr>
          <a:lstStyle/>
          <a:p>
            <a:r>
              <a:rPr lang="en-US" dirty="0"/>
              <a:t>DevOps Solution</a:t>
            </a:r>
            <a:br>
              <a:rPr lang="en-US" dirty="0"/>
            </a:br>
            <a:endParaRPr lang="en-US" dirty="0"/>
          </a:p>
        </p:txBody>
      </p:sp>
      <p:sp>
        <p:nvSpPr>
          <p:cNvPr id="3" name="Content Placeholder 2">
            <a:extLst>
              <a:ext uri="{FF2B5EF4-FFF2-40B4-BE49-F238E27FC236}">
                <a16:creationId xmlns:a16="http://schemas.microsoft.com/office/drawing/2014/main" id="{1C85FE55-8AA2-9FF7-D537-5261CAF60F3D}"/>
              </a:ext>
            </a:extLst>
          </p:cNvPr>
          <p:cNvSpPr>
            <a:spLocks noGrp="1"/>
          </p:cNvSpPr>
          <p:nvPr>
            <p:ph sz="half" idx="1"/>
          </p:nvPr>
        </p:nvSpPr>
        <p:spPr>
          <a:xfrm>
            <a:off x="644769" y="1825625"/>
            <a:ext cx="5181600" cy="4351339"/>
          </a:xfrm>
        </p:spPr>
        <p:txBody>
          <a:bodyPr>
            <a:normAutofit/>
          </a:bodyPr>
          <a:lstStyle/>
          <a:p>
            <a:pPr marL="342900" indent="-342900">
              <a:buFont typeface="Wingdings" panose="05000000000000000000" pitchFamily="2" charset="2"/>
              <a:buChar char="§"/>
            </a:pPr>
            <a:r>
              <a:rPr lang="en-US" sz="2400" dirty="0">
                <a:latin typeface="Arial" panose="020B0604020202020204" pitchFamily="34" charset="0"/>
                <a:cs typeface="Arial" panose="020B0604020202020204" pitchFamily="34" charset="0"/>
              </a:rPr>
              <a:t>To deliver business value faster and better </a:t>
            </a:r>
            <a:endParaRPr lang="en-US"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Accelerate delivery cycles</a:t>
            </a:r>
            <a:r>
              <a:rPr lang="en-US" dirty="0">
                <a:latin typeface="Arial" panose="020B0604020202020204" pitchFamily="34" charset="0"/>
                <a:cs typeface="Arial" panose="020B0604020202020204" pitchFamily="34" charset="0"/>
              </a:rPr>
              <a:t> with automation, CI/CD, and agile practices.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Improve quality and stability</a:t>
            </a:r>
            <a:r>
              <a:rPr lang="en-US" dirty="0">
                <a:latin typeface="Arial" panose="020B0604020202020204" pitchFamily="34" charset="0"/>
                <a:cs typeface="Arial" panose="020B0604020202020204" pitchFamily="34" charset="0"/>
              </a:rPr>
              <a:t> through collaboration and early feedback.</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Respond quickly to changes</a:t>
            </a:r>
            <a:r>
              <a:rPr lang="en-US" dirty="0">
                <a:latin typeface="Arial" panose="020B0604020202020204" pitchFamily="34" charset="0"/>
                <a:cs typeface="Arial" panose="020B0604020202020204" pitchFamily="34" charset="0"/>
              </a:rPr>
              <a:t> in market or customer needs.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Continuously improve</a:t>
            </a:r>
            <a:r>
              <a:rPr lang="en-US" dirty="0">
                <a:latin typeface="Arial" panose="020B0604020202020204" pitchFamily="34" charset="0"/>
                <a:cs typeface="Arial" panose="020B0604020202020204" pitchFamily="34" charset="0"/>
              </a:rPr>
              <a:t> based on metrics, feedback, and retrospectives.</a:t>
            </a:r>
          </a:p>
          <a:p>
            <a:pPr lvl="1">
              <a:buFont typeface="Arial" panose="020B0604020202020204" pitchFamily="34" charset="0"/>
              <a:buChar char="•"/>
            </a:pPr>
            <a:r>
              <a:rPr lang="en-US" b="1" dirty="0">
                <a:latin typeface="Arial" panose="020B0604020202020204" pitchFamily="34" charset="0"/>
                <a:cs typeface="Arial" panose="020B0604020202020204" pitchFamily="34" charset="0"/>
              </a:rPr>
              <a:t>Deliver features that matter</a:t>
            </a:r>
            <a:r>
              <a:rPr lang="en-US" dirty="0">
                <a:latin typeface="Arial" panose="020B0604020202020204" pitchFamily="34" charset="0"/>
                <a:cs typeface="Arial" panose="020B0604020202020204" pitchFamily="34" charset="0"/>
              </a:rPr>
              <a:t> because everyone is focused on the same business outcomes.</a:t>
            </a:r>
          </a:p>
          <a:p>
            <a:pPr marL="342900" indent="-342900">
              <a:buFont typeface="Wingdings" panose="05000000000000000000" pitchFamily="2" charset="2"/>
              <a:buChar char="§"/>
            </a:pPr>
            <a:endParaRPr lang="en-US" sz="24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D9B3534C-BEEB-FABA-05FB-9A7A8E0C7EBA}"/>
              </a:ext>
            </a:extLst>
          </p:cNvPr>
          <p:cNvPicPr>
            <a:picLocks noChangeAspect="1"/>
          </p:cNvPicPr>
          <p:nvPr/>
        </p:nvPicPr>
        <p:blipFill>
          <a:blip r:embed="rId2"/>
          <a:stretch>
            <a:fillRect/>
          </a:stretch>
        </p:blipFill>
        <p:spPr>
          <a:xfrm>
            <a:off x="6172200" y="2692940"/>
            <a:ext cx="5181600" cy="2616708"/>
          </a:xfrm>
          <a:prstGeom prst="rect">
            <a:avLst/>
          </a:prstGeom>
          <a:noFill/>
        </p:spPr>
      </p:pic>
      <p:sp>
        <p:nvSpPr>
          <p:cNvPr id="6" name="Slide Number Placeholder 5">
            <a:extLst>
              <a:ext uri="{FF2B5EF4-FFF2-40B4-BE49-F238E27FC236}">
                <a16:creationId xmlns:a16="http://schemas.microsoft.com/office/drawing/2014/main" id="{85A81D79-12F3-CB4F-9E72-E0B02751B0DA}"/>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15</a:t>
            </a:fld>
            <a:endParaRPr lang="en-US"/>
          </a:p>
        </p:txBody>
      </p:sp>
    </p:spTree>
    <p:extLst>
      <p:ext uri="{BB962C8B-B14F-4D97-AF65-F5344CB8AC3E}">
        <p14:creationId xmlns:p14="http://schemas.microsoft.com/office/powerpoint/2010/main" val="29712109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BB1C0-2992-6CFD-7C34-187B1E5AD45E}"/>
              </a:ext>
            </a:extLst>
          </p:cNvPr>
          <p:cNvSpPr>
            <a:spLocks noGrp="1"/>
          </p:cNvSpPr>
          <p:nvPr>
            <p:ph type="title"/>
          </p:nvPr>
        </p:nvSpPr>
        <p:spPr/>
        <p:txBody>
          <a:bodyPr/>
          <a:lstStyle/>
          <a:p>
            <a:r>
              <a:rPr lang="en-US" dirty="0"/>
              <a:t>The Five Key Principles of DevOps</a:t>
            </a:r>
          </a:p>
        </p:txBody>
      </p:sp>
      <p:sp>
        <p:nvSpPr>
          <p:cNvPr id="3" name="Content Placeholder 2">
            <a:extLst>
              <a:ext uri="{FF2B5EF4-FFF2-40B4-BE49-F238E27FC236}">
                <a16:creationId xmlns:a16="http://schemas.microsoft.com/office/drawing/2014/main" id="{F6932C6B-D37F-5D37-19FE-9E15A2358CAB}"/>
              </a:ext>
            </a:extLst>
          </p:cNvPr>
          <p:cNvSpPr>
            <a:spLocks noGrp="1"/>
          </p:cNvSpPr>
          <p:nvPr>
            <p:ph sz="half" idx="1"/>
          </p:nvPr>
        </p:nvSpPr>
        <p:spPr>
          <a:xfrm>
            <a:off x="644768" y="1825625"/>
            <a:ext cx="10710619" cy="4351339"/>
          </a:xfrm>
        </p:spPr>
        <p:txBody>
          <a:bodyPr>
            <a:normAutofit/>
          </a:bodyPr>
          <a:lstStyle/>
          <a:p>
            <a:pPr marL="342900" indent="-342900">
              <a:buFont typeface="+mj-lt"/>
              <a:buAutoNum type="arabicPeriod"/>
            </a:pPr>
            <a:r>
              <a:rPr lang="en-US" sz="2000" b="1" dirty="0">
                <a:latin typeface="Arial" panose="020B0604020202020204" pitchFamily="34" charset="0"/>
                <a:cs typeface="Arial" panose="020B0604020202020204" pitchFamily="34" charset="0"/>
              </a:rPr>
              <a:t>Collaboration and Communication</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DevOps emphasizes the importance of seamless communication and collaboration between development, operations, and other departments involved in the software lifecycle.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By breaking down silos, teams can work more efficiently, share insights, and solve problems faster, ultimately improving the quality and speed of software delivery.</a:t>
            </a:r>
          </a:p>
          <a:p>
            <a:pPr marL="342900" indent="-342900">
              <a:buFont typeface="+mj-lt"/>
              <a:buAutoNum type="arabicPeriod" startAt="2"/>
            </a:pPr>
            <a:r>
              <a:rPr lang="en-US" sz="2000" b="1" dirty="0">
                <a:latin typeface="Arial" panose="020B0604020202020204" pitchFamily="34" charset="0"/>
                <a:cs typeface="Arial" panose="020B0604020202020204" pitchFamily="34" charset="0"/>
              </a:rPr>
              <a:t>Automation</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Automation is a core principle of DevOps, focusing on automating repetitive tasks, such as code integration, testing, deployment, and infrastructure management.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By automating these processes, DevOps helps reduce human error, speed up workflows, and ensure consistent, reliable outcomes.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Automation tools like CI/CD pipelines, configuration management, and containerization play a significant role in this process.</a:t>
            </a:r>
          </a:p>
          <a:p>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DDD7C3BB-70D9-D2A3-06D1-08C728B715E7}"/>
              </a:ext>
            </a:extLst>
          </p:cNvPr>
          <p:cNvSpPr>
            <a:spLocks noGrp="1"/>
          </p:cNvSpPr>
          <p:nvPr>
            <p:ph type="sldNum" sz="quarter" idx="12"/>
          </p:nvPr>
        </p:nvSpPr>
        <p:spPr/>
        <p:txBody>
          <a:bodyPr/>
          <a:lstStyle/>
          <a:p>
            <a:fld id="{4267CD5E-26CF-4249-8540-BB1D07FD4227}" type="slidenum">
              <a:rPr lang="en-US" smtClean="0"/>
              <a:t>16</a:t>
            </a:fld>
            <a:endParaRPr lang="en-US"/>
          </a:p>
        </p:txBody>
      </p:sp>
    </p:spTree>
    <p:extLst>
      <p:ext uri="{BB962C8B-B14F-4D97-AF65-F5344CB8AC3E}">
        <p14:creationId xmlns:p14="http://schemas.microsoft.com/office/powerpoint/2010/main" val="3092363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F6F9D-FF04-871E-3629-052A975D0B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C5C4F-4AE0-47A8-ECD8-0308FE79994B}"/>
              </a:ext>
            </a:extLst>
          </p:cNvPr>
          <p:cNvSpPr>
            <a:spLocks noGrp="1"/>
          </p:cNvSpPr>
          <p:nvPr>
            <p:ph type="title"/>
          </p:nvPr>
        </p:nvSpPr>
        <p:spPr/>
        <p:txBody>
          <a:bodyPr/>
          <a:lstStyle/>
          <a:p>
            <a:r>
              <a:rPr lang="en-US" dirty="0"/>
              <a:t>The Five Key Principles of DevOps</a:t>
            </a:r>
          </a:p>
        </p:txBody>
      </p:sp>
      <p:sp>
        <p:nvSpPr>
          <p:cNvPr id="3" name="Content Placeholder 2">
            <a:extLst>
              <a:ext uri="{FF2B5EF4-FFF2-40B4-BE49-F238E27FC236}">
                <a16:creationId xmlns:a16="http://schemas.microsoft.com/office/drawing/2014/main" id="{344737C9-D7EA-E009-F2F9-0818997D6ABB}"/>
              </a:ext>
            </a:extLst>
          </p:cNvPr>
          <p:cNvSpPr>
            <a:spLocks noGrp="1"/>
          </p:cNvSpPr>
          <p:nvPr>
            <p:ph sz="half" idx="1"/>
          </p:nvPr>
        </p:nvSpPr>
        <p:spPr>
          <a:xfrm>
            <a:off x="644768" y="1825625"/>
            <a:ext cx="10710619" cy="4351339"/>
          </a:xfrm>
        </p:spPr>
        <p:txBody>
          <a:bodyPr>
            <a:normAutofit/>
          </a:bodyPr>
          <a:lstStyle/>
          <a:p>
            <a:pPr marL="342900" indent="-342900">
              <a:buFont typeface="+mj-lt"/>
              <a:buAutoNum type="arabicPeriod" startAt="3"/>
            </a:pPr>
            <a:r>
              <a:rPr lang="en-US" sz="2000" b="1" dirty="0">
                <a:latin typeface="Arial" panose="020B0604020202020204" pitchFamily="34" charset="0"/>
                <a:cs typeface="Arial" panose="020B0604020202020204" pitchFamily="34" charset="0"/>
              </a:rPr>
              <a:t>Continuous Integration and Continuous Delivery (CI/CD)</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Continuous integration involves regularly merging code changes into a shared repository, followed by automated builds and testing to detect issues early.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Continuous delivery takes this a step further by ensuring that the code is always in a deployable state, making it easy to release updates rapidly and safely.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These practices help reduce time-to-market and improve the frequency of software releases.</a:t>
            </a:r>
          </a:p>
          <a:p>
            <a:pPr marL="342900" indent="-342900">
              <a:buFont typeface="+mj-lt"/>
              <a:buAutoNum type="arabicPeriod" startAt="4"/>
            </a:pPr>
            <a:r>
              <a:rPr lang="en-US" sz="2000" b="1" dirty="0">
                <a:latin typeface="Arial" panose="020B0604020202020204" pitchFamily="34" charset="0"/>
                <a:cs typeface="Arial" panose="020B0604020202020204" pitchFamily="34" charset="0"/>
              </a:rPr>
              <a:t>Monitoring and Feedback</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Continuous monitoring and feedback are essential in DevOps for identifying performance issues, bugs, or inefficiencies in real time.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By actively monitoring applications, infrastructure, and user interactions, teams can detect problems early and make improvements.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Feedback loops provide the insights necessary for continuous improvement, ensuring that software is both performant and meets user needs.</a:t>
            </a:r>
          </a:p>
          <a:p>
            <a:pPr>
              <a:buNone/>
            </a:pP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C8D39F79-5541-C85C-CC2A-F7ADD3524B0B}"/>
              </a:ext>
            </a:extLst>
          </p:cNvPr>
          <p:cNvSpPr>
            <a:spLocks noGrp="1"/>
          </p:cNvSpPr>
          <p:nvPr>
            <p:ph type="sldNum" sz="quarter" idx="12"/>
          </p:nvPr>
        </p:nvSpPr>
        <p:spPr/>
        <p:txBody>
          <a:bodyPr/>
          <a:lstStyle/>
          <a:p>
            <a:fld id="{4267CD5E-26CF-4249-8540-BB1D07FD4227}" type="slidenum">
              <a:rPr lang="en-US" smtClean="0"/>
              <a:t>17</a:t>
            </a:fld>
            <a:endParaRPr lang="en-US"/>
          </a:p>
        </p:txBody>
      </p:sp>
    </p:spTree>
    <p:extLst>
      <p:ext uri="{BB962C8B-B14F-4D97-AF65-F5344CB8AC3E}">
        <p14:creationId xmlns:p14="http://schemas.microsoft.com/office/powerpoint/2010/main" val="35424591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E9475-9A67-97DA-E2A4-B974B4339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09EDD-356F-ECF5-D2B4-B3CB251A07E3}"/>
              </a:ext>
            </a:extLst>
          </p:cNvPr>
          <p:cNvSpPr>
            <a:spLocks noGrp="1"/>
          </p:cNvSpPr>
          <p:nvPr>
            <p:ph type="title"/>
          </p:nvPr>
        </p:nvSpPr>
        <p:spPr/>
        <p:txBody>
          <a:bodyPr/>
          <a:lstStyle/>
          <a:p>
            <a:r>
              <a:rPr lang="en-US" dirty="0"/>
              <a:t>The Five Key Principles of DevOps</a:t>
            </a:r>
          </a:p>
        </p:txBody>
      </p:sp>
      <p:sp>
        <p:nvSpPr>
          <p:cNvPr id="3" name="Content Placeholder 2">
            <a:extLst>
              <a:ext uri="{FF2B5EF4-FFF2-40B4-BE49-F238E27FC236}">
                <a16:creationId xmlns:a16="http://schemas.microsoft.com/office/drawing/2014/main" id="{107EAEE3-6B48-8343-6665-759BC05C51C8}"/>
              </a:ext>
            </a:extLst>
          </p:cNvPr>
          <p:cNvSpPr>
            <a:spLocks noGrp="1"/>
          </p:cNvSpPr>
          <p:nvPr>
            <p:ph sz="half" idx="1"/>
          </p:nvPr>
        </p:nvSpPr>
        <p:spPr>
          <a:xfrm>
            <a:off x="644768" y="1825625"/>
            <a:ext cx="10710619" cy="4351339"/>
          </a:xfrm>
        </p:spPr>
        <p:txBody>
          <a:bodyPr>
            <a:normAutofit/>
          </a:bodyPr>
          <a:lstStyle/>
          <a:p>
            <a:pPr marL="457200" indent="-457200">
              <a:buFont typeface="+mj-lt"/>
              <a:buAutoNum type="arabicPeriod" startAt="5"/>
            </a:pPr>
            <a:r>
              <a:rPr lang="en-US" sz="2400" b="1" dirty="0">
                <a:latin typeface="Arial" panose="020B0604020202020204" pitchFamily="34" charset="0"/>
                <a:cs typeface="Arial" panose="020B0604020202020204" pitchFamily="34" charset="0"/>
              </a:rPr>
              <a:t>Infrastructure as Code (</a:t>
            </a:r>
            <a:r>
              <a:rPr lang="en-US" sz="2400" b="1" dirty="0" err="1">
                <a:latin typeface="Arial" panose="020B0604020202020204" pitchFamily="34" charset="0"/>
                <a:cs typeface="Arial" panose="020B0604020202020204" pitchFamily="34" charset="0"/>
              </a:rPr>
              <a:t>IaC</a:t>
            </a:r>
            <a:r>
              <a:rPr lang="en-US" sz="2400" b="1" dirty="0">
                <a:latin typeface="Arial" panose="020B0604020202020204" pitchFamily="34" charset="0"/>
                <a:cs typeface="Arial" panose="020B0604020202020204" pitchFamily="34" charset="0"/>
              </a:rPr>
              <a:t>)</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Infrastructure as Code involves managing and provisioning infrastructure through code rather than manual processes. </a:t>
            </a:r>
          </a:p>
          <a:p>
            <a:pPr lvl="1">
              <a:buFont typeface="Arial" panose="020B0604020202020204" pitchFamily="34" charset="0"/>
              <a:buChar char="•"/>
            </a:pPr>
            <a:r>
              <a:rPr lang="en-US" dirty="0">
                <a:latin typeface="Arial" panose="020B0604020202020204" pitchFamily="34" charset="0"/>
                <a:cs typeface="Arial" panose="020B0604020202020204" pitchFamily="34" charset="0"/>
              </a:rPr>
              <a:t>This allows for consistent, repeatable, and scalable infrastructure management. </a:t>
            </a:r>
          </a:p>
          <a:p>
            <a:pPr lvl="1">
              <a:buFont typeface="Arial" panose="020B0604020202020204" pitchFamily="34" charset="0"/>
              <a:buChar char="•"/>
            </a:pPr>
            <a:r>
              <a:rPr lang="en-US" dirty="0" err="1">
                <a:latin typeface="Arial" panose="020B0604020202020204" pitchFamily="34" charset="0"/>
                <a:cs typeface="Arial" panose="020B0604020202020204" pitchFamily="34" charset="0"/>
              </a:rPr>
              <a:t>IaC</a:t>
            </a:r>
            <a:r>
              <a:rPr lang="en-US" dirty="0">
                <a:latin typeface="Arial" panose="020B0604020202020204" pitchFamily="34" charset="0"/>
                <a:cs typeface="Arial" panose="020B0604020202020204" pitchFamily="34" charset="0"/>
              </a:rPr>
              <a:t> helps teams automate the setup and configuration of environments, ensuring that both development and production environments are consistent and easily replicable, reducing configuration drift.</a:t>
            </a:r>
          </a:p>
          <a:p>
            <a:pPr>
              <a:buNone/>
            </a:pPr>
            <a:endParaRPr lang="en-US"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255DCCE6-50C1-E3C5-64D0-CDC7B2F20E3D}"/>
              </a:ext>
            </a:extLst>
          </p:cNvPr>
          <p:cNvSpPr>
            <a:spLocks noGrp="1"/>
          </p:cNvSpPr>
          <p:nvPr>
            <p:ph type="sldNum" sz="quarter" idx="12"/>
          </p:nvPr>
        </p:nvSpPr>
        <p:spPr/>
        <p:txBody>
          <a:bodyPr/>
          <a:lstStyle/>
          <a:p>
            <a:fld id="{4267CD5E-26CF-4249-8540-BB1D07FD4227}" type="slidenum">
              <a:rPr lang="en-US" smtClean="0"/>
              <a:t>18</a:t>
            </a:fld>
            <a:endParaRPr lang="en-US"/>
          </a:p>
        </p:txBody>
      </p:sp>
    </p:spTree>
    <p:extLst>
      <p:ext uri="{BB962C8B-B14F-4D97-AF65-F5344CB8AC3E}">
        <p14:creationId xmlns:p14="http://schemas.microsoft.com/office/powerpoint/2010/main" val="22726733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C4A45-D53C-AD5C-D4B5-E3B45858D3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E8F94B-EFD6-2631-47B3-4FBD6CBDD22E}"/>
              </a:ext>
            </a:extLst>
          </p:cNvPr>
          <p:cNvSpPr>
            <a:spLocks noGrp="1"/>
          </p:cNvSpPr>
          <p:nvPr>
            <p:ph type="title"/>
          </p:nvPr>
        </p:nvSpPr>
        <p:spPr/>
        <p:txBody>
          <a:bodyPr/>
          <a:lstStyle/>
          <a:p>
            <a:r>
              <a:rPr lang="en-US" dirty="0"/>
              <a:t>Module overview: </a:t>
            </a:r>
            <a:r>
              <a:rPr lang="en-US" sz="4000" dirty="0">
                <a:latin typeface="Arial" panose="020B0604020202020204" pitchFamily="34" charset="0"/>
                <a:cs typeface="Arial" panose="020B0604020202020204" pitchFamily="34" charset="0"/>
              </a:rPr>
              <a:t>DevOps</a:t>
            </a:r>
            <a:endParaRPr lang="en-US" dirty="0"/>
          </a:p>
        </p:txBody>
      </p:sp>
      <p:sp>
        <p:nvSpPr>
          <p:cNvPr id="3" name="Content Placeholder 2">
            <a:extLst>
              <a:ext uri="{FF2B5EF4-FFF2-40B4-BE49-F238E27FC236}">
                <a16:creationId xmlns:a16="http://schemas.microsoft.com/office/drawing/2014/main" id="{C5650714-8227-6633-7EB4-B7EFB6F1BDC9}"/>
              </a:ext>
            </a:extLst>
          </p:cNvPr>
          <p:cNvSpPr>
            <a:spLocks noGrp="1"/>
          </p:cNvSpPr>
          <p:nvPr>
            <p:ph sz="half" idx="1"/>
          </p:nvPr>
        </p:nvSpPr>
        <p:spPr>
          <a:xfrm>
            <a:off x="644768" y="1825625"/>
            <a:ext cx="10710619" cy="4351339"/>
          </a:xfrm>
        </p:spPr>
        <p:txBody>
          <a:bodyPr>
            <a:normAutofit/>
          </a:bodyPr>
          <a:lstStyle/>
          <a:p>
            <a:pPr>
              <a:spcBef>
                <a:spcPts val="900"/>
              </a:spcBef>
              <a:spcAft>
                <a:spcPts val="900"/>
              </a:spcAft>
            </a:pPr>
            <a:r>
              <a:rPr lang="en-US" sz="2000" b="0" i="0" dirty="0">
                <a:solidFill>
                  <a:srgbClr val="363D45"/>
                </a:solidFill>
                <a:effectLst/>
                <a:latin typeface="Arial" panose="020B0604020202020204" pitchFamily="34" charset="0"/>
                <a:cs typeface="Arial" panose="020B0604020202020204" pitchFamily="34" charset="0"/>
              </a:rPr>
              <a:t>As we go through the slides, you will learn about how DevOps has several repeatable and reliable processes for software releases. </a:t>
            </a:r>
          </a:p>
          <a:p>
            <a:pPr>
              <a:spcBef>
                <a:spcPts val="900"/>
              </a:spcBef>
              <a:spcAft>
                <a:spcPts val="900"/>
              </a:spcAft>
            </a:pPr>
            <a:r>
              <a:rPr lang="en-US" sz="2000" b="0" i="0" dirty="0">
                <a:solidFill>
                  <a:srgbClr val="363D45"/>
                </a:solidFill>
                <a:effectLst/>
                <a:latin typeface="Arial" panose="020B0604020202020204" pitchFamily="34" charset="0"/>
                <a:cs typeface="Arial" panose="020B0604020202020204" pitchFamily="34" charset="0"/>
              </a:rPr>
              <a:t>With DevOps, the goal is to have releases occur frequently, so the right process is critical to automate as much of the process as possible. </a:t>
            </a:r>
          </a:p>
          <a:p>
            <a:pPr>
              <a:spcBef>
                <a:spcPts val="900"/>
              </a:spcBef>
              <a:spcAft>
                <a:spcPts val="900"/>
              </a:spcAft>
            </a:pPr>
            <a:r>
              <a:rPr lang="en-US" sz="2000" b="0" i="0" dirty="0">
                <a:solidFill>
                  <a:srgbClr val="363D45"/>
                </a:solidFill>
                <a:effectLst/>
                <a:latin typeface="Arial" panose="020B0604020202020204" pitchFamily="34" charset="0"/>
                <a:cs typeface="Arial" panose="020B0604020202020204" pitchFamily="34" charset="0"/>
              </a:rPr>
              <a:t>Typically, manual processes are slow and error prone.</a:t>
            </a:r>
          </a:p>
          <a:p>
            <a:pPr algn="l">
              <a:spcBef>
                <a:spcPts val="450"/>
              </a:spcBef>
              <a:spcAft>
                <a:spcPts val="450"/>
              </a:spcAft>
              <a:buNone/>
            </a:pPr>
            <a:endParaRPr lang="en-US" sz="2000" b="0" i="0" dirty="0">
              <a:solidFill>
                <a:srgbClr val="363D45"/>
              </a:solidFill>
              <a:effectLst/>
              <a:latin typeface="Arial" panose="020B0604020202020204" pitchFamily="34" charset="0"/>
              <a:cs typeface="Arial" panose="020B0604020202020204" pitchFamily="34" charset="0"/>
            </a:endParaRPr>
          </a:p>
          <a:p>
            <a:pPr algn="l">
              <a:spcBef>
                <a:spcPts val="450"/>
              </a:spcBef>
              <a:spcAft>
                <a:spcPts val="450"/>
              </a:spcAft>
              <a:buNone/>
            </a:pPr>
            <a:r>
              <a:rPr lang="en-US" sz="2000" b="0" i="0" dirty="0">
                <a:solidFill>
                  <a:srgbClr val="363D45"/>
                </a:solidFill>
                <a:effectLst/>
                <a:latin typeface="Arial" panose="020B0604020202020204" pitchFamily="34" charset="0"/>
                <a:cs typeface="Arial" panose="020B0604020202020204" pitchFamily="34" charset="0"/>
              </a:rPr>
              <a:t>As you listen, consider the following:</a:t>
            </a:r>
          </a:p>
          <a:p>
            <a:pPr algn="l">
              <a:spcAft>
                <a:spcPts val="450"/>
              </a:spcAft>
              <a:buFont typeface="Arial" panose="020B0604020202020204" pitchFamily="34" charset="0"/>
              <a:buChar char="•"/>
            </a:pPr>
            <a:r>
              <a:rPr lang="en-US" sz="2000" b="0" i="0" dirty="0">
                <a:solidFill>
                  <a:srgbClr val="363D45"/>
                </a:solidFill>
                <a:effectLst/>
                <a:latin typeface="Arial" panose="020B0604020202020204" pitchFamily="34" charset="0"/>
                <a:cs typeface="Arial" panose="020B0604020202020204" pitchFamily="34" charset="0"/>
              </a:rPr>
              <a:t>What process do you think is the most impactful?</a:t>
            </a:r>
          </a:p>
          <a:p>
            <a:pPr algn="l">
              <a:spcAft>
                <a:spcPts val="450"/>
              </a:spcAft>
              <a:buFont typeface="Arial" panose="020B0604020202020204" pitchFamily="34" charset="0"/>
              <a:buChar char="•"/>
            </a:pPr>
            <a:r>
              <a:rPr lang="en-US" sz="2000" b="0" i="0" dirty="0">
                <a:solidFill>
                  <a:srgbClr val="363D45"/>
                </a:solidFill>
                <a:effectLst/>
                <a:latin typeface="Arial" panose="020B0604020202020204" pitchFamily="34" charset="0"/>
                <a:cs typeface="Arial" panose="020B0604020202020204" pitchFamily="34" charset="0"/>
              </a:rPr>
              <a:t>What aspects of continuous delivery could be improved over time?</a:t>
            </a:r>
          </a:p>
          <a:p>
            <a:pPr algn="l">
              <a:spcAft>
                <a:spcPts val="450"/>
              </a:spcAft>
              <a:buFont typeface="Arial" panose="020B0604020202020204" pitchFamily="34" charset="0"/>
              <a:buChar char="•"/>
            </a:pPr>
            <a:r>
              <a:rPr lang="en-US" sz="2000" b="0" i="0" dirty="0">
                <a:solidFill>
                  <a:srgbClr val="363D45"/>
                </a:solidFill>
                <a:effectLst/>
                <a:latin typeface="Arial" panose="020B0604020202020204" pitchFamily="34" charset="0"/>
                <a:cs typeface="Arial" panose="020B0604020202020204" pitchFamily="34" charset="0"/>
              </a:rPr>
              <a:t>Are there missing roles?</a:t>
            </a:r>
          </a:p>
          <a:p>
            <a:endParaRPr lang="en-US" sz="2000"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29AB1F16-E421-C2D2-2E83-1E5EAAC0F053}"/>
              </a:ext>
            </a:extLst>
          </p:cNvPr>
          <p:cNvSpPr>
            <a:spLocks noGrp="1"/>
          </p:cNvSpPr>
          <p:nvPr>
            <p:ph type="sldNum" sz="quarter" idx="12"/>
          </p:nvPr>
        </p:nvSpPr>
        <p:spPr/>
        <p:txBody>
          <a:bodyPr/>
          <a:lstStyle/>
          <a:p>
            <a:fld id="{4267CD5E-26CF-4249-8540-BB1D07FD4227}" type="slidenum">
              <a:rPr lang="en-US" smtClean="0"/>
              <a:t>19</a:t>
            </a:fld>
            <a:endParaRPr lang="en-US"/>
          </a:p>
        </p:txBody>
      </p:sp>
    </p:spTree>
    <p:extLst>
      <p:ext uri="{BB962C8B-B14F-4D97-AF65-F5344CB8AC3E}">
        <p14:creationId xmlns:p14="http://schemas.microsoft.com/office/powerpoint/2010/main" val="14302393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6A1D6-A7CC-AE5A-91E7-A24B2B926795}"/>
              </a:ext>
            </a:extLst>
          </p:cNvPr>
          <p:cNvSpPr>
            <a:spLocks noGrp="1"/>
          </p:cNvSpPr>
          <p:nvPr>
            <p:ph type="title"/>
          </p:nvPr>
        </p:nvSpPr>
        <p:spPr>
          <a:xfrm>
            <a:off x="644769" y="365125"/>
            <a:ext cx="10710619" cy="1325563"/>
          </a:xfrm>
        </p:spPr>
        <p:txBody>
          <a:bodyPr anchor="t">
            <a:normAutofit/>
          </a:bodyPr>
          <a:lstStyle/>
          <a:p>
            <a:r>
              <a:rPr lang="en-US" dirty="0"/>
              <a:t>DevOps is…</a:t>
            </a:r>
          </a:p>
        </p:txBody>
      </p:sp>
      <p:sp>
        <p:nvSpPr>
          <p:cNvPr id="3" name="Content Placeholder 2">
            <a:extLst>
              <a:ext uri="{FF2B5EF4-FFF2-40B4-BE49-F238E27FC236}">
                <a16:creationId xmlns:a16="http://schemas.microsoft.com/office/drawing/2014/main" id="{F53168CF-BCFD-21EA-F318-BF0984CAABC9}"/>
              </a:ext>
            </a:extLst>
          </p:cNvPr>
          <p:cNvSpPr>
            <a:spLocks noGrp="1"/>
          </p:cNvSpPr>
          <p:nvPr>
            <p:ph sz="half" idx="1"/>
          </p:nvPr>
        </p:nvSpPr>
        <p:spPr>
          <a:xfrm>
            <a:off x="644769" y="1825625"/>
            <a:ext cx="5181600" cy="4351339"/>
          </a:xfrm>
        </p:spPr>
        <p:txBody>
          <a:bodyPr>
            <a:normAutofit/>
          </a:bodyPr>
          <a:lstStyle/>
          <a:p>
            <a:r>
              <a:rPr lang="en-US" sz="2000" b="1" dirty="0">
                <a:latin typeface="Arial" panose="020B0604020202020204" pitchFamily="34" charset="0"/>
                <a:cs typeface="Arial" panose="020B0604020202020204" pitchFamily="34" charset="0"/>
              </a:rPr>
              <a:t>A set of principles, values, and tools </a:t>
            </a:r>
            <a:r>
              <a:rPr lang="en-US" sz="2000" dirty="0">
                <a:latin typeface="Arial" panose="020B0604020202020204" pitchFamily="34" charset="0"/>
                <a:cs typeface="Arial" panose="020B0604020202020204" pitchFamily="34" charset="0"/>
              </a:rPr>
              <a:t>that facilitate collaboration across disciplines to…</a:t>
            </a:r>
          </a:p>
          <a:p>
            <a:pPr marL="342900" indent="-342900">
              <a:buFont typeface="+mj-lt"/>
              <a:buAutoNum type="arabicPeriod"/>
            </a:pPr>
            <a:r>
              <a:rPr lang="en-US" sz="2000" dirty="0">
                <a:latin typeface="Arial" panose="020B0604020202020204" pitchFamily="34" charset="0"/>
                <a:cs typeface="Arial" panose="020B0604020202020204" pitchFamily="34" charset="0"/>
              </a:rPr>
              <a:t>Enable rapid evolution of deployed business services</a:t>
            </a:r>
          </a:p>
          <a:p>
            <a:pPr marL="342900" indent="-342900">
              <a:buFont typeface="+mj-lt"/>
              <a:buAutoNum type="arabicPeriod"/>
            </a:pPr>
            <a:r>
              <a:rPr lang="en-US" sz="2000" dirty="0">
                <a:latin typeface="Arial" panose="020B0604020202020204" pitchFamily="34" charset="0"/>
                <a:cs typeface="Arial" panose="020B0604020202020204" pitchFamily="34" charset="0"/>
              </a:rPr>
              <a:t>Reduce risk, decrease cost, and improve quality</a:t>
            </a:r>
          </a:p>
        </p:txBody>
      </p:sp>
      <p:pic>
        <p:nvPicPr>
          <p:cNvPr id="7" name="Content Placeholder 6">
            <a:extLst>
              <a:ext uri="{FF2B5EF4-FFF2-40B4-BE49-F238E27FC236}">
                <a16:creationId xmlns:a16="http://schemas.microsoft.com/office/drawing/2014/main" id="{5B9A88E2-0C9A-1D98-E52F-8B8E5205C7D4}"/>
              </a:ext>
            </a:extLst>
          </p:cNvPr>
          <p:cNvPicPr>
            <a:picLocks noGrp="1" noChangeAspect="1"/>
          </p:cNvPicPr>
          <p:nvPr>
            <p:ph sz="half" idx="2"/>
          </p:nvPr>
        </p:nvPicPr>
        <p:blipFill>
          <a:blip r:embed="rId2"/>
          <a:srcRect r="2" b="1434"/>
          <a:stretch/>
        </p:blipFill>
        <p:spPr>
          <a:xfrm>
            <a:off x="6172200" y="1825625"/>
            <a:ext cx="5181600" cy="4351339"/>
          </a:xfrm>
          <a:noFill/>
        </p:spPr>
      </p:pic>
      <p:sp>
        <p:nvSpPr>
          <p:cNvPr id="5" name="Slide Number Placeholder 4">
            <a:extLst>
              <a:ext uri="{FF2B5EF4-FFF2-40B4-BE49-F238E27FC236}">
                <a16:creationId xmlns:a16="http://schemas.microsoft.com/office/drawing/2014/main" id="{8E8FA1A2-5DBF-CC3E-9133-EC936D6610FC}"/>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20</a:t>
            </a:fld>
            <a:endParaRPr lang="en-US"/>
          </a:p>
        </p:txBody>
      </p:sp>
    </p:spTree>
    <p:extLst>
      <p:ext uri="{BB962C8B-B14F-4D97-AF65-F5344CB8AC3E}">
        <p14:creationId xmlns:p14="http://schemas.microsoft.com/office/powerpoint/2010/main" val="3181363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C34C1-FA4B-292A-8B68-51556F27900E}"/>
              </a:ext>
            </a:extLst>
          </p:cNvPr>
          <p:cNvSpPr>
            <a:spLocks noGrp="1"/>
          </p:cNvSpPr>
          <p:nvPr>
            <p:ph type="title"/>
          </p:nvPr>
        </p:nvSpPr>
        <p:spPr>
          <a:xfrm>
            <a:off x="644769" y="365125"/>
            <a:ext cx="10710619" cy="1325563"/>
          </a:xfrm>
        </p:spPr>
        <p:txBody>
          <a:bodyPr anchor="t">
            <a:normAutofit/>
          </a:bodyPr>
          <a:lstStyle/>
          <a:p>
            <a:r>
              <a:rPr lang="en-US" dirty="0"/>
              <a:t>DevOps principles and values</a:t>
            </a:r>
          </a:p>
        </p:txBody>
      </p:sp>
      <p:sp>
        <p:nvSpPr>
          <p:cNvPr id="3" name="Content Placeholder 2">
            <a:extLst>
              <a:ext uri="{FF2B5EF4-FFF2-40B4-BE49-F238E27FC236}">
                <a16:creationId xmlns:a16="http://schemas.microsoft.com/office/drawing/2014/main" id="{16863199-5AB5-AFA1-3037-B5B891C6350C}"/>
              </a:ext>
            </a:extLst>
          </p:cNvPr>
          <p:cNvSpPr>
            <a:spLocks noGrp="1"/>
          </p:cNvSpPr>
          <p:nvPr>
            <p:ph sz="half" idx="1"/>
          </p:nvPr>
        </p:nvSpPr>
        <p:spPr>
          <a:xfrm>
            <a:off x="644769" y="1825625"/>
            <a:ext cx="5181600" cy="4351339"/>
          </a:xfrm>
        </p:spPr>
        <p:txBody>
          <a:bodyPr>
            <a:normAutofit/>
          </a:bodyPr>
          <a:lstStyle/>
          <a:p>
            <a:r>
              <a:rPr lang="en-US" sz="2000" dirty="0">
                <a:latin typeface="Arial" panose="020B0604020202020204" pitchFamily="34" charset="0"/>
                <a:cs typeface="Arial" panose="020B0604020202020204" pitchFamily="34" charset="0"/>
              </a:rPr>
              <a:t>Collaborate across disciplines </a:t>
            </a:r>
          </a:p>
          <a:p>
            <a:pPr lvl="1"/>
            <a:r>
              <a:rPr lang="en-US" sz="2000" dirty="0">
                <a:latin typeface="Arial" panose="020B0604020202020204" pitchFamily="34" charset="0"/>
                <a:cs typeface="Arial" panose="020B0604020202020204" pitchFamily="34" charset="0"/>
              </a:rPr>
              <a:t>Requirements, development, deployment, operations</a:t>
            </a:r>
          </a:p>
          <a:p>
            <a:r>
              <a:rPr lang="en-US" sz="2000" dirty="0">
                <a:latin typeface="Arial" panose="020B0604020202020204" pitchFamily="34" charset="0"/>
                <a:cs typeface="Arial" panose="020B0604020202020204" pitchFamily="34" charset="0"/>
              </a:rPr>
              <a:t>Develop and test against a production-like system</a:t>
            </a:r>
          </a:p>
          <a:p>
            <a:r>
              <a:rPr lang="en-US" sz="2000" dirty="0">
                <a:latin typeface="Arial" panose="020B0604020202020204" pitchFamily="34" charset="0"/>
                <a:cs typeface="Arial" panose="020B0604020202020204" pitchFamily="34" charset="0"/>
              </a:rPr>
              <a:t>Iterative and frequent deployments using repeatable and reliable processes</a:t>
            </a:r>
          </a:p>
          <a:p>
            <a:r>
              <a:rPr lang="en-US" sz="2000" dirty="0">
                <a:latin typeface="Arial" panose="020B0604020202020204" pitchFamily="34" charset="0"/>
                <a:cs typeface="Arial" panose="020B0604020202020204" pitchFamily="34" charset="0"/>
              </a:rPr>
              <a:t>Continuously monitor and validate operational quality characteristics</a:t>
            </a:r>
          </a:p>
          <a:p>
            <a:r>
              <a:rPr lang="en-US" sz="2000" dirty="0">
                <a:latin typeface="Arial" panose="020B0604020202020204" pitchFamily="34" charset="0"/>
                <a:cs typeface="Arial" panose="020B0604020202020204" pitchFamily="34" charset="0"/>
              </a:rPr>
              <a:t>Amplify feedback loops</a:t>
            </a:r>
          </a:p>
        </p:txBody>
      </p:sp>
      <p:pic>
        <p:nvPicPr>
          <p:cNvPr id="6" name="Content Placeholder 6">
            <a:extLst>
              <a:ext uri="{FF2B5EF4-FFF2-40B4-BE49-F238E27FC236}">
                <a16:creationId xmlns:a16="http://schemas.microsoft.com/office/drawing/2014/main" id="{B873E8BE-D69C-B34D-ED78-FE1B5C3C3BA2}"/>
              </a:ext>
            </a:extLst>
          </p:cNvPr>
          <p:cNvPicPr>
            <a:picLocks noGrp="1" noChangeAspect="1"/>
          </p:cNvPicPr>
          <p:nvPr>
            <p:ph sz="half" idx="2"/>
          </p:nvPr>
        </p:nvPicPr>
        <p:blipFill>
          <a:blip r:embed="rId2"/>
          <a:srcRect r="2" b="1434"/>
          <a:stretch/>
        </p:blipFill>
        <p:spPr>
          <a:xfrm>
            <a:off x="6172200" y="1825625"/>
            <a:ext cx="5181600" cy="4351339"/>
          </a:xfrm>
          <a:noFill/>
        </p:spPr>
      </p:pic>
      <p:sp>
        <p:nvSpPr>
          <p:cNvPr id="5" name="Slide Number Placeholder 4">
            <a:extLst>
              <a:ext uri="{FF2B5EF4-FFF2-40B4-BE49-F238E27FC236}">
                <a16:creationId xmlns:a16="http://schemas.microsoft.com/office/drawing/2014/main" id="{37E5B278-8A46-D7AF-984E-BE70672AB257}"/>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21</a:t>
            </a:fld>
            <a:endParaRPr lang="en-US"/>
          </a:p>
        </p:txBody>
      </p:sp>
    </p:spTree>
    <p:extLst>
      <p:ext uri="{BB962C8B-B14F-4D97-AF65-F5344CB8AC3E}">
        <p14:creationId xmlns:p14="http://schemas.microsoft.com/office/powerpoint/2010/main" val="1989009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6424C-2012-756F-DBCC-1AA4B0B757E6}"/>
              </a:ext>
            </a:extLst>
          </p:cNvPr>
          <p:cNvSpPr>
            <a:spLocks noGrp="1"/>
          </p:cNvSpPr>
          <p:nvPr>
            <p:ph type="title"/>
          </p:nvPr>
        </p:nvSpPr>
        <p:spPr>
          <a:xfrm>
            <a:off x="644769" y="365125"/>
            <a:ext cx="10710619" cy="1325563"/>
          </a:xfrm>
        </p:spPr>
        <p:txBody>
          <a:bodyPr anchor="t">
            <a:normAutofit/>
          </a:bodyPr>
          <a:lstStyle/>
          <a:p>
            <a:r>
              <a:rPr lang="en-US" dirty="0"/>
              <a:t>Application Lifecycle Management</a:t>
            </a:r>
          </a:p>
        </p:txBody>
      </p:sp>
      <p:pic>
        <p:nvPicPr>
          <p:cNvPr id="7" name="Content Placeholder 6">
            <a:extLst>
              <a:ext uri="{FF2B5EF4-FFF2-40B4-BE49-F238E27FC236}">
                <a16:creationId xmlns:a16="http://schemas.microsoft.com/office/drawing/2014/main" id="{B0EA6B63-3D0E-5D10-BCAE-21A6177C5E7E}"/>
              </a:ext>
            </a:extLst>
          </p:cNvPr>
          <p:cNvPicPr>
            <a:picLocks noGrp="1" noChangeAspect="1"/>
          </p:cNvPicPr>
          <p:nvPr>
            <p:ph idx="1"/>
          </p:nvPr>
        </p:nvPicPr>
        <p:blipFill>
          <a:blip r:embed="rId2"/>
          <a:stretch>
            <a:fillRect/>
          </a:stretch>
        </p:blipFill>
        <p:spPr>
          <a:xfrm>
            <a:off x="2022595" y="1825625"/>
            <a:ext cx="7953383" cy="4235176"/>
          </a:xfrm>
          <a:noFill/>
        </p:spPr>
      </p:pic>
      <p:sp>
        <p:nvSpPr>
          <p:cNvPr id="5" name="Slide Number Placeholder 4">
            <a:extLst>
              <a:ext uri="{FF2B5EF4-FFF2-40B4-BE49-F238E27FC236}">
                <a16:creationId xmlns:a16="http://schemas.microsoft.com/office/drawing/2014/main" id="{CF7F1562-3E1B-B032-5A29-A1AA77C17777}"/>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22</a:t>
            </a:fld>
            <a:endParaRPr lang="en-US"/>
          </a:p>
        </p:txBody>
      </p:sp>
    </p:spTree>
    <p:extLst>
      <p:ext uri="{BB962C8B-B14F-4D97-AF65-F5344CB8AC3E}">
        <p14:creationId xmlns:p14="http://schemas.microsoft.com/office/powerpoint/2010/main" val="18451271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B20E7-D8BD-7102-AB4E-19C69CED417A}"/>
              </a:ext>
            </a:extLst>
          </p:cNvPr>
          <p:cNvSpPr>
            <a:spLocks noGrp="1"/>
          </p:cNvSpPr>
          <p:nvPr>
            <p:ph type="title"/>
          </p:nvPr>
        </p:nvSpPr>
        <p:spPr>
          <a:xfrm>
            <a:off x="644769" y="365125"/>
            <a:ext cx="10710619" cy="1325563"/>
          </a:xfrm>
        </p:spPr>
        <p:txBody>
          <a:bodyPr anchor="t">
            <a:normAutofit/>
          </a:bodyPr>
          <a:lstStyle/>
          <a:p>
            <a:r>
              <a:rPr lang="en-US" dirty="0"/>
              <a:t>Evolving customer and market expectations</a:t>
            </a:r>
          </a:p>
        </p:txBody>
      </p:sp>
      <p:pic>
        <p:nvPicPr>
          <p:cNvPr id="6" name="Content Placeholder 5">
            <a:extLst>
              <a:ext uri="{FF2B5EF4-FFF2-40B4-BE49-F238E27FC236}">
                <a16:creationId xmlns:a16="http://schemas.microsoft.com/office/drawing/2014/main" id="{7F3DA43D-1EB0-8558-3C50-86B1D649271F}"/>
              </a:ext>
            </a:extLst>
          </p:cNvPr>
          <p:cNvPicPr>
            <a:picLocks noGrp="1" noChangeAspect="1"/>
          </p:cNvPicPr>
          <p:nvPr>
            <p:ph idx="1"/>
          </p:nvPr>
        </p:nvPicPr>
        <p:blipFill>
          <a:blip r:embed="rId2"/>
          <a:stretch>
            <a:fillRect/>
          </a:stretch>
        </p:blipFill>
        <p:spPr>
          <a:xfrm>
            <a:off x="1293534" y="1825625"/>
            <a:ext cx="9411504" cy="4235176"/>
          </a:xfrm>
          <a:noFill/>
        </p:spPr>
      </p:pic>
      <p:sp>
        <p:nvSpPr>
          <p:cNvPr id="4" name="Slide Number Placeholder 3">
            <a:extLst>
              <a:ext uri="{FF2B5EF4-FFF2-40B4-BE49-F238E27FC236}">
                <a16:creationId xmlns:a16="http://schemas.microsoft.com/office/drawing/2014/main" id="{A02A94A5-43F4-FFFD-27DF-B70D64B130A0}"/>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23</a:t>
            </a:fld>
            <a:endParaRPr lang="en-US"/>
          </a:p>
        </p:txBody>
      </p:sp>
    </p:spTree>
    <p:extLst>
      <p:ext uri="{BB962C8B-B14F-4D97-AF65-F5344CB8AC3E}">
        <p14:creationId xmlns:p14="http://schemas.microsoft.com/office/powerpoint/2010/main" val="3239800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01F6B-A415-CA28-B956-CAAD23A1D632}"/>
              </a:ext>
            </a:extLst>
          </p:cNvPr>
          <p:cNvSpPr>
            <a:spLocks noGrp="1"/>
          </p:cNvSpPr>
          <p:nvPr>
            <p:ph type="title"/>
          </p:nvPr>
        </p:nvSpPr>
        <p:spPr/>
        <p:txBody>
          <a:bodyPr/>
          <a:lstStyle/>
          <a:p>
            <a:r>
              <a:rPr lang="en-US" dirty="0"/>
              <a:t>A DevOps Manifesto</a:t>
            </a:r>
          </a:p>
        </p:txBody>
      </p:sp>
      <p:sp>
        <p:nvSpPr>
          <p:cNvPr id="3" name="Content Placeholder 2">
            <a:extLst>
              <a:ext uri="{FF2B5EF4-FFF2-40B4-BE49-F238E27FC236}">
                <a16:creationId xmlns:a16="http://schemas.microsoft.com/office/drawing/2014/main" id="{3DF386B4-64FA-1163-5DE6-2E12D44AE5EA}"/>
              </a:ext>
            </a:extLst>
          </p:cNvPr>
          <p:cNvSpPr>
            <a:spLocks noGrp="1"/>
          </p:cNvSpPr>
          <p:nvPr>
            <p:ph idx="1"/>
          </p:nvPr>
        </p:nvSpPr>
        <p:spPr/>
        <p:txBody>
          <a:bodyPr>
            <a:normAutofit/>
          </a:bodyPr>
          <a:lstStyle/>
          <a:p>
            <a:r>
              <a:rPr lang="en-US" sz="2000" dirty="0">
                <a:latin typeface="Arial" panose="020B0604020202020204" pitchFamily="34" charset="0"/>
                <a:cs typeface="Arial" panose="020B0604020202020204" pitchFamily="34" charset="0"/>
              </a:rPr>
              <a:t>We are uncovering better ways of running systems by doing it and helping others do it. Through this work we have come to value:</a:t>
            </a:r>
          </a:p>
          <a:p>
            <a:r>
              <a:rPr lang="en-US" sz="2000" dirty="0">
                <a:latin typeface="Arial" panose="020B0604020202020204" pitchFamily="34" charset="0"/>
                <a:cs typeface="Arial" panose="020B0604020202020204" pitchFamily="34" charset="0"/>
              </a:rPr>
              <a:t>Individuals and interactions over processes over tools</a:t>
            </a:r>
          </a:p>
          <a:p>
            <a:pPr lvl="1"/>
            <a:r>
              <a:rPr lang="en-US" b="1" dirty="0">
                <a:latin typeface="Arial" panose="020B0604020202020204" pitchFamily="34" charset="0"/>
                <a:cs typeface="Arial" panose="020B0604020202020204" pitchFamily="34" charset="0"/>
              </a:rPr>
              <a:t>Reliable and repeatable processes are critical to OPS</a:t>
            </a:r>
          </a:p>
          <a:p>
            <a:r>
              <a:rPr lang="en-US" sz="2000" dirty="0">
                <a:latin typeface="Arial" panose="020B0604020202020204" pitchFamily="34" charset="0"/>
                <a:cs typeface="Arial" panose="020B0604020202020204" pitchFamily="34" charset="0"/>
              </a:rPr>
              <a:t>Working </a:t>
            </a:r>
            <a:r>
              <a:rPr lang="en-US" sz="2000" b="1" dirty="0">
                <a:latin typeface="Arial" panose="020B0604020202020204" pitchFamily="34" charset="0"/>
                <a:cs typeface="Arial" panose="020B0604020202020204" pitchFamily="34" charset="0"/>
              </a:rPr>
              <a:t>systems</a:t>
            </a:r>
            <a:r>
              <a:rPr lang="en-US" sz="2000" dirty="0">
                <a:latin typeface="Arial" panose="020B0604020202020204" pitchFamily="34" charset="0"/>
                <a:cs typeface="Arial" panose="020B0604020202020204" pitchFamily="34" charset="0"/>
              </a:rPr>
              <a:t> over comprehensive documentation</a:t>
            </a:r>
          </a:p>
          <a:p>
            <a:pPr lvl="1"/>
            <a:r>
              <a:rPr lang="en-US" b="1" dirty="0">
                <a:latin typeface="Arial" panose="020B0604020202020204" pitchFamily="34" charset="0"/>
                <a:cs typeface="Arial" panose="020B0604020202020204" pitchFamily="34" charset="0"/>
              </a:rPr>
              <a:t>Working systems, not just working software</a:t>
            </a:r>
          </a:p>
          <a:p>
            <a:r>
              <a:rPr lang="en-US" sz="2000" dirty="0">
                <a:latin typeface="Arial" panose="020B0604020202020204" pitchFamily="34" charset="0"/>
                <a:cs typeface="Arial" panose="020B0604020202020204" pitchFamily="34" charset="0"/>
              </a:rPr>
              <a:t>Customer </a:t>
            </a:r>
            <a:r>
              <a:rPr lang="en-US" sz="2000" b="1" dirty="0">
                <a:latin typeface="Arial" panose="020B0604020202020204" pitchFamily="34" charset="0"/>
                <a:cs typeface="Arial" panose="020B0604020202020204" pitchFamily="34" charset="0"/>
              </a:rPr>
              <a:t>and developer </a:t>
            </a:r>
            <a:r>
              <a:rPr lang="en-US" sz="2000" dirty="0">
                <a:latin typeface="Arial" panose="020B0604020202020204" pitchFamily="34" charset="0"/>
                <a:cs typeface="Arial" panose="020B0604020202020204" pitchFamily="34" charset="0"/>
              </a:rPr>
              <a:t>collaboration over contract negotiation</a:t>
            </a:r>
          </a:p>
          <a:p>
            <a:pPr lvl="1"/>
            <a:r>
              <a:rPr lang="en-US" b="1" dirty="0">
                <a:latin typeface="Arial" panose="020B0604020202020204" pitchFamily="34" charset="0"/>
                <a:cs typeface="Arial" panose="020B0604020202020204" pitchFamily="34" charset="0"/>
              </a:rPr>
              <a:t>Customers, developers, and OPS must be partners</a:t>
            </a:r>
          </a:p>
          <a:p>
            <a:r>
              <a:rPr lang="en-US" sz="2000" dirty="0">
                <a:latin typeface="Arial" panose="020B0604020202020204" pitchFamily="34" charset="0"/>
                <a:cs typeface="Arial" panose="020B0604020202020204" pitchFamily="34" charset="0"/>
              </a:rPr>
              <a:t>Responding to change over following a plan</a:t>
            </a:r>
          </a:p>
          <a:p>
            <a:r>
              <a:rPr lang="en-US" sz="2000" dirty="0">
                <a:latin typeface="Arial" panose="020B0604020202020204" pitchFamily="34" charset="0"/>
                <a:cs typeface="Arial" panose="020B0604020202020204" pitchFamily="34" charset="0"/>
              </a:rPr>
              <a:t>That is, while there is value in the items on the right, we value the items on the left more.</a:t>
            </a:r>
          </a:p>
        </p:txBody>
      </p:sp>
      <p:sp>
        <p:nvSpPr>
          <p:cNvPr id="4" name="Slide Number Placeholder 3">
            <a:extLst>
              <a:ext uri="{FF2B5EF4-FFF2-40B4-BE49-F238E27FC236}">
                <a16:creationId xmlns:a16="http://schemas.microsoft.com/office/drawing/2014/main" id="{F027678A-37A1-47E9-2B96-5F46C59874E8}"/>
              </a:ext>
            </a:extLst>
          </p:cNvPr>
          <p:cNvSpPr>
            <a:spLocks noGrp="1"/>
          </p:cNvSpPr>
          <p:nvPr>
            <p:ph type="sldNum" sz="quarter" idx="12"/>
          </p:nvPr>
        </p:nvSpPr>
        <p:spPr/>
        <p:txBody>
          <a:bodyPr/>
          <a:lstStyle/>
          <a:p>
            <a:fld id="{4267CD5E-26CF-4249-8540-BB1D07FD4227}" type="slidenum">
              <a:rPr lang="en-US" smtClean="0"/>
              <a:t>24</a:t>
            </a:fld>
            <a:endParaRPr lang="en-US"/>
          </a:p>
        </p:txBody>
      </p:sp>
    </p:spTree>
    <p:extLst>
      <p:ext uri="{BB962C8B-B14F-4D97-AF65-F5344CB8AC3E}">
        <p14:creationId xmlns:p14="http://schemas.microsoft.com/office/powerpoint/2010/main" val="26307638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D06AA-52F5-7296-0295-3948B87B3A14}"/>
              </a:ext>
            </a:extLst>
          </p:cNvPr>
          <p:cNvSpPr>
            <a:spLocks noGrp="1"/>
          </p:cNvSpPr>
          <p:nvPr>
            <p:ph type="title"/>
          </p:nvPr>
        </p:nvSpPr>
        <p:spPr>
          <a:xfrm>
            <a:off x="644769" y="365125"/>
            <a:ext cx="10710619" cy="1325563"/>
          </a:xfrm>
        </p:spPr>
        <p:txBody>
          <a:bodyPr anchor="t">
            <a:normAutofit/>
          </a:bodyPr>
          <a:lstStyle/>
          <a:p>
            <a:r>
              <a:rPr lang="en-US" dirty="0"/>
              <a:t>How do we make this happen?</a:t>
            </a:r>
          </a:p>
        </p:txBody>
      </p:sp>
      <p:sp>
        <p:nvSpPr>
          <p:cNvPr id="3" name="Content Placeholder 2">
            <a:extLst>
              <a:ext uri="{FF2B5EF4-FFF2-40B4-BE49-F238E27FC236}">
                <a16:creationId xmlns:a16="http://schemas.microsoft.com/office/drawing/2014/main" id="{B69133EB-1D0C-BEEB-6F07-D2BC9E5480BC}"/>
              </a:ext>
            </a:extLst>
          </p:cNvPr>
          <p:cNvSpPr>
            <a:spLocks noGrp="1"/>
          </p:cNvSpPr>
          <p:nvPr>
            <p:ph sz="half" idx="1"/>
          </p:nvPr>
        </p:nvSpPr>
        <p:spPr>
          <a:xfrm>
            <a:off x="644769" y="1825625"/>
            <a:ext cx="5181600" cy="4351339"/>
          </a:xfrm>
        </p:spPr>
        <p:txBody>
          <a:bodyPr>
            <a:normAutofit/>
          </a:bodyPr>
          <a:lstStyle/>
          <a:p>
            <a:r>
              <a:rPr lang="en-US" sz="2400" dirty="0">
                <a:latin typeface="Arial" panose="020B0604020202020204" pitchFamily="34" charset="0"/>
                <a:cs typeface="Arial" panose="020B0604020202020204" pitchFamily="34" charset="0"/>
              </a:rPr>
              <a:t>Automate </a:t>
            </a:r>
            <a:r>
              <a:rPr lang="en-US" sz="2400" i="1" dirty="0">
                <a:latin typeface="Arial" panose="020B0604020202020204" pitchFamily="34" charset="0"/>
                <a:cs typeface="Arial" panose="020B0604020202020204" pitchFamily="34" charset="0"/>
              </a:rPr>
              <a:t>everything</a:t>
            </a:r>
            <a:endParaRPr lang="en-US" sz="2400"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Automate builds, tests, deployments, infrastructure provisioning, and monitoring.</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Reduces manual errors, increases speed, and ensures consistency.</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Examples: CI/CD pipelines, Infrastructure as Code (</a:t>
            </a:r>
            <a:r>
              <a:rPr lang="en-US" sz="2000" dirty="0" err="1">
                <a:latin typeface="Arial" panose="020B0604020202020204" pitchFamily="34" charset="0"/>
                <a:cs typeface="Arial" panose="020B0604020202020204" pitchFamily="34" charset="0"/>
              </a:rPr>
              <a:t>IaC</a:t>
            </a:r>
            <a:r>
              <a:rPr lang="en-US" sz="2000" dirty="0">
                <a:latin typeface="Arial" panose="020B0604020202020204" pitchFamily="34" charset="0"/>
                <a:cs typeface="Arial" panose="020B0604020202020204" pitchFamily="34" charset="0"/>
              </a:rPr>
              <a:t>), automated rollback.</a:t>
            </a:r>
          </a:p>
          <a:p>
            <a:endParaRPr lang="en-US" sz="2000" i="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187FC57-9842-E9B9-FF06-F05771A120CF}"/>
              </a:ext>
            </a:extLst>
          </p:cNvPr>
          <p:cNvPicPr>
            <a:picLocks noChangeAspect="1"/>
          </p:cNvPicPr>
          <p:nvPr/>
        </p:nvPicPr>
        <p:blipFill>
          <a:blip r:embed="rId2"/>
          <a:srcRect r="269" b="-1"/>
          <a:stretch/>
        </p:blipFill>
        <p:spPr>
          <a:xfrm>
            <a:off x="6172200" y="1825625"/>
            <a:ext cx="5181600" cy="4351339"/>
          </a:xfrm>
          <a:prstGeom prst="rect">
            <a:avLst/>
          </a:prstGeom>
          <a:noFill/>
        </p:spPr>
      </p:pic>
      <p:sp>
        <p:nvSpPr>
          <p:cNvPr id="4" name="Slide Number Placeholder 3">
            <a:extLst>
              <a:ext uri="{FF2B5EF4-FFF2-40B4-BE49-F238E27FC236}">
                <a16:creationId xmlns:a16="http://schemas.microsoft.com/office/drawing/2014/main" id="{737AC9B7-66C7-2143-3EA8-283C7607FC0F}"/>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25</a:t>
            </a:fld>
            <a:endParaRPr lang="en-US"/>
          </a:p>
        </p:txBody>
      </p:sp>
      <p:sp>
        <p:nvSpPr>
          <p:cNvPr id="7" name="TextBox 6">
            <a:extLst>
              <a:ext uri="{FF2B5EF4-FFF2-40B4-BE49-F238E27FC236}">
                <a16:creationId xmlns:a16="http://schemas.microsoft.com/office/drawing/2014/main" id="{33552818-9241-DF38-D95F-5BD4468FD5A4}"/>
              </a:ext>
            </a:extLst>
          </p:cNvPr>
          <p:cNvSpPr txBox="1"/>
          <p:nvPr/>
        </p:nvSpPr>
        <p:spPr>
          <a:xfrm>
            <a:off x="5934075" y="4981575"/>
            <a:ext cx="120015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2700041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DC36F-3748-4E98-B03E-143B5C0A95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4E42E-26A8-3F0F-CCE6-4DD59D7285C3}"/>
              </a:ext>
            </a:extLst>
          </p:cNvPr>
          <p:cNvSpPr>
            <a:spLocks noGrp="1"/>
          </p:cNvSpPr>
          <p:nvPr>
            <p:ph type="title"/>
          </p:nvPr>
        </p:nvSpPr>
        <p:spPr>
          <a:xfrm>
            <a:off x="644769" y="365125"/>
            <a:ext cx="10710619" cy="1325563"/>
          </a:xfrm>
        </p:spPr>
        <p:txBody>
          <a:bodyPr anchor="t">
            <a:normAutofit/>
          </a:bodyPr>
          <a:lstStyle/>
          <a:p>
            <a:r>
              <a:rPr lang="en-US" dirty="0"/>
              <a:t>How do we make this happen?</a:t>
            </a:r>
          </a:p>
        </p:txBody>
      </p:sp>
      <p:sp>
        <p:nvSpPr>
          <p:cNvPr id="3" name="Content Placeholder 2">
            <a:extLst>
              <a:ext uri="{FF2B5EF4-FFF2-40B4-BE49-F238E27FC236}">
                <a16:creationId xmlns:a16="http://schemas.microsoft.com/office/drawing/2014/main" id="{E2A7E367-E885-28DC-7100-CC20B29D6E85}"/>
              </a:ext>
            </a:extLst>
          </p:cNvPr>
          <p:cNvSpPr>
            <a:spLocks noGrp="1"/>
          </p:cNvSpPr>
          <p:nvPr>
            <p:ph sz="half" idx="1"/>
          </p:nvPr>
        </p:nvSpPr>
        <p:spPr>
          <a:xfrm>
            <a:off x="644769" y="1825625"/>
            <a:ext cx="5181600" cy="4351339"/>
          </a:xfrm>
        </p:spPr>
        <p:txBody>
          <a:bodyPr>
            <a:normAutofit/>
          </a:bodyPr>
          <a:lstStyle/>
          <a:p>
            <a:r>
              <a:rPr lang="en-US" sz="2400" dirty="0">
                <a:latin typeface="Arial" panose="020B0604020202020204" pitchFamily="34" charset="0"/>
                <a:cs typeface="Arial" panose="020B0604020202020204" pitchFamily="34" charset="0"/>
              </a:rPr>
              <a:t>Version </a:t>
            </a:r>
            <a:r>
              <a:rPr lang="en-US" sz="2400" i="1" dirty="0">
                <a:latin typeface="Arial" panose="020B0604020202020204" pitchFamily="34" charset="0"/>
                <a:cs typeface="Arial" panose="020B0604020202020204" pitchFamily="34" charset="0"/>
              </a:rPr>
              <a:t>everything</a:t>
            </a:r>
            <a:endParaRPr lang="en-US" sz="2400"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Track changes in code, configuration, infrastructure, and documentation using version control (e.g., Git).</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Ensures traceability, rollback capabilities, and collaboration.</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Treat everything as code — not just application code but also environments.</a:t>
            </a:r>
          </a:p>
          <a:p>
            <a:endParaRPr lang="en-US" sz="2000" i="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A7C7F7F-1CC1-E58E-F165-9A75A1A0E39B}"/>
              </a:ext>
            </a:extLst>
          </p:cNvPr>
          <p:cNvPicPr>
            <a:picLocks noChangeAspect="1"/>
          </p:cNvPicPr>
          <p:nvPr/>
        </p:nvPicPr>
        <p:blipFill>
          <a:blip r:embed="rId2"/>
          <a:srcRect r="269" b="-1"/>
          <a:stretch/>
        </p:blipFill>
        <p:spPr>
          <a:xfrm>
            <a:off x="6172200" y="1825625"/>
            <a:ext cx="5181600" cy="4351339"/>
          </a:xfrm>
          <a:prstGeom prst="rect">
            <a:avLst/>
          </a:prstGeom>
          <a:noFill/>
        </p:spPr>
      </p:pic>
      <p:sp>
        <p:nvSpPr>
          <p:cNvPr id="4" name="Slide Number Placeholder 3">
            <a:extLst>
              <a:ext uri="{FF2B5EF4-FFF2-40B4-BE49-F238E27FC236}">
                <a16:creationId xmlns:a16="http://schemas.microsoft.com/office/drawing/2014/main" id="{36340D6C-3A03-3556-EED6-7DEF4D130574}"/>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26</a:t>
            </a:fld>
            <a:endParaRPr lang="en-US"/>
          </a:p>
        </p:txBody>
      </p:sp>
      <p:sp>
        <p:nvSpPr>
          <p:cNvPr id="7" name="TextBox 6">
            <a:extLst>
              <a:ext uri="{FF2B5EF4-FFF2-40B4-BE49-F238E27FC236}">
                <a16:creationId xmlns:a16="http://schemas.microsoft.com/office/drawing/2014/main" id="{C0CE3C73-CCD3-39BC-8718-B567E8BA8849}"/>
              </a:ext>
            </a:extLst>
          </p:cNvPr>
          <p:cNvSpPr txBox="1"/>
          <p:nvPr/>
        </p:nvSpPr>
        <p:spPr>
          <a:xfrm>
            <a:off x="5934075" y="4981575"/>
            <a:ext cx="120015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9531845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3FA10-DC85-3E74-2E6C-612DC29967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B9B9C-1C15-CE96-55B7-D107CC1D1A02}"/>
              </a:ext>
            </a:extLst>
          </p:cNvPr>
          <p:cNvSpPr>
            <a:spLocks noGrp="1"/>
          </p:cNvSpPr>
          <p:nvPr>
            <p:ph type="title"/>
          </p:nvPr>
        </p:nvSpPr>
        <p:spPr>
          <a:xfrm>
            <a:off x="644769" y="365125"/>
            <a:ext cx="10710619" cy="1325563"/>
          </a:xfrm>
        </p:spPr>
        <p:txBody>
          <a:bodyPr anchor="t">
            <a:normAutofit/>
          </a:bodyPr>
          <a:lstStyle/>
          <a:p>
            <a:r>
              <a:rPr lang="en-US" dirty="0"/>
              <a:t>How do we make this happen?</a:t>
            </a:r>
          </a:p>
        </p:txBody>
      </p:sp>
      <p:sp>
        <p:nvSpPr>
          <p:cNvPr id="3" name="Content Placeholder 2">
            <a:extLst>
              <a:ext uri="{FF2B5EF4-FFF2-40B4-BE49-F238E27FC236}">
                <a16:creationId xmlns:a16="http://schemas.microsoft.com/office/drawing/2014/main" id="{D3CB013A-2806-F69B-C76A-DE106D888382}"/>
              </a:ext>
            </a:extLst>
          </p:cNvPr>
          <p:cNvSpPr>
            <a:spLocks noGrp="1"/>
          </p:cNvSpPr>
          <p:nvPr>
            <p:ph sz="half" idx="1"/>
          </p:nvPr>
        </p:nvSpPr>
        <p:spPr>
          <a:xfrm>
            <a:off x="644769" y="1825625"/>
            <a:ext cx="5181600" cy="4351339"/>
          </a:xfrm>
        </p:spPr>
        <p:txBody>
          <a:bodyPr>
            <a:normAutofit/>
          </a:bodyPr>
          <a:lstStyle/>
          <a:p>
            <a:r>
              <a:rPr lang="en-US" sz="2400" dirty="0">
                <a:latin typeface="Arial" panose="020B0604020202020204" pitchFamily="34" charset="0"/>
                <a:cs typeface="Arial" panose="020B0604020202020204" pitchFamily="34" charset="0"/>
              </a:rPr>
              <a:t>Test </a:t>
            </a:r>
            <a:r>
              <a:rPr lang="en-US" sz="2400" i="1" dirty="0">
                <a:latin typeface="Arial" panose="020B0604020202020204" pitchFamily="34" charset="0"/>
                <a:cs typeface="Arial" panose="020B0604020202020204" pitchFamily="34" charset="0"/>
              </a:rPr>
              <a:t>everything</a:t>
            </a:r>
            <a:endParaRPr lang="en-US" sz="2400"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Apply automated testing at all levels: unit, integration, system, acceptance.</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Shift testing left to catch issues early in the development cycle.</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Enables confident and safe deployments with faster feedback loops.</a:t>
            </a:r>
          </a:p>
          <a:p>
            <a:endParaRPr lang="en-US" sz="2000" i="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FCA6689-D8B1-4BEA-2663-2B69051A6114}"/>
              </a:ext>
            </a:extLst>
          </p:cNvPr>
          <p:cNvPicPr>
            <a:picLocks noChangeAspect="1"/>
          </p:cNvPicPr>
          <p:nvPr/>
        </p:nvPicPr>
        <p:blipFill>
          <a:blip r:embed="rId2"/>
          <a:srcRect r="269" b="-1"/>
          <a:stretch/>
        </p:blipFill>
        <p:spPr>
          <a:xfrm>
            <a:off x="6172200" y="1825625"/>
            <a:ext cx="5181600" cy="4351339"/>
          </a:xfrm>
          <a:prstGeom prst="rect">
            <a:avLst/>
          </a:prstGeom>
          <a:noFill/>
        </p:spPr>
      </p:pic>
      <p:sp>
        <p:nvSpPr>
          <p:cNvPr id="4" name="Slide Number Placeholder 3">
            <a:extLst>
              <a:ext uri="{FF2B5EF4-FFF2-40B4-BE49-F238E27FC236}">
                <a16:creationId xmlns:a16="http://schemas.microsoft.com/office/drawing/2014/main" id="{B5D83CEF-C4D3-964A-DFB6-1B062F72C0D9}"/>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27</a:t>
            </a:fld>
            <a:endParaRPr lang="en-US"/>
          </a:p>
        </p:txBody>
      </p:sp>
      <p:sp>
        <p:nvSpPr>
          <p:cNvPr id="7" name="TextBox 6">
            <a:extLst>
              <a:ext uri="{FF2B5EF4-FFF2-40B4-BE49-F238E27FC236}">
                <a16:creationId xmlns:a16="http://schemas.microsoft.com/office/drawing/2014/main" id="{2F306ED0-8939-A704-7B9C-D3100CF47C9B}"/>
              </a:ext>
            </a:extLst>
          </p:cNvPr>
          <p:cNvSpPr txBox="1"/>
          <p:nvPr/>
        </p:nvSpPr>
        <p:spPr>
          <a:xfrm>
            <a:off x="5934075" y="4981575"/>
            <a:ext cx="120015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35145704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4F01E-55B4-F520-4BC5-7EB953A7D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D8956-AC82-B10A-04B7-AB489A7B94FC}"/>
              </a:ext>
            </a:extLst>
          </p:cNvPr>
          <p:cNvSpPr>
            <a:spLocks noGrp="1"/>
          </p:cNvSpPr>
          <p:nvPr>
            <p:ph type="title"/>
          </p:nvPr>
        </p:nvSpPr>
        <p:spPr>
          <a:xfrm>
            <a:off x="644769" y="365125"/>
            <a:ext cx="10710619" cy="1325563"/>
          </a:xfrm>
        </p:spPr>
        <p:txBody>
          <a:bodyPr anchor="t">
            <a:normAutofit/>
          </a:bodyPr>
          <a:lstStyle/>
          <a:p>
            <a:r>
              <a:rPr lang="en-US" dirty="0"/>
              <a:t>How do we make this happen?</a:t>
            </a:r>
          </a:p>
        </p:txBody>
      </p:sp>
      <p:sp>
        <p:nvSpPr>
          <p:cNvPr id="3" name="Content Placeholder 2">
            <a:extLst>
              <a:ext uri="{FF2B5EF4-FFF2-40B4-BE49-F238E27FC236}">
                <a16:creationId xmlns:a16="http://schemas.microsoft.com/office/drawing/2014/main" id="{6DDBF2F3-10A2-7526-7BCC-E7705FA784AC}"/>
              </a:ext>
            </a:extLst>
          </p:cNvPr>
          <p:cNvSpPr>
            <a:spLocks noGrp="1"/>
          </p:cNvSpPr>
          <p:nvPr>
            <p:ph sz="half" idx="1"/>
          </p:nvPr>
        </p:nvSpPr>
        <p:spPr>
          <a:xfrm>
            <a:off x="644769" y="1825625"/>
            <a:ext cx="5181600" cy="4351339"/>
          </a:xfrm>
        </p:spPr>
        <p:txBody>
          <a:bodyPr>
            <a:normAutofit/>
          </a:bodyPr>
          <a:lstStyle/>
          <a:p>
            <a:r>
              <a:rPr lang="en-US" sz="2400" dirty="0">
                <a:latin typeface="Arial" panose="020B0604020202020204" pitchFamily="34" charset="0"/>
                <a:cs typeface="Arial" panose="020B0604020202020204" pitchFamily="34" charset="0"/>
              </a:rPr>
              <a:t>Track and Plan </a:t>
            </a:r>
            <a:r>
              <a:rPr lang="en-US" sz="2400" i="1" dirty="0">
                <a:latin typeface="Arial" panose="020B0604020202020204" pitchFamily="34" charset="0"/>
                <a:cs typeface="Arial" panose="020B0604020202020204" pitchFamily="34" charset="0"/>
              </a:rPr>
              <a:t>everything</a:t>
            </a:r>
            <a:endParaRPr lang="en-US" sz="2400"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Use tools like Jira, Azure Boards, or GitHub Projects to manage work.</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Helps prioritize, coordinate, and track progress of features and fixes.</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Promotes transparency and alignment between Dev and Biz teams.</a:t>
            </a:r>
          </a:p>
          <a:p>
            <a:endParaRPr lang="en-US" sz="2000" i="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9FDFDEB-A1B0-A735-4976-E39B4CCFC078}"/>
              </a:ext>
            </a:extLst>
          </p:cNvPr>
          <p:cNvPicPr>
            <a:picLocks noChangeAspect="1"/>
          </p:cNvPicPr>
          <p:nvPr/>
        </p:nvPicPr>
        <p:blipFill>
          <a:blip r:embed="rId2"/>
          <a:srcRect r="269" b="-1"/>
          <a:stretch/>
        </p:blipFill>
        <p:spPr>
          <a:xfrm>
            <a:off x="6172200" y="1825625"/>
            <a:ext cx="5181600" cy="4351339"/>
          </a:xfrm>
          <a:prstGeom prst="rect">
            <a:avLst/>
          </a:prstGeom>
          <a:noFill/>
        </p:spPr>
      </p:pic>
      <p:sp>
        <p:nvSpPr>
          <p:cNvPr id="4" name="Slide Number Placeholder 3">
            <a:extLst>
              <a:ext uri="{FF2B5EF4-FFF2-40B4-BE49-F238E27FC236}">
                <a16:creationId xmlns:a16="http://schemas.microsoft.com/office/drawing/2014/main" id="{57F2B16D-937B-C8F1-BF79-C1DC5248073F}"/>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28</a:t>
            </a:fld>
            <a:endParaRPr lang="en-US"/>
          </a:p>
        </p:txBody>
      </p:sp>
      <p:sp>
        <p:nvSpPr>
          <p:cNvPr id="7" name="TextBox 6">
            <a:extLst>
              <a:ext uri="{FF2B5EF4-FFF2-40B4-BE49-F238E27FC236}">
                <a16:creationId xmlns:a16="http://schemas.microsoft.com/office/drawing/2014/main" id="{2BECF569-C2AD-E2B3-951D-CBF6A151D452}"/>
              </a:ext>
            </a:extLst>
          </p:cNvPr>
          <p:cNvSpPr txBox="1"/>
          <p:nvPr/>
        </p:nvSpPr>
        <p:spPr>
          <a:xfrm>
            <a:off x="5934075" y="4981575"/>
            <a:ext cx="120015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3291186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308E7-66F1-4337-5BF6-31B5B267E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8046EA-3EFB-493F-DE03-74A298C15516}"/>
              </a:ext>
            </a:extLst>
          </p:cNvPr>
          <p:cNvSpPr>
            <a:spLocks noGrp="1"/>
          </p:cNvSpPr>
          <p:nvPr>
            <p:ph type="title"/>
          </p:nvPr>
        </p:nvSpPr>
        <p:spPr>
          <a:xfrm>
            <a:off x="644769" y="365125"/>
            <a:ext cx="10710619" cy="1325563"/>
          </a:xfrm>
        </p:spPr>
        <p:txBody>
          <a:bodyPr anchor="t">
            <a:normAutofit/>
          </a:bodyPr>
          <a:lstStyle/>
          <a:p>
            <a:r>
              <a:rPr lang="en-US" dirty="0"/>
              <a:t>How do we make this happen?</a:t>
            </a:r>
          </a:p>
        </p:txBody>
      </p:sp>
      <p:sp>
        <p:nvSpPr>
          <p:cNvPr id="3" name="Content Placeholder 2">
            <a:extLst>
              <a:ext uri="{FF2B5EF4-FFF2-40B4-BE49-F238E27FC236}">
                <a16:creationId xmlns:a16="http://schemas.microsoft.com/office/drawing/2014/main" id="{FBC1F6F7-7D32-F092-3777-897CBD21DB27}"/>
              </a:ext>
            </a:extLst>
          </p:cNvPr>
          <p:cNvSpPr>
            <a:spLocks noGrp="1"/>
          </p:cNvSpPr>
          <p:nvPr>
            <p:ph sz="half" idx="1"/>
          </p:nvPr>
        </p:nvSpPr>
        <p:spPr>
          <a:xfrm>
            <a:off x="644769" y="1825625"/>
            <a:ext cx="5181600" cy="4351339"/>
          </a:xfrm>
        </p:spPr>
        <p:txBody>
          <a:bodyPr>
            <a:normAutofit/>
          </a:bodyPr>
          <a:lstStyle/>
          <a:p>
            <a:r>
              <a:rPr lang="en-US" sz="2400" dirty="0">
                <a:latin typeface="Arial" panose="020B0604020202020204" pitchFamily="34" charset="0"/>
                <a:cs typeface="Arial" panose="020B0604020202020204" pitchFamily="34" charset="0"/>
              </a:rPr>
              <a:t>Instrument and Audit </a:t>
            </a:r>
            <a:r>
              <a:rPr lang="en-US" sz="2400" i="1" dirty="0">
                <a:latin typeface="Arial" panose="020B0604020202020204" pitchFamily="34" charset="0"/>
                <a:cs typeface="Arial" panose="020B0604020202020204" pitchFamily="34" charset="0"/>
              </a:rPr>
              <a:t>everything</a:t>
            </a:r>
            <a:endParaRPr lang="en-US" sz="2400"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Add monitoring and logging at every layer app, infra, and user behavior.</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Enable auditing and traceability for security, compliance, and debugging.</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Observability helps understand system health and root causes.</a:t>
            </a:r>
          </a:p>
          <a:p>
            <a:endParaRPr lang="en-US" sz="2000" i="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9F1DB5FD-67B2-072F-7F8A-27F37328ADD1}"/>
              </a:ext>
            </a:extLst>
          </p:cNvPr>
          <p:cNvPicPr>
            <a:picLocks noChangeAspect="1"/>
          </p:cNvPicPr>
          <p:nvPr/>
        </p:nvPicPr>
        <p:blipFill>
          <a:blip r:embed="rId2"/>
          <a:srcRect r="269" b="-1"/>
          <a:stretch/>
        </p:blipFill>
        <p:spPr>
          <a:xfrm>
            <a:off x="6172200" y="1825625"/>
            <a:ext cx="5181600" cy="4351339"/>
          </a:xfrm>
          <a:prstGeom prst="rect">
            <a:avLst/>
          </a:prstGeom>
          <a:noFill/>
        </p:spPr>
      </p:pic>
      <p:sp>
        <p:nvSpPr>
          <p:cNvPr id="4" name="Slide Number Placeholder 3">
            <a:extLst>
              <a:ext uri="{FF2B5EF4-FFF2-40B4-BE49-F238E27FC236}">
                <a16:creationId xmlns:a16="http://schemas.microsoft.com/office/drawing/2014/main" id="{756DCFE1-F767-4D2F-EC0B-E7423C2F5430}"/>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29</a:t>
            </a:fld>
            <a:endParaRPr lang="en-US"/>
          </a:p>
        </p:txBody>
      </p:sp>
      <p:sp>
        <p:nvSpPr>
          <p:cNvPr id="7" name="TextBox 6">
            <a:extLst>
              <a:ext uri="{FF2B5EF4-FFF2-40B4-BE49-F238E27FC236}">
                <a16:creationId xmlns:a16="http://schemas.microsoft.com/office/drawing/2014/main" id="{06E6ED11-CE27-CD51-E8EA-67B2C2869258}"/>
              </a:ext>
            </a:extLst>
          </p:cNvPr>
          <p:cNvSpPr txBox="1"/>
          <p:nvPr/>
        </p:nvSpPr>
        <p:spPr>
          <a:xfrm>
            <a:off x="5934075" y="4981575"/>
            <a:ext cx="120015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35200101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88F96-23E2-45F5-2275-1F0DD79727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FDC35E-BFC4-E2B8-3C0E-952178419927}"/>
              </a:ext>
            </a:extLst>
          </p:cNvPr>
          <p:cNvSpPr>
            <a:spLocks noGrp="1"/>
          </p:cNvSpPr>
          <p:nvPr>
            <p:ph type="title"/>
          </p:nvPr>
        </p:nvSpPr>
        <p:spPr>
          <a:xfrm>
            <a:off x="644769" y="365125"/>
            <a:ext cx="10710619" cy="1325563"/>
          </a:xfrm>
        </p:spPr>
        <p:txBody>
          <a:bodyPr anchor="t">
            <a:normAutofit/>
          </a:bodyPr>
          <a:lstStyle/>
          <a:p>
            <a:r>
              <a:rPr lang="en-US" dirty="0"/>
              <a:t>How do we make this happen?</a:t>
            </a:r>
          </a:p>
        </p:txBody>
      </p:sp>
      <p:sp>
        <p:nvSpPr>
          <p:cNvPr id="3" name="Content Placeholder 2">
            <a:extLst>
              <a:ext uri="{FF2B5EF4-FFF2-40B4-BE49-F238E27FC236}">
                <a16:creationId xmlns:a16="http://schemas.microsoft.com/office/drawing/2014/main" id="{33382277-E60A-179A-5E02-FADB5CB5C585}"/>
              </a:ext>
            </a:extLst>
          </p:cNvPr>
          <p:cNvSpPr>
            <a:spLocks noGrp="1"/>
          </p:cNvSpPr>
          <p:nvPr>
            <p:ph sz="half" idx="1"/>
          </p:nvPr>
        </p:nvSpPr>
        <p:spPr>
          <a:xfrm>
            <a:off x="644769" y="1825625"/>
            <a:ext cx="5181600" cy="4351339"/>
          </a:xfrm>
        </p:spPr>
        <p:txBody>
          <a:bodyPr>
            <a:normAutofit/>
          </a:bodyPr>
          <a:lstStyle/>
          <a:p>
            <a:r>
              <a:rPr lang="en-US" sz="2400" dirty="0">
                <a:latin typeface="Arial" panose="020B0604020202020204" pitchFamily="34" charset="0"/>
                <a:cs typeface="Arial" panose="020B0604020202020204" pitchFamily="34" charset="0"/>
              </a:rPr>
              <a:t>Dashboard </a:t>
            </a:r>
            <a:r>
              <a:rPr lang="en-US" sz="2400" i="1" dirty="0">
                <a:latin typeface="Arial" panose="020B0604020202020204" pitchFamily="34" charset="0"/>
                <a:cs typeface="Arial" panose="020B0604020202020204" pitchFamily="34" charset="0"/>
              </a:rPr>
              <a:t>everything</a:t>
            </a:r>
            <a:endParaRPr lang="en-US" sz="2400" b="1" dirty="0">
              <a:latin typeface="Arial" panose="020B0604020202020204" pitchFamily="34" charset="0"/>
              <a:cs typeface="Arial" panose="020B0604020202020204" pitchFamily="34" charset="0"/>
            </a:endParaRP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Visualize key metrics like deployment frequency, lead time, error rates, and system health.</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Real-time dashboards help make data-driven decisions and spot issues quickly.</a:t>
            </a:r>
          </a:p>
          <a:p>
            <a:pPr lvl="1">
              <a:buFont typeface="Arial" panose="020B0604020202020204" pitchFamily="34" charset="0"/>
              <a:buChar char="•"/>
            </a:pPr>
            <a:r>
              <a:rPr lang="en-US" sz="2000" dirty="0">
                <a:latin typeface="Arial" panose="020B0604020202020204" pitchFamily="34" charset="0"/>
                <a:cs typeface="Arial" panose="020B0604020202020204" pitchFamily="34" charset="0"/>
              </a:rPr>
              <a:t>Promotes accountability and shared understanding across teams.</a:t>
            </a:r>
          </a:p>
          <a:p>
            <a:endParaRPr lang="en-US" sz="2000" i="1"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3CA11922-2115-7AB1-6570-FCBA6997360B}"/>
              </a:ext>
            </a:extLst>
          </p:cNvPr>
          <p:cNvPicPr>
            <a:picLocks noChangeAspect="1"/>
          </p:cNvPicPr>
          <p:nvPr/>
        </p:nvPicPr>
        <p:blipFill>
          <a:blip r:embed="rId2"/>
          <a:srcRect r="269" b="-1"/>
          <a:stretch/>
        </p:blipFill>
        <p:spPr>
          <a:xfrm>
            <a:off x="6172200" y="1825625"/>
            <a:ext cx="5181600" cy="4351339"/>
          </a:xfrm>
          <a:prstGeom prst="rect">
            <a:avLst/>
          </a:prstGeom>
          <a:noFill/>
        </p:spPr>
      </p:pic>
      <p:sp>
        <p:nvSpPr>
          <p:cNvPr id="4" name="Slide Number Placeholder 3">
            <a:extLst>
              <a:ext uri="{FF2B5EF4-FFF2-40B4-BE49-F238E27FC236}">
                <a16:creationId xmlns:a16="http://schemas.microsoft.com/office/drawing/2014/main" id="{5E71E085-3EFE-2F18-D3D7-0CE09C608205}"/>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30</a:t>
            </a:fld>
            <a:endParaRPr lang="en-US"/>
          </a:p>
        </p:txBody>
      </p:sp>
      <p:sp>
        <p:nvSpPr>
          <p:cNvPr id="7" name="TextBox 6">
            <a:extLst>
              <a:ext uri="{FF2B5EF4-FFF2-40B4-BE49-F238E27FC236}">
                <a16:creationId xmlns:a16="http://schemas.microsoft.com/office/drawing/2014/main" id="{6E474F83-7F1F-2D65-F900-05DF6D13C38F}"/>
              </a:ext>
            </a:extLst>
          </p:cNvPr>
          <p:cNvSpPr txBox="1"/>
          <p:nvPr/>
        </p:nvSpPr>
        <p:spPr>
          <a:xfrm>
            <a:off x="5934075" y="4981575"/>
            <a:ext cx="1200150" cy="369332"/>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31282586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D3923-3D0B-16A7-99DF-1D10F12AD1DD}"/>
              </a:ext>
            </a:extLst>
          </p:cNvPr>
          <p:cNvSpPr>
            <a:spLocks noGrp="1"/>
          </p:cNvSpPr>
          <p:nvPr>
            <p:ph type="title"/>
          </p:nvPr>
        </p:nvSpPr>
        <p:spPr>
          <a:xfrm>
            <a:off x="644769" y="365125"/>
            <a:ext cx="10710619" cy="1325563"/>
          </a:xfrm>
        </p:spPr>
        <p:txBody>
          <a:bodyPr anchor="t">
            <a:normAutofit/>
          </a:bodyPr>
          <a:lstStyle/>
          <a:p>
            <a:r>
              <a:rPr lang="en-US" dirty="0"/>
              <a:t>Continuous Delivery vs Deployment</a:t>
            </a:r>
          </a:p>
        </p:txBody>
      </p:sp>
      <p:pic>
        <p:nvPicPr>
          <p:cNvPr id="7" name="Content Placeholder 6">
            <a:extLst>
              <a:ext uri="{FF2B5EF4-FFF2-40B4-BE49-F238E27FC236}">
                <a16:creationId xmlns:a16="http://schemas.microsoft.com/office/drawing/2014/main" id="{28213802-27BD-0837-225F-EBA9FB09A4BA}"/>
              </a:ext>
            </a:extLst>
          </p:cNvPr>
          <p:cNvPicPr>
            <a:picLocks noGrp="1" noChangeAspect="1"/>
          </p:cNvPicPr>
          <p:nvPr>
            <p:ph idx="1"/>
          </p:nvPr>
        </p:nvPicPr>
        <p:blipFill>
          <a:blip r:embed="rId2"/>
          <a:stretch>
            <a:fillRect/>
          </a:stretch>
        </p:blipFill>
        <p:spPr>
          <a:xfrm>
            <a:off x="2131545" y="1825625"/>
            <a:ext cx="7735482" cy="4235176"/>
          </a:xfrm>
          <a:noFill/>
        </p:spPr>
      </p:pic>
      <p:sp>
        <p:nvSpPr>
          <p:cNvPr id="5" name="Slide Number Placeholder 4">
            <a:extLst>
              <a:ext uri="{FF2B5EF4-FFF2-40B4-BE49-F238E27FC236}">
                <a16:creationId xmlns:a16="http://schemas.microsoft.com/office/drawing/2014/main" id="{86726C4C-CAE9-497D-2D39-812892F573EC}"/>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31</a:t>
            </a:fld>
            <a:endParaRPr lang="en-US"/>
          </a:p>
        </p:txBody>
      </p:sp>
    </p:spTree>
    <p:extLst>
      <p:ext uri="{BB962C8B-B14F-4D97-AF65-F5344CB8AC3E}">
        <p14:creationId xmlns:p14="http://schemas.microsoft.com/office/powerpoint/2010/main" val="2281360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EAFBB-E6BC-DB70-D113-1C390494ED74}"/>
              </a:ext>
            </a:extLst>
          </p:cNvPr>
          <p:cNvSpPr>
            <a:spLocks noGrp="1"/>
          </p:cNvSpPr>
          <p:nvPr>
            <p:ph type="title"/>
          </p:nvPr>
        </p:nvSpPr>
        <p:spPr>
          <a:xfrm>
            <a:off x="644769" y="365125"/>
            <a:ext cx="10710619" cy="1325563"/>
          </a:xfrm>
        </p:spPr>
        <p:txBody>
          <a:bodyPr anchor="t">
            <a:normAutofit/>
          </a:bodyPr>
          <a:lstStyle/>
          <a:p>
            <a:r>
              <a:rPr lang="en-US" dirty="0"/>
              <a:t>Continuous Deployment Requirements</a:t>
            </a:r>
          </a:p>
        </p:txBody>
      </p:sp>
      <p:pic>
        <p:nvPicPr>
          <p:cNvPr id="6" name="Content Placeholder 5">
            <a:extLst>
              <a:ext uri="{FF2B5EF4-FFF2-40B4-BE49-F238E27FC236}">
                <a16:creationId xmlns:a16="http://schemas.microsoft.com/office/drawing/2014/main" id="{59DB4D2C-FED3-777A-5CFC-A3D53DC913F6}"/>
              </a:ext>
            </a:extLst>
          </p:cNvPr>
          <p:cNvPicPr>
            <a:picLocks noGrp="1" noChangeAspect="1"/>
          </p:cNvPicPr>
          <p:nvPr>
            <p:ph idx="1"/>
          </p:nvPr>
        </p:nvPicPr>
        <p:blipFill>
          <a:blip r:embed="rId2"/>
          <a:stretch>
            <a:fillRect/>
          </a:stretch>
        </p:blipFill>
        <p:spPr>
          <a:xfrm>
            <a:off x="2790820" y="1825625"/>
            <a:ext cx="6416933" cy="4235176"/>
          </a:xfrm>
          <a:noFill/>
        </p:spPr>
      </p:pic>
      <p:sp>
        <p:nvSpPr>
          <p:cNvPr id="4" name="Slide Number Placeholder 3">
            <a:extLst>
              <a:ext uri="{FF2B5EF4-FFF2-40B4-BE49-F238E27FC236}">
                <a16:creationId xmlns:a16="http://schemas.microsoft.com/office/drawing/2014/main" id="{94DB714B-C749-C201-218F-EB71EE228F2F}"/>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32</a:t>
            </a:fld>
            <a:endParaRPr lang="en-US"/>
          </a:p>
        </p:txBody>
      </p:sp>
    </p:spTree>
    <p:extLst>
      <p:ext uri="{BB962C8B-B14F-4D97-AF65-F5344CB8AC3E}">
        <p14:creationId xmlns:p14="http://schemas.microsoft.com/office/powerpoint/2010/main" val="632909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6BF03-1E51-3431-96E4-1D1580728A2F}"/>
              </a:ext>
            </a:extLst>
          </p:cNvPr>
          <p:cNvSpPr>
            <a:spLocks noGrp="1"/>
          </p:cNvSpPr>
          <p:nvPr>
            <p:ph type="title"/>
          </p:nvPr>
        </p:nvSpPr>
        <p:spPr>
          <a:xfrm>
            <a:off x="644769" y="365125"/>
            <a:ext cx="10710619" cy="1325563"/>
          </a:xfrm>
        </p:spPr>
        <p:txBody>
          <a:bodyPr anchor="t">
            <a:normAutofit/>
          </a:bodyPr>
          <a:lstStyle/>
          <a:p>
            <a:r>
              <a:rPr lang="en-US" dirty="0"/>
              <a:t>Continuous Delivery Principles</a:t>
            </a:r>
          </a:p>
        </p:txBody>
      </p:sp>
      <p:sp>
        <p:nvSpPr>
          <p:cNvPr id="3" name="Content Placeholder 2">
            <a:extLst>
              <a:ext uri="{FF2B5EF4-FFF2-40B4-BE49-F238E27FC236}">
                <a16:creationId xmlns:a16="http://schemas.microsoft.com/office/drawing/2014/main" id="{E0F3891F-E2BF-E0C7-6A19-0E479736D019}"/>
              </a:ext>
            </a:extLst>
          </p:cNvPr>
          <p:cNvSpPr>
            <a:spLocks noGrp="1"/>
          </p:cNvSpPr>
          <p:nvPr>
            <p:ph sz="half" idx="1"/>
          </p:nvPr>
        </p:nvSpPr>
        <p:spPr>
          <a:xfrm>
            <a:off x="644769" y="1825625"/>
            <a:ext cx="5181600" cy="4351339"/>
          </a:xfrm>
        </p:spPr>
        <p:txBody>
          <a:bodyPr>
            <a:normAutofit/>
          </a:bodyPr>
          <a:lstStyle/>
          <a:p>
            <a:r>
              <a:rPr lang="en-US" sz="2000" dirty="0">
                <a:latin typeface="Arial" panose="020B0604020202020204" pitchFamily="34" charset="0"/>
                <a:cs typeface="Arial" panose="020B0604020202020204" pitchFamily="34" charset="0"/>
              </a:rPr>
              <a:t>Create a </a:t>
            </a:r>
            <a:r>
              <a:rPr lang="en-US" sz="2000" b="1" dirty="0">
                <a:latin typeface="Arial" panose="020B0604020202020204" pitchFamily="34" charset="0"/>
                <a:cs typeface="Arial" panose="020B0604020202020204" pitchFamily="34" charset="0"/>
              </a:rPr>
              <a:t>repeatable</a:t>
            </a:r>
            <a:r>
              <a:rPr lang="en-US" sz="2000" dirty="0">
                <a:latin typeface="Arial" panose="020B0604020202020204" pitchFamily="34" charset="0"/>
                <a:cs typeface="Arial" panose="020B0604020202020204" pitchFamily="34" charset="0"/>
              </a:rPr>
              <a:t> and </a:t>
            </a:r>
            <a:r>
              <a:rPr lang="en-US" sz="2000" b="1" dirty="0">
                <a:latin typeface="Arial" panose="020B0604020202020204" pitchFamily="34" charset="0"/>
                <a:cs typeface="Arial" panose="020B0604020202020204" pitchFamily="34" charset="0"/>
              </a:rPr>
              <a:t>reliable</a:t>
            </a:r>
            <a:r>
              <a:rPr lang="en-US" sz="2000" dirty="0">
                <a:latin typeface="Arial" panose="020B0604020202020204" pitchFamily="34" charset="0"/>
                <a:cs typeface="Arial" panose="020B0604020202020204" pitchFamily="34" charset="0"/>
              </a:rPr>
              <a:t> process for software releases</a:t>
            </a:r>
          </a:p>
          <a:p>
            <a:pPr lvl="1"/>
            <a:r>
              <a:rPr lang="en-US" dirty="0">
                <a:latin typeface="Arial" panose="020B0604020202020204" pitchFamily="34" charset="0"/>
                <a:cs typeface="Arial" panose="020B0604020202020204" pitchFamily="34" charset="0"/>
              </a:rPr>
              <a:t>Releases occur frequently so the right process is critical</a:t>
            </a:r>
          </a:p>
          <a:p>
            <a:r>
              <a:rPr lang="en-US" sz="2000" b="1" dirty="0">
                <a:latin typeface="Arial" panose="020B0604020202020204" pitchFamily="34" charset="0"/>
                <a:cs typeface="Arial" panose="020B0604020202020204" pitchFamily="34" charset="0"/>
              </a:rPr>
              <a:t>Automate</a:t>
            </a:r>
            <a:r>
              <a:rPr lang="en-US" sz="2000" dirty="0">
                <a:latin typeface="Arial" panose="020B0604020202020204" pitchFamily="34" charset="0"/>
                <a:cs typeface="Arial" panose="020B0604020202020204" pitchFamily="34" charset="0"/>
              </a:rPr>
              <a:t> as much of the process as possible</a:t>
            </a:r>
          </a:p>
          <a:p>
            <a:pPr lvl="1"/>
            <a:r>
              <a:rPr lang="en-US" dirty="0">
                <a:latin typeface="Arial" panose="020B0604020202020204" pitchFamily="34" charset="0"/>
                <a:cs typeface="Arial" panose="020B0604020202020204" pitchFamily="34" charset="0"/>
              </a:rPr>
              <a:t>Manual processes are slow and error prone</a:t>
            </a:r>
          </a:p>
          <a:p>
            <a:pPr lvl="1"/>
            <a:r>
              <a:rPr lang="en-US" dirty="0">
                <a:latin typeface="Arial" panose="020B0604020202020204" pitchFamily="34" charset="0"/>
                <a:cs typeface="Arial" panose="020B0604020202020204" pitchFamily="34" charset="0"/>
              </a:rPr>
              <a:t>Identify and automate the hardest parts</a:t>
            </a:r>
          </a:p>
          <a:p>
            <a:r>
              <a:rPr lang="en-US" sz="2000" dirty="0">
                <a:latin typeface="Arial" panose="020B0604020202020204" pitchFamily="34" charset="0"/>
                <a:cs typeface="Arial" panose="020B0604020202020204" pitchFamily="34" charset="0"/>
              </a:rPr>
              <a:t>Keep </a:t>
            </a:r>
            <a:r>
              <a:rPr lang="en-US" sz="2000" b="1" dirty="0">
                <a:latin typeface="Arial" panose="020B0604020202020204" pitchFamily="34" charset="0"/>
                <a:cs typeface="Arial" panose="020B0604020202020204" pitchFamily="34" charset="0"/>
              </a:rPr>
              <a:t>everything</a:t>
            </a:r>
            <a:r>
              <a:rPr lang="en-US" sz="2000" dirty="0">
                <a:latin typeface="Arial" panose="020B0604020202020204" pitchFamily="34" charset="0"/>
                <a:cs typeface="Arial" panose="020B0604020202020204" pitchFamily="34" charset="0"/>
              </a:rPr>
              <a:t> needed to recreate the build under version control</a:t>
            </a:r>
          </a:p>
          <a:p>
            <a:pPr lvl="1"/>
            <a:r>
              <a:rPr lang="en-US" dirty="0">
                <a:latin typeface="Arial" panose="020B0604020202020204" pitchFamily="34" charset="0"/>
                <a:cs typeface="Arial" panose="020B0604020202020204" pitchFamily="34" charset="0"/>
              </a:rPr>
              <a:t>You may need to recreate any previous build</a:t>
            </a:r>
          </a:p>
        </p:txBody>
      </p:sp>
      <p:pic>
        <p:nvPicPr>
          <p:cNvPr id="8" name="Picture 7">
            <a:extLst>
              <a:ext uri="{FF2B5EF4-FFF2-40B4-BE49-F238E27FC236}">
                <a16:creationId xmlns:a16="http://schemas.microsoft.com/office/drawing/2014/main" id="{80413776-8A4C-5EF5-DB5D-9E9B83F4411E}"/>
              </a:ext>
            </a:extLst>
          </p:cNvPr>
          <p:cNvPicPr>
            <a:picLocks noChangeAspect="1"/>
          </p:cNvPicPr>
          <p:nvPr/>
        </p:nvPicPr>
        <p:blipFill>
          <a:blip r:embed="rId2"/>
          <a:stretch>
            <a:fillRect/>
          </a:stretch>
        </p:blipFill>
        <p:spPr>
          <a:xfrm>
            <a:off x="6172200" y="2547523"/>
            <a:ext cx="5181600" cy="2907543"/>
          </a:xfrm>
          <a:prstGeom prst="rect">
            <a:avLst/>
          </a:prstGeom>
          <a:noFill/>
        </p:spPr>
      </p:pic>
      <p:sp>
        <p:nvSpPr>
          <p:cNvPr id="4" name="Slide Number Placeholder 3">
            <a:extLst>
              <a:ext uri="{FF2B5EF4-FFF2-40B4-BE49-F238E27FC236}">
                <a16:creationId xmlns:a16="http://schemas.microsoft.com/office/drawing/2014/main" id="{D5D4F7D6-B888-0620-FFEA-1FCCD53DA4FB}"/>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33</a:t>
            </a:fld>
            <a:endParaRPr lang="en-US"/>
          </a:p>
        </p:txBody>
      </p:sp>
    </p:spTree>
    <p:extLst>
      <p:ext uri="{BB962C8B-B14F-4D97-AF65-F5344CB8AC3E}">
        <p14:creationId xmlns:p14="http://schemas.microsoft.com/office/powerpoint/2010/main" val="38380906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9C318-BEE9-B4E7-9DEA-14A07C11915C}"/>
              </a:ext>
            </a:extLst>
          </p:cNvPr>
          <p:cNvSpPr>
            <a:spLocks noGrp="1"/>
          </p:cNvSpPr>
          <p:nvPr>
            <p:ph type="title"/>
          </p:nvPr>
        </p:nvSpPr>
        <p:spPr>
          <a:xfrm>
            <a:off x="644769" y="365125"/>
            <a:ext cx="10710619" cy="1325563"/>
          </a:xfrm>
        </p:spPr>
        <p:txBody>
          <a:bodyPr anchor="t">
            <a:normAutofit/>
          </a:bodyPr>
          <a:lstStyle/>
          <a:p>
            <a:r>
              <a:rPr lang="en-US" dirty="0"/>
              <a:t>Continuous Delivery Principles </a:t>
            </a:r>
          </a:p>
        </p:txBody>
      </p:sp>
      <p:sp>
        <p:nvSpPr>
          <p:cNvPr id="3" name="Content Placeholder 2">
            <a:extLst>
              <a:ext uri="{FF2B5EF4-FFF2-40B4-BE49-F238E27FC236}">
                <a16:creationId xmlns:a16="http://schemas.microsoft.com/office/drawing/2014/main" id="{DC5AE588-7AD0-4479-8CB1-53183D9EECE1}"/>
              </a:ext>
            </a:extLst>
          </p:cNvPr>
          <p:cNvSpPr>
            <a:spLocks noGrp="1"/>
          </p:cNvSpPr>
          <p:nvPr>
            <p:ph sz="half" idx="1"/>
          </p:nvPr>
        </p:nvSpPr>
        <p:spPr>
          <a:xfrm>
            <a:off x="644769" y="1825625"/>
            <a:ext cx="5181600" cy="4351339"/>
          </a:xfrm>
        </p:spPr>
        <p:txBody>
          <a:bodyPr>
            <a:normAutofit/>
          </a:bodyPr>
          <a:lstStyle/>
          <a:p>
            <a:r>
              <a:rPr lang="en-US" sz="2000" b="1" dirty="0">
                <a:latin typeface="Arial" panose="020B0604020202020204" pitchFamily="34" charset="0"/>
                <a:cs typeface="Arial" panose="020B0604020202020204" pitchFamily="34" charset="0"/>
              </a:rPr>
              <a:t>Build quality in </a:t>
            </a:r>
            <a:r>
              <a:rPr lang="en-US" sz="2000" dirty="0">
                <a:latin typeface="Arial" panose="020B0604020202020204" pitchFamily="34" charset="0"/>
                <a:cs typeface="Arial" panose="020B0604020202020204" pitchFamily="34" charset="0"/>
              </a:rPr>
              <a:t>(Lean)</a:t>
            </a:r>
          </a:p>
          <a:p>
            <a:pPr lvl="1"/>
            <a:r>
              <a:rPr lang="en-US" dirty="0">
                <a:latin typeface="Arial" panose="020B0604020202020204" pitchFamily="34" charset="0"/>
                <a:cs typeface="Arial" panose="020B0604020202020204" pitchFamily="34" charset="0"/>
              </a:rPr>
              <a:t>Include quality improvements up front, don’t just measure after the fact</a:t>
            </a:r>
          </a:p>
          <a:p>
            <a:pPr lvl="1"/>
            <a:r>
              <a:rPr lang="en-US" dirty="0">
                <a:latin typeface="Arial" panose="020B0604020202020204" pitchFamily="34" charset="0"/>
                <a:cs typeface="Arial" panose="020B0604020202020204" pitchFamily="34" charset="0"/>
              </a:rPr>
              <a:t>Automated testing of all steps is critical</a:t>
            </a:r>
          </a:p>
          <a:p>
            <a:r>
              <a:rPr lang="en-US" sz="2000" dirty="0">
                <a:latin typeface="Arial" panose="020B0604020202020204" pitchFamily="34" charset="0"/>
                <a:cs typeface="Arial" panose="020B0604020202020204" pitchFamily="34" charset="0"/>
              </a:rPr>
              <a:t>You’re </a:t>
            </a:r>
            <a:r>
              <a:rPr lang="en-US" sz="2000" b="1" dirty="0">
                <a:latin typeface="Arial" panose="020B0604020202020204" pitchFamily="34" charset="0"/>
                <a:cs typeface="Arial" panose="020B0604020202020204" pitchFamily="34" charset="0"/>
              </a:rPr>
              <a:t>not “done” until the feature is released</a:t>
            </a:r>
          </a:p>
          <a:p>
            <a:r>
              <a:rPr lang="en-US" sz="2000" dirty="0">
                <a:latin typeface="Arial" panose="020B0604020202020204" pitchFamily="34" charset="0"/>
                <a:cs typeface="Arial" panose="020B0604020202020204" pitchFamily="34" charset="0"/>
              </a:rPr>
              <a:t>Everyone </a:t>
            </a:r>
            <a:r>
              <a:rPr lang="en-US" sz="2000" b="1" dirty="0">
                <a:latin typeface="Arial" panose="020B0604020202020204" pitchFamily="34" charset="0"/>
                <a:cs typeface="Arial" panose="020B0604020202020204" pitchFamily="34" charset="0"/>
              </a:rPr>
              <a:t>shares responsibility </a:t>
            </a:r>
            <a:r>
              <a:rPr lang="en-US" sz="2000" dirty="0">
                <a:latin typeface="Arial" panose="020B0604020202020204" pitchFamily="34" charset="0"/>
                <a:cs typeface="Arial" panose="020B0604020202020204" pitchFamily="34" charset="0"/>
              </a:rPr>
              <a:t>for delivery,  not just Ops</a:t>
            </a:r>
          </a:p>
          <a:p>
            <a:r>
              <a:rPr lang="en-US" sz="2000" b="1" dirty="0">
                <a:latin typeface="Arial" panose="020B0604020202020204" pitchFamily="34" charset="0"/>
                <a:cs typeface="Arial" panose="020B0604020202020204" pitchFamily="34" charset="0"/>
              </a:rPr>
              <a:t>Reflection and continuous improvement</a:t>
            </a:r>
            <a:r>
              <a:rPr lang="en-US" sz="2000" dirty="0">
                <a:latin typeface="Arial" panose="020B0604020202020204" pitchFamily="34" charset="0"/>
                <a:cs typeface="Arial" panose="020B0604020202020204" pitchFamily="34" charset="0"/>
              </a:rPr>
              <a:t> are critical</a:t>
            </a:r>
          </a:p>
        </p:txBody>
      </p:sp>
      <p:pic>
        <p:nvPicPr>
          <p:cNvPr id="6" name="Picture 5">
            <a:extLst>
              <a:ext uri="{FF2B5EF4-FFF2-40B4-BE49-F238E27FC236}">
                <a16:creationId xmlns:a16="http://schemas.microsoft.com/office/drawing/2014/main" id="{8A3A69D8-CB6E-E8DF-BDA9-B18DF0CA4C9C}"/>
              </a:ext>
            </a:extLst>
          </p:cNvPr>
          <p:cNvPicPr>
            <a:picLocks noChangeAspect="1"/>
          </p:cNvPicPr>
          <p:nvPr/>
        </p:nvPicPr>
        <p:blipFill>
          <a:blip r:embed="rId2"/>
          <a:stretch>
            <a:fillRect/>
          </a:stretch>
        </p:blipFill>
        <p:spPr>
          <a:xfrm>
            <a:off x="6172200" y="2547523"/>
            <a:ext cx="5181600" cy="2907543"/>
          </a:xfrm>
          <a:prstGeom prst="rect">
            <a:avLst/>
          </a:prstGeom>
          <a:noFill/>
        </p:spPr>
      </p:pic>
      <p:sp>
        <p:nvSpPr>
          <p:cNvPr id="4" name="Slide Number Placeholder 3">
            <a:extLst>
              <a:ext uri="{FF2B5EF4-FFF2-40B4-BE49-F238E27FC236}">
                <a16:creationId xmlns:a16="http://schemas.microsoft.com/office/drawing/2014/main" id="{B41C6A02-AAFA-11F4-F2B8-92881EAA12A3}"/>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34</a:t>
            </a:fld>
            <a:endParaRPr lang="en-US"/>
          </a:p>
        </p:txBody>
      </p:sp>
    </p:spTree>
    <p:extLst>
      <p:ext uri="{BB962C8B-B14F-4D97-AF65-F5344CB8AC3E}">
        <p14:creationId xmlns:p14="http://schemas.microsoft.com/office/powerpoint/2010/main" val="4878529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481E6-541F-408D-49BF-BB2B1DA2C2AD}"/>
              </a:ext>
            </a:extLst>
          </p:cNvPr>
          <p:cNvSpPr>
            <a:spLocks noGrp="1"/>
          </p:cNvSpPr>
          <p:nvPr>
            <p:ph type="title"/>
          </p:nvPr>
        </p:nvSpPr>
        <p:spPr>
          <a:xfrm>
            <a:off x="644769" y="365125"/>
            <a:ext cx="10710619" cy="1325563"/>
          </a:xfrm>
        </p:spPr>
        <p:txBody>
          <a:bodyPr anchor="t">
            <a:normAutofit/>
          </a:bodyPr>
          <a:lstStyle/>
          <a:p>
            <a:r>
              <a:rPr lang="en-US" dirty="0"/>
              <a:t>DevOps Tools and Practices</a:t>
            </a:r>
          </a:p>
        </p:txBody>
      </p:sp>
      <p:sp>
        <p:nvSpPr>
          <p:cNvPr id="3" name="Content Placeholder 2">
            <a:extLst>
              <a:ext uri="{FF2B5EF4-FFF2-40B4-BE49-F238E27FC236}">
                <a16:creationId xmlns:a16="http://schemas.microsoft.com/office/drawing/2014/main" id="{3DBFC3BF-3A38-64E7-F098-1C29DDA14BFF}"/>
              </a:ext>
            </a:extLst>
          </p:cNvPr>
          <p:cNvSpPr>
            <a:spLocks noGrp="1"/>
          </p:cNvSpPr>
          <p:nvPr>
            <p:ph sz="half" idx="1"/>
          </p:nvPr>
        </p:nvSpPr>
        <p:spPr>
          <a:xfrm>
            <a:off x="644769" y="1825625"/>
            <a:ext cx="5181600" cy="4351339"/>
          </a:xfrm>
        </p:spPr>
        <p:txBody>
          <a:bodyPr>
            <a:normAutofit fontScale="92500" lnSpcReduction="10000"/>
          </a:bodyPr>
          <a:lstStyle/>
          <a:p>
            <a:r>
              <a:rPr lang="en-US" sz="2200" b="1" dirty="0">
                <a:latin typeface="Arial" panose="020B0604020202020204" pitchFamily="34" charset="0"/>
                <a:cs typeface="Arial" panose="020B0604020202020204" pitchFamily="34" charset="0"/>
              </a:rPr>
              <a:t>Source Control/Configuration Management</a:t>
            </a:r>
          </a:p>
          <a:p>
            <a:pPr lvl="1"/>
            <a:r>
              <a:rPr lang="en-US" sz="1900" dirty="0">
                <a:latin typeface="Arial" panose="020B0604020202020204" pitchFamily="34" charset="0"/>
                <a:cs typeface="Arial" panose="020B0604020202020204" pitchFamily="34" charset="0"/>
              </a:rPr>
              <a:t>Keep everything needed to deliver a release under source control</a:t>
            </a:r>
          </a:p>
          <a:p>
            <a:r>
              <a:rPr lang="en-US" sz="2200" b="1" dirty="0">
                <a:latin typeface="Arial" panose="020B0604020202020204" pitchFamily="34" charset="0"/>
                <a:cs typeface="Arial" panose="020B0604020202020204" pitchFamily="34" charset="0"/>
              </a:rPr>
              <a:t>Build tools</a:t>
            </a:r>
          </a:p>
          <a:p>
            <a:pPr lvl="1"/>
            <a:r>
              <a:rPr lang="en-US" sz="1900" dirty="0">
                <a:latin typeface="Arial" panose="020B0604020202020204" pitchFamily="34" charset="0"/>
                <a:cs typeface="Arial" panose="020B0604020202020204" pitchFamily="34" charset="0"/>
              </a:rPr>
              <a:t>Developers’ build environment should reflect deployment </a:t>
            </a:r>
          </a:p>
          <a:p>
            <a:pPr lvl="1"/>
            <a:r>
              <a:rPr lang="en-US" sz="1900" dirty="0">
                <a:latin typeface="Arial" panose="020B0604020202020204" pitchFamily="34" charset="0"/>
                <a:cs typeface="Arial" panose="020B0604020202020204" pitchFamily="34" charset="0"/>
              </a:rPr>
              <a:t>Completely automate the build process including all steps</a:t>
            </a:r>
          </a:p>
          <a:p>
            <a:pPr lvl="1"/>
            <a:r>
              <a:rPr lang="en-US" sz="1900" dirty="0">
                <a:latin typeface="Arial" panose="020B0604020202020204" pitchFamily="34" charset="0"/>
                <a:cs typeface="Arial" panose="020B0604020202020204" pitchFamily="34" charset="0"/>
              </a:rPr>
              <a:t>Build, stage, and test every time a change is committed to source control</a:t>
            </a:r>
          </a:p>
          <a:p>
            <a:r>
              <a:rPr lang="en-US" sz="2200" b="1" dirty="0">
                <a:latin typeface="Arial" panose="020B0604020202020204" pitchFamily="34" charset="0"/>
                <a:cs typeface="Arial" panose="020B0604020202020204" pitchFamily="34" charset="0"/>
              </a:rPr>
              <a:t>Automated test</a:t>
            </a:r>
          </a:p>
          <a:p>
            <a:pPr lvl="1"/>
            <a:r>
              <a:rPr lang="en-US" sz="1900" dirty="0">
                <a:latin typeface="Arial" panose="020B0604020202020204" pitchFamily="34" charset="0"/>
                <a:cs typeface="Arial" panose="020B0604020202020204" pitchFamily="34" charset="0"/>
              </a:rPr>
              <a:t>All testing must be automated, e.g. TDD</a:t>
            </a:r>
          </a:p>
          <a:p>
            <a:pPr lvl="1"/>
            <a:r>
              <a:rPr lang="en-US" sz="1900" dirty="0">
                <a:latin typeface="Arial" panose="020B0604020202020204" pitchFamily="34" charset="0"/>
                <a:cs typeface="Arial" panose="020B0604020202020204" pitchFamily="34" charset="0"/>
              </a:rPr>
              <a:t>Unit, integration, system, performance, security, acceptance</a:t>
            </a:r>
          </a:p>
        </p:txBody>
      </p:sp>
      <p:pic>
        <p:nvPicPr>
          <p:cNvPr id="6" name="Content Placeholder 5">
            <a:extLst>
              <a:ext uri="{FF2B5EF4-FFF2-40B4-BE49-F238E27FC236}">
                <a16:creationId xmlns:a16="http://schemas.microsoft.com/office/drawing/2014/main" id="{19711D88-FDD3-38EC-7DDC-2B416DF2E349}"/>
              </a:ext>
            </a:extLst>
          </p:cNvPr>
          <p:cNvPicPr>
            <a:picLocks noGrp="1" noChangeAspect="1"/>
          </p:cNvPicPr>
          <p:nvPr>
            <p:ph sz="half" idx="2"/>
          </p:nvPr>
        </p:nvPicPr>
        <p:blipFill>
          <a:blip r:embed="rId2"/>
          <a:stretch>
            <a:fillRect/>
          </a:stretch>
        </p:blipFill>
        <p:spPr>
          <a:xfrm>
            <a:off x="6172200" y="2692940"/>
            <a:ext cx="5181600" cy="2616708"/>
          </a:xfrm>
          <a:prstGeom prst="rect">
            <a:avLst/>
          </a:prstGeom>
          <a:noFill/>
        </p:spPr>
      </p:pic>
      <p:sp>
        <p:nvSpPr>
          <p:cNvPr id="5" name="Slide Number Placeholder 4">
            <a:extLst>
              <a:ext uri="{FF2B5EF4-FFF2-40B4-BE49-F238E27FC236}">
                <a16:creationId xmlns:a16="http://schemas.microsoft.com/office/drawing/2014/main" id="{9484149D-2971-18C9-D938-296B5021EB06}"/>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35</a:t>
            </a:fld>
            <a:endParaRPr lang="en-US"/>
          </a:p>
        </p:txBody>
      </p:sp>
    </p:spTree>
    <p:extLst>
      <p:ext uri="{BB962C8B-B14F-4D97-AF65-F5344CB8AC3E}">
        <p14:creationId xmlns:p14="http://schemas.microsoft.com/office/powerpoint/2010/main" val="35281893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E0736-10AB-0996-6F4A-B71AAD0C86BD}"/>
              </a:ext>
            </a:extLst>
          </p:cNvPr>
          <p:cNvSpPr>
            <a:spLocks noGrp="1"/>
          </p:cNvSpPr>
          <p:nvPr>
            <p:ph type="title"/>
          </p:nvPr>
        </p:nvSpPr>
        <p:spPr>
          <a:xfrm>
            <a:off x="644769" y="365125"/>
            <a:ext cx="10710619" cy="1325563"/>
          </a:xfrm>
        </p:spPr>
        <p:txBody>
          <a:bodyPr anchor="t">
            <a:normAutofit/>
          </a:bodyPr>
          <a:lstStyle/>
          <a:p>
            <a:r>
              <a:rPr lang="en-US" dirty="0"/>
              <a:t>DevOps Tools and Practices</a:t>
            </a:r>
          </a:p>
        </p:txBody>
      </p:sp>
      <p:sp>
        <p:nvSpPr>
          <p:cNvPr id="3" name="Content Placeholder 2">
            <a:extLst>
              <a:ext uri="{FF2B5EF4-FFF2-40B4-BE49-F238E27FC236}">
                <a16:creationId xmlns:a16="http://schemas.microsoft.com/office/drawing/2014/main" id="{DE711BAB-132F-3153-C4C7-40A508C42F24}"/>
              </a:ext>
            </a:extLst>
          </p:cNvPr>
          <p:cNvSpPr>
            <a:spLocks noGrp="1"/>
          </p:cNvSpPr>
          <p:nvPr>
            <p:ph sz="half" idx="1"/>
          </p:nvPr>
        </p:nvSpPr>
        <p:spPr>
          <a:xfrm>
            <a:off x="644769" y="1825625"/>
            <a:ext cx="5181600" cy="4351339"/>
          </a:xfrm>
        </p:spPr>
        <p:txBody>
          <a:bodyPr>
            <a:normAutofit/>
          </a:bodyPr>
          <a:lstStyle/>
          <a:p>
            <a:r>
              <a:rPr lang="en-US" sz="2000" b="1" dirty="0">
                <a:latin typeface="Arial" panose="020B0604020202020204" pitchFamily="34" charset="0"/>
                <a:cs typeface="Arial" panose="020B0604020202020204" pitchFamily="34" charset="0"/>
              </a:rPr>
              <a:t>Continuous Integration</a:t>
            </a:r>
          </a:p>
          <a:p>
            <a:pPr lvl="1"/>
            <a:r>
              <a:rPr lang="en-US" dirty="0">
                <a:latin typeface="Arial" panose="020B0604020202020204" pitchFamily="34" charset="0"/>
                <a:cs typeface="Arial" panose="020B0604020202020204" pitchFamily="34" charset="0"/>
              </a:rPr>
              <a:t>Integrate and test after every commit</a:t>
            </a:r>
          </a:p>
          <a:p>
            <a:pPr lvl="1"/>
            <a:r>
              <a:rPr lang="en-US" dirty="0">
                <a:latin typeface="Arial" panose="020B0604020202020204" pitchFamily="34" charset="0"/>
                <a:cs typeface="Arial" panose="020B0604020202020204" pitchFamily="34" charset="0"/>
              </a:rPr>
              <a:t>Identify problems quickly</a:t>
            </a:r>
          </a:p>
          <a:p>
            <a:pPr lvl="1"/>
            <a:r>
              <a:rPr lang="en-US" dirty="0">
                <a:latin typeface="Arial" panose="020B0604020202020204" pitchFamily="34" charset="0"/>
                <a:cs typeface="Arial" panose="020B0604020202020204" pitchFamily="34" charset="0"/>
              </a:rPr>
              <a:t>Develop, integrate, and test against a production-like environment </a:t>
            </a:r>
          </a:p>
        </p:txBody>
      </p:sp>
      <p:pic>
        <p:nvPicPr>
          <p:cNvPr id="8" name="Content Placeholder 5">
            <a:extLst>
              <a:ext uri="{FF2B5EF4-FFF2-40B4-BE49-F238E27FC236}">
                <a16:creationId xmlns:a16="http://schemas.microsoft.com/office/drawing/2014/main" id="{51619878-E46C-7285-7B9A-4F083CFF32C5}"/>
              </a:ext>
            </a:extLst>
          </p:cNvPr>
          <p:cNvPicPr>
            <a:picLocks noGrp="1" noChangeAspect="1"/>
          </p:cNvPicPr>
          <p:nvPr>
            <p:ph sz="half" idx="2"/>
          </p:nvPr>
        </p:nvPicPr>
        <p:blipFill>
          <a:blip r:embed="rId2"/>
          <a:stretch>
            <a:fillRect/>
          </a:stretch>
        </p:blipFill>
        <p:spPr>
          <a:xfrm>
            <a:off x="6172200" y="2692940"/>
            <a:ext cx="5181600" cy="2616708"/>
          </a:xfrm>
          <a:prstGeom prst="rect">
            <a:avLst/>
          </a:prstGeom>
          <a:noFill/>
        </p:spPr>
      </p:pic>
      <p:sp>
        <p:nvSpPr>
          <p:cNvPr id="5" name="Slide Number Placeholder 4">
            <a:extLst>
              <a:ext uri="{FF2B5EF4-FFF2-40B4-BE49-F238E27FC236}">
                <a16:creationId xmlns:a16="http://schemas.microsoft.com/office/drawing/2014/main" id="{9076A39A-155B-A512-0A3E-5F00FCA56FB8}"/>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36</a:t>
            </a:fld>
            <a:endParaRPr lang="en-US"/>
          </a:p>
        </p:txBody>
      </p:sp>
    </p:spTree>
    <p:extLst>
      <p:ext uri="{BB962C8B-B14F-4D97-AF65-F5344CB8AC3E}">
        <p14:creationId xmlns:p14="http://schemas.microsoft.com/office/powerpoint/2010/main" val="13999144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50612-32A9-E3DA-D438-1452D52866D1}"/>
              </a:ext>
            </a:extLst>
          </p:cNvPr>
          <p:cNvSpPr>
            <a:spLocks noGrp="1"/>
          </p:cNvSpPr>
          <p:nvPr>
            <p:ph type="title"/>
          </p:nvPr>
        </p:nvSpPr>
        <p:spPr>
          <a:xfrm>
            <a:off x="644769" y="365125"/>
            <a:ext cx="10710619" cy="1325563"/>
          </a:xfrm>
        </p:spPr>
        <p:txBody>
          <a:bodyPr anchor="t">
            <a:normAutofit/>
          </a:bodyPr>
          <a:lstStyle/>
          <a:p>
            <a:r>
              <a:rPr lang="en-US" dirty="0"/>
              <a:t>DevOps Tools and Practices</a:t>
            </a:r>
          </a:p>
        </p:txBody>
      </p:sp>
      <p:sp>
        <p:nvSpPr>
          <p:cNvPr id="3" name="Content Placeholder 2">
            <a:extLst>
              <a:ext uri="{FF2B5EF4-FFF2-40B4-BE49-F238E27FC236}">
                <a16:creationId xmlns:a16="http://schemas.microsoft.com/office/drawing/2014/main" id="{9C6E9FA9-C4A0-C8A6-191C-59AE5B35ABB3}"/>
              </a:ext>
            </a:extLst>
          </p:cNvPr>
          <p:cNvSpPr>
            <a:spLocks noGrp="1"/>
          </p:cNvSpPr>
          <p:nvPr>
            <p:ph sz="half" idx="1"/>
          </p:nvPr>
        </p:nvSpPr>
        <p:spPr>
          <a:xfrm>
            <a:off x="644769" y="1825625"/>
            <a:ext cx="5181600" cy="4351339"/>
          </a:xfrm>
        </p:spPr>
        <p:txBody>
          <a:bodyPr>
            <a:normAutofit/>
          </a:bodyPr>
          <a:lstStyle/>
          <a:p>
            <a:r>
              <a:rPr lang="en-US" sz="2000" b="1" dirty="0">
                <a:latin typeface="Arial" panose="020B0604020202020204" pitchFamily="34" charset="0"/>
                <a:cs typeface="Arial" panose="020B0604020202020204" pitchFamily="34" charset="0"/>
              </a:rPr>
              <a:t>Monitoring</a:t>
            </a:r>
          </a:p>
          <a:p>
            <a:pPr lvl="1"/>
            <a:r>
              <a:rPr lang="en-US" dirty="0">
                <a:latin typeface="Arial" panose="020B0604020202020204" pitchFamily="34" charset="0"/>
                <a:cs typeface="Arial" panose="020B0604020202020204" pitchFamily="34" charset="0"/>
              </a:rPr>
              <a:t>Critical to monitor everything relevant </a:t>
            </a:r>
          </a:p>
          <a:p>
            <a:pPr lvl="1"/>
            <a:r>
              <a:rPr lang="en-US" dirty="0">
                <a:latin typeface="Arial" panose="020B0604020202020204" pitchFamily="34" charset="0"/>
                <a:cs typeface="Arial" panose="020B0604020202020204" pitchFamily="34" charset="0"/>
              </a:rPr>
              <a:t>Code quality, complexity, coverage</a:t>
            </a:r>
          </a:p>
          <a:p>
            <a:pPr lvl="1"/>
            <a:r>
              <a:rPr lang="en-US" dirty="0">
                <a:latin typeface="Arial" panose="020B0604020202020204" pitchFamily="34" charset="0"/>
                <a:cs typeface="Arial" panose="020B0604020202020204" pitchFamily="34" charset="0"/>
              </a:rPr>
              <a:t>Mean time to failure</a:t>
            </a:r>
          </a:p>
          <a:p>
            <a:pPr lvl="1"/>
            <a:r>
              <a:rPr lang="en-US" dirty="0">
                <a:latin typeface="Arial" panose="020B0604020202020204" pitchFamily="34" charset="0"/>
                <a:cs typeface="Arial" panose="020B0604020202020204" pitchFamily="34" charset="0"/>
              </a:rPr>
              <a:t>Mean time between failures</a:t>
            </a:r>
          </a:p>
          <a:p>
            <a:pPr lvl="1"/>
            <a:r>
              <a:rPr lang="en-US" dirty="0">
                <a:latin typeface="Arial" panose="020B0604020202020204" pitchFamily="34" charset="0"/>
                <a:cs typeface="Arial" panose="020B0604020202020204" pitchFamily="34" charset="0"/>
              </a:rPr>
              <a:t>Mean time to resolution</a:t>
            </a:r>
          </a:p>
          <a:p>
            <a:pPr lvl="1"/>
            <a:r>
              <a:rPr lang="en-US" dirty="0">
                <a:latin typeface="Arial" panose="020B0604020202020204" pitchFamily="34" charset="0"/>
                <a:cs typeface="Arial" panose="020B0604020202020204" pitchFamily="34" charset="0"/>
              </a:rPr>
              <a:t>Server capacity: disk, memory, network</a:t>
            </a:r>
          </a:p>
          <a:p>
            <a:pPr lvl="1"/>
            <a:r>
              <a:rPr lang="en-US" dirty="0">
                <a:latin typeface="Arial" panose="020B0604020202020204" pitchFamily="34" charset="0"/>
                <a:cs typeface="Arial" panose="020B0604020202020204" pitchFamily="34" charset="0"/>
              </a:rPr>
              <a:t>User behavior</a:t>
            </a:r>
          </a:p>
          <a:p>
            <a:pPr lvl="1"/>
            <a:r>
              <a:rPr lang="en-US" dirty="0">
                <a:latin typeface="Arial" panose="020B0604020202020204" pitchFamily="34" charset="0"/>
                <a:cs typeface="Arial" panose="020B0604020202020204" pitchFamily="34" charset="0"/>
              </a:rPr>
              <a:t>Response times</a:t>
            </a:r>
          </a:p>
          <a:p>
            <a:pPr lvl="1"/>
            <a:r>
              <a:rPr lang="en-US" dirty="0">
                <a:latin typeface="Arial" panose="020B0604020202020204" pitchFamily="34" charset="0"/>
                <a:cs typeface="Arial" panose="020B0604020202020204" pitchFamily="34" charset="0"/>
              </a:rPr>
              <a:t>Real-time monitoring</a:t>
            </a:r>
            <a:endParaRPr lang="en-US" sz="2000" dirty="0">
              <a:latin typeface="Arial" panose="020B0604020202020204" pitchFamily="34" charset="0"/>
              <a:cs typeface="Arial" panose="020B0604020202020204" pitchFamily="34" charset="0"/>
            </a:endParaRPr>
          </a:p>
        </p:txBody>
      </p:sp>
      <p:pic>
        <p:nvPicPr>
          <p:cNvPr id="6" name="Content Placeholder 5">
            <a:extLst>
              <a:ext uri="{FF2B5EF4-FFF2-40B4-BE49-F238E27FC236}">
                <a16:creationId xmlns:a16="http://schemas.microsoft.com/office/drawing/2014/main" id="{0A9ADAFF-7EB6-39F4-F66C-DC672F402EB4}"/>
              </a:ext>
            </a:extLst>
          </p:cNvPr>
          <p:cNvPicPr>
            <a:picLocks noGrp="1" noChangeAspect="1"/>
          </p:cNvPicPr>
          <p:nvPr>
            <p:ph sz="half" idx="2"/>
          </p:nvPr>
        </p:nvPicPr>
        <p:blipFill>
          <a:blip r:embed="rId2"/>
          <a:stretch>
            <a:fillRect/>
          </a:stretch>
        </p:blipFill>
        <p:spPr>
          <a:xfrm>
            <a:off x="6172200" y="2692940"/>
            <a:ext cx="5181600" cy="2616708"/>
          </a:xfrm>
          <a:prstGeom prst="rect">
            <a:avLst/>
          </a:prstGeom>
          <a:noFill/>
        </p:spPr>
      </p:pic>
      <p:sp>
        <p:nvSpPr>
          <p:cNvPr id="5" name="Slide Number Placeholder 4">
            <a:extLst>
              <a:ext uri="{FF2B5EF4-FFF2-40B4-BE49-F238E27FC236}">
                <a16:creationId xmlns:a16="http://schemas.microsoft.com/office/drawing/2014/main" id="{199F6457-7D27-D395-4B33-A54B26BE0E76}"/>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37</a:t>
            </a:fld>
            <a:endParaRPr lang="en-US"/>
          </a:p>
        </p:txBody>
      </p:sp>
    </p:spTree>
    <p:extLst>
      <p:ext uri="{BB962C8B-B14F-4D97-AF65-F5344CB8AC3E}">
        <p14:creationId xmlns:p14="http://schemas.microsoft.com/office/powerpoint/2010/main" val="655053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A249B-8710-7189-8DC6-CBDF381BC5DC}"/>
              </a:ext>
            </a:extLst>
          </p:cNvPr>
          <p:cNvSpPr>
            <a:spLocks noGrp="1"/>
          </p:cNvSpPr>
          <p:nvPr>
            <p:ph type="title"/>
          </p:nvPr>
        </p:nvSpPr>
        <p:spPr>
          <a:xfrm>
            <a:off x="644769" y="365125"/>
            <a:ext cx="10710619" cy="1325563"/>
          </a:xfrm>
        </p:spPr>
        <p:txBody>
          <a:bodyPr anchor="t">
            <a:normAutofit/>
          </a:bodyPr>
          <a:lstStyle/>
          <a:p>
            <a:r>
              <a:rPr lang="en-US" dirty="0"/>
              <a:t>Tools for continuous deployment</a:t>
            </a:r>
          </a:p>
        </p:txBody>
      </p:sp>
      <p:pic>
        <p:nvPicPr>
          <p:cNvPr id="7" name="Content Placeholder 6">
            <a:extLst>
              <a:ext uri="{FF2B5EF4-FFF2-40B4-BE49-F238E27FC236}">
                <a16:creationId xmlns:a16="http://schemas.microsoft.com/office/drawing/2014/main" id="{4F1C1457-DCB8-FEDF-387E-598E301F848F}"/>
              </a:ext>
            </a:extLst>
          </p:cNvPr>
          <p:cNvPicPr>
            <a:picLocks noGrp="1" noChangeAspect="1"/>
          </p:cNvPicPr>
          <p:nvPr>
            <p:ph idx="1"/>
          </p:nvPr>
        </p:nvPicPr>
        <p:blipFill>
          <a:blip r:embed="rId2"/>
          <a:stretch>
            <a:fillRect/>
          </a:stretch>
        </p:blipFill>
        <p:spPr>
          <a:xfrm>
            <a:off x="2583822" y="1825625"/>
            <a:ext cx="6830928" cy="4235176"/>
          </a:xfrm>
          <a:noFill/>
        </p:spPr>
      </p:pic>
      <p:sp>
        <p:nvSpPr>
          <p:cNvPr id="5" name="Slide Number Placeholder 4">
            <a:extLst>
              <a:ext uri="{FF2B5EF4-FFF2-40B4-BE49-F238E27FC236}">
                <a16:creationId xmlns:a16="http://schemas.microsoft.com/office/drawing/2014/main" id="{71EED0C8-76AD-AF43-6082-D9B94FFBC727}"/>
              </a:ext>
            </a:extLst>
          </p:cNvPr>
          <p:cNvSpPr>
            <a:spLocks noGrp="1"/>
          </p:cNvSpPr>
          <p:nvPr>
            <p:ph type="sldNum" sz="quarter" idx="12"/>
          </p:nvPr>
        </p:nvSpPr>
        <p:spPr>
          <a:xfrm>
            <a:off x="9375913" y="6276840"/>
            <a:ext cx="2743200" cy="365125"/>
          </a:xfrm>
        </p:spPr>
        <p:txBody>
          <a:bodyPr anchor="ctr">
            <a:normAutofit/>
          </a:bodyPr>
          <a:lstStyle/>
          <a:p>
            <a:pPr>
              <a:spcAft>
                <a:spcPts val="600"/>
              </a:spcAft>
            </a:pPr>
            <a:fld id="{4267CD5E-26CF-4249-8540-BB1D07FD4227}" type="slidenum">
              <a:rPr lang="en-US" smtClean="0"/>
              <a:pPr>
                <a:spcAft>
                  <a:spcPts val="600"/>
                </a:spcAft>
              </a:pPr>
              <a:t>38</a:t>
            </a:fld>
            <a:endParaRPr lang="en-US"/>
          </a:p>
        </p:txBody>
      </p:sp>
    </p:spTree>
    <p:extLst>
      <p:ext uri="{BB962C8B-B14F-4D97-AF65-F5344CB8AC3E}">
        <p14:creationId xmlns:p14="http://schemas.microsoft.com/office/powerpoint/2010/main" val="32225657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65146-CF43-818D-8E12-B74BBA26FC4B}"/>
              </a:ext>
            </a:extLst>
          </p:cNvPr>
          <p:cNvSpPr>
            <a:spLocks noGrp="1"/>
          </p:cNvSpPr>
          <p:nvPr>
            <p:ph type="title"/>
          </p:nvPr>
        </p:nvSpPr>
        <p:spPr/>
        <p:txBody>
          <a:bodyPr/>
          <a:lstStyle/>
          <a:p>
            <a:r>
              <a:rPr lang="en-US" dirty="0"/>
              <a:t>DevOps summary</a:t>
            </a:r>
          </a:p>
        </p:txBody>
      </p:sp>
      <p:sp>
        <p:nvSpPr>
          <p:cNvPr id="3" name="Content Placeholder 2">
            <a:extLst>
              <a:ext uri="{FF2B5EF4-FFF2-40B4-BE49-F238E27FC236}">
                <a16:creationId xmlns:a16="http://schemas.microsoft.com/office/drawing/2014/main" id="{F3A2AAE0-3F0D-A1D9-5DF3-371C7732745E}"/>
              </a:ext>
            </a:extLst>
          </p:cNvPr>
          <p:cNvSpPr>
            <a:spLocks noGrp="1"/>
          </p:cNvSpPr>
          <p:nvPr>
            <p:ph idx="1"/>
          </p:nvPr>
        </p:nvSpPr>
        <p:spPr/>
        <p:txBody>
          <a:bodyPr>
            <a:normAutofit/>
          </a:bodyPr>
          <a:lstStyle/>
          <a:p>
            <a:r>
              <a:rPr lang="en-US" sz="2000" dirty="0">
                <a:latin typeface="Arial" panose="020B0604020202020204" pitchFamily="34" charset="0"/>
                <a:cs typeface="Arial" panose="020B0604020202020204" pitchFamily="34" charset="0"/>
              </a:rPr>
              <a:t>DevOps extends Agile principles from code to include systems and operations </a:t>
            </a:r>
          </a:p>
          <a:p>
            <a:r>
              <a:rPr lang="en-US" sz="2000" dirty="0">
                <a:latin typeface="Arial" panose="020B0604020202020204" pitchFamily="34" charset="0"/>
                <a:cs typeface="Arial" panose="020B0604020202020204" pitchFamily="34" charset="0"/>
              </a:rPr>
              <a:t>DevOps is a philosophy</a:t>
            </a:r>
          </a:p>
          <a:p>
            <a:r>
              <a:rPr lang="en-US" sz="2000" dirty="0">
                <a:latin typeface="Arial" panose="020B0604020202020204" pitchFamily="34" charset="0"/>
                <a:cs typeface="Arial" panose="020B0604020202020204" pitchFamily="34" charset="0"/>
              </a:rPr>
              <a:t>Continuing evolution between developers and operations</a:t>
            </a:r>
          </a:p>
        </p:txBody>
      </p:sp>
      <p:sp>
        <p:nvSpPr>
          <p:cNvPr id="4" name="Slide Number Placeholder 3">
            <a:extLst>
              <a:ext uri="{FF2B5EF4-FFF2-40B4-BE49-F238E27FC236}">
                <a16:creationId xmlns:a16="http://schemas.microsoft.com/office/drawing/2014/main" id="{DD5BD3B6-2261-9115-D89C-2DE941298119}"/>
              </a:ext>
            </a:extLst>
          </p:cNvPr>
          <p:cNvSpPr>
            <a:spLocks noGrp="1"/>
          </p:cNvSpPr>
          <p:nvPr>
            <p:ph type="sldNum" sz="quarter" idx="12"/>
          </p:nvPr>
        </p:nvSpPr>
        <p:spPr/>
        <p:txBody>
          <a:bodyPr/>
          <a:lstStyle/>
          <a:p>
            <a:fld id="{4267CD5E-26CF-4249-8540-BB1D07FD4227}" type="slidenum">
              <a:rPr lang="en-US" smtClean="0"/>
              <a:t>39</a:t>
            </a:fld>
            <a:endParaRPr lang="en-US"/>
          </a:p>
        </p:txBody>
      </p:sp>
    </p:spTree>
    <p:extLst>
      <p:ext uri="{BB962C8B-B14F-4D97-AF65-F5344CB8AC3E}">
        <p14:creationId xmlns:p14="http://schemas.microsoft.com/office/powerpoint/2010/main" val="3049203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a:latin typeface="Arial" panose="020B0604020202090204"/>
                <a:sym typeface="+mn-ea"/>
              </a:rPr>
              <a:t>Questions?</a:t>
            </a:r>
            <a:endParaRPr lang="en-US"/>
          </a:p>
        </p:txBody>
      </p:sp>
      <p:sp>
        <p:nvSpPr>
          <p:cNvPr id="3" name="Slide Number Placeholder 2"/>
          <p:cNvSpPr>
            <a:spLocks noGrp="1"/>
          </p:cNvSpPr>
          <p:nvPr>
            <p:ph type="sldNum" sz="quarter" idx="12"/>
          </p:nvPr>
        </p:nvSpPr>
        <p:spPr/>
        <p:txBody>
          <a:bodyPr/>
          <a:lstStyle/>
          <a:p>
            <a:fld id="{4267CD5E-26CF-4249-8540-BB1D07FD4227}" type="slidenum">
              <a:rPr lang="en-US" smtClean="0"/>
              <a:t>40</a:t>
            </a:fld>
            <a:endParaRPr lang="en-US"/>
          </a:p>
        </p:txBody>
      </p:sp>
      <p:pic>
        <p:nvPicPr>
          <p:cNvPr id="6" name="Content Placeholder 5"/>
          <p:cNvPicPr>
            <a:picLocks noGrp="1" noChangeAspect="1"/>
          </p:cNvPicPr>
          <p:nvPr>
            <p:ph idx="1"/>
          </p:nvPr>
        </p:nvPicPr>
        <p:blipFill>
          <a:blip r:embed="rId2"/>
          <a:stretch>
            <a:fillRect/>
          </a:stretch>
        </p:blipFill>
        <p:spPr>
          <a:xfrm>
            <a:off x="3736975" y="2432050"/>
            <a:ext cx="4523105" cy="342011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9589682"/>
      </p:ext>
    </p:extLst>
  </p:cSld>
  <p:clrMapOvr>
    <a:masterClrMapping/>
  </p:clrMapOvr>
</p:sld>
</file>

<file path=ppt/theme/theme1.xml><?xml version="1.0" encoding="utf-8"?>
<a:theme xmlns:a="http://schemas.openxmlformats.org/drawingml/2006/main" name="Office Theme">
  <a:themeElements>
    <a:clrScheme name="Stevens">
      <a:dk1>
        <a:srgbClr val="363D45"/>
      </a:dk1>
      <a:lt1>
        <a:srgbClr val="FFFFFF"/>
      </a:lt1>
      <a:dk2>
        <a:srgbClr val="00427F"/>
      </a:dk2>
      <a:lt2>
        <a:srgbClr val="E3E5E6"/>
      </a:lt2>
      <a:accent1>
        <a:srgbClr val="A32537"/>
      </a:accent1>
      <a:accent2>
        <a:srgbClr val="4895CF"/>
      </a:accent2>
      <a:accent3>
        <a:srgbClr val="EBC73A"/>
      </a:accent3>
      <a:accent4>
        <a:srgbClr val="E6832E"/>
      </a:accent4>
      <a:accent5>
        <a:srgbClr val="E7F2FB"/>
      </a:accent5>
      <a:accent6>
        <a:srgbClr val="FFF2E8"/>
      </a:accent6>
      <a:hlink>
        <a:srgbClr val="0000FF"/>
      </a:hlink>
      <a:folHlink>
        <a:srgbClr val="800080"/>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28110</TotalTime>
  <Words>1911</Words>
  <Application>Microsoft Office PowerPoint</Application>
  <PresentationFormat>Widescreen</PresentationFormat>
  <Paragraphs>249</Paragraphs>
  <Slides>41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41</vt:i4>
      </vt:variant>
    </vt:vector>
  </HeadingPairs>
  <TitlesOfParts>
    <vt:vector size="52" baseType="lpstr">
      <vt:lpstr>Arial</vt:lpstr>
      <vt:lpstr>Arial Bold</vt:lpstr>
      <vt:lpstr>Calibri</vt:lpstr>
      <vt:lpstr>IBM Plex Sans</vt:lpstr>
      <vt:lpstr>IBM Plex Sans Light</vt:lpstr>
      <vt:lpstr>IBM Plex Sans SemiBold</vt:lpstr>
      <vt:lpstr>Saira Condensed Condensed Light</vt:lpstr>
      <vt:lpstr>Saira Condensed Condensed SemiBold</vt:lpstr>
      <vt:lpstr>System Font Regular</vt:lpstr>
      <vt:lpstr>Wingdings</vt:lpstr>
      <vt:lpstr>Office Theme</vt:lpstr>
      <vt:lpstr>SSW-555: Agile Methods for Software Development</vt:lpstr>
      <vt:lpstr>Acknowledgements</vt:lpstr>
      <vt:lpstr>Today's topics</vt:lpstr>
      <vt:lpstr>Module overview: DevOps</vt:lpstr>
      <vt:lpstr>Module overview: DevOps</vt:lpstr>
      <vt:lpstr>SDLC evolution: What now?</vt:lpstr>
      <vt:lpstr>Delivering value to the customer</vt:lpstr>
      <vt:lpstr>Development vs. Deployment/Ops</vt:lpstr>
      <vt:lpstr>Agile is not enough…</vt:lpstr>
      <vt:lpstr>Application Lifecycle Management</vt:lpstr>
      <vt:lpstr>Siloed delivery challenges</vt:lpstr>
      <vt:lpstr>How often to release new features?</vt:lpstr>
      <vt:lpstr>DevOps Solution </vt:lpstr>
      <vt:lpstr>DevOps Solution </vt:lpstr>
      <vt:lpstr>DevOps Solution </vt:lpstr>
      <vt:lpstr>The Five Key Principles of DevOps</vt:lpstr>
      <vt:lpstr>The Five Key Principles of DevOps</vt:lpstr>
      <vt:lpstr>The Five Key Principles of DevOps</vt:lpstr>
      <vt:lpstr>Module overview: DevOps</vt:lpstr>
      <vt:lpstr>DevOps is…</vt:lpstr>
      <vt:lpstr>DevOps principles and values</vt:lpstr>
      <vt:lpstr>Application Lifecycle Management</vt:lpstr>
      <vt:lpstr>Evolving customer and market expectations</vt:lpstr>
      <vt:lpstr>A DevOps Manifesto</vt:lpstr>
      <vt:lpstr>How do we make this happen?</vt:lpstr>
      <vt:lpstr>How do we make this happen?</vt:lpstr>
      <vt:lpstr>How do we make this happen?</vt:lpstr>
      <vt:lpstr>How do we make this happen?</vt:lpstr>
      <vt:lpstr>How do we make this happen?</vt:lpstr>
      <vt:lpstr>How do we make this happen?</vt:lpstr>
      <vt:lpstr>Continuous Delivery vs Deployment</vt:lpstr>
      <vt:lpstr>Continuous Deployment Requirements</vt:lpstr>
      <vt:lpstr>Continuous Delivery Principles</vt:lpstr>
      <vt:lpstr>Continuous Delivery Principles </vt:lpstr>
      <vt:lpstr>DevOps Tools and Practices</vt:lpstr>
      <vt:lpstr>DevOps Tools and Practices</vt:lpstr>
      <vt:lpstr>DevOps Tools and Practices</vt:lpstr>
      <vt:lpstr>Tools for continuous deployment</vt:lpstr>
      <vt:lpstr>DevOps summary</vt:lpstr>
      <vt:lpstr>Questions?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LOREM IPSUM DOLOR</dc:title>
  <dc:creator>Ivan Caro</dc:creator>
  <cp:lastModifiedBy>Nafiseh Ghorbani Renani</cp:lastModifiedBy>
  <cp:revision>313</cp:revision>
  <dcterms:created xsi:type="dcterms:W3CDTF">2022-11-18T01:51:09Z</dcterms:created>
  <dcterms:modified xsi:type="dcterms:W3CDTF">2025-04-17T21:44:24Z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1033-3.1.2.5330</vt:lpwstr>
  </property>
  <property fmtid="{D5CDD505-2E9C-101B-9397-08002B2CF9AE}" pid="3" name="MSIP_Label_a73fd474-4f3c-44ed-88fb-5cc4bd2471bf_Enabled">
    <vt:lpwstr>true</vt:lpwstr>
  </property>
  <property fmtid="{D5CDD505-2E9C-101B-9397-08002B2CF9AE}" pid="4" name="MSIP_Label_a73fd474-4f3c-44ed-88fb-5cc4bd2471bf_SetDate">
    <vt:lpwstr>2022-11-18T04:31:57Z</vt:lpwstr>
  </property>
  <property fmtid="{D5CDD505-2E9C-101B-9397-08002B2CF9AE}" pid="5" name="MSIP_Label_a73fd474-4f3c-44ed-88fb-5cc4bd2471bf_Method">
    <vt:lpwstr>Standard</vt:lpwstr>
  </property>
  <property fmtid="{D5CDD505-2E9C-101B-9397-08002B2CF9AE}" pid="6" name="MSIP_Label_a73fd474-4f3c-44ed-88fb-5cc4bd2471bf_Name">
    <vt:lpwstr>defa4170-0d19-0005-0004-bc88714345d2</vt:lpwstr>
  </property>
  <property fmtid="{D5CDD505-2E9C-101B-9397-08002B2CF9AE}" pid="7" name="MSIP_Label_a73fd474-4f3c-44ed-88fb-5cc4bd2471bf_SiteId">
    <vt:lpwstr>8d1a69ec-03b5-4345-ae21-dad112f5fb4f</vt:lpwstr>
  </property>
  <property fmtid="{D5CDD505-2E9C-101B-9397-08002B2CF9AE}" pid="8" name="MSIP_Label_a73fd474-4f3c-44ed-88fb-5cc4bd2471bf_ActionId">
    <vt:lpwstr>d8483dea-d78e-4bdd-b403-4d95796a875e</vt:lpwstr>
  </property>
  <property fmtid="{D5CDD505-2E9C-101B-9397-08002B2CF9AE}" pid="9" name="MSIP_Label_a73fd474-4f3c-44ed-88fb-5cc4bd2471bf_ContentBits">
    <vt:lpwstr>0</vt:lpwstr>
  </property>
</Properties>
</file>