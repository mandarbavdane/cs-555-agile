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37"/>
  </p:notesMasterIdLst>
  <p:sldIdLst>
    <p:sldId id="280" r:id="rId2"/>
    <p:sldId id="301" r:id="rId3"/>
    <p:sldId id="295" r:id="rId4"/>
    <p:sldId id="339" r:id="rId5"/>
    <p:sldId id="340" r:id="rId6"/>
    <p:sldId id="361" r:id="rId7"/>
    <p:sldId id="338" r:id="rId8"/>
    <p:sldId id="337" r:id="rId9"/>
    <p:sldId id="342" r:id="rId10"/>
    <p:sldId id="343" r:id="rId11"/>
    <p:sldId id="344" r:id="rId12"/>
    <p:sldId id="367" r:id="rId13"/>
    <p:sldId id="345" r:id="rId14"/>
    <p:sldId id="346" r:id="rId15"/>
    <p:sldId id="362" r:id="rId16"/>
    <p:sldId id="363" r:id="rId17"/>
    <p:sldId id="364" r:id="rId18"/>
    <p:sldId id="365" r:id="rId19"/>
    <p:sldId id="368" r:id="rId20"/>
    <p:sldId id="347" r:id="rId21"/>
    <p:sldId id="369" r:id="rId22"/>
    <p:sldId id="348" r:id="rId23"/>
    <p:sldId id="370" r:id="rId24"/>
    <p:sldId id="349" r:id="rId25"/>
    <p:sldId id="350" r:id="rId26"/>
    <p:sldId id="351" r:id="rId27"/>
    <p:sldId id="352" r:id="rId28"/>
    <p:sldId id="353" r:id="rId29"/>
    <p:sldId id="354" r:id="rId30"/>
    <p:sldId id="355" r:id="rId31"/>
    <p:sldId id="366" r:id="rId32"/>
    <p:sldId id="356" r:id="rId33"/>
    <p:sldId id="341" r:id="rId34"/>
    <p:sldId id="317" r:id="rId35"/>
    <p:sldId id="285" r:id="rId36"/>
  </p:sldIdLst>
  <p:sldSz cx="12192000" cy="6858000"/>
  <p:notesSz cx="6858000" cy="9144000"/>
  <p:defaultTextStyle>
    <a:defPPr>
      <a:defRPr lang="en-US"/>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3200" algn="l" defTabSz="913765" rtl="0" eaLnBrk="1" latinLnBrk="0" hangingPunct="1">
      <a:defRPr sz="1800" kern="1200">
        <a:solidFill>
          <a:schemeClr val="tx1"/>
        </a:solidFill>
        <a:latin typeface="+mn-lt"/>
        <a:ea typeface="+mn-ea"/>
        <a:cs typeface="+mn-cs"/>
      </a:defRPr>
    </a:lvl7pPr>
    <a:lvl8pPr marL="3200400" algn="l" defTabSz="913765" rtl="0" eaLnBrk="1" latinLnBrk="0" hangingPunct="1">
      <a:defRPr sz="1800" kern="1200">
        <a:solidFill>
          <a:schemeClr val="tx1"/>
        </a:solidFill>
        <a:latin typeface="+mn-lt"/>
        <a:ea typeface="+mn-ea"/>
        <a:cs typeface="+mn-cs"/>
      </a:defRPr>
    </a:lvl8pPr>
    <a:lvl9pPr marL="3657600" algn="l" defTabSz="913765"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438"/>
    <p:restoredTop sz="94694"/>
  </p:normalViewPr>
  <p:slideViewPr>
    <p:cSldViewPr snapToGrid="0" snapToObjects="1">
      <p:cViewPr varScale="1">
        <p:scale>
          <a:sx n="78" d="100"/>
          <a:sy n="78" d="100"/>
        </p:scale>
        <p:origin x="907" y="6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42"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fiseh Ghorbani Renani" userId="4e4c81e4-18c3-41de-84c9-a9c36e2573f4" providerId="ADAL" clId="{37B661E7-58BB-4F9E-8846-38EE4D89C220}"/>
    <pc:docChg chg="delSld">
      <pc:chgData name="Nafiseh Ghorbani Renani" userId="4e4c81e4-18c3-41de-84c9-a9c36e2573f4" providerId="ADAL" clId="{37B661E7-58BB-4F9E-8846-38EE4D89C220}" dt="2026-04-23T21:36:22.846" v="3" actId="47"/>
      <pc:docMkLst>
        <pc:docMk/>
      </pc:docMkLst>
      <pc:sldChg chg="del">
        <pc:chgData name="Nafiseh Ghorbani Renani" userId="4e4c81e4-18c3-41de-84c9-a9c36e2573f4" providerId="ADAL" clId="{37B661E7-58BB-4F9E-8846-38EE4D89C220}" dt="2026-04-23T21:36:22.846" v="3" actId="47"/>
        <pc:sldMkLst>
          <pc:docMk/>
          <pc:sldMk cId="422212354" sldId="357"/>
        </pc:sldMkLst>
      </pc:sldChg>
      <pc:sldChg chg="del">
        <pc:chgData name="Nafiseh Ghorbani Renani" userId="4e4c81e4-18c3-41de-84c9-a9c36e2573f4" providerId="ADAL" clId="{37B661E7-58BB-4F9E-8846-38EE4D89C220}" dt="2026-04-23T21:36:15.470" v="2" actId="47"/>
        <pc:sldMkLst>
          <pc:docMk/>
          <pc:sldMk cId="2140259966" sldId="358"/>
        </pc:sldMkLst>
      </pc:sldChg>
      <pc:sldChg chg="del">
        <pc:chgData name="Nafiseh Ghorbani Renani" userId="4e4c81e4-18c3-41de-84c9-a9c36e2573f4" providerId="ADAL" clId="{37B661E7-58BB-4F9E-8846-38EE4D89C220}" dt="2026-04-23T21:36:14.396" v="1" actId="47"/>
        <pc:sldMkLst>
          <pc:docMk/>
          <pc:sldMk cId="301350966" sldId="359"/>
        </pc:sldMkLst>
      </pc:sldChg>
      <pc:sldChg chg="del">
        <pc:chgData name="Nafiseh Ghorbani Renani" userId="4e4c81e4-18c3-41de-84c9-a9c36e2573f4" providerId="ADAL" clId="{37B661E7-58BB-4F9E-8846-38EE4D89C220}" dt="2026-04-23T21:36:09.803" v="0" actId="47"/>
        <pc:sldMkLst>
          <pc:docMk/>
          <pc:sldMk cId="3365223391" sldId="360"/>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A948F17-CD88-C84D-81CB-EFB18C377763}" type="datetimeFigureOut">
              <a:rPr lang="en-US" smtClean="0"/>
              <a:t>4/23/2026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5DB341C-843E-6244-9C40-DD933A1134AC}" type="slidenum">
              <a:rPr lang="en-US" smtClean="0"/>
              <a:t>‹#›</a:t>
            </a:fld>
            <a:endParaRPr lang="en-US"/>
          </a:p>
        </p:txBody>
      </p:sp>
    </p:spTree>
    <p:extLst>
      <p:ext uri="{BB962C8B-B14F-4D97-AF65-F5344CB8AC3E}">
        <p14:creationId xmlns:p14="http://schemas.microsoft.com/office/powerpoint/2010/main" val="1998174990"/>
      </p:ext>
    </p:extLst>
  </p:cSld>
  <p:clrMap bg1="lt1" tx1="dk1" bg2="lt2" tx2="dk2" accent1="accent1" accent2="accent2" accent3="accent3" accent4="accent4" accent5="accent5" accent6="accent6" hlink="hlink" folHlink="folHlink"/>
  <p:notesStyle>
    <a:lvl1pPr marL="0" algn="l" defTabSz="913765" rtl="0" eaLnBrk="1" latinLnBrk="0" hangingPunct="1">
      <a:defRPr sz="1200" kern="1200">
        <a:solidFill>
          <a:schemeClr val="tx1"/>
        </a:solidFill>
        <a:latin typeface="+mn-lt"/>
        <a:ea typeface="+mn-ea"/>
        <a:cs typeface="+mn-cs"/>
      </a:defRPr>
    </a:lvl1pPr>
    <a:lvl2pPr marL="457200" algn="l" defTabSz="913765" rtl="0" eaLnBrk="1" latinLnBrk="0" hangingPunct="1">
      <a:defRPr sz="1200" kern="1200">
        <a:solidFill>
          <a:schemeClr val="tx1"/>
        </a:solidFill>
        <a:latin typeface="+mn-lt"/>
        <a:ea typeface="+mn-ea"/>
        <a:cs typeface="+mn-cs"/>
      </a:defRPr>
    </a:lvl2pPr>
    <a:lvl3pPr marL="914400" algn="l" defTabSz="913765" rtl="0" eaLnBrk="1" latinLnBrk="0" hangingPunct="1">
      <a:defRPr sz="1200" kern="1200">
        <a:solidFill>
          <a:schemeClr val="tx1"/>
        </a:solidFill>
        <a:latin typeface="+mn-lt"/>
        <a:ea typeface="+mn-ea"/>
        <a:cs typeface="+mn-cs"/>
      </a:defRPr>
    </a:lvl3pPr>
    <a:lvl4pPr marL="1371600" algn="l" defTabSz="913765" rtl="0" eaLnBrk="1" latinLnBrk="0" hangingPunct="1">
      <a:defRPr sz="1200" kern="1200">
        <a:solidFill>
          <a:schemeClr val="tx1"/>
        </a:solidFill>
        <a:latin typeface="+mn-lt"/>
        <a:ea typeface="+mn-ea"/>
        <a:cs typeface="+mn-cs"/>
      </a:defRPr>
    </a:lvl4pPr>
    <a:lvl5pPr marL="1828800" algn="l" defTabSz="913765" rtl="0" eaLnBrk="1" latinLnBrk="0" hangingPunct="1">
      <a:defRPr sz="1200" kern="1200">
        <a:solidFill>
          <a:schemeClr val="tx1"/>
        </a:solidFill>
        <a:latin typeface="+mn-lt"/>
        <a:ea typeface="+mn-ea"/>
        <a:cs typeface="+mn-cs"/>
      </a:defRPr>
    </a:lvl5pPr>
    <a:lvl6pPr marL="2286000" algn="l" defTabSz="913765" rtl="0" eaLnBrk="1" latinLnBrk="0" hangingPunct="1">
      <a:defRPr sz="1200" kern="1200">
        <a:solidFill>
          <a:schemeClr val="tx1"/>
        </a:solidFill>
        <a:latin typeface="+mn-lt"/>
        <a:ea typeface="+mn-ea"/>
        <a:cs typeface="+mn-cs"/>
      </a:defRPr>
    </a:lvl6pPr>
    <a:lvl7pPr marL="2743200" algn="l" defTabSz="913765" rtl="0" eaLnBrk="1" latinLnBrk="0" hangingPunct="1">
      <a:defRPr sz="1200" kern="1200">
        <a:solidFill>
          <a:schemeClr val="tx1"/>
        </a:solidFill>
        <a:latin typeface="+mn-lt"/>
        <a:ea typeface="+mn-ea"/>
        <a:cs typeface="+mn-cs"/>
      </a:defRPr>
    </a:lvl7pPr>
    <a:lvl8pPr marL="3200400" algn="l" defTabSz="913765" rtl="0" eaLnBrk="1" latinLnBrk="0" hangingPunct="1">
      <a:defRPr sz="1200" kern="1200">
        <a:solidFill>
          <a:schemeClr val="tx1"/>
        </a:solidFill>
        <a:latin typeface="+mn-lt"/>
        <a:ea typeface="+mn-ea"/>
        <a:cs typeface="+mn-cs"/>
      </a:defRPr>
    </a:lvl8pPr>
    <a:lvl9pPr marL="3657600" algn="l" defTabSz="913765"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DB341C-843E-6244-9C40-DD933A1134AC}" type="slidenum">
              <a:rPr lang="en-US" smtClean="0"/>
              <a:t>1</a:t>
            </a:fld>
            <a:endParaRPr lang="en-US"/>
          </a:p>
        </p:txBody>
      </p:sp>
    </p:spTree>
    <p:extLst>
      <p:ext uri="{BB962C8B-B14F-4D97-AF65-F5344CB8AC3E}">
        <p14:creationId xmlns:p14="http://schemas.microsoft.com/office/powerpoint/2010/main" val="60573381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13" name="Picture 12" descr="Background pattern&#10;&#10;Description automatically generated"/>
          <p:cNvPicPr>
            <a:picLocks noChangeAspect="1"/>
          </p:cNvPicPr>
          <p:nvPr userDrawn="1"/>
        </p:nvPicPr>
        <p:blipFill>
          <a:blip r:embed="rId2"/>
          <a:stretch>
            <a:fillRect/>
          </a:stretch>
        </p:blipFill>
        <p:spPr>
          <a:xfrm>
            <a:off x="0" y="0"/>
            <a:ext cx="12192000" cy="6858000"/>
          </a:xfrm>
          <a:prstGeom prst="rect">
            <a:avLst/>
          </a:prstGeom>
        </p:spPr>
      </p:pic>
      <p:sp>
        <p:nvSpPr>
          <p:cNvPr id="2" name="Title 1"/>
          <p:cNvSpPr>
            <a:spLocks noGrp="1"/>
          </p:cNvSpPr>
          <p:nvPr>
            <p:ph type="ctrTitle" hasCustomPrompt="1"/>
          </p:nvPr>
        </p:nvSpPr>
        <p:spPr>
          <a:xfrm>
            <a:off x="4249881" y="2504921"/>
            <a:ext cx="7280733" cy="2061531"/>
          </a:xfrm>
        </p:spPr>
        <p:txBody>
          <a:bodyPr anchor="b">
            <a:normAutofit/>
          </a:bodyPr>
          <a:lstStyle>
            <a:lvl1pPr algn="r">
              <a:defRPr sz="5400" b="0" i="0">
                <a:solidFill>
                  <a:schemeClr val="bg1"/>
                </a:solidFill>
                <a:latin typeface="Saira Condensed Condensed Light" pitchFamily="2" charset="77"/>
              </a:defRPr>
            </a:lvl1pPr>
          </a:lstStyle>
          <a:p>
            <a:r>
              <a:rPr lang="en-US" dirty="0"/>
              <a:t>CLICK TO EDIT TITLE</a:t>
            </a:r>
          </a:p>
        </p:txBody>
      </p:sp>
      <p:sp>
        <p:nvSpPr>
          <p:cNvPr id="3" name="Subtitle 2"/>
          <p:cNvSpPr>
            <a:spLocks noGrp="1"/>
          </p:cNvSpPr>
          <p:nvPr>
            <p:ph type="subTitle" idx="1" hasCustomPrompt="1"/>
          </p:nvPr>
        </p:nvSpPr>
        <p:spPr>
          <a:xfrm>
            <a:off x="4488873" y="4591369"/>
            <a:ext cx="7041742" cy="934635"/>
          </a:xfrm>
        </p:spPr>
        <p:txBody>
          <a:bodyPr>
            <a:normAutofit/>
          </a:bodyPr>
          <a:lstStyle>
            <a:lvl1pPr marL="0" indent="0" algn="r">
              <a:buNone/>
              <a:defRPr sz="2000" b="0" i="0">
                <a:solidFill>
                  <a:schemeClr val="bg1"/>
                </a:solidFill>
                <a:latin typeface="IBM Plex Sans" panose="020B0503050203000203"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subtitle</a:t>
            </a:r>
          </a:p>
        </p:txBody>
      </p:sp>
      <p:sp>
        <p:nvSpPr>
          <p:cNvPr id="17" name="Text Placeholder 16"/>
          <p:cNvSpPr>
            <a:spLocks noGrp="1"/>
          </p:cNvSpPr>
          <p:nvPr>
            <p:ph type="body" sz="quarter" idx="11" hasCustomPrompt="1"/>
          </p:nvPr>
        </p:nvSpPr>
        <p:spPr>
          <a:xfrm>
            <a:off x="4675910" y="5690085"/>
            <a:ext cx="6854708" cy="422507"/>
          </a:xfrm>
        </p:spPr>
        <p:txBody>
          <a:bodyPr>
            <a:normAutofit/>
          </a:bodyPr>
          <a:lstStyle>
            <a:lvl1pPr marL="0" indent="0" algn="r">
              <a:buNone/>
              <a:defRPr sz="1800" b="1" i="0">
                <a:solidFill>
                  <a:schemeClr val="bg1"/>
                </a:solidFill>
                <a:latin typeface="IBM Plex Sans SemiBold" panose="020B0503050203000203" pitchFamily="34" charset="0"/>
              </a:defRPr>
            </a:lvl1pPr>
            <a:lvl2pPr marL="457200" indent="0" algn="r">
              <a:buNone/>
              <a:defRPr/>
            </a:lvl2pPr>
            <a:lvl3pPr marL="914400" indent="0" algn="r">
              <a:buNone/>
              <a:defRPr/>
            </a:lvl3pPr>
            <a:lvl4pPr marL="1371600" indent="0" algn="r">
              <a:buNone/>
              <a:defRPr/>
            </a:lvl4pPr>
            <a:lvl5pPr marL="1828800" indent="0" algn="r">
              <a:buNone/>
              <a:defRPr/>
            </a:lvl5pPr>
          </a:lstStyle>
          <a:p>
            <a:pPr lvl="0"/>
            <a:r>
              <a:rPr lang="en-US" dirty="0"/>
              <a:t>PRESENTER’S NAME</a:t>
            </a:r>
          </a:p>
        </p:txBody>
      </p:sp>
      <p:sp>
        <p:nvSpPr>
          <p:cNvPr id="4" name="Date Placeholder 3"/>
          <p:cNvSpPr>
            <a:spLocks noGrp="1"/>
          </p:cNvSpPr>
          <p:nvPr>
            <p:ph type="dt" sz="half" idx="10"/>
          </p:nvPr>
        </p:nvSpPr>
        <p:spPr>
          <a:xfrm>
            <a:off x="10416209" y="6342033"/>
            <a:ext cx="1114406" cy="246221"/>
          </a:xfrm>
          <a:prstGeom prst="rect">
            <a:avLst/>
          </a:prstGeom>
          <a:solidFill>
            <a:schemeClr val="accent1"/>
          </a:solidFill>
        </p:spPr>
        <p:txBody>
          <a:bodyPr wrap="square">
            <a:spAutoFit/>
          </a:bodyPr>
          <a:lstStyle>
            <a:lvl1pPr algn="r">
              <a:defRPr sz="1000" b="1" i="0">
                <a:solidFill>
                  <a:schemeClr val="bg1"/>
                </a:solidFill>
                <a:latin typeface="IBM Plex Sans" panose="020B0503050203000203" pitchFamily="34" charset="0"/>
              </a:defRPr>
            </a:lvl1pPr>
          </a:lstStyle>
          <a:p>
            <a:r>
              <a:rPr lang="en-US" dirty="0"/>
              <a:t>Date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pic>
        <p:nvPicPr>
          <p:cNvPr id="7" name="Picture 6" descr="A statue of a person riding a horse&#10;&#10;Description automatically generated with medium confidence"/>
          <p:cNvPicPr>
            <a:picLocks noChangeAspect="1"/>
          </p:cNvPicPr>
          <p:nvPr userDrawn="1"/>
        </p:nvPicPr>
        <p:blipFill rotWithShape="1">
          <a:blip r:embed="rId2"/>
          <a:srcRect l="16253"/>
          <a:stretch>
            <a:fillRect/>
          </a:stretch>
        </p:blipFill>
        <p:spPr>
          <a:xfrm>
            <a:off x="2" y="0"/>
            <a:ext cx="8636340" cy="6858000"/>
          </a:xfrm>
          <a:prstGeom prst="rect">
            <a:avLst/>
          </a:prstGeom>
        </p:spPr>
      </p:pic>
      <p:pic>
        <p:nvPicPr>
          <p:cNvPr id="6" name="Picture 5" descr="A picture containing shape&#10;&#10;Description automatically generated"/>
          <p:cNvPicPr>
            <a:picLocks noChangeAspect="1"/>
          </p:cNvPicPr>
          <p:nvPr userDrawn="1"/>
        </p:nvPicPr>
        <p:blipFill>
          <a:blip r:embed="rId3"/>
          <a:stretch>
            <a:fillRect/>
          </a:stretch>
        </p:blipFill>
        <p:spPr>
          <a:xfrm>
            <a:off x="298451" y="0"/>
            <a:ext cx="11893551" cy="6858000"/>
          </a:xfrm>
          <a:prstGeom prst="rect">
            <a:avLst/>
          </a:prstGeom>
        </p:spPr>
      </p:pic>
      <p:sp>
        <p:nvSpPr>
          <p:cNvPr id="2" name="Title 1"/>
          <p:cNvSpPr>
            <a:spLocks noGrp="1"/>
          </p:cNvSpPr>
          <p:nvPr>
            <p:ph type="ctrTitle" hasCustomPrompt="1"/>
          </p:nvPr>
        </p:nvSpPr>
        <p:spPr>
          <a:xfrm>
            <a:off x="6324602" y="2504921"/>
            <a:ext cx="5206015" cy="2061531"/>
          </a:xfrm>
        </p:spPr>
        <p:txBody>
          <a:bodyPr anchor="b">
            <a:normAutofit/>
          </a:bodyPr>
          <a:lstStyle>
            <a:lvl1pPr algn="r">
              <a:defRPr sz="5400" b="0" i="0">
                <a:solidFill>
                  <a:schemeClr val="bg1"/>
                </a:solidFill>
                <a:latin typeface="Saira Condensed Condensed Light" pitchFamily="2" charset="77"/>
              </a:defRPr>
            </a:lvl1pPr>
          </a:lstStyle>
          <a:p>
            <a:r>
              <a:rPr lang="en-US" dirty="0"/>
              <a:t>CLICK TO EDIT TITLE</a:t>
            </a:r>
          </a:p>
        </p:txBody>
      </p:sp>
      <p:sp>
        <p:nvSpPr>
          <p:cNvPr id="3" name="Subtitle 2"/>
          <p:cNvSpPr>
            <a:spLocks noGrp="1"/>
          </p:cNvSpPr>
          <p:nvPr>
            <p:ph type="subTitle" idx="1" hasCustomPrompt="1"/>
          </p:nvPr>
        </p:nvSpPr>
        <p:spPr>
          <a:xfrm>
            <a:off x="6616701" y="4591369"/>
            <a:ext cx="4913915" cy="934635"/>
          </a:xfrm>
        </p:spPr>
        <p:txBody>
          <a:bodyPr>
            <a:normAutofit/>
          </a:bodyPr>
          <a:lstStyle>
            <a:lvl1pPr marL="0" indent="0" algn="r">
              <a:buNone/>
              <a:defRPr sz="2000" b="0" i="0">
                <a:solidFill>
                  <a:schemeClr val="bg1"/>
                </a:solidFill>
                <a:latin typeface="IBM Plex Sans" panose="020B0503050203000203"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subtitle</a:t>
            </a:r>
          </a:p>
        </p:txBody>
      </p:sp>
      <p:sp>
        <p:nvSpPr>
          <p:cNvPr id="12" name="Text Placeholder 16"/>
          <p:cNvSpPr>
            <a:spLocks noGrp="1"/>
          </p:cNvSpPr>
          <p:nvPr>
            <p:ph type="body" sz="quarter" idx="11" hasCustomPrompt="1"/>
          </p:nvPr>
        </p:nvSpPr>
        <p:spPr>
          <a:xfrm>
            <a:off x="6794501" y="5690085"/>
            <a:ext cx="4736115" cy="422507"/>
          </a:xfrm>
        </p:spPr>
        <p:txBody>
          <a:bodyPr>
            <a:normAutofit/>
          </a:bodyPr>
          <a:lstStyle>
            <a:lvl1pPr marL="0" indent="0" algn="r">
              <a:buNone/>
              <a:defRPr sz="1800" b="1" i="0">
                <a:solidFill>
                  <a:schemeClr val="bg1"/>
                </a:solidFill>
                <a:latin typeface="IBM Plex Sans SemiBold" panose="020B0503050203000203" pitchFamily="34" charset="0"/>
              </a:defRPr>
            </a:lvl1pPr>
            <a:lvl2pPr marL="457200" indent="0" algn="r">
              <a:buNone/>
              <a:defRPr/>
            </a:lvl2pPr>
            <a:lvl3pPr marL="914400" indent="0" algn="r">
              <a:buNone/>
              <a:defRPr/>
            </a:lvl3pPr>
            <a:lvl4pPr marL="1371600" indent="0" algn="r">
              <a:buNone/>
              <a:defRPr/>
            </a:lvl4pPr>
            <a:lvl5pPr marL="1828800" indent="0" algn="r">
              <a:buNone/>
              <a:defRPr/>
            </a:lvl5pPr>
          </a:lstStyle>
          <a:p>
            <a:pPr lvl="0"/>
            <a:r>
              <a:rPr lang="en-US" dirty="0"/>
              <a:t>PRESENTER’S NAME</a:t>
            </a:r>
          </a:p>
        </p:txBody>
      </p:sp>
      <p:sp>
        <p:nvSpPr>
          <p:cNvPr id="4" name="Date Placeholder 3"/>
          <p:cNvSpPr>
            <a:spLocks noGrp="1"/>
          </p:cNvSpPr>
          <p:nvPr>
            <p:ph type="dt" sz="half" idx="10"/>
          </p:nvPr>
        </p:nvSpPr>
        <p:spPr>
          <a:xfrm>
            <a:off x="10406269" y="6342033"/>
            <a:ext cx="1124345" cy="246221"/>
          </a:xfrm>
          <a:prstGeom prst="rect">
            <a:avLst/>
          </a:prstGeom>
          <a:solidFill>
            <a:schemeClr val="accent1"/>
          </a:solidFill>
        </p:spPr>
        <p:txBody>
          <a:bodyPr wrap="square">
            <a:spAutoFit/>
          </a:bodyPr>
          <a:lstStyle>
            <a:lvl1pPr algn="r">
              <a:defRPr sz="1000" b="1" i="0">
                <a:solidFill>
                  <a:schemeClr val="bg1"/>
                </a:solidFill>
                <a:latin typeface="IBM Plex Sans" panose="020B0503050203000203" pitchFamily="34" charset="0"/>
              </a:defRPr>
            </a:lvl1pPr>
          </a:lstStyle>
          <a:p>
            <a:r>
              <a:rPr lang="en-US" dirty="0"/>
              <a:t>Date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 Custom Image">
    <p:spTree>
      <p:nvGrpSpPr>
        <p:cNvPr id="1" name=""/>
        <p:cNvGrpSpPr/>
        <p:nvPr/>
      </p:nvGrpSpPr>
      <p:grpSpPr>
        <a:xfrm>
          <a:off x="0" y="0"/>
          <a:ext cx="0" cy="0"/>
          <a:chOff x="0" y="0"/>
          <a:chExt cx="0" cy="0"/>
        </a:xfrm>
      </p:grpSpPr>
      <p:pic>
        <p:nvPicPr>
          <p:cNvPr id="8" name="Picture 7"/>
          <p:cNvPicPr>
            <a:picLocks noChangeAspect="1"/>
          </p:cNvPicPr>
          <p:nvPr userDrawn="1"/>
        </p:nvPicPr>
        <p:blipFill rotWithShape="1">
          <a:blip r:embed="rId2"/>
          <a:srcRect l="103" r="14569"/>
          <a:stretch>
            <a:fillRect/>
          </a:stretch>
        </p:blipFill>
        <p:spPr>
          <a:xfrm>
            <a:off x="-2033456" y="0"/>
            <a:ext cx="10392405" cy="6858000"/>
          </a:xfrm>
          <a:prstGeom prst="rect">
            <a:avLst/>
          </a:prstGeom>
        </p:spPr>
      </p:pic>
      <p:pic>
        <p:nvPicPr>
          <p:cNvPr id="9" name="Picture 8" descr="A picture containing shape&#10;&#10;Description automatically generated"/>
          <p:cNvPicPr>
            <a:picLocks noChangeAspect="1"/>
          </p:cNvPicPr>
          <p:nvPr userDrawn="1"/>
        </p:nvPicPr>
        <p:blipFill>
          <a:blip r:embed="rId3"/>
          <a:stretch>
            <a:fillRect/>
          </a:stretch>
        </p:blipFill>
        <p:spPr>
          <a:xfrm>
            <a:off x="298449" y="0"/>
            <a:ext cx="11893551" cy="6858000"/>
          </a:xfrm>
          <a:prstGeom prst="rect">
            <a:avLst/>
          </a:prstGeom>
        </p:spPr>
      </p:pic>
      <p:sp>
        <p:nvSpPr>
          <p:cNvPr id="10" name="Title 1"/>
          <p:cNvSpPr>
            <a:spLocks noGrp="1"/>
          </p:cNvSpPr>
          <p:nvPr>
            <p:ph type="ctrTitle" hasCustomPrompt="1"/>
          </p:nvPr>
        </p:nvSpPr>
        <p:spPr>
          <a:xfrm>
            <a:off x="6324602" y="2504921"/>
            <a:ext cx="5206015" cy="2061531"/>
          </a:xfrm>
        </p:spPr>
        <p:txBody>
          <a:bodyPr anchor="b">
            <a:normAutofit/>
          </a:bodyPr>
          <a:lstStyle>
            <a:lvl1pPr algn="r">
              <a:defRPr sz="5400" b="0" i="0">
                <a:solidFill>
                  <a:schemeClr val="bg1"/>
                </a:solidFill>
                <a:latin typeface="Saira Condensed Condensed Light" pitchFamily="2" charset="77"/>
              </a:defRPr>
            </a:lvl1pPr>
          </a:lstStyle>
          <a:p>
            <a:r>
              <a:rPr lang="en-US" dirty="0"/>
              <a:t>CLICK TO EDIT TITLE</a:t>
            </a:r>
          </a:p>
        </p:txBody>
      </p:sp>
      <p:sp>
        <p:nvSpPr>
          <p:cNvPr id="11" name="Subtitle 2"/>
          <p:cNvSpPr>
            <a:spLocks noGrp="1"/>
          </p:cNvSpPr>
          <p:nvPr>
            <p:ph type="subTitle" idx="1" hasCustomPrompt="1"/>
          </p:nvPr>
        </p:nvSpPr>
        <p:spPr>
          <a:xfrm>
            <a:off x="6616701" y="4591369"/>
            <a:ext cx="4913915" cy="934635"/>
          </a:xfrm>
        </p:spPr>
        <p:txBody>
          <a:bodyPr>
            <a:normAutofit/>
          </a:bodyPr>
          <a:lstStyle>
            <a:lvl1pPr marL="0" indent="0" algn="r">
              <a:buNone/>
              <a:defRPr sz="2000" b="0" i="0">
                <a:solidFill>
                  <a:schemeClr val="bg1"/>
                </a:solidFill>
                <a:latin typeface="IBM Plex Sans" panose="020B0503050203000203"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subtitle</a:t>
            </a:r>
          </a:p>
        </p:txBody>
      </p:sp>
      <p:sp>
        <p:nvSpPr>
          <p:cNvPr id="13" name="Date Placeholder 3"/>
          <p:cNvSpPr>
            <a:spLocks noGrp="1"/>
          </p:cNvSpPr>
          <p:nvPr>
            <p:ph type="dt" sz="half" idx="10"/>
          </p:nvPr>
        </p:nvSpPr>
        <p:spPr>
          <a:xfrm>
            <a:off x="10446026" y="6362185"/>
            <a:ext cx="1084590" cy="246221"/>
          </a:xfrm>
          <a:prstGeom prst="rect">
            <a:avLst/>
          </a:prstGeom>
          <a:solidFill>
            <a:schemeClr val="accent1"/>
          </a:solidFill>
        </p:spPr>
        <p:txBody>
          <a:bodyPr wrap="square">
            <a:spAutoFit/>
          </a:bodyPr>
          <a:lstStyle>
            <a:lvl1pPr algn="r">
              <a:defRPr sz="1000" b="1" i="0">
                <a:solidFill>
                  <a:schemeClr val="bg1"/>
                </a:solidFill>
                <a:latin typeface="IBM Plex Sans" panose="020B0503050203000203" pitchFamily="34" charset="0"/>
              </a:defRPr>
            </a:lvl1pPr>
          </a:lstStyle>
          <a:p>
            <a:r>
              <a:rPr lang="en-US" dirty="0"/>
              <a:t> Date</a:t>
            </a:r>
          </a:p>
        </p:txBody>
      </p:sp>
      <p:sp>
        <p:nvSpPr>
          <p:cNvPr id="14" name="Text Placeholder 16"/>
          <p:cNvSpPr>
            <a:spLocks noGrp="1"/>
          </p:cNvSpPr>
          <p:nvPr>
            <p:ph type="body" sz="quarter" idx="11" hasCustomPrompt="1"/>
          </p:nvPr>
        </p:nvSpPr>
        <p:spPr>
          <a:xfrm>
            <a:off x="6794501" y="5690085"/>
            <a:ext cx="4736115" cy="422507"/>
          </a:xfrm>
        </p:spPr>
        <p:txBody>
          <a:bodyPr>
            <a:normAutofit/>
          </a:bodyPr>
          <a:lstStyle>
            <a:lvl1pPr marL="0" indent="0" algn="r">
              <a:buNone/>
              <a:defRPr sz="1800" b="1" i="0">
                <a:solidFill>
                  <a:schemeClr val="bg1"/>
                </a:solidFill>
                <a:latin typeface="IBM Plex Sans SemiBold" panose="020B0503050203000203" pitchFamily="34" charset="0"/>
              </a:defRPr>
            </a:lvl1pPr>
            <a:lvl2pPr marL="457200" indent="0" algn="r">
              <a:buNone/>
              <a:defRPr/>
            </a:lvl2pPr>
            <a:lvl3pPr marL="914400" indent="0" algn="r">
              <a:buNone/>
              <a:defRPr/>
            </a:lvl3pPr>
            <a:lvl4pPr marL="1371600" indent="0" algn="r">
              <a:buNone/>
              <a:defRPr/>
            </a:lvl4pPr>
            <a:lvl5pPr marL="1828800" indent="0" algn="r">
              <a:buNone/>
              <a:defRPr/>
            </a:lvl5pPr>
          </a:lstStyle>
          <a:p>
            <a:pPr lvl="0"/>
            <a:r>
              <a:rPr lang="en-US" dirty="0"/>
              <a:t>PRESENTER’S NAME</a:t>
            </a:r>
          </a:p>
        </p:txBody>
      </p:sp>
      <p:sp>
        <p:nvSpPr>
          <p:cNvPr id="15" name="TextBox 14"/>
          <p:cNvSpPr txBox="1"/>
          <p:nvPr userDrawn="1"/>
        </p:nvSpPr>
        <p:spPr>
          <a:xfrm>
            <a:off x="912816" y="1325690"/>
            <a:ext cx="4215776" cy="5135445"/>
          </a:xfrm>
          <a:prstGeom prst="rect">
            <a:avLst/>
          </a:prstGeom>
          <a:noFill/>
        </p:spPr>
        <p:txBody>
          <a:bodyPr wrap="square" rtlCol="0">
            <a:spAutoFit/>
          </a:bodyPr>
          <a:lstStyle/>
          <a:p>
            <a:r>
              <a:rPr lang="en-US" b="1" dirty="0">
                <a:latin typeface="IBM Plex Sans" panose="020B0503050203000203" pitchFamily="34" charset="0"/>
              </a:rPr>
              <a:t>INSTRUCTIONS TO REPLACE IMAGE:</a:t>
            </a:r>
          </a:p>
          <a:p>
            <a:endParaRPr lang="en-US" b="1" dirty="0">
              <a:latin typeface="IBM Plex Sans" panose="020B0503050203000203" pitchFamily="34" charset="0"/>
            </a:endParaRPr>
          </a:p>
          <a:p>
            <a:pPr marL="342900" indent="-342900">
              <a:lnSpc>
                <a:spcPct val="150000"/>
              </a:lnSpc>
              <a:buFont typeface="+mj-lt"/>
              <a:buAutoNum type="arabicPeriod"/>
            </a:pPr>
            <a:r>
              <a:rPr lang="en-US" sz="1400" b="0" dirty="0">
                <a:latin typeface="IBM Plex Sans" panose="020B0503050203000203" pitchFamily="34" charset="0"/>
              </a:rPr>
              <a:t>Go to View&gt;Slide Master</a:t>
            </a:r>
          </a:p>
          <a:p>
            <a:pPr marL="342900" indent="-342900">
              <a:lnSpc>
                <a:spcPct val="150000"/>
              </a:lnSpc>
              <a:buFont typeface="+mj-lt"/>
              <a:buAutoNum type="arabicPeriod"/>
            </a:pPr>
            <a:r>
              <a:rPr lang="en-US" sz="1400" b="0" dirty="0">
                <a:latin typeface="IBM Plex Sans" panose="020B0503050203000203" pitchFamily="34" charset="0"/>
              </a:rPr>
              <a:t>Locate this layout and duplicate it</a:t>
            </a:r>
          </a:p>
          <a:p>
            <a:pPr marL="342900" indent="-342900">
              <a:lnSpc>
                <a:spcPct val="150000"/>
              </a:lnSpc>
              <a:buFont typeface="+mj-lt"/>
              <a:buAutoNum type="arabicPeriod"/>
            </a:pPr>
            <a:r>
              <a:rPr lang="en-US" sz="1400" b="0" dirty="0">
                <a:latin typeface="IBM Plex Sans" panose="020B0503050203000203" pitchFamily="34" charset="0"/>
              </a:rPr>
              <a:t>Right-click the orange circle on the far-left side of this image</a:t>
            </a:r>
          </a:p>
          <a:p>
            <a:pPr marL="342900" indent="-342900">
              <a:lnSpc>
                <a:spcPct val="150000"/>
              </a:lnSpc>
              <a:buFont typeface="+mj-lt"/>
              <a:buAutoNum type="arabicPeriod"/>
            </a:pPr>
            <a:r>
              <a:rPr lang="en-US" sz="1400" b="0" dirty="0">
                <a:latin typeface="IBM Plex Sans" panose="020B0503050203000203" pitchFamily="34" charset="0"/>
              </a:rPr>
              <a:t>Scroll to “Change Picture”</a:t>
            </a:r>
          </a:p>
          <a:p>
            <a:pPr marL="342900" indent="-342900">
              <a:lnSpc>
                <a:spcPct val="150000"/>
              </a:lnSpc>
              <a:buFont typeface="+mj-lt"/>
              <a:buAutoNum type="arabicPeriod"/>
            </a:pPr>
            <a:r>
              <a:rPr lang="en-US" sz="1400" b="0" dirty="0">
                <a:latin typeface="IBM Plex Sans" panose="020B0503050203000203" pitchFamily="34" charset="0"/>
              </a:rPr>
              <a:t>Select “From File” (note that your version of PowerPoint may use different menu language)</a:t>
            </a:r>
          </a:p>
          <a:p>
            <a:pPr marL="342900" indent="-342900">
              <a:lnSpc>
                <a:spcPct val="150000"/>
              </a:lnSpc>
              <a:buFont typeface="+mj-lt"/>
              <a:buAutoNum type="arabicPeriod"/>
            </a:pPr>
            <a:r>
              <a:rPr lang="en-US" sz="1400" b="0" dirty="0">
                <a:latin typeface="IBM Plex Sans" panose="020B0503050203000203" pitchFamily="34" charset="0"/>
              </a:rPr>
              <a:t>Select desired image</a:t>
            </a:r>
          </a:p>
          <a:p>
            <a:pPr marL="342900" indent="-342900">
              <a:lnSpc>
                <a:spcPct val="150000"/>
              </a:lnSpc>
              <a:buFont typeface="+mj-lt"/>
              <a:buAutoNum type="arabicPeriod"/>
            </a:pPr>
            <a:r>
              <a:rPr lang="en-US" sz="1400" b="0" dirty="0">
                <a:latin typeface="IBM Plex Sans" panose="020B0503050203000203" pitchFamily="34" charset="0"/>
              </a:rPr>
              <a:t>Resize and crop image as necessary</a:t>
            </a:r>
          </a:p>
          <a:p>
            <a:pPr marL="342900" indent="-342900">
              <a:lnSpc>
                <a:spcPct val="150000"/>
              </a:lnSpc>
              <a:buFont typeface="+mj-lt"/>
              <a:buAutoNum type="arabicPeriod"/>
            </a:pPr>
            <a:r>
              <a:rPr lang="en-US" sz="1400" b="0" dirty="0">
                <a:latin typeface="IBM Plex Sans" panose="020B0503050203000203" pitchFamily="34" charset="0"/>
              </a:rPr>
              <a:t>Make sure image is sent to back (right click on image)</a:t>
            </a:r>
          </a:p>
          <a:p>
            <a:pPr marL="342900" indent="-342900">
              <a:lnSpc>
                <a:spcPct val="150000"/>
              </a:lnSpc>
              <a:buFont typeface="+mj-lt"/>
              <a:buAutoNum type="arabicPeriod"/>
            </a:pPr>
            <a:r>
              <a:rPr lang="en-US" sz="1400" b="0" dirty="0">
                <a:latin typeface="IBM Plex Sans" panose="020B0503050203000203" pitchFamily="34" charset="0"/>
              </a:rPr>
              <a:t>Close slide master and insert a new slide using the new, then delete this text box from your presentation slide.</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5" name="Picture 4" descr="A body of water with buildings along it&#10;&#10;Description automatically generated with medium confidence"/>
          <p:cNvPicPr>
            <a:picLocks noChangeAspect="1"/>
          </p:cNvPicPr>
          <p:nvPr userDrawn="1"/>
        </p:nvPicPr>
        <p:blipFill>
          <a:blip r:embed="rId2"/>
          <a:stretch>
            <a:fillRect/>
          </a:stretch>
        </p:blipFill>
        <p:spPr>
          <a:xfrm>
            <a:off x="0" y="0"/>
            <a:ext cx="12090400" cy="6858000"/>
          </a:xfrm>
          <a:prstGeom prst="rect">
            <a:avLst/>
          </a:prstGeom>
        </p:spPr>
      </p:pic>
      <p:pic>
        <p:nvPicPr>
          <p:cNvPr id="7" name="Picture 6" descr="A picture containing shape&#10;&#10;Description automatically generated"/>
          <p:cNvPicPr>
            <a:picLocks noChangeAspect="1"/>
          </p:cNvPicPr>
          <p:nvPr userDrawn="1"/>
        </p:nvPicPr>
        <p:blipFill>
          <a:blip r:embed="rId3"/>
          <a:stretch>
            <a:fillRect/>
          </a:stretch>
        </p:blipFill>
        <p:spPr>
          <a:xfrm>
            <a:off x="298451" y="0"/>
            <a:ext cx="11893551" cy="6858000"/>
          </a:xfrm>
          <a:prstGeom prst="rect">
            <a:avLst/>
          </a:prstGeom>
        </p:spPr>
      </p:pic>
      <p:sp>
        <p:nvSpPr>
          <p:cNvPr id="2" name="Title 1"/>
          <p:cNvSpPr>
            <a:spLocks noGrp="1"/>
          </p:cNvSpPr>
          <p:nvPr>
            <p:ph type="title" hasCustomPrompt="1"/>
          </p:nvPr>
        </p:nvSpPr>
        <p:spPr>
          <a:xfrm>
            <a:off x="6617373" y="974037"/>
            <a:ext cx="4913243" cy="4254363"/>
          </a:xfrm>
        </p:spPr>
        <p:txBody>
          <a:bodyPr anchor="b">
            <a:normAutofit/>
          </a:bodyPr>
          <a:lstStyle>
            <a:lvl1pPr algn="r">
              <a:defRPr sz="5400"/>
            </a:lvl1pPr>
          </a:lstStyle>
          <a:p>
            <a:r>
              <a:rPr lang="en-US" dirty="0"/>
              <a:t>CLICK TO EDIT TITLE</a:t>
            </a:r>
          </a:p>
        </p:txBody>
      </p:sp>
      <p:sp>
        <p:nvSpPr>
          <p:cNvPr id="3" name="Text Placeholder 2"/>
          <p:cNvSpPr>
            <a:spLocks noGrp="1"/>
          </p:cNvSpPr>
          <p:nvPr>
            <p:ph type="body" idx="1" hasCustomPrompt="1"/>
          </p:nvPr>
        </p:nvSpPr>
        <p:spPr>
          <a:xfrm>
            <a:off x="6858002" y="5394965"/>
            <a:ext cx="4672615" cy="931499"/>
          </a:xfrm>
        </p:spPr>
        <p:txBody>
          <a:bodyPr>
            <a:normAutofit/>
          </a:bodyPr>
          <a:lstStyle>
            <a:lvl1pPr marL="0" indent="0" algn="r">
              <a:buNone/>
              <a:defRPr sz="2000" b="0" i="0">
                <a:solidFill>
                  <a:schemeClr val="tx1"/>
                </a:solidFill>
                <a:latin typeface="IBM Plex Sans" panose="020B0503050203000203"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text</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Title 1"/>
          <p:cNvSpPr>
            <a:spLocks noGrp="1"/>
          </p:cNvSpPr>
          <p:nvPr>
            <p:ph type="title" hasCustomPrompt="1"/>
          </p:nvPr>
        </p:nvSpPr>
        <p:spPr>
          <a:xfrm>
            <a:off x="644769" y="365125"/>
            <a:ext cx="10710619" cy="1325563"/>
          </a:xfrm>
        </p:spPr>
        <p:txBody>
          <a:bodyPr/>
          <a:lstStyle/>
          <a:p>
            <a:r>
              <a:rPr lang="en-US" dirty="0"/>
              <a:t>CLICK TO EDIT TITLE</a:t>
            </a:r>
          </a:p>
        </p:txBody>
      </p:sp>
      <p:sp>
        <p:nvSpPr>
          <p:cNvPr id="3" name="Content Placeholder 2"/>
          <p:cNvSpPr>
            <a:spLocks noGrp="1"/>
          </p:cNvSpPr>
          <p:nvPr>
            <p:ph idx="1" hasCustomPrompt="1"/>
          </p:nvPr>
        </p:nvSpPr>
        <p:spPr/>
        <p:txBody>
          <a:bodyPr/>
          <a:lstStyle>
            <a:lvl1pPr marL="228600" indent="-228600">
              <a:defRPr/>
            </a:lvl1pPr>
            <a:lvl2pPr marL="502920" indent="-228600">
              <a:buSzPct val="100000"/>
              <a:buFont typeface="System Font Regular"/>
              <a:buChar char="-"/>
              <a:defRPr/>
            </a:lvl2pPr>
            <a:lvl3pPr marL="777240" indent="-228600">
              <a:buSzPct val="100000"/>
              <a:buFont typeface="System Font Regular"/>
              <a:buChar char="-"/>
              <a:defRPr/>
            </a:lvl3pPr>
            <a:lvl4pPr marL="1005840" indent="-228600">
              <a:buSzPct val="100000"/>
              <a:buFont typeface="System Font Regular"/>
              <a:buChar char="-"/>
              <a:defRPr/>
            </a:lvl4pPr>
            <a:lvl5pPr marL="1280160" indent="-228600">
              <a:buSzPct val="100000"/>
              <a:buFont typeface="System Font Regular"/>
              <a:buChar char="-"/>
              <a:defRPr/>
            </a:lvl5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12"/>
          </p:nvPr>
        </p:nvSpPr>
        <p:spPr/>
        <p:txBody>
          <a:bodyPr/>
          <a:lstStyle/>
          <a:p>
            <a:fld id="{4267CD5E-26CF-4249-8540-BB1D07FD4227}"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ubhead and Content">
    <p:spTree>
      <p:nvGrpSpPr>
        <p:cNvPr id="1" name=""/>
        <p:cNvGrpSpPr/>
        <p:nvPr/>
      </p:nvGrpSpPr>
      <p:grpSpPr>
        <a:xfrm>
          <a:off x="0" y="0"/>
          <a:ext cx="0" cy="0"/>
          <a:chOff x="0" y="0"/>
          <a:chExt cx="0" cy="0"/>
        </a:xfrm>
      </p:grpSpPr>
      <p:sp>
        <p:nvSpPr>
          <p:cNvPr id="7" name="Title 1"/>
          <p:cNvSpPr>
            <a:spLocks noGrp="1"/>
          </p:cNvSpPr>
          <p:nvPr>
            <p:ph type="title" hasCustomPrompt="1"/>
          </p:nvPr>
        </p:nvSpPr>
        <p:spPr>
          <a:xfrm>
            <a:off x="646359" y="365127"/>
            <a:ext cx="10709031" cy="734621"/>
          </a:xfrm>
        </p:spPr>
        <p:txBody>
          <a:bodyPr/>
          <a:lstStyle/>
          <a:p>
            <a:r>
              <a:rPr lang="en-US" dirty="0"/>
              <a:t>CLICK TO EDIT TITLE</a:t>
            </a:r>
          </a:p>
        </p:txBody>
      </p:sp>
      <p:sp>
        <p:nvSpPr>
          <p:cNvPr id="4" name="Text Placeholder 3"/>
          <p:cNvSpPr>
            <a:spLocks noGrp="1"/>
          </p:cNvSpPr>
          <p:nvPr>
            <p:ph type="body" sz="quarter" idx="13" hasCustomPrompt="1"/>
          </p:nvPr>
        </p:nvSpPr>
        <p:spPr>
          <a:xfrm>
            <a:off x="644771" y="1345482"/>
            <a:ext cx="10709031" cy="734620"/>
          </a:xfrm>
        </p:spPr>
        <p:txBody>
          <a:bodyPr>
            <a:normAutofit/>
          </a:bodyPr>
          <a:lstStyle>
            <a:lvl1pPr marL="0" indent="0">
              <a:buNone/>
              <a:defRPr sz="2000" b="0" i="0">
                <a:solidFill>
                  <a:schemeClr val="accent1"/>
                </a:solidFill>
                <a:latin typeface="IBM Plex Sans Light" panose="020B0403050203000203" pitchFamily="34" charset="0"/>
              </a:defRPr>
            </a:lvl1pPr>
            <a:lvl2pPr marL="457200" indent="0">
              <a:buNone/>
              <a:defRPr b="0" i="0">
                <a:solidFill>
                  <a:schemeClr val="accent1"/>
                </a:solidFill>
                <a:latin typeface="IBM Plex Sans Light" panose="020B0403050203000203" pitchFamily="34" charset="0"/>
              </a:defRPr>
            </a:lvl2pPr>
            <a:lvl3pPr marL="914400" indent="0">
              <a:buNone/>
              <a:defRPr b="0" i="0">
                <a:solidFill>
                  <a:schemeClr val="accent1"/>
                </a:solidFill>
                <a:latin typeface="IBM Plex Sans Light" panose="020B0403050203000203" pitchFamily="34" charset="0"/>
              </a:defRPr>
            </a:lvl3pPr>
            <a:lvl4pPr marL="1371600" indent="0">
              <a:buNone/>
              <a:defRPr b="0" i="0">
                <a:solidFill>
                  <a:schemeClr val="accent1"/>
                </a:solidFill>
                <a:latin typeface="IBM Plex Sans Light" panose="020B0403050203000203" pitchFamily="34" charset="0"/>
              </a:defRPr>
            </a:lvl4pPr>
            <a:lvl5pPr marL="1828800" indent="0">
              <a:buNone/>
              <a:defRPr b="0" i="0">
                <a:solidFill>
                  <a:schemeClr val="accent1"/>
                </a:solidFill>
                <a:latin typeface="IBM Plex Sans Light" panose="020B0403050203000203" pitchFamily="34" charset="0"/>
              </a:defRPr>
            </a:lvl5pPr>
          </a:lstStyle>
          <a:p>
            <a:pPr lvl="0"/>
            <a:r>
              <a:rPr lang="en-US" dirty="0"/>
              <a:t>Make sure to use brand colors when creating tables and graphs. If graphs are placed from an outside source, please reformat to use the Stevens Theme Colors set in this template.</a:t>
            </a:r>
          </a:p>
        </p:txBody>
      </p:sp>
      <p:sp>
        <p:nvSpPr>
          <p:cNvPr id="3" name="Content Placeholder 2"/>
          <p:cNvSpPr>
            <a:spLocks noGrp="1"/>
          </p:cNvSpPr>
          <p:nvPr>
            <p:ph idx="1" hasCustomPrompt="1"/>
          </p:nvPr>
        </p:nvSpPr>
        <p:spPr>
          <a:xfrm>
            <a:off x="644771" y="2202874"/>
            <a:ext cx="10709031" cy="3879273"/>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12"/>
          </p:nvPr>
        </p:nvSpPr>
        <p:spPr/>
        <p:txBody>
          <a:bodyPr/>
          <a:lstStyle/>
          <a:p>
            <a:fld id="{4267CD5E-26CF-4249-8540-BB1D07FD4227}"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8" name="Title 1"/>
          <p:cNvSpPr>
            <a:spLocks noGrp="1"/>
          </p:cNvSpPr>
          <p:nvPr>
            <p:ph type="title" hasCustomPrompt="1"/>
          </p:nvPr>
        </p:nvSpPr>
        <p:spPr>
          <a:xfrm>
            <a:off x="644769" y="365125"/>
            <a:ext cx="10710619" cy="1325563"/>
          </a:xfrm>
        </p:spPr>
        <p:txBody>
          <a:bodyPr/>
          <a:lstStyle/>
          <a:p>
            <a:r>
              <a:rPr lang="en-US" dirty="0"/>
              <a:t>CLICK TO EDIT TITLE</a:t>
            </a:r>
          </a:p>
        </p:txBody>
      </p:sp>
      <p:sp>
        <p:nvSpPr>
          <p:cNvPr id="3" name="Content Placeholder 2"/>
          <p:cNvSpPr>
            <a:spLocks noGrp="1"/>
          </p:cNvSpPr>
          <p:nvPr>
            <p:ph sz="half" idx="1" hasCustomPrompt="1"/>
          </p:nvPr>
        </p:nvSpPr>
        <p:spPr>
          <a:xfrm>
            <a:off x="644769" y="1825625"/>
            <a:ext cx="5181600" cy="4351339"/>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hasCustomPrompt="1"/>
          </p:nvPr>
        </p:nvSpPr>
        <p:spPr>
          <a:xfrm>
            <a:off x="6172200" y="1825625"/>
            <a:ext cx="5181600" cy="4351339"/>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6"/>
          <p:cNvSpPr>
            <a:spLocks noGrp="1"/>
          </p:cNvSpPr>
          <p:nvPr>
            <p:ph type="sldNum" sz="quarter" idx="12"/>
          </p:nvPr>
        </p:nvSpPr>
        <p:spPr/>
        <p:txBody>
          <a:bodyPr/>
          <a:lstStyle/>
          <a:p>
            <a:fld id="{4267CD5E-26CF-4249-8540-BB1D07FD4227}"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8" name="Title 1"/>
          <p:cNvSpPr>
            <a:spLocks noGrp="1"/>
          </p:cNvSpPr>
          <p:nvPr>
            <p:ph type="title" hasCustomPrompt="1"/>
          </p:nvPr>
        </p:nvSpPr>
        <p:spPr>
          <a:xfrm>
            <a:off x="644769" y="365125"/>
            <a:ext cx="10710619" cy="1325563"/>
          </a:xfrm>
        </p:spPr>
        <p:txBody>
          <a:bodyPr/>
          <a:lstStyle/>
          <a:p>
            <a:r>
              <a:rPr lang="en-US" dirty="0"/>
              <a:t>CLICK TO EDIT TITLE</a:t>
            </a:r>
          </a:p>
        </p:txBody>
      </p:sp>
      <p:sp>
        <p:nvSpPr>
          <p:cNvPr id="3" name="Content Placeholder 2"/>
          <p:cNvSpPr>
            <a:spLocks noGrp="1"/>
          </p:cNvSpPr>
          <p:nvPr>
            <p:ph sz="half" idx="1" hasCustomPrompt="1"/>
          </p:nvPr>
        </p:nvSpPr>
        <p:spPr>
          <a:xfrm>
            <a:off x="644773" y="1825625"/>
            <a:ext cx="3296919" cy="4351339"/>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3"/>
          <p:cNvSpPr>
            <a:spLocks noGrp="1"/>
          </p:cNvSpPr>
          <p:nvPr>
            <p:ph sz="half" idx="13" hasCustomPrompt="1"/>
          </p:nvPr>
        </p:nvSpPr>
        <p:spPr>
          <a:xfrm>
            <a:off x="4351622" y="1825625"/>
            <a:ext cx="3296919" cy="4351339"/>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hasCustomPrompt="1"/>
          </p:nvPr>
        </p:nvSpPr>
        <p:spPr>
          <a:xfrm>
            <a:off x="8058471" y="1825625"/>
            <a:ext cx="3296919" cy="4351339"/>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6"/>
          <p:cNvSpPr>
            <a:spLocks noGrp="1"/>
          </p:cNvSpPr>
          <p:nvPr>
            <p:ph type="sldNum" sz="quarter" idx="12"/>
          </p:nvPr>
        </p:nvSpPr>
        <p:spPr/>
        <p:txBody>
          <a:bodyPr/>
          <a:lstStyle/>
          <a:p>
            <a:fld id="{4267CD5E-26CF-4249-8540-BB1D07FD4227}"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hree Content and Subhead">
    <p:spTree>
      <p:nvGrpSpPr>
        <p:cNvPr id="1" name=""/>
        <p:cNvGrpSpPr/>
        <p:nvPr/>
      </p:nvGrpSpPr>
      <p:grpSpPr>
        <a:xfrm>
          <a:off x="0" y="0"/>
          <a:ext cx="0" cy="0"/>
          <a:chOff x="0" y="0"/>
          <a:chExt cx="0" cy="0"/>
        </a:xfrm>
      </p:grpSpPr>
      <p:sp>
        <p:nvSpPr>
          <p:cNvPr id="10" name="Title 1"/>
          <p:cNvSpPr>
            <a:spLocks noGrp="1"/>
          </p:cNvSpPr>
          <p:nvPr>
            <p:ph type="title" hasCustomPrompt="1"/>
          </p:nvPr>
        </p:nvSpPr>
        <p:spPr>
          <a:xfrm>
            <a:off x="646359" y="365127"/>
            <a:ext cx="10709031" cy="734621"/>
          </a:xfrm>
        </p:spPr>
        <p:txBody>
          <a:bodyPr/>
          <a:lstStyle/>
          <a:p>
            <a:r>
              <a:rPr lang="en-US" dirty="0"/>
              <a:t>CLICK TO EDIT TITLE</a:t>
            </a:r>
          </a:p>
        </p:txBody>
      </p:sp>
      <p:sp>
        <p:nvSpPr>
          <p:cNvPr id="11" name="Text Placeholder 3"/>
          <p:cNvSpPr>
            <a:spLocks noGrp="1"/>
          </p:cNvSpPr>
          <p:nvPr>
            <p:ph type="body" sz="quarter" idx="14"/>
          </p:nvPr>
        </p:nvSpPr>
        <p:spPr>
          <a:xfrm>
            <a:off x="644771" y="1345482"/>
            <a:ext cx="10709031" cy="734620"/>
          </a:xfrm>
        </p:spPr>
        <p:txBody>
          <a:bodyPr>
            <a:normAutofit/>
          </a:bodyPr>
          <a:lstStyle>
            <a:lvl1pPr marL="0" indent="0">
              <a:buNone/>
              <a:defRPr sz="2000" b="0" i="0">
                <a:solidFill>
                  <a:schemeClr val="accent1"/>
                </a:solidFill>
                <a:latin typeface="IBM Plex Sans Light" panose="020B0403050203000203" pitchFamily="34" charset="0"/>
              </a:defRPr>
            </a:lvl1pPr>
            <a:lvl2pPr marL="457200" indent="0">
              <a:buNone/>
              <a:defRPr b="0" i="0">
                <a:solidFill>
                  <a:schemeClr val="accent1"/>
                </a:solidFill>
                <a:latin typeface="IBM Plex Sans Light" panose="020B0403050203000203" pitchFamily="34" charset="0"/>
              </a:defRPr>
            </a:lvl2pPr>
            <a:lvl3pPr marL="914400" indent="0">
              <a:buNone/>
              <a:defRPr b="0" i="0">
                <a:solidFill>
                  <a:schemeClr val="accent1"/>
                </a:solidFill>
                <a:latin typeface="IBM Plex Sans Light" panose="020B0403050203000203" pitchFamily="34" charset="0"/>
              </a:defRPr>
            </a:lvl3pPr>
            <a:lvl4pPr marL="1371600" indent="0">
              <a:buNone/>
              <a:defRPr b="0" i="0">
                <a:solidFill>
                  <a:schemeClr val="accent1"/>
                </a:solidFill>
                <a:latin typeface="IBM Plex Sans Light" panose="020B0403050203000203" pitchFamily="34" charset="0"/>
              </a:defRPr>
            </a:lvl4pPr>
            <a:lvl5pPr marL="1828800" indent="0">
              <a:buNone/>
              <a:defRPr b="0" i="0">
                <a:solidFill>
                  <a:schemeClr val="accent1"/>
                </a:solidFill>
                <a:latin typeface="IBM Plex Sans Light" panose="020B0403050203000203" pitchFamily="34" charset="0"/>
              </a:defRPr>
            </a:lvl5pPr>
          </a:lstStyle>
          <a:p>
            <a:pPr lvl="0"/>
            <a:endParaRPr lang="en-US" dirty="0"/>
          </a:p>
        </p:txBody>
      </p:sp>
      <p:sp>
        <p:nvSpPr>
          <p:cNvPr id="3" name="Content Placeholder 2"/>
          <p:cNvSpPr>
            <a:spLocks noGrp="1"/>
          </p:cNvSpPr>
          <p:nvPr>
            <p:ph sz="half" idx="1" hasCustomPrompt="1"/>
          </p:nvPr>
        </p:nvSpPr>
        <p:spPr>
          <a:xfrm>
            <a:off x="644773" y="2325836"/>
            <a:ext cx="3296919" cy="3851129"/>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3"/>
          <p:cNvSpPr>
            <a:spLocks noGrp="1"/>
          </p:cNvSpPr>
          <p:nvPr>
            <p:ph sz="half" idx="13" hasCustomPrompt="1"/>
          </p:nvPr>
        </p:nvSpPr>
        <p:spPr>
          <a:xfrm>
            <a:off x="4351622" y="2325836"/>
            <a:ext cx="3296919" cy="3851129"/>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hasCustomPrompt="1"/>
          </p:nvPr>
        </p:nvSpPr>
        <p:spPr>
          <a:xfrm>
            <a:off x="8058471" y="2325836"/>
            <a:ext cx="3296919" cy="3851129"/>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6"/>
          <p:cNvSpPr>
            <a:spLocks noGrp="1"/>
          </p:cNvSpPr>
          <p:nvPr>
            <p:ph type="sldNum" sz="quarter" idx="12"/>
          </p:nvPr>
        </p:nvSpPr>
        <p:spPr/>
        <p:txBody>
          <a:bodyPr/>
          <a:lstStyle/>
          <a:p>
            <a:fld id="{4267CD5E-26CF-4249-8540-BB1D07FD4227}"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Four Content">
    <p:spTree>
      <p:nvGrpSpPr>
        <p:cNvPr id="1" name=""/>
        <p:cNvGrpSpPr/>
        <p:nvPr/>
      </p:nvGrpSpPr>
      <p:grpSpPr>
        <a:xfrm>
          <a:off x="0" y="0"/>
          <a:ext cx="0" cy="0"/>
          <a:chOff x="0" y="0"/>
          <a:chExt cx="0" cy="0"/>
        </a:xfrm>
      </p:grpSpPr>
      <p:sp>
        <p:nvSpPr>
          <p:cNvPr id="8" name="Title 1"/>
          <p:cNvSpPr>
            <a:spLocks noGrp="1"/>
          </p:cNvSpPr>
          <p:nvPr>
            <p:ph type="title" hasCustomPrompt="1"/>
          </p:nvPr>
        </p:nvSpPr>
        <p:spPr>
          <a:xfrm>
            <a:off x="644769" y="365125"/>
            <a:ext cx="10710619" cy="1325563"/>
          </a:xfrm>
        </p:spPr>
        <p:txBody>
          <a:bodyPr/>
          <a:lstStyle/>
          <a:p>
            <a:r>
              <a:rPr lang="en-US" dirty="0"/>
              <a:t>CLICK TO EDIT TITLE</a:t>
            </a:r>
          </a:p>
        </p:txBody>
      </p:sp>
      <p:sp>
        <p:nvSpPr>
          <p:cNvPr id="5" name="Text Placeholder 4"/>
          <p:cNvSpPr>
            <a:spLocks noGrp="1"/>
          </p:cNvSpPr>
          <p:nvPr>
            <p:ph type="body" sz="quarter" idx="13" hasCustomPrompt="1"/>
          </p:nvPr>
        </p:nvSpPr>
        <p:spPr>
          <a:xfrm>
            <a:off x="644526" y="1962352"/>
            <a:ext cx="4954588" cy="1828165"/>
          </a:xfrm>
        </p:spPr>
        <p:txBody>
          <a:bodyPr>
            <a:noAutofit/>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text</a:t>
            </a:r>
          </a:p>
        </p:txBody>
      </p:sp>
      <p:sp>
        <p:nvSpPr>
          <p:cNvPr id="9" name="Text Placeholder 4"/>
          <p:cNvSpPr>
            <a:spLocks noGrp="1"/>
          </p:cNvSpPr>
          <p:nvPr>
            <p:ph type="body" sz="quarter" idx="14" hasCustomPrompt="1"/>
          </p:nvPr>
        </p:nvSpPr>
        <p:spPr>
          <a:xfrm>
            <a:off x="6400803" y="1962352"/>
            <a:ext cx="4954588" cy="1828165"/>
          </a:xfrm>
        </p:spPr>
        <p:txBody>
          <a:bodyPr>
            <a:noAutofit/>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text</a:t>
            </a:r>
          </a:p>
        </p:txBody>
      </p:sp>
      <p:sp>
        <p:nvSpPr>
          <p:cNvPr id="10" name="Text Placeholder 4"/>
          <p:cNvSpPr>
            <a:spLocks noGrp="1"/>
          </p:cNvSpPr>
          <p:nvPr>
            <p:ph type="body" sz="quarter" idx="15" hasCustomPrompt="1"/>
          </p:nvPr>
        </p:nvSpPr>
        <p:spPr>
          <a:xfrm>
            <a:off x="644526" y="4119680"/>
            <a:ext cx="4954588" cy="1828165"/>
          </a:xfrm>
        </p:spPr>
        <p:txBody>
          <a:bodyPr>
            <a:noAutofit/>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text</a:t>
            </a:r>
          </a:p>
        </p:txBody>
      </p:sp>
      <p:sp>
        <p:nvSpPr>
          <p:cNvPr id="11" name="Text Placeholder 4"/>
          <p:cNvSpPr>
            <a:spLocks noGrp="1"/>
          </p:cNvSpPr>
          <p:nvPr>
            <p:ph type="body" sz="quarter" idx="16" hasCustomPrompt="1"/>
          </p:nvPr>
        </p:nvSpPr>
        <p:spPr>
          <a:xfrm>
            <a:off x="6400803" y="4119680"/>
            <a:ext cx="4954588" cy="1828165"/>
          </a:xfrm>
        </p:spPr>
        <p:txBody>
          <a:bodyPr>
            <a:noAutofit/>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text</a:t>
            </a:r>
          </a:p>
        </p:txBody>
      </p:sp>
      <p:sp>
        <p:nvSpPr>
          <p:cNvPr id="7" name="Slide Number Placeholder 6"/>
          <p:cNvSpPr>
            <a:spLocks noGrp="1"/>
          </p:cNvSpPr>
          <p:nvPr>
            <p:ph type="sldNum" sz="quarter" idx="12"/>
          </p:nvPr>
        </p:nvSpPr>
        <p:spPr/>
        <p:txBody>
          <a:bodyPr/>
          <a:lstStyle/>
          <a:p>
            <a:fld id="{4267CD5E-26CF-4249-8540-BB1D07FD4227}"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Four Content and subhead">
    <p:spTree>
      <p:nvGrpSpPr>
        <p:cNvPr id="1" name=""/>
        <p:cNvGrpSpPr/>
        <p:nvPr/>
      </p:nvGrpSpPr>
      <p:grpSpPr>
        <a:xfrm>
          <a:off x="0" y="0"/>
          <a:ext cx="0" cy="0"/>
          <a:chOff x="0" y="0"/>
          <a:chExt cx="0" cy="0"/>
        </a:xfrm>
      </p:grpSpPr>
      <p:sp>
        <p:nvSpPr>
          <p:cNvPr id="12" name="Title 1"/>
          <p:cNvSpPr>
            <a:spLocks noGrp="1"/>
          </p:cNvSpPr>
          <p:nvPr>
            <p:ph type="title" hasCustomPrompt="1"/>
          </p:nvPr>
        </p:nvSpPr>
        <p:spPr>
          <a:xfrm>
            <a:off x="646359" y="365127"/>
            <a:ext cx="10709031" cy="734621"/>
          </a:xfrm>
        </p:spPr>
        <p:txBody>
          <a:bodyPr/>
          <a:lstStyle/>
          <a:p>
            <a:r>
              <a:rPr lang="en-US" dirty="0"/>
              <a:t>CLICK TO EDIT TITLE</a:t>
            </a:r>
          </a:p>
        </p:txBody>
      </p:sp>
      <p:sp>
        <p:nvSpPr>
          <p:cNvPr id="13" name="Text Placeholder 3"/>
          <p:cNvSpPr>
            <a:spLocks noGrp="1"/>
          </p:cNvSpPr>
          <p:nvPr>
            <p:ph type="body" sz="quarter" idx="17" hasCustomPrompt="1"/>
          </p:nvPr>
        </p:nvSpPr>
        <p:spPr>
          <a:xfrm>
            <a:off x="644771" y="1345482"/>
            <a:ext cx="10709031" cy="734620"/>
          </a:xfrm>
        </p:spPr>
        <p:txBody>
          <a:bodyPr>
            <a:normAutofit/>
          </a:bodyPr>
          <a:lstStyle>
            <a:lvl1pPr marL="0" indent="0">
              <a:buNone/>
              <a:defRPr sz="2000" b="0" i="0">
                <a:solidFill>
                  <a:schemeClr val="accent1"/>
                </a:solidFill>
                <a:latin typeface="IBM Plex Sans Light" panose="020B0403050203000203" pitchFamily="34" charset="0"/>
              </a:defRPr>
            </a:lvl1pPr>
            <a:lvl2pPr marL="457200" indent="0">
              <a:buNone/>
              <a:defRPr b="0" i="0">
                <a:solidFill>
                  <a:schemeClr val="accent1"/>
                </a:solidFill>
                <a:latin typeface="IBM Plex Sans Light" panose="020B0403050203000203" pitchFamily="34" charset="0"/>
              </a:defRPr>
            </a:lvl2pPr>
            <a:lvl3pPr marL="914400" indent="0">
              <a:buNone/>
              <a:defRPr b="0" i="0">
                <a:solidFill>
                  <a:schemeClr val="accent1"/>
                </a:solidFill>
                <a:latin typeface="IBM Plex Sans Light" panose="020B0403050203000203" pitchFamily="34" charset="0"/>
              </a:defRPr>
            </a:lvl3pPr>
            <a:lvl4pPr marL="1371600" indent="0">
              <a:buNone/>
              <a:defRPr b="0" i="0">
                <a:solidFill>
                  <a:schemeClr val="accent1"/>
                </a:solidFill>
                <a:latin typeface="IBM Plex Sans Light" panose="020B0403050203000203" pitchFamily="34" charset="0"/>
              </a:defRPr>
            </a:lvl4pPr>
            <a:lvl5pPr marL="1828800" indent="0">
              <a:buNone/>
              <a:defRPr b="0" i="0">
                <a:solidFill>
                  <a:schemeClr val="accent1"/>
                </a:solidFill>
                <a:latin typeface="IBM Plex Sans Light" panose="020B0403050203000203" pitchFamily="34" charset="0"/>
              </a:defRPr>
            </a:lvl5pPr>
          </a:lstStyle>
          <a:p>
            <a:pPr lvl="0"/>
            <a:r>
              <a:rPr lang="en-US" dirty="0"/>
              <a:t>Click to edit subhead</a:t>
            </a:r>
          </a:p>
        </p:txBody>
      </p:sp>
      <p:sp>
        <p:nvSpPr>
          <p:cNvPr id="5" name="Text Placeholder 4"/>
          <p:cNvSpPr>
            <a:spLocks noGrp="1"/>
          </p:cNvSpPr>
          <p:nvPr>
            <p:ph type="body" sz="quarter" idx="13" hasCustomPrompt="1"/>
          </p:nvPr>
        </p:nvSpPr>
        <p:spPr>
          <a:xfrm>
            <a:off x="644526" y="2233235"/>
            <a:ext cx="4954588" cy="1651807"/>
          </a:xfrm>
        </p:spPr>
        <p:txBody>
          <a:bodyPr>
            <a:noAutofit/>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text</a:t>
            </a:r>
          </a:p>
        </p:txBody>
      </p:sp>
      <p:sp>
        <p:nvSpPr>
          <p:cNvPr id="9" name="Text Placeholder 4"/>
          <p:cNvSpPr>
            <a:spLocks noGrp="1"/>
          </p:cNvSpPr>
          <p:nvPr>
            <p:ph type="body" sz="quarter" idx="14" hasCustomPrompt="1"/>
          </p:nvPr>
        </p:nvSpPr>
        <p:spPr>
          <a:xfrm>
            <a:off x="6400803" y="2233235"/>
            <a:ext cx="4954588" cy="1651807"/>
          </a:xfrm>
        </p:spPr>
        <p:txBody>
          <a:bodyPr>
            <a:noAutofit/>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text</a:t>
            </a:r>
          </a:p>
        </p:txBody>
      </p:sp>
      <p:sp>
        <p:nvSpPr>
          <p:cNvPr id="10" name="Text Placeholder 4"/>
          <p:cNvSpPr>
            <a:spLocks noGrp="1"/>
          </p:cNvSpPr>
          <p:nvPr>
            <p:ph type="body" sz="quarter" idx="15" hasCustomPrompt="1"/>
          </p:nvPr>
        </p:nvSpPr>
        <p:spPr>
          <a:xfrm>
            <a:off x="644526" y="4448441"/>
            <a:ext cx="4954588" cy="1651807"/>
          </a:xfrm>
        </p:spPr>
        <p:txBody>
          <a:bodyPr>
            <a:noAutofit/>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text</a:t>
            </a:r>
          </a:p>
        </p:txBody>
      </p:sp>
      <p:sp>
        <p:nvSpPr>
          <p:cNvPr id="11" name="Text Placeholder 4"/>
          <p:cNvSpPr>
            <a:spLocks noGrp="1"/>
          </p:cNvSpPr>
          <p:nvPr>
            <p:ph type="body" sz="quarter" idx="16" hasCustomPrompt="1"/>
          </p:nvPr>
        </p:nvSpPr>
        <p:spPr>
          <a:xfrm>
            <a:off x="6400803" y="4448441"/>
            <a:ext cx="4954588" cy="1651807"/>
          </a:xfrm>
        </p:spPr>
        <p:txBody>
          <a:bodyPr>
            <a:noAutofit/>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text</a:t>
            </a:r>
          </a:p>
        </p:txBody>
      </p:sp>
      <p:sp>
        <p:nvSpPr>
          <p:cNvPr id="7" name="Slide Number Placeholder 6"/>
          <p:cNvSpPr>
            <a:spLocks noGrp="1"/>
          </p:cNvSpPr>
          <p:nvPr>
            <p:ph type="sldNum" sz="quarter" idx="12"/>
          </p:nvPr>
        </p:nvSpPr>
        <p:spPr/>
        <p:txBody>
          <a:bodyPr/>
          <a:lstStyle/>
          <a:p>
            <a:fld id="{4267CD5E-26CF-4249-8540-BB1D07FD4227}"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Five Content">
    <p:spTree>
      <p:nvGrpSpPr>
        <p:cNvPr id="1" name=""/>
        <p:cNvGrpSpPr/>
        <p:nvPr/>
      </p:nvGrpSpPr>
      <p:grpSpPr>
        <a:xfrm>
          <a:off x="0" y="0"/>
          <a:ext cx="0" cy="0"/>
          <a:chOff x="0" y="0"/>
          <a:chExt cx="0" cy="0"/>
        </a:xfrm>
      </p:grpSpPr>
      <p:sp>
        <p:nvSpPr>
          <p:cNvPr id="14" name="Title 1"/>
          <p:cNvSpPr>
            <a:spLocks noGrp="1"/>
          </p:cNvSpPr>
          <p:nvPr>
            <p:ph type="title" hasCustomPrompt="1"/>
          </p:nvPr>
        </p:nvSpPr>
        <p:spPr>
          <a:xfrm>
            <a:off x="644769" y="365125"/>
            <a:ext cx="10710619" cy="1325563"/>
          </a:xfrm>
        </p:spPr>
        <p:txBody>
          <a:bodyPr/>
          <a:lstStyle/>
          <a:p>
            <a:r>
              <a:rPr lang="en-US" dirty="0"/>
              <a:t>CLICK TO EDIT TITLE</a:t>
            </a:r>
          </a:p>
        </p:txBody>
      </p:sp>
      <p:sp>
        <p:nvSpPr>
          <p:cNvPr id="15" name="Content Placeholder 2"/>
          <p:cNvSpPr>
            <a:spLocks noGrp="1"/>
          </p:cNvSpPr>
          <p:nvPr>
            <p:ph sz="half" idx="1" hasCustomPrompt="1"/>
          </p:nvPr>
        </p:nvSpPr>
        <p:spPr>
          <a:xfrm>
            <a:off x="644771" y="2210082"/>
            <a:ext cx="4572000" cy="3890163"/>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13" hasCustomPrompt="1"/>
          </p:nvPr>
        </p:nvSpPr>
        <p:spPr>
          <a:xfrm>
            <a:off x="5359999" y="2210085"/>
            <a:ext cx="2926080" cy="1651807"/>
          </a:xfrm>
        </p:spPr>
        <p:txBody>
          <a:bodyPr>
            <a:noAutofit/>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text</a:t>
            </a:r>
          </a:p>
        </p:txBody>
      </p:sp>
      <p:sp>
        <p:nvSpPr>
          <p:cNvPr id="9" name="Text Placeholder 4"/>
          <p:cNvSpPr>
            <a:spLocks noGrp="1"/>
          </p:cNvSpPr>
          <p:nvPr>
            <p:ph type="body" sz="quarter" idx="14" hasCustomPrompt="1"/>
          </p:nvPr>
        </p:nvSpPr>
        <p:spPr>
          <a:xfrm>
            <a:off x="8429308" y="2210086"/>
            <a:ext cx="2926080" cy="1651807"/>
          </a:xfrm>
        </p:spPr>
        <p:txBody>
          <a:bodyPr>
            <a:noAutofit/>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text</a:t>
            </a:r>
          </a:p>
        </p:txBody>
      </p:sp>
      <p:sp>
        <p:nvSpPr>
          <p:cNvPr id="10" name="Text Placeholder 4"/>
          <p:cNvSpPr>
            <a:spLocks noGrp="1"/>
          </p:cNvSpPr>
          <p:nvPr>
            <p:ph type="body" sz="quarter" idx="15" hasCustomPrompt="1"/>
          </p:nvPr>
        </p:nvSpPr>
        <p:spPr>
          <a:xfrm>
            <a:off x="5359999" y="4448439"/>
            <a:ext cx="2926080" cy="1651807"/>
          </a:xfrm>
        </p:spPr>
        <p:txBody>
          <a:bodyPr>
            <a:noAutofit/>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text</a:t>
            </a:r>
          </a:p>
        </p:txBody>
      </p:sp>
      <p:sp>
        <p:nvSpPr>
          <p:cNvPr id="11" name="Text Placeholder 4"/>
          <p:cNvSpPr>
            <a:spLocks noGrp="1"/>
          </p:cNvSpPr>
          <p:nvPr>
            <p:ph type="body" sz="quarter" idx="16" hasCustomPrompt="1"/>
          </p:nvPr>
        </p:nvSpPr>
        <p:spPr>
          <a:xfrm>
            <a:off x="8429308" y="4448441"/>
            <a:ext cx="2926080" cy="1651807"/>
          </a:xfrm>
        </p:spPr>
        <p:txBody>
          <a:bodyPr>
            <a:noAutofit/>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text</a:t>
            </a:r>
          </a:p>
        </p:txBody>
      </p:sp>
      <p:sp>
        <p:nvSpPr>
          <p:cNvPr id="7" name="Slide Number Placeholder 6"/>
          <p:cNvSpPr>
            <a:spLocks noGrp="1"/>
          </p:cNvSpPr>
          <p:nvPr>
            <p:ph type="sldNum" sz="quarter" idx="12"/>
          </p:nvPr>
        </p:nvSpPr>
        <p:spPr/>
        <p:txBody>
          <a:bodyPr/>
          <a:lstStyle/>
          <a:p>
            <a:fld id="{4267CD5E-26CF-4249-8540-BB1D07FD4227}" type="slidenum">
              <a:rPr lang="en-US" smtClean="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Five Content and subhead">
    <p:spTree>
      <p:nvGrpSpPr>
        <p:cNvPr id="1" name=""/>
        <p:cNvGrpSpPr/>
        <p:nvPr/>
      </p:nvGrpSpPr>
      <p:grpSpPr>
        <a:xfrm>
          <a:off x="0" y="0"/>
          <a:ext cx="0" cy="0"/>
          <a:chOff x="0" y="0"/>
          <a:chExt cx="0" cy="0"/>
        </a:xfrm>
      </p:grpSpPr>
      <p:sp>
        <p:nvSpPr>
          <p:cNvPr id="12" name="Title 1"/>
          <p:cNvSpPr>
            <a:spLocks noGrp="1"/>
          </p:cNvSpPr>
          <p:nvPr>
            <p:ph type="title" hasCustomPrompt="1"/>
          </p:nvPr>
        </p:nvSpPr>
        <p:spPr>
          <a:xfrm>
            <a:off x="646359" y="365127"/>
            <a:ext cx="10709031" cy="734621"/>
          </a:xfrm>
        </p:spPr>
        <p:txBody>
          <a:bodyPr/>
          <a:lstStyle/>
          <a:p>
            <a:r>
              <a:rPr lang="en-US" dirty="0"/>
              <a:t>CLICK TO EDIT TITLE</a:t>
            </a:r>
          </a:p>
        </p:txBody>
      </p:sp>
      <p:sp>
        <p:nvSpPr>
          <p:cNvPr id="13" name="Text Placeholder 3"/>
          <p:cNvSpPr>
            <a:spLocks noGrp="1"/>
          </p:cNvSpPr>
          <p:nvPr>
            <p:ph type="body" sz="quarter" idx="17" hasCustomPrompt="1"/>
          </p:nvPr>
        </p:nvSpPr>
        <p:spPr>
          <a:xfrm>
            <a:off x="644771" y="1345482"/>
            <a:ext cx="10709031" cy="734620"/>
          </a:xfrm>
        </p:spPr>
        <p:txBody>
          <a:bodyPr>
            <a:normAutofit/>
          </a:bodyPr>
          <a:lstStyle>
            <a:lvl1pPr marL="0" indent="0">
              <a:buNone/>
              <a:defRPr sz="2000" b="0" i="0">
                <a:solidFill>
                  <a:schemeClr val="accent1"/>
                </a:solidFill>
                <a:latin typeface="IBM Plex Sans Light" panose="020B0403050203000203" pitchFamily="34" charset="0"/>
              </a:defRPr>
            </a:lvl1pPr>
            <a:lvl2pPr marL="457200" indent="0">
              <a:buNone/>
              <a:defRPr b="0" i="0">
                <a:solidFill>
                  <a:schemeClr val="accent1"/>
                </a:solidFill>
                <a:latin typeface="IBM Plex Sans Light" panose="020B0403050203000203" pitchFamily="34" charset="0"/>
              </a:defRPr>
            </a:lvl2pPr>
            <a:lvl3pPr marL="914400" indent="0">
              <a:buNone/>
              <a:defRPr b="0" i="0">
                <a:solidFill>
                  <a:schemeClr val="accent1"/>
                </a:solidFill>
                <a:latin typeface="IBM Plex Sans Light" panose="020B0403050203000203" pitchFamily="34" charset="0"/>
              </a:defRPr>
            </a:lvl3pPr>
            <a:lvl4pPr marL="1371600" indent="0">
              <a:buNone/>
              <a:defRPr b="0" i="0">
                <a:solidFill>
                  <a:schemeClr val="accent1"/>
                </a:solidFill>
                <a:latin typeface="IBM Plex Sans Light" panose="020B0403050203000203" pitchFamily="34" charset="0"/>
              </a:defRPr>
            </a:lvl4pPr>
            <a:lvl5pPr marL="1828800" indent="0">
              <a:buNone/>
              <a:defRPr b="0" i="0">
                <a:solidFill>
                  <a:schemeClr val="accent1"/>
                </a:solidFill>
                <a:latin typeface="IBM Plex Sans Light" panose="020B0403050203000203" pitchFamily="34" charset="0"/>
              </a:defRPr>
            </a:lvl5pPr>
          </a:lstStyle>
          <a:p>
            <a:pPr lvl="0"/>
            <a:r>
              <a:rPr lang="en-US" dirty="0"/>
              <a:t>Click to edit subhead</a:t>
            </a:r>
          </a:p>
        </p:txBody>
      </p:sp>
      <p:sp>
        <p:nvSpPr>
          <p:cNvPr id="15" name="Content Placeholder 2"/>
          <p:cNvSpPr>
            <a:spLocks noGrp="1"/>
          </p:cNvSpPr>
          <p:nvPr>
            <p:ph sz="half" idx="1" hasCustomPrompt="1"/>
          </p:nvPr>
        </p:nvSpPr>
        <p:spPr>
          <a:xfrm>
            <a:off x="644771" y="2210082"/>
            <a:ext cx="4572000" cy="3890163"/>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13" hasCustomPrompt="1"/>
          </p:nvPr>
        </p:nvSpPr>
        <p:spPr>
          <a:xfrm>
            <a:off x="5359205" y="2210086"/>
            <a:ext cx="2926080" cy="1651807"/>
          </a:xfrm>
        </p:spPr>
        <p:txBody>
          <a:bodyPr>
            <a:noAutofit/>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text</a:t>
            </a:r>
          </a:p>
        </p:txBody>
      </p:sp>
      <p:sp>
        <p:nvSpPr>
          <p:cNvPr id="9" name="Text Placeholder 4"/>
          <p:cNvSpPr>
            <a:spLocks noGrp="1"/>
          </p:cNvSpPr>
          <p:nvPr>
            <p:ph type="body" sz="quarter" idx="14" hasCustomPrompt="1"/>
          </p:nvPr>
        </p:nvSpPr>
        <p:spPr>
          <a:xfrm>
            <a:off x="8427720" y="2210086"/>
            <a:ext cx="2926080" cy="1651807"/>
          </a:xfrm>
        </p:spPr>
        <p:txBody>
          <a:bodyPr>
            <a:noAutofit/>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text</a:t>
            </a:r>
          </a:p>
        </p:txBody>
      </p:sp>
      <p:sp>
        <p:nvSpPr>
          <p:cNvPr id="10" name="Text Placeholder 4"/>
          <p:cNvSpPr>
            <a:spLocks noGrp="1"/>
          </p:cNvSpPr>
          <p:nvPr>
            <p:ph type="body" sz="quarter" idx="15" hasCustomPrompt="1"/>
          </p:nvPr>
        </p:nvSpPr>
        <p:spPr>
          <a:xfrm>
            <a:off x="5359205" y="4448441"/>
            <a:ext cx="2926080" cy="1651807"/>
          </a:xfrm>
        </p:spPr>
        <p:txBody>
          <a:bodyPr>
            <a:noAutofit/>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text</a:t>
            </a:r>
          </a:p>
        </p:txBody>
      </p:sp>
      <p:sp>
        <p:nvSpPr>
          <p:cNvPr id="11" name="Text Placeholder 4"/>
          <p:cNvSpPr>
            <a:spLocks noGrp="1"/>
          </p:cNvSpPr>
          <p:nvPr>
            <p:ph type="body" sz="quarter" idx="16" hasCustomPrompt="1"/>
          </p:nvPr>
        </p:nvSpPr>
        <p:spPr>
          <a:xfrm>
            <a:off x="8427720" y="4448441"/>
            <a:ext cx="2926080" cy="1651807"/>
          </a:xfrm>
        </p:spPr>
        <p:txBody>
          <a:bodyPr>
            <a:noAutofit/>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text</a:t>
            </a:r>
          </a:p>
        </p:txBody>
      </p:sp>
      <p:sp>
        <p:nvSpPr>
          <p:cNvPr id="7" name="Slide Number Placeholder 6"/>
          <p:cNvSpPr>
            <a:spLocks noGrp="1"/>
          </p:cNvSpPr>
          <p:nvPr>
            <p:ph type="sldNum" sz="quarter" idx="12"/>
          </p:nvPr>
        </p:nvSpPr>
        <p:spPr/>
        <p:txBody>
          <a:bodyPr/>
          <a:lstStyle/>
          <a:p>
            <a:fld id="{4267CD5E-26CF-4249-8540-BB1D07FD4227}" type="slidenum">
              <a:rPr lang="en-US" smtClean="0"/>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wo Content, Subhead">
    <p:spTree>
      <p:nvGrpSpPr>
        <p:cNvPr id="1" name=""/>
        <p:cNvGrpSpPr/>
        <p:nvPr/>
      </p:nvGrpSpPr>
      <p:grpSpPr>
        <a:xfrm>
          <a:off x="0" y="0"/>
          <a:ext cx="0" cy="0"/>
          <a:chOff x="0" y="0"/>
          <a:chExt cx="0" cy="0"/>
        </a:xfrm>
      </p:grpSpPr>
      <p:sp>
        <p:nvSpPr>
          <p:cNvPr id="6" name="Title 1"/>
          <p:cNvSpPr>
            <a:spLocks noGrp="1"/>
          </p:cNvSpPr>
          <p:nvPr>
            <p:ph type="title" hasCustomPrompt="1"/>
          </p:nvPr>
        </p:nvSpPr>
        <p:spPr>
          <a:xfrm>
            <a:off x="646359" y="365127"/>
            <a:ext cx="10709031" cy="734621"/>
          </a:xfrm>
        </p:spPr>
        <p:txBody>
          <a:bodyPr/>
          <a:lstStyle/>
          <a:p>
            <a:r>
              <a:rPr lang="en-US" dirty="0"/>
              <a:t>CLICK TO EDIT TITLE</a:t>
            </a:r>
          </a:p>
        </p:txBody>
      </p:sp>
      <p:sp>
        <p:nvSpPr>
          <p:cNvPr id="9" name="Text Placeholder 3"/>
          <p:cNvSpPr>
            <a:spLocks noGrp="1"/>
          </p:cNvSpPr>
          <p:nvPr>
            <p:ph type="body" sz="quarter" idx="13" hasCustomPrompt="1"/>
          </p:nvPr>
        </p:nvSpPr>
        <p:spPr>
          <a:xfrm>
            <a:off x="644771" y="1345482"/>
            <a:ext cx="10709031" cy="734620"/>
          </a:xfrm>
        </p:spPr>
        <p:txBody>
          <a:bodyPr>
            <a:normAutofit/>
          </a:bodyPr>
          <a:lstStyle>
            <a:lvl1pPr marL="0" indent="0">
              <a:buNone/>
              <a:defRPr sz="2000" b="0" i="0">
                <a:solidFill>
                  <a:schemeClr val="accent1"/>
                </a:solidFill>
                <a:latin typeface="IBM Plex Sans Light" panose="020B0403050203000203" pitchFamily="34" charset="0"/>
              </a:defRPr>
            </a:lvl1pPr>
            <a:lvl2pPr marL="457200" indent="0">
              <a:buNone/>
              <a:defRPr b="0" i="0">
                <a:solidFill>
                  <a:schemeClr val="accent1"/>
                </a:solidFill>
                <a:latin typeface="IBM Plex Sans Light" panose="020B0403050203000203" pitchFamily="34" charset="0"/>
              </a:defRPr>
            </a:lvl2pPr>
            <a:lvl3pPr marL="914400" indent="0">
              <a:buNone/>
              <a:defRPr b="0" i="0">
                <a:solidFill>
                  <a:schemeClr val="accent1"/>
                </a:solidFill>
                <a:latin typeface="IBM Plex Sans Light" panose="020B0403050203000203" pitchFamily="34" charset="0"/>
              </a:defRPr>
            </a:lvl3pPr>
            <a:lvl4pPr marL="1371600" indent="0">
              <a:buNone/>
              <a:defRPr b="0" i="0">
                <a:solidFill>
                  <a:schemeClr val="accent1"/>
                </a:solidFill>
                <a:latin typeface="IBM Plex Sans Light" panose="020B0403050203000203" pitchFamily="34" charset="0"/>
              </a:defRPr>
            </a:lvl4pPr>
            <a:lvl5pPr marL="1828800" indent="0">
              <a:buNone/>
              <a:defRPr b="0" i="0">
                <a:solidFill>
                  <a:schemeClr val="accent1"/>
                </a:solidFill>
                <a:latin typeface="IBM Plex Sans Light" panose="020B0403050203000203" pitchFamily="34" charset="0"/>
              </a:defRPr>
            </a:lvl5pPr>
          </a:lstStyle>
          <a:p>
            <a:pPr lvl="0"/>
            <a:r>
              <a:rPr lang="en-US" dirty="0"/>
              <a:t>Click to edit subhead</a:t>
            </a:r>
          </a:p>
        </p:txBody>
      </p:sp>
      <p:sp>
        <p:nvSpPr>
          <p:cNvPr id="3" name="Content Placeholder 2"/>
          <p:cNvSpPr>
            <a:spLocks noGrp="1"/>
          </p:cNvSpPr>
          <p:nvPr>
            <p:ph sz="half" idx="1" hasCustomPrompt="1"/>
          </p:nvPr>
        </p:nvSpPr>
        <p:spPr>
          <a:xfrm>
            <a:off x="644769" y="2325836"/>
            <a:ext cx="5181600" cy="3851129"/>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hasCustomPrompt="1"/>
          </p:nvPr>
        </p:nvSpPr>
        <p:spPr>
          <a:xfrm>
            <a:off x="6172200" y="2325836"/>
            <a:ext cx="5181600" cy="3851129"/>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6"/>
          <p:cNvSpPr>
            <a:spLocks noGrp="1"/>
          </p:cNvSpPr>
          <p:nvPr>
            <p:ph type="sldNum" sz="quarter" idx="12"/>
          </p:nvPr>
        </p:nvSpPr>
        <p:spPr/>
        <p:txBody>
          <a:bodyPr/>
          <a:lstStyle/>
          <a:p>
            <a:fld id="{4267CD5E-26CF-4249-8540-BB1D07FD4227}" type="slidenum">
              <a:rPr lang="en-US" smtClean="0"/>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44769" y="365125"/>
            <a:ext cx="10710619" cy="1325563"/>
          </a:xfrm>
        </p:spPr>
        <p:txBody>
          <a:bodyPr/>
          <a:lstStyle/>
          <a:p>
            <a:r>
              <a:rPr lang="en-US" dirty="0"/>
              <a:t>CLICK TO EDIT TITLE</a:t>
            </a:r>
          </a:p>
        </p:txBody>
      </p:sp>
      <p:sp>
        <p:nvSpPr>
          <p:cNvPr id="3" name="Text Placeholder 2"/>
          <p:cNvSpPr>
            <a:spLocks noGrp="1"/>
          </p:cNvSpPr>
          <p:nvPr>
            <p:ph type="body" idx="1" hasCustomPrompt="1"/>
          </p:nvPr>
        </p:nvSpPr>
        <p:spPr>
          <a:xfrm>
            <a:off x="644772"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text</a:t>
            </a:r>
          </a:p>
        </p:txBody>
      </p:sp>
      <p:sp>
        <p:nvSpPr>
          <p:cNvPr id="4" name="Content Placeholder 3"/>
          <p:cNvSpPr>
            <a:spLocks noGrp="1"/>
          </p:cNvSpPr>
          <p:nvPr>
            <p:ph sz="half" idx="2" hasCustomPrompt="1"/>
          </p:nvPr>
        </p:nvSpPr>
        <p:spPr>
          <a:xfrm>
            <a:off x="644772" y="2505075"/>
            <a:ext cx="5157787" cy="3684588"/>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hasCustomPrompt="1"/>
          </p:nvPr>
        </p:nvSpPr>
        <p:spPr>
          <a:xfrm>
            <a:off x="6172202"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text</a:t>
            </a:r>
          </a:p>
        </p:txBody>
      </p:sp>
      <p:sp>
        <p:nvSpPr>
          <p:cNvPr id="6" name="Content Placeholder 5"/>
          <p:cNvSpPr>
            <a:spLocks noGrp="1"/>
          </p:cNvSpPr>
          <p:nvPr>
            <p:ph sz="quarter" idx="4" hasCustomPrompt="1"/>
          </p:nvPr>
        </p:nvSpPr>
        <p:spPr>
          <a:xfrm>
            <a:off x="6172202" y="2505075"/>
            <a:ext cx="5183188" cy="3684588"/>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lide Number Placeholder 8"/>
          <p:cNvSpPr>
            <a:spLocks noGrp="1"/>
          </p:cNvSpPr>
          <p:nvPr>
            <p:ph type="sldNum" sz="quarter" idx="12"/>
          </p:nvPr>
        </p:nvSpPr>
        <p:spPr/>
        <p:txBody>
          <a:bodyPr/>
          <a:lstStyle/>
          <a:p>
            <a:fld id="{4267CD5E-26CF-4249-8540-BB1D07FD4227}"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EDIT TITLE</a:t>
            </a:r>
          </a:p>
        </p:txBody>
      </p:sp>
      <p:sp>
        <p:nvSpPr>
          <p:cNvPr id="5" name="Slide Number Placeholder 4"/>
          <p:cNvSpPr>
            <a:spLocks noGrp="1"/>
          </p:cNvSpPr>
          <p:nvPr>
            <p:ph type="sldNum" sz="quarter" idx="12"/>
          </p:nvPr>
        </p:nvSpPr>
        <p:spPr/>
        <p:txBody>
          <a:bodyPr/>
          <a:lstStyle/>
          <a:p>
            <a:fld id="{4267CD5E-26CF-4249-8540-BB1D07FD4227}" type="slidenum">
              <a:rPr lang="en-US" smtClean="0"/>
              <a:t>‹#›</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4267CD5E-26CF-4249-8540-BB1D07FD4227}" type="slidenum">
              <a:rPr lang="en-US" smtClean="0"/>
              <a:t>‹#›</a:t>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
        <p:nvSpPr>
          <p:cNvPr id="2" name="Rectangle 1"/>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4267CD5E-26CF-4249-8540-BB1D07FD4227}" type="slidenum">
              <a:rPr lang="en-US" smtClean="0"/>
              <a:t>‹#›</a:t>
            </a:fld>
            <a:endParaRPr lang="en-US"/>
          </a:p>
        </p:txBody>
      </p:sp>
      <p:sp>
        <p:nvSpPr>
          <p:cNvPr id="3" name="Content Placeholder 2"/>
          <p:cNvSpPr>
            <a:spLocks noGrp="1"/>
          </p:cNvSpPr>
          <p:nvPr>
            <p:ph idx="1" hasCustomPrompt="1"/>
          </p:nvPr>
        </p:nvSpPr>
        <p:spPr>
          <a:xfrm>
            <a:off x="5183188" y="987428"/>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hasCustomPrompt="1"/>
          </p:nvPr>
        </p:nvSpPr>
        <p:spPr>
          <a:xfrm>
            <a:off x="644773" y="2057402"/>
            <a:ext cx="412725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text</a:t>
            </a:r>
          </a:p>
        </p:txBody>
      </p:sp>
      <p:sp>
        <p:nvSpPr>
          <p:cNvPr id="2" name="Title 1"/>
          <p:cNvSpPr>
            <a:spLocks noGrp="1"/>
          </p:cNvSpPr>
          <p:nvPr>
            <p:ph type="title" hasCustomPrompt="1"/>
          </p:nvPr>
        </p:nvSpPr>
        <p:spPr>
          <a:xfrm>
            <a:off x="644773" y="457200"/>
            <a:ext cx="4127255" cy="1600200"/>
          </a:xfrm>
        </p:spPr>
        <p:txBody>
          <a:bodyPr anchor="b"/>
          <a:lstStyle>
            <a:lvl1pPr>
              <a:defRPr sz="3200"/>
            </a:lvl1pPr>
          </a:lstStyle>
          <a:p>
            <a:r>
              <a:rPr lang="en-US" dirty="0"/>
              <a:t>CLICK TO EDIT TITLE</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44773" y="457200"/>
            <a:ext cx="4127255" cy="1600200"/>
          </a:xfrm>
        </p:spPr>
        <p:txBody>
          <a:bodyPr anchor="b"/>
          <a:lstStyle>
            <a:lvl1pPr>
              <a:defRPr sz="3200"/>
            </a:lvl1pPr>
          </a:lstStyle>
          <a:p>
            <a:r>
              <a:rPr lang="en-US" dirty="0"/>
              <a:t>Click to edit title</a:t>
            </a:r>
          </a:p>
        </p:txBody>
      </p:sp>
      <p:sp>
        <p:nvSpPr>
          <p:cNvPr id="4" name="Text Placeholder 3"/>
          <p:cNvSpPr>
            <a:spLocks noGrp="1"/>
          </p:cNvSpPr>
          <p:nvPr>
            <p:ph type="body" sz="half" idx="2" hasCustomPrompt="1"/>
          </p:nvPr>
        </p:nvSpPr>
        <p:spPr>
          <a:xfrm>
            <a:off x="644773" y="2057402"/>
            <a:ext cx="412725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text</a:t>
            </a:r>
          </a:p>
        </p:txBody>
      </p:sp>
      <p:sp>
        <p:nvSpPr>
          <p:cNvPr id="3" name="Picture Placeholder 2"/>
          <p:cNvSpPr>
            <a:spLocks noGrp="1"/>
          </p:cNvSpPr>
          <p:nvPr>
            <p:ph type="pic" idx="1"/>
          </p:nvPr>
        </p:nvSpPr>
        <p:spPr>
          <a:xfrm>
            <a:off x="5183188" y="987428"/>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7" name="Slide Number Placeholder 6"/>
          <p:cNvSpPr>
            <a:spLocks noGrp="1"/>
          </p:cNvSpPr>
          <p:nvPr>
            <p:ph type="sldNum" sz="quarter" idx="12"/>
          </p:nvPr>
        </p:nvSpPr>
        <p:spPr/>
        <p:txBody>
          <a:bodyPr/>
          <a:lstStyle/>
          <a:p>
            <a:fld id="{4267CD5E-26CF-4249-8540-BB1D07FD4227}" type="slidenum">
              <a:rPr lang="en-US" smtClean="0"/>
              <a:t>‹#›</a:t>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edit title</a:t>
            </a:r>
          </a:p>
        </p:txBody>
      </p:sp>
      <p:sp>
        <p:nvSpPr>
          <p:cNvPr id="3" name="Vertical Text Placeholder 2"/>
          <p:cNvSpPr>
            <a:spLocks noGrp="1"/>
          </p:cNvSpPr>
          <p:nvPr>
            <p:ph type="body" orient="vert" idx="1" hasCustomPrompt="1"/>
          </p:nvPr>
        </p:nvSpPr>
        <p:spPr/>
        <p:txBody>
          <a:bodyPr vert="eaVert"/>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2" y="365127"/>
            <a:ext cx="2628900" cy="5811839"/>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44769" y="365127"/>
            <a:ext cx="7927731" cy="581183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hank You Slide">
    <p:spTree>
      <p:nvGrpSpPr>
        <p:cNvPr id="1" name=""/>
        <p:cNvGrpSpPr/>
        <p:nvPr/>
      </p:nvGrpSpPr>
      <p:grpSpPr>
        <a:xfrm>
          <a:off x="0" y="0"/>
          <a:ext cx="0" cy="0"/>
          <a:chOff x="0" y="0"/>
          <a:chExt cx="0" cy="0"/>
        </a:xfrm>
      </p:grpSpPr>
      <p:pic>
        <p:nvPicPr>
          <p:cNvPr id="6" name="Picture 5" descr="A picture containing person, crowd, event, several&#10;&#10;Description automatically generated"/>
          <p:cNvPicPr>
            <a:picLocks noChangeAspect="1"/>
          </p:cNvPicPr>
          <p:nvPr userDrawn="1"/>
        </p:nvPicPr>
        <p:blipFill rotWithShape="1">
          <a:blip r:embed="rId2"/>
          <a:srcRect l="28985"/>
          <a:stretch>
            <a:fillRect/>
          </a:stretch>
        </p:blipFill>
        <p:spPr>
          <a:xfrm>
            <a:off x="2" y="0"/>
            <a:ext cx="7305260" cy="6858000"/>
          </a:xfrm>
          <a:prstGeom prst="rect">
            <a:avLst/>
          </a:prstGeom>
        </p:spPr>
      </p:pic>
      <p:pic>
        <p:nvPicPr>
          <p:cNvPr id="3" name="Picture 2" descr="A picture containing shape&#10;&#10;Description automatically generated"/>
          <p:cNvPicPr>
            <a:picLocks noChangeAspect="1"/>
          </p:cNvPicPr>
          <p:nvPr userDrawn="1"/>
        </p:nvPicPr>
        <p:blipFill>
          <a:blip r:embed="rId3"/>
          <a:stretch>
            <a:fillRect/>
          </a:stretch>
        </p:blipFill>
        <p:spPr>
          <a:xfrm>
            <a:off x="0" y="0"/>
            <a:ext cx="12192000" cy="6858000"/>
          </a:xfrm>
          <a:prstGeom prst="rect">
            <a:avLst/>
          </a:prstGeom>
        </p:spPr>
      </p:pic>
      <p:sp>
        <p:nvSpPr>
          <p:cNvPr id="5" name="TextBox 4"/>
          <p:cNvSpPr txBox="1"/>
          <p:nvPr userDrawn="1"/>
        </p:nvSpPr>
        <p:spPr>
          <a:xfrm>
            <a:off x="7284722" y="3144277"/>
            <a:ext cx="4245895" cy="923330"/>
          </a:xfrm>
          <a:prstGeom prst="rect">
            <a:avLst/>
          </a:prstGeom>
          <a:noFill/>
        </p:spPr>
        <p:txBody>
          <a:bodyPr wrap="square" rtlCol="0">
            <a:spAutoFit/>
          </a:bodyPr>
          <a:lstStyle/>
          <a:p>
            <a:pPr algn="r"/>
            <a:r>
              <a:rPr lang="en-US" sz="5400" b="0" i="0" dirty="0">
                <a:solidFill>
                  <a:schemeClr val="bg1"/>
                </a:solidFill>
                <a:latin typeface="Saira Condensed Condensed Light" pitchFamily="2" charset="77"/>
              </a:rPr>
              <a:t>THANK </a:t>
            </a:r>
            <a:r>
              <a:rPr lang="en-US" sz="5400" b="1" i="0" dirty="0">
                <a:solidFill>
                  <a:schemeClr val="bg1"/>
                </a:solidFill>
                <a:latin typeface="Saira Condensed Condensed Light" pitchFamily="2" charset="77"/>
              </a:rPr>
              <a:t>YOU</a:t>
            </a:r>
          </a:p>
        </p:txBody>
      </p:sp>
      <p:sp>
        <p:nvSpPr>
          <p:cNvPr id="9" name="TextBox 8"/>
          <p:cNvSpPr txBox="1"/>
          <p:nvPr userDrawn="1"/>
        </p:nvSpPr>
        <p:spPr>
          <a:xfrm>
            <a:off x="6096002" y="5170418"/>
            <a:ext cx="5434615" cy="584775"/>
          </a:xfrm>
          <a:prstGeom prst="rect">
            <a:avLst/>
          </a:prstGeom>
          <a:noFill/>
        </p:spPr>
        <p:txBody>
          <a:bodyPr wrap="square" rtlCol="0">
            <a:spAutoFit/>
          </a:bodyPr>
          <a:lstStyle/>
          <a:p>
            <a:pPr algn="r"/>
            <a:r>
              <a:rPr lang="en-US" sz="1600" b="1" kern="1200" dirty="0">
                <a:solidFill>
                  <a:schemeClr val="bg1"/>
                </a:solidFill>
                <a:effectLst/>
                <a:latin typeface="IBM Plex Sans" panose="020B0503050203000203" pitchFamily="34" charset="0"/>
                <a:ea typeface="+mn-ea"/>
                <a:cs typeface="+mn-cs"/>
              </a:rPr>
              <a:t>Stevens Institute of Technology</a:t>
            </a:r>
            <a:br>
              <a:rPr lang="en-US" sz="1600" b="1" kern="1200" dirty="0">
                <a:solidFill>
                  <a:schemeClr val="bg1"/>
                </a:solidFill>
                <a:effectLst/>
                <a:latin typeface="IBM Plex Sans" panose="020B0503050203000203" pitchFamily="34" charset="0"/>
                <a:ea typeface="+mn-ea"/>
                <a:cs typeface="+mn-cs"/>
              </a:rPr>
            </a:br>
            <a:r>
              <a:rPr lang="en-US" sz="1600" kern="1200" dirty="0">
                <a:solidFill>
                  <a:schemeClr val="bg1"/>
                </a:solidFill>
                <a:effectLst/>
                <a:latin typeface="IBM Plex Sans" panose="020B0503050203000203" pitchFamily="34" charset="0"/>
                <a:ea typeface="+mn-ea"/>
                <a:cs typeface="+mn-cs"/>
              </a:rPr>
              <a:t>1 Castle Point Terrace, Hoboken, NJ 07030</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image" Target="../media/image1.emf"/><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5"/>
          <a:stretch>
            <a:fillRect/>
          </a:stretch>
        </p:blipFill>
        <p:spPr>
          <a:xfrm>
            <a:off x="0" y="0"/>
            <a:ext cx="12192000" cy="6858000"/>
          </a:xfrm>
          <a:prstGeom prst="rect">
            <a:avLst/>
          </a:prstGeom>
        </p:spPr>
      </p:pic>
      <p:sp>
        <p:nvSpPr>
          <p:cNvPr id="2" name="Title Placeholder 1"/>
          <p:cNvSpPr>
            <a:spLocks noGrp="1"/>
          </p:cNvSpPr>
          <p:nvPr>
            <p:ph type="title"/>
          </p:nvPr>
        </p:nvSpPr>
        <p:spPr>
          <a:xfrm>
            <a:off x="644771" y="365125"/>
            <a:ext cx="10709031" cy="1325563"/>
          </a:xfrm>
          <a:prstGeom prst="rect">
            <a:avLst/>
          </a:prstGeom>
        </p:spPr>
        <p:txBody>
          <a:bodyPr vert="horz" lIns="91440" tIns="45720" rIns="91440" bIns="45720" rtlCol="0" anchor="t">
            <a:normAutofit/>
          </a:bodyPr>
          <a:lstStyle/>
          <a:p>
            <a:r>
              <a:rPr lang="en-US" dirty="0"/>
              <a:t>CLICK TO EDIT TITLE</a:t>
            </a:r>
          </a:p>
        </p:txBody>
      </p:sp>
      <p:sp>
        <p:nvSpPr>
          <p:cNvPr id="3" name="Text Placeholder 2"/>
          <p:cNvSpPr>
            <a:spLocks noGrp="1"/>
          </p:cNvSpPr>
          <p:nvPr>
            <p:ph type="body" idx="1"/>
          </p:nvPr>
        </p:nvSpPr>
        <p:spPr>
          <a:xfrm>
            <a:off x="644771" y="1825625"/>
            <a:ext cx="10709031" cy="4235176"/>
          </a:xfrm>
          <a:prstGeom prst="rect">
            <a:avLst/>
          </a:prstGeom>
        </p:spPr>
        <p:txBody>
          <a:bodyPr vert="horz" lIns="91440" tIns="45720" rIns="91440" bIns="45720" rtlCol="0">
            <a:normAutofit/>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4"/>
          </p:nvPr>
        </p:nvSpPr>
        <p:spPr>
          <a:xfrm>
            <a:off x="9375913" y="6276840"/>
            <a:ext cx="2743200" cy="365125"/>
          </a:xfrm>
          <a:prstGeom prst="rect">
            <a:avLst/>
          </a:prstGeom>
        </p:spPr>
        <p:txBody>
          <a:bodyPr vert="horz" lIns="91440" tIns="45720" rIns="91440" bIns="45720" rtlCol="0" anchor="ctr"/>
          <a:lstStyle>
            <a:lvl1pPr algn="r">
              <a:defRPr sz="1200" b="1" i="0">
                <a:solidFill>
                  <a:schemeClr val="accent1"/>
                </a:solidFill>
                <a:latin typeface="IBM Plex Sans" panose="020B0503050203000203" pitchFamily="34" charset="0"/>
              </a:defRPr>
            </a:lvl1pPr>
          </a:lstStyle>
          <a:p>
            <a:fld id="{4267CD5E-26CF-4249-8540-BB1D07FD4227}" type="slidenum">
              <a:rPr lang="en-US" smtClean="0"/>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Lst>
  <p:hf hdr="0" ftr="0"/>
  <p:txStyles>
    <p:titleStyle>
      <a:lvl1pPr algn="l" defTabSz="913765" rtl="0" eaLnBrk="1" latinLnBrk="0" hangingPunct="1">
        <a:lnSpc>
          <a:spcPct val="90000"/>
        </a:lnSpc>
        <a:spcBef>
          <a:spcPct val="0"/>
        </a:spcBef>
        <a:buNone/>
        <a:defRPr sz="4000" b="1" i="0" kern="1200">
          <a:solidFill>
            <a:schemeClr val="tx1"/>
          </a:solidFill>
          <a:latin typeface="Saira Condensed Condensed SemiBold" pitchFamily="2" charset="77"/>
          <a:ea typeface="+mj-ea"/>
          <a:cs typeface="+mj-cs"/>
        </a:defRPr>
      </a:lvl1pPr>
    </p:titleStyle>
    <p:bodyStyle>
      <a:lvl1pPr marL="228600" indent="-228600" algn="l" defTabSz="913765" rtl="0" eaLnBrk="1" latinLnBrk="0" hangingPunct="1">
        <a:lnSpc>
          <a:spcPct val="90000"/>
        </a:lnSpc>
        <a:spcBef>
          <a:spcPts val="1000"/>
        </a:spcBef>
        <a:buClr>
          <a:schemeClr val="accent4"/>
        </a:buClr>
        <a:buFont typeface="Wingdings" panose="05000000000000000000" pitchFamily="2" charset="2"/>
        <a:buChar char="§"/>
        <a:defRPr sz="1800" b="0" i="0" kern="1200">
          <a:solidFill>
            <a:schemeClr val="tx1"/>
          </a:solidFill>
          <a:latin typeface="IBM Plex Sans" panose="020B0503050203000203" pitchFamily="34" charset="0"/>
          <a:ea typeface="+mn-ea"/>
          <a:cs typeface="+mn-cs"/>
        </a:defRPr>
      </a:lvl1pPr>
      <a:lvl2pPr marL="502920" indent="-228600" algn="l" defTabSz="913765" rtl="0" eaLnBrk="1" latinLnBrk="0" hangingPunct="1">
        <a:lnSpc>
          <a:spcPct val="90000"/>
        </a:lnSpc>
        <a:spcBef>
          <a:spcPts val="500"/>
        </a:spcBef>
        <a:buClr>
          <a:schemeClr val="accent4"/>
        </a:buClr>
        <a:buFont typeface="System Font Regular"/>
        <a:buChar char="-"/>
        <a:defRPr sz="1800" b="0" i="0" kern="1200">
          <a:solidFill>
            <a:schemeClr val="tx1"/>
          </a:solidFill>
          <a:latin typeface="IBM Plex Sans" panose="020B0503050203000203" pitchFamily="34" charset="0"/>
          <a:ea typeface="+mn-ea"/>
          <a:cs typeface="+mn-cs"/>
        </a:defRPr>
      </a:lvl2pPr>
      <a:lvl3pPr marL="777240" indent="-228600" algn="l" defTabSz="913765" rtl="0" eaLnBrk="1" latinLnBrk="0" hangingPunct="1">
        <a:lnSpc>
          <a:spcPct val="90000"/>
        </a:lnSpc>
        <a:spcBef>
          <a:spcPts val="500"/>
        </a:spcBef>
        <a:buClr>
          <a:schemeClr val="accent4"/>
        </a:buClr>
        <a:buFont typeface="System Font Regular"/>
        <a:buChar char="-"/>
        <a:defRPr sz="1600" b="0" i="0" kern="1200">
          <a:solidFill>
            <a:schemeClr val="tx1"/>
          </a:solidFill>
          <a:latin typeface="IBM Plex Sans" panose="020B0503050203000203" pitchFamily="34" charset="0"/>
          <a:ea typeface="+mn-ea"/>
          <a:cs typeface="+mn-cs"/>
        </a:defRPr>
      </a:lvl3pPr>
      <a:lvl4pPr marL="1005840" indent="-228600" algn="l" defTabSz="913765" rtl="0" eaLnBrk="1" latinLnBrk="0" hangingPunct="1">
        <a:lnSpc>
          <a:spcPct val="90000"/>
        </a:lnSpc>
        <a:spcBef>
          <a:spcPts val="500"/>
        </a:spcBef>
        <a:buClr>
          <a:schemeClr val="accent4"/>
        </a:buClr>
        <a:buFont typeface="System Font Regular"/>
        <a:buChar char="-"/>
        <a:defRPr sz="1600" b="0" i="0" kern="1200">
          <a:solidFill>
            <a:schemeClr val="tx1"/>
          </a:solidFill>
          <a:latin typeface="IBM Plex Sans" panose="020B0503050203000203" pitchFamily="34" charset="0"/>
          <a:ea typeface="+mn-ea"/>
          <a:cs typeface="+mn-cs"/>
        </a:defRPr>
      </a:lvl4pPr>
      <a:lvl5pPr marL="1280160" indent="-228600" algn="l" defTabSz="913765" rtl="0" eaLnBrk="1" latinLnBrk="0" hangingPunct="1">
        <a:lnSpc>
          <a:spcPct val="90000"/>
        </a:lnSpc>
        <a:spcBef>
          <a:spcPts val="500"/>
        </a:spcBef>
        <a:buClr>
          <a:schemeClr val="accent4"/>
        </a:buClr>
        <a:buFont typeface="System Font Regular"/>
        <a:buChar char="-"/>
        <a:defRPr sz="1400" b="0" i="0" kern="1200">
          <a:solidFill>
            <a:schemeClr val="tx1"/>
          </a:solidFill>
          <a:latin typeface="IBM Plex Sans" panose="020B0503050203000203" pitchFamily="34" charset="0"/>
          <a:ea typeface="+mn-ea"/>
          <a:cs typeface="+mn-cs"/>
        </a:defRPr>
      </a:lvl5pPr>
      <a:lvl6pPr marL="2514600" indent="-228600" algn="l" defTabSz="913765"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3765"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3765"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3765"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3200" algn="l" defTabSz="913765" rtl="0" eaLnBrk="1" latinLnBrk="0" hangingPunct="1">
        <a:defRPr sz="1800" kern="1200">
          <a:solidFill>
            <a:schemeClr val="tx1"/>
          </a:solidFill>
          <a:latin typeface="+mn-lt"/>
          <a:ea typeface="+mn-ea"/>
          <a:cs typeface="+mn-cs"/>
        </a:defRPr>
      </a:lvl7pPr>
      <a:lvl8pPr marL="3200400" algn="l" defTabSz="913765" rtl="0" eaLnBrk="1" latinLnBrk="0" hangingPunct="1">
        <a:defRPr sz="1800" kern="1200">
          <a:solidFill>
            <a:schemeClr val="tx1"/>
          </a:solidFill>
          <a:latin typeface="+mn-lt"/>
          <a:ea typeface="+mn-ea"/>
          <a:cs typeface="+mn-cs"/>
        </a:defRPr>
      </a:lvl8pPr>
      <a:lvl9pPr marL="3657600" algn="l" defTabSz="913765"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0.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39059" y="1111974"/>
            <a:ext cx="8726170" cy="2061210"/>
          </a:xfrm>
        </p:spPr>
        <p:txBody>
          <a:bodyPr>
            <a:normAutofit/>
          </a:bodyPr>
          <a:lstStyle/>
          <a:p>
            <a:pPr algn="l"/>
            <a:r>
              <a:rPr lang="en-US" sz="4400" b="1" dirty="0">
                <a:latin typeface="Arial" panose="020B0604020202090204"/>
                <a:sym typeface="+mn-ea"/>
              </a:rPr>
              <a:t>SSW-555: Agile Methods for Software Development</a:t>
            </a:r>
            <a:endParaRPr lang="en-US" sz="4400" dirty="0"/>
          </a:p>
        </p:txBody>
      </p:sp>
      <p:sp>
        <p:nvSpPr>
          <p:cNvPr id="3" name="Subtitle 2"/>
          <p:cNvSpPr>
            <a:spLocks noGrp="1"/>
          </p:cNvSpPr>
          <p:nvPr>
            <p:ph type="subTitle" idx="1"/>
          </p:nvPr>
        </p:nvSpPr>
        <p:spPr>
          <a:xfrm>
            <a:off x="779349" y="3564436"/>
            <a:ext cx="7041742" cy="934635"/>
          </a:xfrm>
        </p:spPr>
        <p:txBody>
          <a:bodyPr>
            <a:normAutofit/>
          </a:bodyPr>
          <a:lstStyle/>
          <a:p>
            <a:pPr algn="l"/>
            <a:r>
              <a:rPr lang="en-US" sz="3200" b="1" dirty="0">
                <a:latin typeface="Arial Bold" panose="020B0604020202090204" charset="0"/>
                <a:cs typeface="Arial Bold" panose="020B0604020202090204" charset="0"/>
                <a:sym typeface="+mn-ea"/>
              </a:rPr>
              <a:t>Spotify Case Study</a:t>
            </a:r>
            <a:endParaRPr lang="en-US" sz="3200" b="1" dirty="0">
              <a:latin typeface="Arial Bold" panose="020B0604020202090204" charset="0"/>
              <a:cs typeface="Arial Bold" panose="020B0604020202090204" charset="0"/>
            </a:endParaRPr>
          </a:p>
        </p:txBody>
      </p:sp>
      <p:sp>
        <p:nvSpPr>
          <p:cNvPr id="5" name="Text Placeholder 4"/>
          <p:cNvSpPr>
            <a:spLocks noGrp="1"/>
          </p:cNvSpPr>
          <p:nvPr>
            <p:ph type="body" sz="quarter" idx="11"/>
          </p:nvPr>
        </p:nvSpPr>
        <p:spPr>
          <a:xfrm>
            <a:off x="873125" y="4726864"/>
            <a:ext cx="6854190" cy="903605"/>
          </a:xfrm>
        </p:spPr>
        <p:txBody>
          <a:bodyPr>
            <a:noAutofit/>
          </a:bodyPr>
          <a:lstStyle/>
          <a:p>
            <a:pPr algn="l"/>
            <a:r>
              <a:rPr lang="en-US" dirty="0">
                <a:latin typeface="Calibri"/>
                <a:sym typeface="+mn-ea"/>
              </a:rPr>
              <a:t>Instructor: Dr. Nafiseh Ghorbani </a:t>
            </a:r>
          </a:p>
          <a:p>
            <a:pPr algn="l"/>
            <a:r>
              <a:rPr lang="en-US" dirty="0">
                <a:latin typeface="Calibri"/>
                <a:sym typeface="+mn-ea"/>
              </a:rPr>
              <a:t>Department of Systems and Enterprises </a:t>
            </a:r>
          </a:p>
          <a:p>
            <a:pPr algn="l"/>
            <a:r>
              <a:rPr lang="en-US" dirty="0">
                <a:latin typeface="Calibri"/>
                <a:sym typeface="+mn-ea"/>
              </a:rPr>
              <a:t>Stevens Institute of Technology</a:t>
            </a:r>
            <a:endParaRPr lang="en-US" dirty="0">
              <a:latin typeface="Calibri"/>
            </a:endParaRPr>
          </a:p>
          <a:p>
            <a:pPr algn="l"/>
            <a:endParaRPr lang="en-US" dirty="0">
              <a:latin typeface="Calibri"/>
            </a:endParaRPr>
          </a:p>
        </p:txBody>
      </p:sp>
      <p:sp>
        <p:nvSpPr>
          <p:cNvPr id="4" name="Date Placeholder 3"/>
          <p:cNvSpPr>
            <a:spLocks noGrp="1"/>
          </p:cNvSpPr>
          <p:nvPr>
            <p:ph type="dt" sz="half" idx="10"/>
          </p:nvPr>
        </p:nvSpPr>
        <p:spPr>
          <a:xfrm>
            <a:off x="7727315" y="6489096"/>
            <a:ext cx="4318746" cy="369332"/>
          </a:xfrm>
        </p:spPr>
        <p:txBody>
          <a:bodyPr/>
          <a:lstStyle/>
          <a:p>
            <a:r>
              <a:rPr lang="en-US" sz="900" b="0" dirty="0"/>
              <a:t>This Lecture is based on material from Prof. Jim Rowland and Prof. Richard Ens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sz="4400" dirty="0"/>
              <a:t>Acknowledgements</a:t>
            </a:r>
          </a:p>
        </p:txBody>
      </p:sp>
      <p:sp>
        <p:nvSpPr>
          <p:cNvPr id="2" name="Content Placeholder 1"/>
          <p:cNvSpPr>
            <a:spLocks noGrp="1"/>
          </p:cNvSpPr>
          <p:nvPr>
            <p:ph idx="1"/>
          </p:nvPr>
        </p:nvSpPr>
        <p:spPr>
          <a:xfrm>
            <a:off x="644525" y="1453515"/>
            <a:ext cx="10709275" cy="4628515"/>
          </a:xfrm>
        </p:spPr>
        <p:txBody>
          <a:bodyPr/>
          <a:lstStyle/>
          <a:p>
            <a:pPr indent="419100">
              <a:lnSpc>
                <a:spcPct val="161000"/>
              </a:lnSpc>
            </a:pPr>
            <a:endParaRPr lang="en-US" dirty="0">
              <a:latin typeface="Arial" panose="020B0604020202090204"/>
              <a:sym typeface="+mn-ea"/>
            </a:endParaRPr>
          </a:p>
          <a:p>
            <a:pPr indent="0">
              <a:lnSpc>
                <a:spcPct val="161000"/>
              </a:lnSpc>
              <a:buNone/>
            </a:pPr>
            <a:r>
              <a:rPr lang="en-US" sz="2000" dirty="0">
                <a:latin typeface="Arial" panose="020B0604020202090204"/>
                <a:sym typeface="+mn-ea"/>
              </a:rPr>
              <a:t>Some of the material in these slides is from:</a:t>
            </a:r>
          </a:p>
          <a:p>
            <a:pPr lvl="1">
              <a:spcAft>
                <a:spcPts val="450"/>
              </a:spcAft>
              <a:buFont typeface="Arial" panose="020B0604020202020204" pitchFamily="34" charset="0"/>
              <a:buChar char="•"/>
            </a:pPr>
            <a:r>
              <a:rPr lang="en-US" b="0" i="0" dirty="0">
                <a:solidFill>
                  <a:srgbClr val="363D45"/>
                </a:solidFill>
                <a:effectLst/>
                <a:latin typeface="Lato Extended"/>
              </a:rPr>
              <a:t>C. Ebert and M. Paasivaara, "Scaling Agile," in IEEE Software, vol. 34, no. 6, pp. 98-103, November/December 2017, </a:t>
            </a:r>
            <a:r>
              <a:rPr lang="en-US" b="0" i="0" dirty="0" err="1">
                <a:solidFill>
                  <a:srgbClr val="363D45"/>
                </a:solidFill>
                <a:effectLst/>
                <a:latin typeface="Lato Extended"/>
              </a:rPr>
              <a:t>doi</a:t>
            </a:r>
            <a:r>
              <a:rPr lang="en-US" b="0" i="0" dirty="0">
                <a:solidFill>
                  <a:srgbClr val="363D45"/>
                </a:solidFill>
                <a:effectLst/>
                <a:latin typeface="Lato Extended"/>
              </a:rPr>
              <a:t>: 10.1109/MS.2017.4121226.</a:t>
            </a:r>
          </a:p>
          <a:p>
            <a:pPr lvl="1">
              <a:spcAft>
                <a:spcPts val="450"/>
              </a:spcAft>
              <a:buFont typeface="Arial" panose="020B0604020202020204" pitchFamily="34" charset="0"/>
              <a:buChar char="•"/>
            </a:pPr>
            <a:endParaRPr lang="en-US" dirty="0">
              <a:solidFill>
                <a:srgbClr val="363D45"/>
              </a:solidFill>
              <a:latin typeface="Lato Extended"/>
            </a:endParaRPr>
          </a:p>
          <a:p>
            <a:pPr lvl="1">
              <a:spcAft>
                <a:spcPts val="450"/>
              </a:spcAft>
              <a:buFont typeface="Arial" panose="020B0604020202020204" pitchFamily="34" charset="0"/>
              <a:buChar char="•"/>
            </a:pPr>
            <a:r>
              <a:rPr lang="en-US" b="0" i="0" dirty="0">
                <a:solidFill>
                  <a:srgbClr val="363D45"/>
                </a:solidFill>
                <a:effectLst/>
                <a:latin typeface="Lato Extended"/>
              </a:rPr>
              <a:t>Henrik Kniberg. (2017, February 27). Spotify Engineering Culture Part 2 [Video file]. Retrieved from https://youtu.be/vOt4BbWLWQw</a:t>
            </a:r>
          </a:p>
        </p:txBody>
      </p:sp>
      <p:sp>
        <p:nvSpPr>
          <p:cNvPr id="3" name="Slide Number Placeholder 2"/>
          <p:cNvSpPr>
            <a:spLocks noGrp="1"/>
          </p:cNvSpPr>
          <p:nvPr>
            <p:ph type="sldNum" sz="quarter" idx="12"/>
          </p:nvPr>
        </p:nvSpPr>
        <p:spPr/>
        <p:txBody>
          <a:bodyPr/>
          <a:lstStyle/>
          <a:p>
            <a:fld id="{4267CD5E-26CF-4249-8540-BB1D07FD4227}" type="slidenum">
              <a:rPr lang="en-US" smtClean="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sz="4400" dirty="0"/>
              <a:t>Today's topics</a:t>
            </a:r>
          </a:p>
        </p:txBody>
      </p:sp>
      <p:sp>
        <p:nvSpPr>
          <p:cNvPr id="2" name="Content Placeholder 1"/>
          <p:cNvSpPr>
            <a:spLocks noGrp="1"/>
          </p:cNvSpPr>
          <p:nvPr>
            <p:ph idx="1"/>
          </p:nvPr>
        </p:nvSpPr>
        <p:spPr/>
        <p:txBody>
          <a:bodyPr>
            <a:normAutofit/>
          </a:bodyPr>
          <a:lstStyle/>
          <a:p>
            <a:r>
              <a:rPr lang="en-US" sz="2000" dirty="0">
                <a:latin typeface="Arial" panose="020B0604020202090204"/>
                <a:sym typeface="+mn-ea"/>
              </a:rPr>
              <a:t>Overview of </a:t>
            </a:r>
            <a:r>
              <a:rPr lang="en-US" sz="2000" b="0" i="0" dirty="0">
                <a:solidFill>
                  <a:srgbClr val="363D45"/>
                </a:solidFill>
                <a:effectLst/>
                <a:latin typeface="Arial" panose="020B0604020202020204" pitchFamily="34" charset="0"/>
                <a:cs typeface="Arial" panose="020B0604020202020204" pitchFamily="34" charset="0"/>
              </a:rPr>
              <a:t>Spotify music streaming </a:t>
            </a:r>
            <a:endParaRPr lang="en-US" sz="2000" dirty="0">
              <a:latin typeface="Arial" panose="020B0604020202090204"/>
              <a:sym typeface="+mn-ea"/>
            </a:endParaRPr>
          </a:p>
          <a:p>
            <a:r>
              <a:rPr lang="en-US" sz="2000" dirty="0">
                <a:latin typeface="Arial" panose="020B0604020202090204"/>
                <a:sym typeface="+mn-ea"/>
              </a:rPr>
              <a:t>Compare and contrast Spotify streaming service implementation of Agile vs. Scrum and XP</a:t>
            </a:r>
          </a:p>
          <a:p>
            <a:r>
              <a:rPr lang="en-US" sz="2000" dirty="0">
                <a:latin typeface="Arial" panose="020B0604020202090204"/>
                <a:sym typeface="+mn-ea"/>
              </a:rPr>
              <a:t>Access Spotify’s release management process</a:t>
            </a:r>
          </a:p>
          <a:p>
            <a:endParaRPr lang="en-US" sz="2000" dirty="0"/>
          </a:p>
        </p:txBody>
      </p:sp>
      <p:sp>
        <p:nvSpPr>
          <p:cNvPr id="3" name="Slide Number Placeholder 2"/>
          <p:cNvSpPr>
            <a:spLocks noGrp="1"/>
          </p:cNvSpPr>
          <p:nvPr>
            <p:ph type="sldNum" sz="quarter" idx="12"/>
          </p:nvPr>
        </p:nvSpPr>
        <p:spPr/>
        <p:txBody>
          <a:bodyPr/>
          <a:lstStyle/>
          <a:p>
            <a:fld id="{4267CD5E-26CF-4249-8540-BB1D07FD4227}" type="slidenum">
              <a:rPr lang="en-US" smtClean="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BF5420-5ADC-23D6-FD37-51E4D4FF5338}"/>
              </a:ext>
            </a:extLst>
          </p:cNvPr>
          <p:cNvSpPr>
            <a:spLocks noGrp="1"/>
          </p:cNvSpPr>
          <p:nvPr>
            <p:ph type="title"/>
          </p:nvPr>
        </p:nvSpPr>
        <p:spPr/>
        <p:txBody>
          <a:bodyPr>
            <a:normAutofit/>
          </a:bodyPr>
          <a:lstStyle/>
          <a:p>
            <a:r>
              <a:rPr lang="en-US" sz="4400" dirty="0"/>
              <a:t>Takeaways from video 1 </a:t>
            </a:r>
          </a:p>
        </p:txBody>
      </p:sp>
      <p:sp>
        <p:nvSpPr>
          <p:cNvPr id="4" name="Content Placeholder 3">
            <a:extLst>
              <a:ext uri="{FF2B5EF4-FFF2-40B4-BE49-F238E27FC236}">
                <a16:creationId xmlns:a16="http://schemas.microsoft.com/office/drawing/2014/main" id="{7C609136-4E3C-BB85-4FF4-179E4729EA23}"/>
              </a:ext>
            </a:extLst>
          </p:cNvPr>
          <p:cNvSpPr>
            <a:spLocks noGrp="1"/>
          </p:cNvSpPr>
          <p:nvPr>
            <p:ph idx="1"/>
          </p:nvPr>
        </p:nvSpPr>
        <p:spPr/>
        <p:txBody>
          <a:bodyPr>
            <a:normAutofit/>
          </a:bodyPr>
          <a:lstStyle/>
          <a:p>
            <a:pPr marL="0" indent="0" algn="l">
              <a:spcAft>
                <a:spcPts val="450"/>
              </a:spcAft>
              <a:buNone/>
            </a:pPr>
            <a:r>
              <a:rPr lang="en-US" sz="2000" b="0" i="0" dirty="0">
                <a:solidFill>
                  <a:srgbClr val="363D45"/>
                </a:solidFill>
                <a:effectLst/>
                <a:latin typeface="Arial" panose="020B0604020202020204" pitchFamily="34" charset="0"/>
                <a:cs typeface="Arial" panose="020B0604020202020204" pitchFamily="34" charset="0"/>
              </a:rPr>
              <a:t>As you listen, consider the following:</a:t>
            </a:r>
          </a:p>
          <a:p>
            <a:pPr algn="l">
              <a:spcAft>
                <a:spcPts val="450"/>
              </a:spcAft>
              <a:buFont typeface="Arial" panose="020B0604020202020204" pitchFamily="34" charset="0"/>
              <a:buChar char="•"/>
            </a:pPr>
            <a:r>
              <a:rPr lang="en-US" b="0" i="0" dirty="0">
                <a:solidFill>
                  <a:srgbClr val="363D45"/>
                </a:solidFill>
                <a:effectLst/>
                <a:latin typeface="Arial" panose="020B0604020202020204" pitchFamily="34" charset="0"/>
                <a:cs typeface="Arial" panose="020B0604020202020204" pitchFamily="34" charset="0"/>
              </a:rPr>
              <a:t>How is the Spotify process unique?</a:t>
            </a:r>
          </a:p>
          <a:p>
            <a:pPr algn="l">
              <a:spcAft>
                <a:spcPts val="450"/>
              </a:spcAft>
              <a:buFont typeface="Arial" panose="020B0604020202020204" pitchFamily="34" charset="0"/>
              <a:buChar char="•"/>
            </a:pPr>
            <a:r>
              <a:rPr lang="en-US" b="0" i="0" dirty="0">
                <a:solidFill>
                  <a:srgbClr val="363D45"/>
                </a:solidFill>
                <a:effectLst/>
                <a:latin typeface="Arial" panose="020B0604020202020204" pitchFamily="34" charset="0"/>
                <a:cs typeface="Arial" panose="020B0604020202020204" pitchFamily="34" charset="0"/>
              </a:rPr>
              <a:t>Does the structure facilitate communication?</a:t>
            </a:r>
          </a:p>
          <a:p>
            <a:pPr algn="l">
              <a:spcAft>
                <a:spcPts val="450"/>
              </a:spcAft>
              <a:buFont typeface="Arial" panose="020B0604020202020204" pitchFamily="34" charset="0"/>
              <a:buChar char="•"/>
            </a:pPr>
            <a:r>
              <a:rPr lang="en-US" b="0" i="0" dirty="0">
                <a:solidFill>
                  <a:srgbClr val="363D45"/>
                </a:solidFill>
                <a:effectLst/>
                <a:latin typeface="Arial" panose="020B0604020202020204" pitchFamily="34" charset="0"/>
                <a:cs typeface="Arial" panose="020B0604020202020204" pitchFamily="34" charset="0"/>
              </a:rPr>
              <a:t>Are there missing roles?</a:t>
            </a:r>
          </a:p>
          <a:p>
            <a:pPr marL="0" indent="0" algn="l">
              <a:spcAft>
                <a:spcPts val="450"/>
              </a:spcAft>
              <a:buNone/>
            </a:pPr>
            <a:endParaRPr lang="en-US" sz="2000" b="0" i="0" dirty="0">
              <a:solidFill>
                <a:srgbClr val="363D45"/>
              </a:solidFill>
              <a:effectLst/>
              <a:latin typeface="Arial" panose="020B0604020202020204" pitchFamily="34" charset="0"/>
              <a:cs typeface="Arial" panose="020B0604020202020204" pitchFamily="34" charset="0"/>
            </a:endParaRPr>
          </a:p>
          <a:p>
            <a:pPr marL="0" indent="0" algn="l">
              <a:spcAft>
                <a:spcPts val="450"/>
              </a:spcAft>
              <a:buNone/>
            </a:pPr>
            <a:r>
              <a:rPr lang="en-US" sz="2000" b="0" i="0" dirty="0">
                <a:solidFill>
                  <a:srgbClr val="363D45"/>
                </a:solidFill>
                <a:effectLst/>
                <a:latin typeface="Arial" panose="020B0604020202020204" pitchFamily="34" charset="0"/>
                <a:cs typeface="Arial" panose="020B0604020202020204" pitchFamily="34" charset="0"/>
              </a:rPr>
              <a:t>Reflection</a:t>
            </a:r>
          </a:p>
          <a:p>
            <a:pPr algn="l">
              <a:spcAft>
                <a:spcPts val="450"/>
              </a:spcAft>
              <a:buFont typeface="Arial" panose="020B0604020202020204" pitchFamily="34" charset="0"/>
              <a:buChar char="•"/>
            </a:pPr>
            <a:r>
              <a:rPr lang="en-US" b="0" i="0" dirty="0">
                <a:solidFill>
                  <a:srgbClr val="363D45"/>
                </a:solidFill>
                <a:effectLst/>
                <a:latin typeface="Arial" panose="020B0604020202020204" pitchFamily="34" charset="0"/>
                <a:cs typeface="Arial" panose="020B0604020202020204" pitchFamily="34" charset="0"/>
              </a:rPr>
              <a:t>How does Spotify’s implementation of Agile differ from XP, Scrum, etc.? What characteristics are similar?</a:t>
            </a:r>
          </a:p>
          <a:p>
            <a:endParaRPr lang="en-US" sz="2000" dirty="0">
              <a:latin typeface="Arial" panose="020B0604020202020204" pitchFamily="34" charset="0"/>
              <a:cs typeface="Arial" panose="020B0604020202020204" pitchFamily="34" charset="0"/>
            </a:endParaRPr>
          </a:p>
        </p:txBody>
      </p:sp>
      <p:sp>
        <p:nvSpPr>
          <p:cNvPr id="5" name="Slide Number Placeholder 4">
            <a:extLst>
              <a:ext uri="{FF2B5EF4-FFF2-40B4-BE49-F238E27FC236}">
                <a16:creationId xmlns:a16="http://schemas.microsoft.com/office/drawing/2014/main" id="{4B85A68E-9D29-E785-E25B-22E97A8DECF0}"/>
              </a:ext>
            </a:extLst>
          </p:cNvPr>
          <p:cNvSpPr>
            <a:spLocks noGrp="1"/>
          </p:cNvSpPr>
          <p:nvPr>
            <p:ph type="sldNum" sz="quarter" idx="12"/>
          </p:nvPr>
        </p:nvSpPr>
        <p:spPr/>
        <p:txBody>
          <a:bodyPr/>
          <a:lstStyle/>
          <a:p>
            <a:fld id="{4267CD5E-26CF-4249-8540-BB1D07FD4227}" type="slidenum">
              <a:rPr lang="en-US" smtClean="0"/>
              <a:t>4</a:t>
            </a:fld>
            <a:endParaRPr lang="en-US"/>
          </a:p>
        </p:txBody>
      </p:sp>
    </p:spTree>
    <p:extLst>
      <p:ext uri="{BB962C8B-B14F-4D97-AF65-F5344CB8AC3E}">
        <p14:creationId xmlns:p14="http://schemas.microsoft.com/office/powerpoint/2010/main" val="40474953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966934-E1DC-F4E4-ACFB-10BB6755286C}"/>
              </a:ext>
            </a:extLst>
          </p:cNvPr>
          <p:cNvSpPr>
            <a:spLocks noGrp="1"/>
          </p:cNvSpPr>
          <p:nvPr>
            <p:ph type="title"/>
          </p:nvPr>
        </p:nvSpPr>
        <p:spPr/>
        <p:txBody>
          <a:bodyPr>
            <a:normAutofit/>
          </a:bodyPr>
          <a:lstStyle/>
          <a:p>
            <a:r>
              <a:rPr lang="en-US" sz="4400" dirty="0"/>
              <a:t>Takeaways from video 2 </a:t>
            </a:r>
          </a:p>
        </p:txBody>
      </p:sp>
      <p:sp>
        <p:nvSpPr>
          <p:cNvPr id="4" name="Content Placeholder 3">
            <a:extLst>
              <a:ext uri="{FF2B5EF4-FFF2-40B4-BE49-F238E27FC236}">
                <a16:creationId xmlns:a16="http://schemas.microsoft.com/office/drawing/2014/main" id="{DFCEDB69-8870-3DB1-F36B-76545A10E329}"/>
              </a:ext>
            </a:extLst>
          </p:cNvPr>
          <p:cNvSpPr>
            <a:spLocks noGrp="1"/>
          </p:cNvSpPr>
          <p:nvPr>
            <p:ph idx="1"/>
          </p:nvPr>
        </p:nvSpPr>
        <p:spPr>
          <a:xfrm>
            <a:off x="644771" y="1728216"/>
            <a:ext cx="10709031" cy="4353931"/>
          </a:xfrm>
        </p:spPr>
        <p:txBody>
          <a:bodyPr>
            <a:normAutofit fontScale="92500" lnSpcReduction="10000"/>
          </a:bodyPr>
          <a:lstStyle/>
          <a:p>
            <a:pPr marL="0" indent="0" algn="l">
              <a:spcAft>
                <a:spcPts val="450"/>
              </a:spcAft>
              <a:buNone/>
            </a:pPr>
            <a:r>
              <a:rPr lang="en-US" sz="2000" b="0" i="0" dirty="0">
                <a:solidFill>
                  <a:srgbClr val="363D45"/>
                </a:solidFill>
                <a:effectLst/>
                <a:latin typeface="Arial" panose="020B0604020202020204" pitchFamily="34" charset="0"/>
                <a:cs typeface="Arial" panose="020B0604020202020204" pitchFamily="34" charset="0"/>
              </a:rPr>
              <a:t>As you listen, consider the following:</a:t>
            </a:r>
          </a:p>
          <a:p>
            <a:pPr algn="l">
              <a:spcAft>
                <a:spcPts val="450"/>
              </a:spcAft>
              <a:buFont typeface="Arial" panose="020B0604020202020204" pitchFamily="34" charset="0"/>
              <a:buChar char="•"/>
            </a:pPr>
            <a:r>
              <a:rPr lang="en-US" b="0" i="0" dirty="0">
                <a:solidFill>
                  <a:srgbClr val="363D45"/>
                </a:solidFill>
                <a:effectLst/>
                <a:latin typeface="Arial" panose="020B0604020202020204" pitchFamily="34" charset="0"/>
                <a:cs typeface="Arial" panose="020B0604020202020204" pitchFamily="34" charset="0"/>
              </a:rPr>
              <a:t>Do you think hack time develops creativity?</a:t>
            </a:r>
          </a:p>
          <a:p>
            <a:pPr algn="l">
              <a:spcAft>
                <a:spcPts val="450"/>
              </a:spcAft>
              <a:buFont typeface="Arial" panose="020B0604020202020204" pitchFamily="34" charset="0"/>
              <a:buChar char="•"/>
            </a:pPr>
            <a:r>
              <a:rPr lang="en-US" b="0" i="0" dirty="0">
                <a:solidFill>
                  <a:srgbClr val="363D45"/>
                </a:solidFill>
                <a:effectLst/>
                <a:latin typeface="Arial" panose="020B0604020202020204" pitchFamily="34" charset="0"/>
                <a:cs typeface="Arial" panose="020B0604020202020204" pitchFamily="34" charset="0"/>
              </a:rPr>
              <a:t>How does Spotify balance growth with structure?</a:t>
            </a:r>
          </a:p>
          <a:p>
            <a:pPr>
              <a:buNone/>
            </a:pPr>
            <a:endParaRPr lang="en-US" sz="2000" dirty="0">
              <a:latin typeface="Arial" panose="020B0604020202020204" pitchFamily="34" charset="0"/>
              <a:cs typeface="Arial" panose="020B0604020202020204" pitchFamily="34" charset="0"/>
            </a:endParaRPr>
          </a:p>
          <a:p>
            <a:pPr>
              <a:buFont typeface="Arial" panose="020B0604020202020204" pitchFamily="34" charset="0"/>
              <a:buChar char="•"/>
            </a:pPr>
            <a:r>
              <a:rPr lang="en-US" sz="2000" b="1" dirty="0">
                <a:latin typeface="Arial" panose="020B0604020202020204" pitchFamily="34" charset="0"/>
                <a:cs typeface="Arial" panose="020B0604020202020204" pitchFamily="34" charset="0"/>
              </a:rPr>
              <a:t>Hack time</a:t>
            </a:r>
            <a:r>
              <a:rPr lang="en-US" sz="2000" dirty="0">
                <a:latin typeface="Arial" panose="020B0604020202020204" pitchFamily="34" charset="0"/>
                <a:cs typeface="Arial" panose="020B0604020202020204" pitchFamily="34" charset="0"/>
              </a:rPr>
              <a:t> refers to informal or experimental coding outside regular tasks.</a:t>
            </a:r>
          </a:p>
          <a:p>
            <a:pPr>
              <a:buFont typeface="Arial" panose="020B0604020202020204" pitchFamily="34" charset="0"/>
              <a:buChar char="•"/>
            </a:pPr>
            <a:r>
              <a:rPr lang="en-US" sz="2000" dirty="0">
                <a:latin typeface="Arial" panose="020B0604020202020204" pitchFamily="34" charset="0"/>
                <a:cs typeface="Arial" panose="020B0604020202020204" pitchFamily="34" charset="0"/>
              </a:rPr>
              <a:t>Involves </a:t>
            </a:r>
            <a:r>
              <a:rPr lang="en-US" sz="2000" b="1" dirty="0">
                <a:latin typeface="Arial" panose="020B0604020202020204" pitchFamily="34" charset="0"/>
                <a:cs typeface="Arial" panose="020B0604020202020204" pitchFamily="34" charset="0"/>
              </a:rPr>
              <a:t>exploratory programming</a:t>
            </a:r>
            <a:r>
              <a:rPr lang="en-US" sz="2000" dirty="0">
                <a:latin typeface="Arial" panose="020B0604020202020204" pitchFamily="34" charset="0"/>
                <a:cs typeface="Arial" panose="020B0604020202020204" pitchFamily="34" charset="0"/>
              </a:rPr>
              <a:t> or prototyping new ideas.</a:t>
            </a:r>
          </a:p>
          <a:p>
            <a:pPr>
              <a:buFont typeface="Arial" panose="020B0604020202020204" pitchFamily="34" charset="0"/>
              <a:buChar char="•"/>
            </a:pPr>
            <a:r>
              <a:rPr lang="en-US" sz="2000" dirty="0">
                <a:latin typeface="Arial" panose="020B0604020202020204" pitchFamily="34" charset="0"/>
                <a:cs typeface="Arial" panose="020B0604020202020204" pitchFamily="34" charset="0"/>
              </a:rPr>
              <a:t>Can be for </a:t>
            </a:r>
            <a:r>
              <a:rPr lang="en-US" sz="2000" b="1" dirty="0">
                <a:latin typeface="Arial" panose="020B0604020202020204" pitchFamily="34" charset="0"/>
                <a:cs typeface="Arial" panose="020B0604020202020204" pitchFamily="34" charset="0"/>
              </a:rPr>
              <a:t>personal projects</a:t>
            </a:r>
            <a:r>
              <a:rPr lang="en-US" sz="2000" dirty="0">
                <a:latin typeface="Arial" panose="020B0604020202020204" pitchFamily="34" charset="0"/>
                <a:cs typeface="Arial" panose="020B0604020202020204" pitchFamily="34" charset="0"/>
              </a:rPr>
              <a:t>, learning, or side experiments.</a:t>
            </a:r>
          </a:p>
          <a:p>
            <a:pPr>
              <a:buFont typeface="Arial" panose="020B0604020202020204" pitchFamily="34" charset="0"/>
              <a:buChar char="•"/>
            </a:pPr>
            <a:r>
              <a:rPr lang="en-US" sz="2000" dirty="0">
                <a:latin typeface="Arial" panose="020B0604020202020204" pitchFamily="34" charset="0"/>
                <a:cs typeface="Arial" panose="020B0604020202020204" pitchFamily="34" charset="0"/>
              </a:rPr>
              <a:t>Some companies allocate </a:t>
            </a:r>
            <a:r>
              <a:rPr lang="en-US" sz="2000" b="1" dirty="0">
                <a:latin typeface="Arial" panose="020B0604020202020204" pitchFamily="34" charset="0"/>
                <a:cs typeface="Arial" panose="020B0604020202020204" pitchFamily="34" charset="0"/>
              </a:rPr>
              <a:t>hack time</a:t>
            </a:r>
            <a:r>
              <a:rPr lang="en-US" sz="2000" dirty="0">
                <a:latin typeface="Arial" panose="020B0604020202020204" pitchFamily="34" charset="0"/>
                <a:cs typeface="Arial" panose="020B0604020202020204" pitchFamily="34" charset="0"/>
              </a:rPr>
              <a:t> for innovation and creativity.</a:t>
            </a:r>
          </a:p>
          <a:p>
            <a:pPr marL="0" indent="0" algn="l">
              <a:spcAft>
                <a:spcPts val="450"/>
              </a:spcAft>
              <a:buNone/>
            </a:pPr>
            <a:endParaRPr lang="en-US" sz="2000" b="0" i="0" dirty="0">
              <a:solidFill>
                <a:srgbClr val="363D45"/>
              </a:solidFill>
              <a:effectLst/>
              <a:latin typeface="Arial" panose="020B0604020202020204" pitchFamily="34" charset="0"/>
              <a:cs typeface="Arial" panose="020B0604020202020204" pitchFamily="34" charset="0"/>
            </a:endParaRPr>
          </a:p>
          <a:p>
            <a:pPr marL="0" indent="0" algn="l">
              <a:spcAft>
                <a:spcPts val="450"/>
              </a:spcAft>
              <a:buNone/>
            </a:pPr>
            <a:r>
              <a:rPr lang="en-US" sz="2000" b="0" i="0" dirty="0">
                <a:solidFill>
                  <a:srgbClr val="363D45"/>
                </a:solidFill>
                <a:effectLst/>
                <a:latin typeface="Arial" panose="020B0604020202020204" pitchFamily="34" charset="0"/>
                <a:cs typeface="Arial" panose="020B0604020202020204" pitchFamily="34" charset="0"/>
              </a:rPr>
              <a:t>Reflection</a:t>
            </a:r>
          </a:p>
          <a:p>
            <a:pPr algn="l">
              <a:spcAft>
                <a:spcPts val="450"/>
              </a:spcAft>
              <a:buFont typeface="Arial" panose="020B0604020202020204" pitchFamily="34" charset="0"/>
              <a:buChar char="•"/>
            </a:pPr>
            <a:r>
              <a:rPr lang="en-US" b="0" i="0" dirty="0">
                <a:solidFill>
                  <a:srgbClr val="363D45"/>
                </a:solidFill>
                <a:effectLst/>
                <a:latin typeface="Arial" panose="020B0604020202020204" pitchFamily="34" charset="0"/>
                <a:cs typeface="Arial" panose="020B0604020202020204" pitchFamily="34" charset="0"/>
              </a:rPr>
              <a:t>What are the risks to the application and business with releasing unfinished code?</a:t>
            </a:r>
            <a:endParaRPr lang="en-US" dirty="0">
              <a:latin typeface="Arial" panose="020B0604020202020204" pitchFamily="34" charset="0"/>
              <a:cs typeface="Arial" panose="020B0604020202020204" pitchFamily="34" charset="0"/>
            </a:endParaRPr>
          </a:p>
        </p:txBody>
      </p:sp>
      <p:sp>
        <p:nvSpPr>
          <p:cNvPr id="5" name="Slide Number Placeholder 4">
            <a:extLst>
              <a:ext uri="{FF2B5EF4-FFF2-40B4-BE49-F238E27FC236}">
                <a16:creationId xmlns:a16="http://schemas.microsoft.com/office/drawing/2014/main" id="{FA6CB515-A66C-8A45-98CD-B25D0C2221F8}"/>
              </a:ext>
            </a:extLst>
          </p:cNvPr>
          <p:cNvSpPr>
            <a:spLocks noGrp="1"/>
          </p:cNvSpPr>
          <p:nvPr>
            <p:ph type="sldNum" sz="quarter" idx="12"/>
          </p:nvPr>
        </p:nvSpPr>
        <p:spPr/>
        <p:txBody>
          <a:bodyPr/>
          <a:lstStyle/>
          <a:p>
            <a:fld id="{4267CD5E-26CF-4249-8540-BB1D07FD4227}" type="slidenum">
              <a:rPr lang="en-US" smtClean="0"/>
              <a:t>5</a:t>
            </a:fld>
            <a:endParaRPr lang="en-US"/>
          </a:p>
        </p:txBody>
      </p:sp>
    </p:spTree>
    <p:extLst>
      <p:ext uri="{BB962C8B-B14F-4D97-AF65-F5344CB8AC3E}">
        <p14:creationId xmlns:p14="http://schemas.microsoft.com/office/powerpoint/2010/main" val="42210208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378E8B-709F-4FDA-FB3F-EF06FDA509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31AF41-9659-BD8B-6EF3-2ABBCEAE3705}"/>
              </a:ext>
            </a:extLst>
          </p:cNvPr>
          <p:cNvSpPr>
            <a:spLocks noGrp="1"/>
          </p:cNvSpPr>
          <p:nvPr>
            <p:ph type="title"/>
          </p:nvPr>
        </p:nvSpPr>
        <p:spPr/>
        <p:txBody>
          <a:bodyPr>
            <a:normAutofit/>
          </a:bodyPr>
          <a:lstStyle/>
          <a:p>
            <a:r>
              <a:rPr lang="en-US" sz="4400" dirty="0"/>
              <a:t>Takeaways from Lecture Slides</a:t>
            </a:r>
          </a:p>
        </p:txBody>
      </p:sp>
      <p:sp>
        <p:nvSpPr>
          <p:cNvPr id="4" name="Content Placeholder 3">
            <a:extLst>
              <a:ext uri="{FF2B5EF4-FFF2-40B4-BE49-F238E27FC236}">
                <a16:creationId xmlns:a16="http://schemas.microsoft.com/office/drawing/2014/main" id="{FB049A45-F057-7CE7-487A-DD1016DE0F7E}"/>
              </a:ext>
            </a:extLst>
          </p:cNvPr>
          <p:cNvSpPr>
            <a:spLocks noGrp="1"/>
          </p:cNvSpPr>
          <p:nvPr>
            <p:ph idx="1"/>
          </p:nvPr>
        </p:nvSpPr>
        <p:spPr/>
        <p:txBody>
          <a:bodyPr>
            <a:normAutofit/>
          </a:bodyPr>
          <a:lstStyle/>
          <a:p>
            <a:pPr marL="0" indent="0">
              <a:spcAft>
                <a:spcPts val="450"/>
              </a:spcAft>
              <a:buNone/>
            </a:pPr>
            <a:r>
              <a:rPr lang="en-US" sz="2000" b="0" i="0" dirty="0">
                <a:solidFill>
                  <a:srgbClr val="363D45"/>
                </a:solidFill>
                <a:effectLst/>
                <a:latin typeface="Arial" panose="020B0604020202020204" pitchFamily="34" charset="0"/>
                <a:cs typeface="Arial" panose="020B0604020202020204" pitchFamily="34" charset="0"/>
              </a:rPr>
              <a:t>As you listen, consider the following:</a:t>
            </a:r>
          </a:p>
          <a:p>
            <a:pPr algn="l">
              <a:spcAft>
                <a:spcPts val="450"/>
              </a:spcAft>
              <a:buFont typeface="Arial" panose="020B0604020202020204" pitchFamily="34" charset="0"/>
              <a:buChar char="•"/>
            </a:pPr>
            <a:r>
              <a:rPr lang="en-US" b="0" i="0" dirty="0">
                <a:solidFill>
                  <a:srgbClr val="363D45"/>
                </a:solidFill>
                <a:effectLst/>
                <a:latin typeface="Arial" panose="020B0604020202020204" pitchFamily="34" charset="0"/>
                <a:cs typeface="Arial" panose="020B0604020202020204" pitchFamily="34" charset="0"/>
              </a:rPr>
              <a:t>How does Spotify handle code not ready for production?</a:t>
            </a:r>
          </a:p>
          <a:p>
            <a:pPr algn="l">
              <a:spcAft>
                <a:spcPts val="450"/>
              </a:spcAft>
              <a:buFont typeface="Arial" panose="020B0604020202020204" pitchFamily="34" charset="0"/>
              <a:buChar char="•"/>
            </a:pPr>
            <a:r>
              <a:rPr lang="en-US" b="0" i="0" dirty="0">
                <a:solidFill>
                  <a:srgbClr val="363D45"/>
                </a:solidFill>
                <a:effectLst/>
                <a:latin typeface="Arial" panose="020B0604020202020204" pitchFamily="34" charset="0"/>
                <a:cs typeface="Arial" panose="020B0604020202020204" pitchFamily="34" charset="0"/>
              </a:rPr>
              <a:t>How does Spotify release new features?</a:t>
            </a:r>
          </a:p>
          <a:p>
            <a:endParaRPr lang="en-US" sz="2000" dirty="0">
              <a:latin typeface="Arial" panose="020B0604020202020204" pitchFamily="34" charset="0"/>
              <a:cs typeface="Arial" panose="020B0604020202020204" pitchFamily="34" charset="0"/>
            </a:endParaRPr>
          </a:p>
          <a:p>
            <a:pPr algn="l">
              <a:spcBef>
                <a:spcPts val="450"/>
              </a:spcBef>
              <a:spcAft>
                <a:spcPts val="450"/>
              </a:spcAft>
              <a:buNone/>
            </a:pPr>
            <a:r>
              <a:rPr lang="en-US" sz="2000" b="0" i="0" dirty="0">
                <a:solidFill>
                  <a:srgbClr val="363D45"/>
                </a:solidFill>
                <a:effectLst/>
                <a:latin typeface="Arial" panose="020B0604020202020204" pitchFamily="34" charset="0"/>
                <a:cs typeface="Arial" panose="020B0604020202020204" pitchFamily="34" charset="0"/>
              </a:rPr>
              <a:t>Reflection</a:t>
            </a:r>
          </a:p>
          <a:p>
            <a:pPr algn="l">
              <a:spcBef>
                <a:spcPts val="900"/>
              </a:spcBef>
              <a:spcAft>
                <a:spcPts val="900"/>
              </a:spcAft>
            </a:pPr>
            <a:r>
              <a:rPr lang="en-US" b="0" i="0" dirty="0">
                <a:solidFill>
                  <a:srgbClr val="363D45"/>
                </a:solidFill>
                <a:effectLst/>
                <a:latin typeface="Arial" panose="020B0604020202020204" pitchFamily="34" charset="0"/>
                <a:cs typeface="Arial" panose="020B0604020202020204" pitchFamily="34" charset="0"/>
              </a:rPr>
              <a:t>How does Spotify promote creativity? Do you think they do enough?</a:t>
            </a:r>
          </a:p>
          <a:p>
            <a:endParaRPr lang="en-US" sz="2000" dirty="0">
              <a:latin typeface="Arial" panose="020B0604020202020204" pitchFamily="34" charset="0"/>
              <a:cs typeface="Arial" panose="020B0604020202020204" pitchFamily="34" charset="0"/>
            </a:endParaRPr>
          </a:p>
        </p:txBody>
      </p:sp>
      <p:sp>
        <p:nvSpPr>
          <p:cNvPr id="5" name="Slide Number Placeholder 4">
            <a:extLst>
              <a:ext uri="{FF2B5EF4-FFF2-40B4-BE49-F238E27FC236}">
                <a16:creationId xmlns:a16="http://schemas.microsoft.com/office/drawing/2014/main" id="{78B06531-3383-F06B-5D57-B5997F5B47C7}"/>
              </a:ext>
            </a:extLst>
          </p:cNvPr>
          <p:cNvSpPr>
            <a:spLocks noGrp="1"/>
          </p:cNvSpPr>
          <p:nvPr>
            <p:ph type="sldNum" sz="quarter" idx="12"/>
          </p:nvPr>
        </p:nvSpPr>
        <p:spPr/>
        <p:txBody>
          <a:bodyPr/>
          <a:lstStyle/>
          <a:p>
            <a:fld id="{4267CD5E-26CF-4249-8540-BB1D07FD4227}" type="slidenum">
              <a:rPr lang="en-US" smtClean="0"/>
              <a:t>6</a:t>
            </a:fld>
            <a:endParaRPr lang="en-US"/>
          </a:p>
        </p:txBody>
      </p:sp>
    </p:spTree>
    <p:extLst>
      <p:ext uri="{BB962C8B-B14F-4D97-AF65-F5344CB8AC3E}">
        <p14:creationId xmlns:p14="http://schemas.microsoft.com/office/powerpoint/2010/main" val="1555184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DF33C8-2E04-CD50-AB70-778C4A18007D}"/>
              </a:ext>
            </a:extLst>
          </p:cNvPr>
          <p:cNvSpPr>
            <a:spLocks noGrp="1"/>
          </p:cNvSpPr>
          <p:nvPr>
            <p:ph type="title"/>
          </p:nvPr>
        </p:nvSpPr>
        <p:spPr>
          <a:xfrm>
            <a:off x="644769" y="365125"/>
            <a:ext cx="10710619" cy="1325563"/>
          </a:xfrm>
        </p:spPr>
        <p:txBody>
          <a:bodyPr anchor="t">
            <a:normAutofit/>
          </a:bodyPr>
          <a:lstStyle/>
          <a:p>
            <a:r>
              <a:rPr lang="en-US" sz="4400" dirty="0"/>
              <a:t>Overview</a:t>
            </a:r>
          </a:p>
        </p:txBody>
      </p:sp>
      <p:pic>
        <p:nvPicPr>
          <p:cNvPr id="7" name="Picture 6" descr="A close-up of a logo&#10;&#10;AI-generated content may be incorrect.">
            <a:extLst>
              <a:ext uri="{FF2B5EF4-FFF2-40B4-BE49-F238E27FC236}">
                <a16:creationId xmlns:a16="http://schemas.microsoft.com/office/drawing/2014/main" id="{EC81BEDB-E97C-27F9-D6FC-68413E5206DD}"/>
              </a:ext>
            </a:extLst>
          </p:cNvPr>
          <p:cNvPicPr>
            <a:picLocks noChangeAspect="1"/>
          </p:cNvPicPr>
          <p:nvPr/>
        </p:nvPicPr>
        <p:blipFill>
          <a:blip r:embed="rId2"/>
          <a:stretch>
            <a:fillRect/>
          </a:stretch>
        </p:blipFill>
        <p:spPr>
          <a:xfrm>
            <a:off x="644769" y="2550446"/>
            <a:ext cx="5181600" cy="2901696"/>
          </a:xfrm>
          <a:prstGeom prst="rect">
            <a:avLst/>
          </a:prstGeom>
          <a:noFill/>
        </p:spPr>
      </p:pic>
      <p:sp>
        <p:nvSpPr>
          <p:cNvPr id="4" name="Content Placeholder 3">
            <a:extLst>
              <a:ext uri="{FF2B5EF4-FFF2-40B4-BE49-F238E27FC236}">
                <a16:creationId xmlns:a16="http://schemas.microsoft.com/office/drawing/2014/main" id="{CB5D72C7-EB8F-9EAB-73F3-1560393C118B}"/>
              </a:ext>
            </a:extLst>
          </p:cNvPr>
          <p:cNvSpPr>
            <a:spLocks noGrp="1"/>
          </p:cNvSpPr>
          <p:nvPr>
            <p:ph sz="half" idx="2"/>
          </p:nvPr>
        </p:nvSpPr>
        <p:spPr>
          <a:xfrm>
            <a:off x="6172200" y="1825625"/>
            <a:ext cx="5181600" cy="4351339"/>
          </a:xfrm>
        </p:spPr>
        <p:txBody>
          <a:bodyPr>
            <a:normAutofit/>
          </a:bodyPr>
          <a:lstStyle/>
          <a:p>
            <a:r>
              <a:rPr lang="en-US" b="0" i="0" dirty="0">
                <a:effectLst/>
                <a:latin typeface="Arial" panose="020B0604020202020204" pitchFamily="34" charset="0"/>
                <a:cs typeface="Arial" panose="020B0604020202020204" pitchFamily="34" charset="0"/>
              </a:rPr>
              <a:t>In this lecture, we will discuss Spotify music streaming service and how it implemented a unique Agile methodology. </a:t>
            </a:r>
          </a:p>
          <a:p>
            <a:r>
              <a:rPr lang="en-US" b="0" i="0" dirty="0">
                <a:effectLst/>
                <a:latin typeface="Arial" panose="020B0604020202020204" pitchFamily="34" charset="0"/>
                <a:cs typeface="Arial" panose="020B0604020202020204" pitchFamily="34" charset="0"/>
              </a:rPr>
              <a:t>Spotify is a music streaming service that offers paid and free versions. </a:t>
            </a:r>
          </a:p>
          <a:p>
            <a:r>
              <a:rPr lang="en-US" b="0" i="0" dirty="0">
                <a:effectLst/>
                <a:latin typeface="Arial" panose="020B0604020202020204" pitchFamily="34" charset="0"/>
                <a:cs typeface="Arial" panose="020B0604020202020204" pitchFamily="34" charset="0"/>
              </a:rPr>
              <a:t>In the third quarter of 2021, Spotify reported 381 million active users worldwide, with 172 million premium subscribers worldwide. </a:t>
            </a:r>
          </a:p>
          <a:p>
            <a:r>
              <a:rPr lang="en-US" b="0" i="0" dirty="0">
                <a:effectLst/>
                <a:latin typeface="Arial" panose="020B0604020202020204" pitchFamily="34" charset="0"/>
                <a:cs typeface="Arial" panose="020B0604020202020204" pitchFamily="34" charset="0"/>
              </a:rPr>
              <a:t>Spotify has over 5,500 (2020) developers working on the Spotify products, with 70+ squads across 5 cities. Spotify developers do not follow a single Agile method. </a:t>
            </a:r>
          </a:p>
          <a:p>
            <a:r>
              <a:rPr lang="en-US" b="0" i="0" dirty="0">
                <a:effectLst/>
                <a:latin typeface="Arial" panose="020B0604020202020204" pitchFamily="34" charset="0"/>
                <a:cs typeface="Arial" panose="020B0604020202020204" pitchFamily="34" charset="0"/>
              </a:rPr>
              <a:t>They began with Scrum, but found that it “got in the way,” so they built a unique development process.</a:t>
            </a:r>
            <a:endParaRPr lang="en-US" dirty="0">
              <a:latin typeface="Arial" panose="020B0604020202020204" pitchFamily="34" charset="0"/>
              <a:cs typeface="Arial" panose="020B0604020202020204" pitchFamily="34" charset="0"/>
            </a:endParaRPr>
          </a:p>
        </p:txBody>
      </p:sp>
      <p:sp>
        <p:nvSpPr>
          <p:cNvPr id="5" name="Slide Number Placeholder 4">
            <a:extLst>
              <a:ext uri="{FF2B5EF4-FFF2-40B4-BE49-F238E27FC236}">
                <a16:creationId xmlns:a16="http://schemas.microsoft.com/office/drawing/2014/main" id="{CAADEE90-356B-148A-65BE-CFEFAF532972}"/>
              </a:ext>
            </a:extLst>
          </p:cNvPr>
          <p:cNvSpPr>
            <a:spLocks noGrp="1"/>
          </p:cNvSpPr>
          <p:nvPr>
            <p:ph type="sldNum" sz="quarter" idx="12"/>
          </p:nvPr>
        </p:nvSpPr>
        <p:spPr>
          <a:xfrm>
            <a:off x="9375913" y="6276840"/>
            <a:ext cx="2743200" cy="365125"/>
          </a:xfrm>
        </p:spPr>
        <p:txBody>
          <a:bodyPr anchor="ctr">
            <a:normAutofit/>
          </a:bodyPr>
          <a:lstStyle/>
          <a:p>
            <a:pPr>
              <a:spcAft>
                <a:spcPts val="600"/>
              </a:spcAft>
            </a:pPr>
            <a:fld id="{4267CD5E-26CF-4249-8540-BB1D07FD4227}" type="slidenum">
              <a:rPr lang="en-US" smtClean="0"/>
              <a:pPr>
                <a:spcAft>
                  <a:spcPts val="600"/>
                </a:spcAft>
              </a:pPr>
              <a:t>7</a:t>
            </a:fld>
            <a:endParaRPr lang="en-US"/>
          </a:p>
        </p:txBody>
      </p:sp>
    </p:spTree>
    <p:extLst>
      <p:ext uri="{BB962C8B-B14F-4D97-AF65-F5344CB8AC3E}">
        <p14:creationId xmlns:p14="http://schemas.microsoft.com/office/powerpoint/2010/main" val="21785826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781F4A-6F25-D0D4-F58F-ECB82ECB28DA}"/>
              </a:ext>
            </a:extLst>
          </p:cNvPr>
          <p:cNvSpPr>
            <a:spLocks noGrp="1"/>
          </p:cNvSpPr>
          <p:nvPr>
            <p:ph type="title"/>
          </p:nvPr>
        </p:nvSpPr>
        <p:spPr>
          <a:xfrm>
            <a:off x="644769" y="365125"/>
            <a:ext cx="10710619" cy="1325563"/>
          </a:xfrm>
        </p:spPr>
        <p:txBody>
          <a:bodyPr anchor="t">
            <a:normAutofit/>
          </a:bodyPr>
          <a:lstStyle/>
          <a:p>
            <a:r>
              <a:rPr lang="en-US" sz="4400" dirty="0"/>
              <a:t>Spotify: Music Streaming Service</a:t>
            </a:r>
          </a:p>
        </p:txBody>
      </p:sp>
      <p:sp>
        <p:nvSpPr>
          <p:cNvPr id="4" name="Content Placeholder 3">
            <a:extLst>
              <a:ext uri="{FF2B5EF4-FFF2-40B4-BE49-F238E27FC236}">
                <a16:creationId xmlns:a16="http://schemas.microsoft.com/office/drawing/2014/main" id="{F77E9F4F-29F3-B084-83F7-A29710058F63}"/>
              </a:ext>
            </a:extLst>
          </p:cNvPr>
          <p:cNvSpPr>
            <a:spLocks noGrp="1"/>
          </p:cNvSpPr>
          <p:nvPr>
            <p:ph sz="half" idx="1"/>
          </p:nvPr>
        </p:nvSpPr>
        <p:spPr>
          <a:xfrm>
            <a:off x="644769" y="1825625"/>
            <a:ext cx="5181600" cy="4351339"/>
          </a:xfrm>
        </p:spPr>
        <p:txBody>
          <a:bodyPr>
            <a:normAutofit/>
          </a:bodyPr>
          <a:lstStyle/>
          <a:p>
            <a:r>
              <a:rPr lang="en-US" dirty="0">
                <a:latin typeface="Arial" panose="020B0604020202020204" pitchFamily="34" charset="0"/>
                <a:cs typeface="Arial" panose="020B0604020202020204" pitchFamily="34" charset="0"/>
              </a:rPr>
              <a:t> Freemium model</a:t>
            </a:r>
          </a:p>
          <a:p>
            <a:pPr lvl="1"/>
            <a:r>
              <a:rPr lang="en-US" dirty="0">
                <a:latin typeface="Arial" panose="020B0604020202020204" pitchFamily="34" charset="0"/>
                <a:cs typeface="Arial" panose="020B0604020202020204" pitchFamily="34" charset="0"/>
              </a:rPr>
              <a:t>Basic account is free with ads</a:t>
            </a:r>
          </a:p>
          <a:p>
            <a:pPr lvl="1"/>
            <a:r>
              <a:rPr lang="en-US" dirty="0">
                <a:latin typeface="Arial" panose="020B0604020202020204" pitchFamily="34" charset="0"/>
                <a:cs typeface="Arial" panose="020B0604020202020204" pitchFamily="34" charset="0"/>
              </a:rPr>
              <a:t>Premium accounts cost money</a:t>
            </a:r>
          </a:p>
          <a:p>
            <a:r>
              <a:rPr lang="en-US" dirty="0">
                <a:latin typeface="Arial" panose="020B0604020202020204" pitchFamily="34" charset="0"/>
                <a:cs typeface="Arial" panose="020B0604020202020204" pitchFamily="34" charset="0"/>
              </a:rPr>
              <a:t> History</a:t>
            </a:r>
          </a:p>
          <a:p>
            <a:pPr lvl="1"/>
            <a:r>
              <a:rPr lang="en-US" dirty="0">
                <a:latin typeface="Arial" panose="020B0604020202020204" pitchFamily="34" charset="0"/>
                <a:cs typeface="Arial" panose="020B0604020202020204" pitchFamily="34" charset="0"/>
              </a:rPr>
              <a:t>2006: company founded in Sweden</a:t>
            </a:r>
          </a:p>
          <a:p>
            <a:pPr lvl="1"/>
            <a:r>
              <a:rPr lang="en-US" dirty="0">
                <a:latin typeface="Arial" panose="020B0604020202020204" pitchFamily="34" charset="0"/>
                <a:cs typeface="Arial" panose="020B0604020202020204" pitchFamily="34" charset="0"/>
              </a:rPr>
              <a:t>2008: service launched in Europe</a:t>
            </a:r>
          </a:p>
          <a:p>
            <a:pPr lvl="1"/>
            <a:r>
              <a:rPr lang="en-US" dirty="0">
                <a:latin typeface="Arial" panose="020B0604020202020204" pitchFamily="34" charset="0"/>
                <a:cs typeface="Arial" panose="020B0604020202020204" pitchFamily="34" charset="0"/>
              </a:rPr>
              <a:t>2011: launched in US</a:t>
            </a:r>
          </a:p>
          <a:p>
            <a:r>
              <a:rPr lang="en-US" dirty="0">
                <a:latin typeface="Arial" panose="020B0604020202020204" pitchFamily="34" charset="0"/>
                <a:cs typeface="Arial" panose="020B0604020202020204" pitchFamily="34" charset="0"/>
              </a:rPr>
              <a:t> Platforms</a:t>
            </a:r>
          </a:p>
          <a:p>
            <a:pPr lvl="1"/>
            <a:r>
              <a:rPr lang="en-US" dirty="0">
                <a:latin typeface="Arial" panose="020B0604020202020204" pitchFamily="34" charset="0"/>
                <a:cs typeface="Arial" panose="020B0604020202020204" pitchFamily="34" charset="0"/>
              </a:rPr>
              <a:t>Desktop (Windows, Mac, Linux)</a:t>
            </a:r>
          </a:p>
          <a:p>
            <a:pPr lvl="1"/>
            <a:r>
              <a:rPr lang="en-US" dirty="0">
                <a:latin typeface="Arial" panose="020B0604020202020204" pitchFamily="34" charset="0"/>
                <a:cs typeface="Arial" panose="020B0604020202020204" pitchFamily="34" charset="0"/>
              </a:rPr>
              <a:t>Mobile (IOS, Android)</a:t>
            </a:r>
          </a:p>
        </p:txBody>
      </p:sp>
      <p:pic>
        <p:nvPicPr>
          <p:cNvPr id="6" name="Picture 5">
            <a:extLst>
              <a:ext uri="{FF2B5EF4-FFF2-40B4-BE49-F238E27FC236}">
                <a16:creationId xmlns:a16="http://schemas.microsoft.com/office/drawing/2014/main" id="{0391553D-C39C-1D96-91F0-B9C6F416E9F7}"/>
              </a:ext>
            </a:extLst>
          </p:cNvPr>
          <p:cNvPicPr>
            <a:picLocks noChangeAspect="1"/>
          </p:cNvPicPr>
          <p:nvPr/>
        </p:nvPicPr>
        <p:blipFill>
          <a:blip r:embed="rId2"/>
          <a:srcRect l="11156" r="9653" b="-3"/>
          <a:stretch/>
        </p:blipFill>
        <p:spPr>
          <a:xfrm>
            <a:off x="6172200" y="1825625"/>
            <a:ext cx="5181600" cy="4351339"/>
          </a:xfrm>
          <a:prstGeom prst="rect">
            <a:avLst/>
          </a:prstGeom>
          <a:noFill/>
        </p:spPr>
      </p:pic>
      <p:sp>
        <p:nvSpPr>
          <p:cNvPr id="5" name="Slide Number Placeholder 4">
            <a:extLst>
              <a:ext uri="{FF2B5EF4-FFF2-40B4-BE49-F238E27FC236}">
                <a16:creationId xmlns:a16="http://schemas.microsoft.com/office/drawing/2014/main" id="{8E4ED87A-9FB2-68B6-E196-0E09D93D0373}"/>
              </a:ext>
            </a:extLst>
          </p:cNvPr>
          <p:cNvSpPr>
            <a:spLocks noGrp="1"/>
          </p:cNvSpPr>
          <p:nvPr>
            <p:ph type="sldNum" sz="quarter" idx="12"/>
          </p:nvPr>
        </p:nvSpPr>
        <p:spPr>
          <a:xfrm>
            <a:off x="9375913" y="6276840"/>
            <a:ext cx="2743200" cy="365125"/>
          </a:xfrm>
        </p:spPr>
        <p:txBody>
          <a:bodyPr anchor="ctr">
            <a:normAutofit/>
          </a:bodyPr>
          <a:lstStyle/>
          <a:p>
            <a:pPr>
              <a:spcAft>
                <a:spcPts val="600"/>
              </a:spcAft>
            </a:pPr>
            <a:fld id="{4267CD5E-26CF-4249-8540-BB1D07FD4227}" type="slidenum">
              <a:rPr lang="en-US" smtClean="0"/>
              <a:pPr>
                <a:spcAft>
                  <a:spcPts val="600"/>
                </a:spcAft>
              </a:pPr>
              <a:t>8</a:t>
            </a:fld>
            <a:endParaRPr lang="en-US"/>
          </a:p>
        </p:txBody>
      </p:sp>
    </p:spTree>
    <p:extLst>
      <p:ext uri="{BB962C8B-B14F-4D97-AF65-F5344CB8AC3E}">
        <p14:creationId xmlns:p14="http://schemas.microsoft.com/office/powerpoint/2010/main" val="22871934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39B555-7176-7FCE-8D61-D01A3A36B276}"/>
              </a:ext>
            </a:extLst>
          </p:cNvPr>
          <p:cNvSpPr>
            <a:spLocks noGrp="1"/>
          </p:cNvSpPr>
          <p:nvPr>
            <p:ph type="title"/>
          </p:nvPr>
        </p:nvSpPr>
        <p:spPr/>
        <p:txBody>
          <a:bodyPr>
            <a:normAutofit/>
          </a:bodyPr>
          <a:lstStyle/>
          <a:p>
            <a:r>
              <a:rPr lang="en-US" sz="4400" dirty="0"/>
              <a:t>Agile practices at Spotify </a:t>
            </a:r>
          </a:p>
        </p:txBody>
      </p:sp>
      <p:sp>
        <p:nvSpPr>
          <p:cNvPr id="3" name="Content Placeholder 2">
            <a:extLst>
              <a:ext uri="{FF2B5EF4-FFF2-40B4-BE49-F238E27FC236}">
                <a16:creationId xmlns:a16="http://schemas.microsoft.com/office/drawing/2014/main" id="{2A2364CA-F558-A2F3-4088-60A46BD67B7C}"/>
              </a:ext>
            </a:extLst>
          </p:cNvPr>
          <p:cNvSpPr>
            <a:spLocks noGrp="1"/>
          </p:cNvSpPr>
          <p:nvPr>
            <p:ph sz="half" idx="1"/>
          </p:nvPr>
        </p:nvSpPr>
        <p:spPr>
          <a:xfrm>
            <a:off x="644768" y="1825625"/>
            <a:ext cx="10547487" cy="4351339"/>
          </a:xfrm>
        </p:spPr>
        <p:txBody>
          <a:bodyPr>
            <a:normAutofit/>
          </a:bodyPr>
          <a:lstStyle/>
          <a:p>
            <a:r>
              <a:rPr lang="en-US" sz="2400" dirty="0">
                <a:latin typeface="Arial" panose="020B0604020202020204" pitchFamily="34" charset="0"/>
                <a:cs typeface="Arial" panose="020B0604020202020204" pitchFamily="34" charset="0"/>
              </a:rPr>
              <a:t>5500+ developers working on the Spotify product (2020)</a:t>
            </a:r>
          </a:p>
          <a:p>
            <a:pPr lvl="1"/>
            <a:r>
              <a:rPr lang="en-US" sz="2000" dirty="0">
                <a:latin typeface="Arial" panose="020B0604020202020204" pitchFamily="34" charset="0"/>
                <a:cs typeface="Arial" panose="020B0604020202020204" pitchFamily="34" charset="0"/>
              </a:rPr>
              <a:t>70+ squads across 5 cities (2015)</a:t>
            </a:r>
          </a:p>
          <a:p>
            <a:r>
              <a:rPr lang="en-US" sz="2400" dirty="0">
                <a:latin typeface="Arial" panose="020B0604020202020204" pitchFamily="34" charset="0"/>
                <a:cs typeface="Arial" panose="020B0604020202020204" pitchFamily="34" charset="0"/>
              </a:rPr>
              <a:t> Spotify developers do not follow a single Agile method</a:t>
            </a:r>
          </a:p>
          <a:p>
            <a:pPr lvl="1"/>
            <a:r>
              <a:rPr lang="en-US" sz="2000" dirty="0">
                <a:latin typeface="Arial" panose="020B0604020202020204" pitchFamily="34" charset="0"/>
                <a:cs typeface="Arial" panose="020B0604020202020204" pitchFamily="34" charset="0"/>
              </a:rPr>
              <a:t>Began with Scrum but found that it “got in the way”</a:t>
            </a:r>
          </a:p>
          <a:p>
            <a:pPr lvl="1"/>
            <a:r>
              <a:rPr lang="en-US" sz="2000" dirty="0">
                <a:latin typeface="Arial" panose="020B0604020202020204" pitchFamily="34" charset="0"/>
                <a:cs typeface="Arial" panose="020B0604020202020204" pitchFamily="34" charset="0"/>
              </a:rPr>
              <a:t>Agile &gt; Scrum</a:t>
            </a:r>
          </a:p>
          <a:p>
            <a:pPr lvl="1"/>
            <a:r>
              <a:rPr lang="en-US" sz="2000" dirty="0">
                <a:latin typeface="Arial" panose="020B0604020202020204" pitchFamily="34" charset="0"/>
                <a:cs typeface="Arial" panose="020B0604020202020204" pitchFamily="34" charset="0"/>
              </a:rPr>
              <a:t>Principles &gt; Practices</a:t>
            </a:r>
          </a:p>
          <a:p>
            <a:r>
              <a:rPr lang="en-US" sz="2400" dirty="0">
                <a:latin typeface="Arial" panose="020B0604020202020204" pitchFamily="34" charset="0"/>
                <a:cs typeface="Arial" panose="020B0604020202020204" pitchFamily="34" charset="0"/>
              </a:rPr>
              <a:t> Each development group chooses methods that work for them</a:t>
            </a:r>
          </a:p>
          <a:p>
            <a:pPr lvl="1"/>
            <a:r>
              <a:rPr lang="en-US" sz="2000" dirty="0">
                <a:latin typeface="Arial" panose="020B0604020202020204" pitchFamily="34" charset="0"/>
                <a:cs typeface="Arial" panose="020B0604020202020204" pitchFamily="34" charset="0"/>
              </a:rPr>
              <a:t>e.g. Scrum, Kanban, Lean, …</a:t>
            </a:r>
          </a:p>
        </p:txBody>
      </p:sp>
      <p:sp>
        <p:nvSpPr>
          <p:cNvPr id="5" name="Slide Number Placeholder 4">
            <a:extLst>
              <a:ext uri="{FF2B5EF4-FFF2-40B4-BE49-F238E27FC236}">
                <a16:creationId xmlns:a16="http://schemas.microsoft.com/office/drawing/2014/main" id="{A2E5419C-5EAB-4C17-0A62-FD1AFE6E2908}"/>
              </a:ext>
            </a:extLst>
          </p:cNvPr>
          <p:cNvSpPr>
            <a:spLocks noGrp="1"/>
          </p:cNvSpPr>
          <p:nvPr>
            <p:ph type="sldNum" sz="quarter" idx="12"/>
          </p:nvPr>
        </p:nvSpPr>
        <p:spPr/>
        <p:txBody>
          <a:bodyPr/>
          <a:lstStyle/>
          <a:p>
            <a:fld id="{4267CD5E-26CF-4249-8540-BB1D07FD4227}" type="slidenum">
              <a:rPr lang="en-US" smtClean="0"/>
              <a:t>9</a:t>
            </a:fld>
            <a:endParaRPr lang="en-US"/>
          </a:p>
        </p:txBody>
      </p:sp>
    </p:spTree>
    <p:extLst>
      <p:ext uri="{BB962C8B-B14F-4D97-AF65-F5344CB8AC3E}">
        <p14:creationId xmlns:p14="http://schemas.microsoft.com/office/powerpoint/2010/main" val="31647340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45217A-C998-6B86-542D-6877CA795892}"/>
              </a:ext>
            </a:extLst>
          </p:cNvPr>
          <p:cNvSpPr>
            <a:spLocks noGrp="1"/>
          </p:cNvSpPr>
          <p:nvPr>
            <p:ph type="title"/>
          </p:nvPr>
        </p:nvSpPr>
        <p:spPr>
          <a:xfrm>
            <a:off x="644773" y="457200"/>
            <a:ext cx="5253107" cy="1600200"/>
          </a:xfrm>
        </p:spPr>
        <p:txBody>
          <a:bodyPr anchor="b">
            <a:normAutofit/>
          </a:bodyPr>
          <a:lstStyle/>
          <a:p>
            <a:r>
              <a:rPr lang="en-US" sz="4000" dirty="0"/>
              <a:t>Spotify organizational structure</a:t>
            </a:r>
          </a:p>
        </p:txBody>
      </p:sp>
      <p:sp>
        <p:nvSpPr>
          <p:cNvPr id="3" name="Content Placeholder 2">
            <a:extLst>
              <a:ext uri="{FF2B5EF4-FFF2-40B4-BE49-F238E27FC236}">
                <a16:creationId xmlns:a16="http://schemas.microsoft.com/office/drawing/2014/main" id="{5850EF33-A36A-55BF-EE5B-847210A01F4F}"/>
              </a:ext>
            </a:extLst>
          </p:cNvPr>
          <p:cNvSpPr>
            <a:spLocks noGrp="1"/>
          </p:cNvSpPr>
          <p:nvPr>
            <p:ph type="body" sz="half" idx="2"/>
          </p:nvPr>
        </p:nvSpPr>
        <p:spPr>
          <a:xfrm>
            <a:off x="644773" y="2057402"/>
            <a:ext cx="4127255" cy="3811588"/>
          </a:xfrm>
        </p:spPr>
        <p:txBody>
          <a:bodyPr>
            <a:normAutofit/>
          </a:bodyPr>
          <a:lstStyle/>
          <a:p>
            <a:r>
              <a:rPr lang="en-US" sz="2000" dirty="0">
                <a:latin typeface="Arial" panose="020B0604020202020204" pitchFamily="34" charset="0"/>
                <a:cs typeface="Arial" panose="020B0604020202020204" pitchFamily="34" charset="0"/>
              </a:rPr>
              <a:t> Squads</a:t>
            </a:r>
          </a:p>
          <a:p>
            <a:pPr lvl="1"/>
            <a:r>
              <a:rPr lang="en-US" sz="1800" dirty="0">
                <a:latin typeface="Arial" panose="020B0604020202020204" pitchFamily="34" charset="0"/>
                <a:cs typeface="Arial" panose="020B0604020202020204" pitchFamily="34" charset="0"/>
              </a:rPr>
              <a:t>Small teams: &lt;= 8 people</a:t>
            </a:r>
          </a:p>
          <a:p>
            <a:r>
              <a:rPr lang="en-US" sz="2000" dirty="0">
                <a:latin typeface="Arial" panose="020B0604020202020204" pitchFamily="34" charset="0"/>
                <a:cs typeface="Arial" panose="020B0604020202020204" pitchFamily="34" charset="0"/>
              </a:rPr>
              <a:t> Tribes</a:t>
            </a:r>
          </a:p>
          <a:p>
            <a:pPr lvl="1"/>
            <a:r>
              <a:rPr lang="en-US" sz="1800" dirty="0">
                <a:latin typeface="Arial" panose="020B0604020202020204" pitchFamily="34" charset="0"/>
                <a:cs typeface="Arial" panose="020B0604020202020204" pitchFamily="34" charset="0"/>
              </a:rPr>
              <a:t>Collections of squads</a:t>
            </a:r>
          </a:p>
          <a:p>
            <a:r>
              <a:rPr lang="en-US" sz="2000" dirty="0">
                <a:latin typeface="Arial" panose="020B0604020202020204" pitchFamily="34" charset="0"/>
                <a:cs typeface="Arial" panose="020B0604020202020204" pitchFamily="34" charset="0"/>
              </a:rPr>
              <a:t> Chapters</a:t>
            </a:r>
          </a:p>
          <a:p>
            <a:pPr lvl="1"/>
            <a:r>
              <a:rPr lang="en-US" sz="1800" dirty="0">
                <a:latin typeface="Arial" panose="020B0604020202020204" pitchFamily="34" charset="0"/>
                <a:cs typeface="Arial" panose="020B0604020202020204" pitchFamily="34" charset="0"/>
              </a:rPr>
              <a:t>Groups within a tribe that share a specialty or responsibility</a:t>
            </a:r>
          </a:p>
          <a:p>
            <a:r>
              <a:rPr lang="en-US" sz="2000" dirty="0">
                <a:latin typeface="Arial" panose="020B0604020202020204" pitchFamily="34" charset="0"/>
                <a:cs typeface="Arial" panose="020B0604020202020204" pitchFamily="34" charset="0"/>
              </a:rPr>
              <a:t> Guilds</a:t>
            </a:r>
          </a:p>
          <a:p>
            <a:pPr lvl="1"/>
            <a:r>
              <a:rPr lang="en-US" sz="1800" dirty="0">
                <a:latin typeface="Arial" panose="020B0604020202020204" pitchFamily="34" charset="0"/>
                <a:cs typeface="Arial" panose="020B0604020202020204" pitchFamily="34" charset="0"/>
              </a:rPr>
              <a:t>Cross-tribe communities of interest</a:t>
            </a:r>
          </a:p>
        </p:txBody>
      </p:sp>
      <p:pic>
        <p:nvPicPr>
          <p:cNvPr id="7" name="Content Placeholder 6">
            <a:extLst>
              <a:ext uri="{FF2B5EF4-FFF2-40B4-BE49-F238E27FC236}">
                <a16:creationId xmlns:a16="http://schemas.microsoft.com/office/drawing/2014/main" id="{0D7C1348-ACB6-0773-8F03-BAD09DDD9D2F}"/>
              </a:ext>
            </a:extLst>
          </p:cNvPr>
          <p:cNvPicPr>
            <a:picLocks noGrp="1" noChangeAspect="1"/>
          </p:cNvPicPr>
          <p:nvPr>
            <p:ph type="pic" idx="1"/>
          </p:nvPr>
        </p:nvPicPr>
        <p:blipFill>
          <a:blip r:embed="rId2"/>
          <a:stretch/>
        </p:blipFill>
        <p:spPr>
          <a:xfrm>
            <a:off x="5183188" y="1425991"/>
            <a:ext cx="6172200" cy="3996498"/>
          </a:xfrm>
          <a:noFill/>
        </p:spPr>
      </p:pic>
      <p:sp>
        <p:nvSpPr>
          <p:cNvPr id="5" name="Slide Number Placeholder 4">
            <a:extLst>
              <a:ext uri="{FF2B5EF4-FFF2-40B4-BE49-F238E27FC236}">
                <a16:creationId xmlns:a16="http://schemas.microsoft.com/office/drawing/2014/main" id="{BD5A6E4E-F4E4-D4BF-6096-9963C6783F79}"/>
              </a:ext>
            </a:extLst>
          </p:cNvPr>
          <p:cNvSpPr>
            <a:spLocks noGrp="1"/>
          </p:cNvSpPr>
          <p:nvPr>
            <p:ph type="sldNum" sz="quarter" idx="12"/>
          </p:nvPr>
        </p:nvSpPr>
        <p:spPr>
          <a:xfrm>
            <a:off x="9375913" y="6276840"/>
            <a:ext cx="2743200" cy="365125"/>
          </a:xfrm>
        </p:spPr>
        <p:txBody>
          <a:bodyPr anchor="ctr">
            <a:normAutofit/>
          </a:bodyPr>
          <a:lstStyle/>
          <a:p>
            <a:pPr>
              <a:spcAft>
                <a:spcPts val="600"/>
              </a:spcAft>
            </a:pPr>
            <a:fld id="{4267CD5E-26CF-4249-8540-BB1D07FD4227}" type="slidenum">
              <a:rPr lang="en-US" smtClean="0"/>
              <a:pPr>
                <a:spcAft>
                  <a:spcPts val="600"/>
                </a:spcAft>
              </a:pPr>
              <a:t>10</a:t>
            </a:fld>
            <a:endParaRPr lang="en-US"/>
          </a:p>
        </p:txBody>
      </p:sp>
    </p:spTree>
    <p:extLst>
      <p:ext uri="{BB962C8B-B14F-4D97-AF65-F5344CB8AC3E}">
        <p14:creationId xmlns:p14="http://schemas.microsoft.com/office/powerpoint/2010/main" val="34102835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1522B47C-8622-8CE3-0EEE-252C490DFC67}"/>
              </a:ext>
            </a:extLst>
          </p:cNvPr>
          <p:cNvSpPr>
            <a:spLocks noGrp="1"/>
          </p:cNvSpPr>
          <p:nvPr>
            <p:ph type="title"/>
          </p:nvPr>
        </p:nvSpPr>
        <p:spPr>
          <a:xfrm>
            <a:off x="644769" y="365125"/>
            <a:ext cx="10710619" cy="1325563"/>
          </a:xfrm>
        </p:spPr>
        <p:txBody>
          <a:bodyPr anchor="t">
            <a:normAutofit/>
          </a:bodyPr>
          <a:lstStyle/>
          <a:p>
            <a:r>
              <a:rPr lang="en-US" sz="4400" dirty="0"/>
              <a:t>Squad</a:t>
            </a:r>
          </a:p>
        </p:txBody>
      </p:sp>
      <p:sp>
        <p:nvSpPr>
          <p:cNvPr id="12" name="Content Placeholder 2">
            <a:extLst>
              <a:ext uri="{FF2B5EF4-FFF2-40B4-BE49-F238E27FC236}">
                <a16:creationId xmlns:a16="http://schemas.microsoft.com/office/drawing/2014/main" id="{9AE9C3BC-11B0-2FF2-88C8-D5D2BA13F34D}"/>
              </a:ext>
            </a:extLst>
          </p:cNvPr>
          <p:cNvSpPr>
            <a:spLocks noGrp="1"/>
          </p:cNvSpPr>
          <p:nvPr>
            <p:ph sz="half" idx="1"/>
          </p:nvPr>
        </p:nvSpPr>
        <p:spPr>
          <a:xfrm>
            <a:off x="644773" y="1825625"/>
            <a:ext cx="6479927" cy="4351339"/>
          </a:xfrm>
        </p:spPr>
        <p:txBody>
          <a:bodyPr>
            <a:normAutofit/>
          </a:bodyPr>
          <a:lstStyle/>
          <a:p>
            <a:r>
              <a:rPr lang="en-US" sz="2400" dirty="0">
                <a:latin typeface="Arial" panose="020B0604020202020204" pitchFamily="34" charset="0"/>
                <a:cs typeface="Arial" panose="020B0604020202020204" pitchFamily="34" charset="0"/>
              </a:rPr>
              <a:t>Small, autonomous, agile teams </a:t>
            </a:r>
          </a:p>
          <a:p>
            <a:pPr lvl="1"/>
            <a:r>
              <a:rPr lang="en-US" sz="2000" dirty="0">
                <a:latin typeface="Arial" panose="020B0604020202020204" pitchFamily="34" charset="0"/>
                <a:cs typeface="Arial" panose="020B0604020202020204" pitchFamily="34" charset="0"/>
              </a:rPr>
              <a:t>Loosely coupled, but tightly aligned</a:t>
            </a:r>
          </a:p>
          <a:p>
            <a:r>
              <a:rPr lang="en-US" sz="2400" dirty="0">
                <a:latin typeface="Arial" panose="020B0604020202020204" pitchFamily="34" charset="0"/>
                <a:cs typeface="Arial" panose="020B0604020202020204" pitchFamily="34" charset="0"/>
              </a:rPr>
              <a:t> One long-term mission</a:t>
            </a:r>
          </a:p>
          <a:p>
            <a:pPr lvl="1"/>
            <a:r>
              <a:rPr lang="en-US" sz="2000" dirty="0">
                <a:latin typeface="Arial" panose="020B0604020202020204" pitchFamily="34" charset="0"/>
                <a:cs typeface="Arial" panose="020B0604020202020204" pitchFamily="34" charset="0"/>
              </a:rPr>
              <a:t>End to end responsibility: develop, test, deploy, maintain…</a:t>
            </a:r>
          </a:p>
          <a:p>
            <a:pPr lvl="1"/>
            <a:r>
              <a:rPr lang="en-US" sz="2000" dirty="0">
                <a:latin typeface="Arial" panose="020B0604020202020204" pitchFamily="34" charset="0"/>
                <a:cs typeface="Arial" panose="020B0604020202020204" pitchFamily="34" charset="0"/>
              </a:rPr>
              <a:t>E.g. IOS client, Android Client, DB backend, …</a:t>
            </a:r>
          </a:p>
          <a:p>
            <a:r>
              <a:rPr lang="en-US" sz="2400" dirty="0">
                <a:latin typeface="Arial" panose="020B0604020202020204" pitchFamily="34" charset="0"/>
                <a:cs typeface="Arial" panose="020B0604020202020204" pitchFamily="34" charset="0"/>
              </a:rPr>
              <a:t> Self organizing</a:t>
            </a:r>
          </a:p>
          <a:p>
            <a:pPr lvl="1"/>
            <a:r>
              <a:rPr lang="en-US" sz="2000" dirty="0">
                <a:latin typeface="Arial" panose="020B0604020202020204" pitchFamily="34" charset="0"/>
                <a:cs typeface="Arial" panose="020B0604020202020204" pitchFamily="34" charset="0"/>
              </a:rPr>
              <a:t>Choose their own methods and procedures</a:t>
            </a:r>
          </a:p>
          <a:p>
            <a:pPr lvl="2"/>
            <a:r>
              <a:rPr lang="en-US" sz="2000" dirty="0">
                <a:latin typeface="Arial" panose="020B0604020202020204" pitchFamily="34" charset="0"/>
                <a:cs typeface="Arial" panose="020B0604020202020204" pitchFamily="34" charset="0"/>
              </a:rPr>
              <a:t>Each squad may use a different approach</a:t>
            </a:r>
          </a:p>
        </p:txBody>
      </p:sp>
      <p:pic>
        <p:nvPicPr>
          <p:cNvPr id="7" name="Content Placeholder 6">
            <a:extLst>
              <a:ext uri="{FF2B5EF4-FFF2-40B4-BE49-F238E27FC236}">
                <a16:creationId xmlns:a16="http://schemas.microsoft.com/office/drawing/2014/main" id="{F761902D-7D24-A3FC-63BD-B8B986B6BF2E}"/>
              </a:ext>
            </a:extLst>
          </p:cNvPr>
          <p:cNvPicPr>
            <a:picLocks noGrp="1" noChangeAspect="1"/>
          </p:cNvPicPr>
          <p:nvPr>
            <p:ph sz="half" idx="13"/>
          </p:nvPr>
        </p:nvPicPr>
        <p:blipFill>
          <a:blip r:embed="rId2"/>
          <a:stretch>
            <a:fillRect/>
          </a:stretch>
        </p:blipFill>
        <p:spPr>
          <a:xfrm>
            <a:off x="8750408" y="1549400"/>
            <a:ext cx="1251010" cy="4351339"/>
          </a:xfrm>
          <a:noFill/>
        </p:spPr>
      </p:pic>
      <p:sp>
        <p:nvSpPr>
          <p:cNvPr id="5" name="Slide Number Placeholder 4">
            <a:extLst>
              <a:ext uri="{FF2B5EF4-FFF2-40B4-BE49-F238E27FC236}">
                <a16:creationId xmlns:a16="http://schemas.microsoft.com/office/drawing/2014/main" id="{23324FD9-05A1-D2C6-E22F-B9EDCDA2268F}"/>
              </a:ext>
            </a:extLst>
          </p:cNvPr>
          <p:cNvSpPr>
            <a:spLocks noGrp="1"/>
          </p:cNvSpPr>
          <p:nvPr>
            <p:ph type="sldNum" sz="quarter" idx="12"/>
          </p:nvPr>
        </p:nvSpPr>
        <p:spPr>
          <a:xfrm>
            <a:off x="9375913" y="6276840"/>
            <a:ext cx="2743200" cy="365125"/>
          </a:xfrm>
        </p:spPr>
        <p:txBody>
          <a:bodyPr anchor="ctr">
            <a:normAutofit/>
          </a:bodyPr>
          <a:lstStyle/>
          <a:p>
            <a:pPr>
              <a:spcAft>
                <a:spcPts val="600"/>
              </a:spcAft>
            </a:pPr>
            <a:fld id="{4267CD5E-26CF-4249-8540-BB1D07FD4227}" type="slidenum">
              <a:rPr lang="en-US" smtClean="0"/>
              <a:pPr>
                <a:spcAft>
                  <a:spcPts val="600"/>
                </a:spcAft>
              </a:pPr>
              <a:t>11</a:t>
            </a:fld>
            <a:endParaRPr lang="en-US"/>
          </a:p>
        </p:txBody>
      </p:sp>
    </p:spTree>
    <p:extLst>
      <p:ext uri="{BB962C8B-B14F-4D97-AF65-F5344CB8AC3E}">
        <p14:creationId xmlns:p14="http://schemas.microsoft.com/office/powerpoint/2010/main" val="28538692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709D10-10E0-6F75-CED0-5840BFB03A11}"/>
              </a:ext>
            </a:extLst>
          </p:cNvPr>
          <p:cNvSpPr>
            <a:spLocks noGrp="1"/>
          </p:cNvSpPr>
          <p:nvPr>
            <p:ph type="title"/>
          </p:nvPr>
        </p:nvSpPr>
        <p:spPr/>
        <p:txBody>
          <a:bodyPr/>
          <a:lstStyle/>
          <a:p>
            <a:r>
              <a:rPr lang="en-US" sz="4000" dirty="0"/>
              <a:t>Squad</a:t>
            </a:r>
            <a:endParaRPr lang="en-US" dirty="0"/>
          </a:p>
        </p:txBody>
      </p:sp>
      <p:sp>
        <p:nvSpPr>
          <p:cNvPr id="3" name="Content Placeholder 2">
            <a:extLst>
              <a:ext uri="{FF2B5EF4-FFF2-40B4-BE49-F238E27FC236}">
                <a16:creationId xmlns:a16="http://schemas.microsoft.com/office/drawing/2014/main" id="{FF7FD30C-C932-AE67-8410-467202880B14}"/>
              </a:ext>
            </a:extLst>
          </p:cNvPr>
          <p:cNvSpPr>
            <a:spLocks noGrp="1"/>
          </p:cNvSpPr>
          <p:nvPr>
            <p:ph sz="half" idx="1"/>
          </p:nvPr>
        </p:nvSpPr>
        <p:spPr>
          <a:xfrm>
            <a:off x="644773" y="1825625"/>
            <a:ext cx="6127502" cy="4351339"/>
          </a:xfrm>
        </p:spPr>
        <p:txBody>
          <a:bodyPr>
            <a:normAutofit/>
          </a:bodyPr>
          <a:lstStyle/>
          <a:p>
            <a:r>
              <a:rPr lang="en-US" sz="2000" dirty="0">
                <a:latin typeface="Arial" panose="020B0604020202020204" pitchFamily="34" charset="0"/>
                <a:cs typeface="Arial" panose="020B0604020202020204" pitchFamily="34" charset="0"/>
              </a:rPr>
              <a:t>A Squad is a small, cross-functional, Agile team.</a:t>
            </a:r>
          </a:p>
          <a:p>
            <a:r>
              <a:rPr lang="en-US" sz="2000" dirty="0">
                <a:latin typeface="Arial" panose="020B0604020202020204" pitchFamily="34" charset="0"/>
                <a:cs typeface="Arial" panose="020B0604020202020204" pitchFamily="34" charset="0"/>
              </a:rPr>
              <a:t>Focuses on specific features or product areas.</a:t>
            </a:r>
          </a:p>
          <a:p>
            <a:r>
              <a:rPr lang="en-US" sz="2000" dirty="0">
                <a:latin typeface="Arial" panose="020B0604020202020204" pitchFamily="34" charset="0"/>
                <a:cs typeface="Arial" panose="020B0604020202020204" pitchFamily="34" charset="0"/>
              </a:rPr>
              <a:t>Operates autonomously, using Agile practices (Scrum/Kanban).</a:t>
            </a:r>
          </a:p>
          <a:p>
            <a:r>
              <a:rPr lang="en-US" sz="2000" dirty="0">
                <a:latin typeface="Arial" panose="020B0604020202020204" pitchFamily="34" charset="0"/>
                <a:cs typeface="Arial" panose="020B0604020202020204" pitchFamily="34" charset="0"/>
              </a:rPr>
              <a:t>Includes roles like developers, designers, and product owners.</a:t>
            </a:r>
          </a:p>
          <a:p>
            <a:r>
              <a:rPr lang="en-US" sz="2000" dirty="0">
                <a:latin typeface="Arial" panose="020B0604020202020204" pitchFamily="34" charset="0"/>
                <a:cs typeface="Arial" panose="020B0604020202020204" pitchFamily="34" charset="0"/>
              </a:rPr>
              <a:t>Delivers end-to-end product functionality.</a:t>
            </a:r>
          </a:p>
          <a:p>
            <a:r>
              <a:rPr lang="en-US" sz="2000" dirty="0">
                <a:latin typeface="Arial" panose="020B0604020202020204" pitchFamily="34" charset="0"/>
                <a:cs typeface="Arial" panose="020B0604020202020204" pitchFamily="34" charset="0"/>
              </a:rPr>
              <a:t>Emphasizes innovation, speed, and autonomy.</a:t>
            </a:r>
          </a:p>
        </p:txBody>
      </p:sp>
      <p:sp>
        <p:nvSpPr>
          <p:cNvPr id="6" name="Slide Number Placeholder 5">
            <a:extLst>
              <a:ext uri="{FF2B5EF4-FFF2-40B4-BE49-F238E27FC236}">
                <a16:creationId xmlns:a16="http://schemas.microsoft.com/office/drawing/2014/main" id="{2199585C-37B4-1895-9E3C-3E9CAB5D1B14}"/>
              </a:ext>
            </a:extLst>
          </p:cNvPr>
          <p:cNvSpPr>
            <a:spLocks noGrp="1"/>
          </p:cNvSpPr>
          <p:nvPr>
            <p:ph type="sldNum" sz="quarter" idx="12"/>
          </p:nvPr>
        </p:nvSpPr>
        <p:spPr/>
        <p:txBody>
          <a:bodyPr/>
          <a:lstStyle/>
          <a:p>
            <a:fld id="{4267CD5E-26CF-4249-8540-BB1D07FD4227}" type="slidenum">
              <a:rPr lang="en-US" smtClean="0"/>
              <a:t>12</a:t>
            </a:fld>
            <a:endParaRPr lang="en-US"/>
          </a:p>
        </p:txBody>
      </p:sp>
      <p:pic>
        <p:nvPicPr>
          <p:cNvPr id="8" name="Content Placeholder 6">
            <a:extLst>
              <a:ext uri="{FF2B5EF4-FFF2-40B4-BE49-F238E27FC236}">
                <a16:creationId xmlns:a16="http://schemas.microsoft.com/office/drawing/2014/main" id="{84F0C62E-E702-D664-373B-13A871BEC754}"/>
              </a:ext>
            </a:extLst>
          </p:cNvPr>
          <p:cNvPicPr>
            <a:picLocks noGrp="1" noChangeAspect="1"/>
          </p:cNvPicPr>
          <p:nvPr>
            <p:ph sz="half" idx="13"/>
          </p:nvPr>
        </p:nvPicPr>
        <p:blipFill>
          <a:blip r:embed="rId2"/>
          <a:stretch>
            <a:fillRect/>
          </a:stretch>
        </p:blipFill>
        <p:spPr>
          <a:xfrm>
            <a:off x="8750408" y="1549400"/>
            <a:ext cx="1251010" cy="4351339"/>
          </a:xfrm>
          <a:noFill/>
        </p:spPr>
      </p:pic>
    </p:spTree>
    <p:extLst>
      <p:ext uri="{BB962C8B-B14F-4D97-AF65-F5344CB8AC3E}">
        <p14:creationId xmlns:p14="http://schemas.microsoft.com/office/powerpoint/2010/main" val="16581026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1151CE21-CD9C-D399-1E62-3823B19DE415}"/>
              </a:ext>
            </a:extLst>
          </p:cNvPr>
          <p:cNvSpPr>
            <a:spLocks noGrp="1"/>
          </p:cNvSpPr>
          <p:nvPr>
            <p:ph type="title"/>
          </p:nvPr>
        </p:nvSpPr>
        <p:spPr>
          <a:xfrm>
            <a:off x="644769" y="365125"/>
            <a:ext cx="10710619" cy="1325563"/>
          </a:xfrm>
        </p:spPr>
        <p:txBody>
          <a:bodyPr>
            <a:normAutofit/>
          </a:bodyPr>
          <a:lstStyle/>
          <a:p>
            <a:r>
              <a:rPr lang="en-US" sz="4400" dirty="0"/>
              <a:t>Squad Roles </a:t>
            </a:r>
          </a:p>
        </p:txBody>
      </p:sp>
      <p:sp>
        <p:nvSpPr>
          <p:cNvPr id="13" name="Content Placeholder 2">
            <a:extLst>
              <a:ext uri="{FF2B5EF4-FFF2-40B4-BE49-F238E27FC236}">
                <a16:creationId xmlns:a16="http://schemas.microsoft.com/office/drawing/2014/main" id="{11FD6336-DE7B-41D8-88A3-B219343E6AE1}"/>
              </a:ext>
            </a:extLst>
          </p:cNvPr>
          <p:cNvSpPr>
            <a:spLocks noGrp="1"/>
          </p:cNvSpPr>
          <p:nvPr>
            <p:ph idx="1"/>
          </p:nvPr>
        </p:nvSpPr>
        <p:spPr>
          <a:xfrm>
            <a:off x="644771" y="1825625"/>
            <a:ext cx="7484245" cy="4235176"/>
          </a:xfrm>
        </p:spPr>
        <p:txBody>
          <a:bodyPr>
            <a:normAutofit/>
          </a:bodyPr>
          <a:lstStyle/>
          <a:p>
            <a:r>
              <a:rPr lang="en-US" sz="2400" dirty="0">
                <a:latin typeface="Arial" panose="020B0604020202020204" pitchFamily="34" charset="0"/>
                <a:cs typeface="Arial" panose="020B0604020202020204" pitchFamily="34" charset="0"/>
              </a:rPr>
              <a:t>No formal leader</a:t>
            </a:r>
          </a:p>
          <a:p>
            <a:pPr lvl="1"/>
            <a:r>
              <a:rPr lang="en-US" sz="2400" dirty="0">
                <a:latin typeface="Arial" panose="020B0604020202020204" pitchFamily="34" charset="0"/>
                <a:cs typeface="Arial" panose="020B0604020202020204" pitchFamily="34" charset="0"/>
              </a:rPr>
              <a:t>Product owner</a:t>
            </a:r>
          </a:p>
          <a:p>
            <a:pPr lvl="2"/>
            <a:r>
              <a:rPr lang="en-US" sz="2000" dirty="0">
                <a:latin typeface="Arial" panose="020B0604020202020204" pitchFamily="34" charset="0"/>
                <a:cs typeface="Arial" panose="020B0604020202020204" pitchFamily="34" charset="0"/>
              </a:rPr>
              <a:t>Prioritizes work from backlog</a:t>
            </a:r>
          </a:p>
          <a:p>
            <a:pPr lvl="2"/>
            <a:r>
              <a:rPr lang="en-US" sz="2000" dirty="0">
                <a:latin typeface="Arial" panose="020B0604020202020204" pitchFamily="34" charset="0"/>
                <a:cs typeface="Arial" panose="020B0604020202020204" pitchFamily="34" charset="0"/>
              </a:rPr>
              <a:t>Collaborates with other product owners to coordinate between squads</a:t>
            </a:r>
          </a:p>
          <a:p>
            <a:pPr lvl="3"/>
            <a:r>
              <a:rPr lang="en-US" sz="2000" dirty="0">
                <a:latin typeface="Arial" panose="020B0604020202020204" pitchFamily="34" charset="0"/>
                <a:cs typeface="Arial" panose="020B0604020202020204" pitchFamily="34" charset="0"/>
              </a:rPr>
              <a:t>Squads interact through Product Owners</a:t>
            </a:r>
          </a:p>
          <a:p>
            <a:r>
              <a:rPr lang="en-US" sz="2400" dirty="0">
                <a:latin typeface="Arial" panose="020B0604020202020204" pitchFamily="34" charset="0"/>
                <a:cs typeface="Arial" panose="020B0604020202020204" pitchFamily="34" charset="0"/>
              </a:rPr>
              <a:t> Agile coach</a:t>
            </a:r>
          </a:p>
          <a:p>
            <a:pPr lvl="1"/>
            <a:r>
              <a:rPr lang="en-US" sz="2400" dirty="0">
                <a:latin typeface="Arial" panose="020B0604020202020204" pitchFamily="34" charset="0"/>
                <a:cs typeface="Arial" panose="020B0604020202020204" pitchFamily="34" charset="0"/>
              </a:rPr>
              <a:t>Agile coach may work with multiple squads</a:t>
            </a:r>
          </a:p>
          <a:p>
            <a:pPr lvl="1"/>
            <a:r>
              <a:rPr lang="en-US" sz="2400" dirty="0">
                <a:latin typeface="Arial" panose="020B0604020202020204" pitchFamily="34" charset="0"/>
                <a:cs typeface="Arial" panose="020B0604020202020204" pitchFamily="34" charset="0"/>
              </a:rPr>
              <a:t>Help to run meetings, retrospectives, sprint planning</a:t>
            </a:r>
          </a:p>
          <a:p>
            <a:pPr lvl="1"/>
            <a:r>
              <a:rPr lang="en-US" sz="2400" dirty="0">
                <a:latin typeface="Arial" panose="020B0604020202020204" pitchFamily="34" charset="0"/>
                <a:cs typeface="Arial" panose="020B0604020202020204" pitchFamily="34" charset="0"/>
              </a:rPr>
              <a:t>Help squads with Agile processes</a:t>
            </a:r>
          </a:p>
        </p:txBody>
      </p:sp>
      <p:sp>
        <p:nvSpPr>
          <p:cNvPr id="6" name="Slide Number Placeholder 5">
            <a:extLst>
              <a:ext uri="{FF2B5EF4-FFF2-40B4-BE49-F238E27FC236}">
                <a16:creationId xmlns:a16="http://schemas.microsoft.com/office/drawing/2014/main" id="{11244247-D0D6-FEF5-4A8F-EA876817B1EB}"/>
              </a:ext>
            </a:extLst>
          </p:cNvPr>
          <p:cNvSpPr>
            <a:spLocks noGrp="1"/>
          </p:cNvSpPr>
          <p:nvPr>
            <p:ph type="sldNum" sz="quarter" idx="12"/>
          </p:nvPr>
        </p:nvSpPr>
        <p:spPr>
          <a:xfrm>
            <a:off x="9375913" y="6276840"/>
            <a:ext cx="2743200" cy="365125"/>
          </a:xfrm>
        </p:spPr>
        <p:txBody>
          <a:bodyPr anchor="ctr">
            <a:normAutofit/>
          </a:bodyPr>
          <a:lstStyle/>
          <a:p>
            <a:pPr>
              <a:spcAft>
                <a:spcPts val="600"/>
              </a:spcAft>
            </a:pPr>
            <a:fld id="{4267CD5E-26CF-4249-8540-BB1D07FD4227}" type="slidenum">
              <a:rPr lang="en-US" smtClean="0"/>
              <a:pPr>
                <a:spcAft>
                  <a:spcPts val="600"/>
                </a:spcAft>
              </a:pPr>
              <a:t>13</a:t>
            </a:fld>
            <a:endParaRPr lang="en-US"/>
          </a:p>
        </p:txBody>
      </p:sp>
      <p:pic>
        <p:nvPicPr>
          <p:cNvPr id="7" name="Content Placeholder 6">
            <a:extLst>
              <a:ext uri="{FF2B5EF4-FFF2-40B4-BE49-F238E27FC236}">
                <a16:creationId xmlns:a16="http://schemas.microsoft.com/office/drawing/2014/main" id="{5F328EAE-1C3A-F44E-C5B6-5CE0C5160006}"/>
              </a:ext>
            </a:extLst>
          </p:cNvPr>
          <p:cNvPicPr>
            <a:picLocks noChangeAspect="1"/>
          </p:cNvPicPr>
          <p:nvPr/>
        </p:nvPicPr>
        <p:blipFill>
          <a:blip r:embed="rId2"/>
          <a:stretch>
            <a:fillRect/>
          </a:stretch>
        </p:blipFill>
        <p:spPr>
          <a:xfrm>
            <a:off x="8750408" y="1393952"/>
            <a:ext cx="1251010" cy="4351339"/>
          </a:xfrm>
          <a:prstGeom prst="rect">
            <a:avLst/>
          </a:prstGeom>
          <a:noFill/>
        </p:spPr>
      </p:pic>
    </p:spTree>
    <p:extLst>
      <p:ext uri="{BB962C8B-B14F-4D97-AF65-F5344CB8AC3E}">
        <p14:creationId xmlns:p14="http://schemas.microsoft.com/office/powerpoint/2010/main" val="4236824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4FB1D7-4F38-C172-683C-5906388A5D57}"/>
              </a:ext>
            </a:extLst>
          </p:cNvPr>
          <p:cNvSpPr>
            <a:spLocks noGrp="1"/>
          </p:cNvSpPr>
          <p:nvPr>
            <p:ph type="title"/>
          </p:nvPr>
        </p:nvSpPr>
        <p:spPr>
          <a:xfrm>
            <a:off x="646359" y="365127"/>
            <a:ext cx="10709031" cy="734621"/>
          </a:xfrm>
        </p:spPr>
        <p:txBody>
          <a:bodyPr anchor="t">
            <a:normAutofit/>
          </a:bodyPr>
          <a:lstStyle/>
          <a:p>
            <a:r>
              <a:rPr lang="en-US" dirty="0"/>
              <a:t>Quarterly Reflection Survey</a:t>
            </a:r>
          </a:p>
        </p:txBody>
      </p:sp>
      <p:sp>
        <p:nvSpPr>
          <p:cNvPr id="3" name="Content Placeholder 2">
            <a:extLst>
              <a:ext uri="{FF2B5EF4-FFF2-40B4-BE49-F238E27FC236}">
                <a16:creationId xmlns:a16="http://schemas.microsoft.com/office/drawing/2014/main" id="{43450E7A-4139-F9E4-F969-A3AD3B5C9DD2}"/>
              </a:ext>
            </a:extLst>
          </p:cNvPr>
          <p:cNvSpPr>
            <a:spLocks noGrp="1"/>
          </p:cNvSpPr>
          <p:nvPr>
            <p:ph type="body" sz="quarter" idx="13"/>
          </p:nvPr>
        </p:nvSpPr>
        <p:spPr>
          <a:xfrm>
            <a:off x="644771" y="1345482"/>
            <a:ext cx="10709031" cy="734620"/>
          </a:xfrm>
        </p:spPr>
        <p:txBody>
          <a:bodyPr>
            <a:normAutofit lnSpcReduction="10000"/>
          </a:bodyPr>
          <a:lstStyle/>
          <a:p>
            <a:r>
              <a:rPr lang="en-US" sz="2400" dirty="0">
                <a:latin typeface="Arial" panose="020B0604020202020204" pitchFamily="34" charset="0"/>
                <a:cs typeface="Arial" panose="020B0604020202020204" pitchFamily="34" charset="0"/>
              </a:rPr>
              <a:t>Each squad conducts a quarterly survey to reflect on what’s working and not working well and the trends</a:t>
            </a:r>
          </a:p>
        </p:txBody>
      </p:sp>
      <p:pic>
        <p:nvPicPr>
          <p:cNvPr id="6" name="Picture 5" descr="A table with multiple arrows&#10;&#10;AI-generated content may be incorrect.">
            <a:extLst>
              <a:ext uri="{FF2B5EF4-FFF2-40B4-BE49-F238E27FC236}">
                <a16:creationId xmlns:a16="http://schemas.microsoft.com/office/drawing/2014/main" id="{6C0CF5E9-2D35-A1FE-037A-4E7144658584}"/>
              </a:ext>
            </a:extLst>
          </p:cNvPr>
          <p:cNvPicPr>
            <a:picLocks noChangeAspect="1"/>
          </p:cNvPicPr>
          <p:nvPr/>
        </p:nvPicPr>
        <p:blipFill>
          <a:blip r:embed="rId2"/>
          <a:stretch>
            <a:fillRect/>
          </a:stretch>
        </p:blipFill>
        <p:spPr>
          <a:xfrm>
            <a:off x="1915842" y="2202874"/>
            <a:ext cx="8166889" cy="3879273"/>
          </a:xfrm>
          <a:prstGeom prst="rect">
            <a:avLst/>
          </a:prstGeom>
          <a:noFill/>
        </p:spPr>
      </p:pic>
      <p:sp>
        <p:nvSpPr>
          <p:cNvPr id="4" name="Slide Number Placeholder 3">
            <a:extLst>
              <a:ext uri="{FF2B5EF4-FFF2-40B4-BE49-F238E27FC236}">
                <a16:creationId xmlns:a16="http://schemas.microsoft.com/office/drawing/2014/main" id="{9C89901C-7EA5-A14F-9A19-DBEE4B99BC98}"/>
              </a:ext>
            </a:extLst>
          </p:cNvPr>
          <p:cNvSpPr>
            <a:spLocks noGrp="1"/>
          </p:cNvSpPr>
          <p:nvPr>
            <p:ph type="sldNum" sz="quarter" idx="12"/>
          </p:nvPr>
        </p:nvSpPr>
        <p:spPr>
          <a:xfrm>
            <a:off x="9375913" y="6276840"/>
            <a:ext cx="2743200" cy="365125"/>
          </a:xfrm>
        </p:spPr>
        <p:txBody>
          <a:bodyPr anchor="ctr">
            <a:normAutofit/>
          </a:bodyPr>
          <a:lstStyle/>
          <a:p>
            <a:pPr>
              <a:spcAft>
                <a:spcPts val="600"/>
              </a:spcAft>
            </a:pPr>
            <a:fld id="{4267CD5E-26CF-4249-8540-BB1D07FD4227}" type="slidenum">
              <a:rPr lang="en-US" smtClean="0"/>
              <a:pPr>
                <a:spcAft>
                  <a:spcPts val="600"/>
                </a:spcAft>
              </a:pPr>
              <a:t>14</a:t>
            </a:fld>
            <a:endParaRPr lang="en-US"/>
          </a:p>
        </p:txBody>
      </p:sp>
    </p:spTree>
    <p:extLst>
      <p:ext uri="{BB962C8B-B14F-4D97-AF65-F5344CB8AC3E}">
        <p14:creationId xmlns:p14="http://schemas.microsoft.com/office/powerpoint/2010/main" val="39828124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CD420D-23B1-9FB2-E933-FB174F60BCDF}"/>
              </a:ext>
            </a:extLst>
          </p:cNvPr>
          <p:cNvSpPr>
            <a:spLocks noGrp="1"/>
          </p:cNvSpPr>
          <p:nvPr>
            <p:ph type="title"/>
          </p:nvPr>
        </p:nvSpPr>
        <p:spPr/>
        <p:txBody>
          <a:bodyPr>
            <a:normAutofit/>
          </a:bodyPr>
          <a:lstStyle/>
          <a:p>
            <a:r>
              <a:rPr lang="en-US" sz="4400" dirty="0"/>
              <a:t>Quarterly Reflection Survey</a:t>
            </a:r>
          </a:p>
        </p:txBody>
      </p:sp>
      <p:sp>
        <p:nvSpPr>
          <p:cNvPr id="4" name="Content Placeholder 3">
            <a:extLst>
              <a:ext uri="{FF2B5EF4-FFF2-40B4-BE49-F238E27FC236}">
                <a16:creationId xmlns:a16="http://schemas.microsoft.com/office/drawing/2014/main" id="{D749E497-CAC4-6C32-DB0F-4E427DEFB87E}"/>
              </a:ext>
            </a:extLst>
          </p:cNvPr>
          <p:cNvSpPr>
            <a:spLocks noGrp="1"/>
          </p:cNvSpPr>
          <p:nvPr>
            <p:ph idx="1"/>
          </p:nvPr>
        </p:nvSpPr>
        <p:spPr/>
        <p:txBody>
          <a:bodyPr>
            <a:normAutofit/>
          </a:bodyPr>
          <a:lstStyle/>
          <a:p>
            <a:r>
              <a:rPr lang="en-US" sz="2000" b="1" dirty="0">
                <a:latin typeface="Arial" panose="020B0604020202020204" pitchFamily="34" charset="0"/>
                <a:cs typeface="Arial" panose="020B0604020202020204" pitchFamily="34" charset="0"/>
              </a:rPr>
              <a:t>Parking Lot Chart: </a:t>
            </a:r>
            <a:r>
              <a:rPr lang="en-US" sz="2000" dirty="0">
                <a:latin typeface="Arial" panose="020B0604020202020204" pitchFamily="34" charset="0"/>
                <a:cs typeface="Arial" panose="020B0604020202020204" pitchFamily="34" charset="0"/>
              </a:rPr>
              <a:t>Being used to visualize and categorize feedback or reflections on different aspects of the work. </a:t>
            </a:r>
          </a:p>
          <a:p>
            <a:r>
              <a:rPr lang="en-US" sz="2000" dirty="0">
                <a:latin typeface="Arial" panose="020B0604020202020204" pitchFamily="34" charset="0"/>
                <a:cs typeface="Arial" panose="020B0604020202020204" pitchFamily="34" charset="0"/>
              </a:rPr>
              <a:t>The </a:t>
            </a:r>
            <a:r>
              <a:rPr lang="en-US" sz="2000" b="1" dirty="0">
                <a:latin typeface="Arial" panose="020B0604020202020204" pitchFamily="34" charset="0"/>
                <a:cs typeface="Arial" panose="020B0604020202020204" pitchFamily="34" charset="0"/>
              </a:rPr>
              <a:t>Parking Lot Chart</a:t>
            </a:r>
            <a:r>
              <a:rPr lang="en-US" sz="2000" dirty="0">
                <a:latin typeface="Arial" panose="020B0604020202020204" pitchFamily="34" charset="0"/>
                <a:cs typeface="Arial" panose="020B0604020202020204" pitchFamily="34" charset="0"/>
              </a:rPr>
              <a:t> helps in visually organizing issues, insights, or themes discussed during the reflection period. Here's what the typical </a:t>
            </a:r>
            <a:r>
              <a:rPr lang="en-US" sz="2000" b="1" dirty="0">
                <a:latin typeface="Arial" panose="020B0604020202020204" pitchFamily="34" charset="0"/>
                <a:cs typeface="Arial" panose="020B0604020202020204" pitchFamily="34" charset="0"/>
              </a:rPr>
              <a:t>circle colors</a:t>
            </a:r>
            <a:r>
              <a:rPr lang="en-US" sz="2000" dirty="0">
                <a:latin typeface="Arial" panose="020B0604020202020204" pitchFamily="34" charset="0"/>
                <a:cs typeface="Arial" panose="020B0604020202020204" pitchFamily="34" charset="0"/>
              </a:rPr>
              <a:t> and </a:t>
            </a:r>
            <a:r>
              <a:rPr lang="en-US" sz="2000" b="1" dirty="0">
                <a:latin typeface="Arial" panose="020B0604020202020204" pitchFamily="34" charset="0"/>
                <a:cs typeface="Arial" panose="020B0604020202020204" pitchFamily="34" charset="0"/>
              </a:rPr>
              <a:t>arrows</a:t>
            </a:r>
            <a:r>
              <a:rPr lang="en-US" sz="2000" dirty="0">
                <a:latin typeface="Arial" panose="020B0604020202020204" pitchFamily="34" charset="0"/>
                <a:cs typeface="Arial" panose="020B0604020202020204" pitchFamily="34" charset="0"/>
              </a:rPr>
              <a:t> might represent:</a:t>
            </a:r>
          </a:p>
          <a:p>
            <a:endParaRPr lang="en-US" sz="2000" dirty="0">
              <a:latin typeface="Arial" panose="020B0604020202020204" pitchFamily="34" charset="0"/>
              <a:cs typeface="Arial" panose="020B0604020202020204" pitchFamily="34" charset="0"/>
            </a:endParaRPr>
          </a:p>
        </p:txBody>
      </p:sp>
      <p:sp>
        <p:nvSpPr>
          <p:cNvPr id="5" name="Slide Number Placeholder 4">
            <a:extLst>
              <a:ext uri="{FF2B5EF4-FFF2-40B4-BE49-F238E27FC236}">
                <a16:creationId xmlns:a16="http://schemas.microsoft.com/office/drawing/2014/main" id="{AF6C7A87-3FF2-A824-B69E-610B5D5F0E9C}"/>
              </a:ext>
            </a:extLst>
          </p:cNvPr>
          <p:cNvSpPr>
            <a:spLocks noGrp="1"/>
          </p:cNvSpPr>
          <p:nvPr>
            <p:ph type="sldNum" sz="quarter" idx="12"/>
          </p:nvPr>
        </p:nvSpPr>
        <p:spPr/>
        <p:txBody>
          <a:bodyPr/>
          <a:lstStyle/>
          <a:p>
            <a:fld id="{4267CD5E-26CF-4249-8540-BB1D07FD4227}" type="slidenum">
              <a:rPr lang="en-US" smtClean="0"/>
              <a:t>15</a:t>
            </a:fld>
            <a:endParaRPr lang="en-US"/>
          </a:p>
        </p:txBody>
      </p:sp>
    </p:spTree>
    <p:extLst>
      <p:ext uri="{BB962C8B-B14F-4D97-AF65-F5344CB8AC3E}">
        <p14:creationId xmlns:p14="http://schemas.microsoft.com/office/powerpoint/2010/main" val="35212871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26A36-FB3E-1215-01E0-FB295C81C610}"/>
              </a:ext>
            </a:extLst>
          </p:cNvPr>
          <p:cNvSpPr>
            <a:spLocks noGrp="1"/>
          </p:cNvSpPr>
          <p:nvPr>
            <p:ph type="title"/>
          </p:nvPr>
        </p:nvSpPr>
        <p:spPr/>
        <p:txBody>
          <a:bodyPr>
            <a:normAutofit/>
          </a:bodyPr>
          <a:lstStyle/>
          <a:p>
            <a:r>
              <a:rPr lang="en-US" sz="4400" dirty="0"/>
              <a:t>Quarterly Reflection Survey</a:t>
            </a:r>
          </a:p>
        </p:txBody>
      </p:sp>
      <p:sp>
        <p:nvSpPr>
          <p:cNvPr id="4" name="Content Placeholder 3">
            <a:extLst>
              <a:ext uri="{FF2B5EF4-FFF2-40B4-BE49-F238E27FC236}">
                <a16:creationId xmlns:a16="http://schemas.microsoft.com/office/drawing/2014/main" id="{2FD0DEE9-B00D-14C6-EE5D-ED97EB7190A0}"/>
              </a:ext>
            </a:extLst>
          </p:cNvPr>
          <p:cNvSpPr>
            <a:spLocks noGrp="1"/>
          </p:cNvSpPr>
          <p:nvPr>
            <p:ph idx="1"/>
          </p:nvPr>
        </p:nvSpPr>
        <p:spPr>
          <a:xfrm>
            <a:off x="644771" y="1892808"/>
            <a:ext cx="10709031" cy="4189339"/>
          </a:xfrm>
        </p:spPr>
        <p:txBody>
          <a:bodyPr>
            <a:normAutofit/>
          </a:bodyPr>
          <a:lstStyle/>
          <a:p>
            <a:r>
              <a:rPr lang="en-US" sz="2000" dirty="0">
                <a:latin typeface="Arial" panose="020B0604020202020204" pitchFamily="34" charset="0"/>
                <a:cs typeface="Arial" panose="020B0604020202020204" pitchFamily="34" charset="0"/>
              </a:rPr>
              <a:t>The colors of the circles in a Parking Lot Chart generally signify different </a:t>
            </a:r>
            <a:r>
              <a:rPr lang="en-US" sz="2000" b="1" dirty="0">
                <a:latin typeface="Arial" panose="020B0604020202020204" pitchFamily="34" charset="0"/>
                <a:cs typeface="Arial" panose="020B0604020202020204" pitchFamily="34" charset="0"/>
              </a:rPr>
              <a:t>categories or themes</a:t>
            </a:r>
            <a:r>
              <a:rPr lang="en-US" sz="2000" dirty="0">
                <a:latin typeface="Arial" panose="020B0604020202020204" pitchFamily="34" charset="0"/>
                <a:cs typeface="Arial" panose="020B0604020202020204" pitchFamily="34" charset="0"/>
              </a:rPr>
              <a:t> that emerged from the reflections or survey responses. </a:t>
            </a:r>
          </a:p>
          <a:p>
            <a:r>
              <a:rPr lang="en-US" sz="2000" dirty="0">
                <a:latin typeface="Arial" panose="020B0604020202020204" pitchFamily="34" charset="0"/>
                <a:cs typeface="Arial" panose="020B0604020202020204" pitchFamily="34" charset="0"/>
              </a:rPr>
              <a:t>These categories might relate to various aspects of the agile process, such as team dynamics, process improvements, or project health. </a:t>
            </a:r>
          </a:p>
          <a:p>
            <a:endParaRPr lang="en-US" sz="2000" dirty="0">
              <a:latin typeface="Arial" panose="020B0604020202020204" pitchFamily="34" charset="0"/>
              <a:cs typeface="Arial" panose="020B0604020202020204" pitchFamily="34" charset="0"/>
            </a:endParaRPr>
          </a:p>
          <a:p>
            <a:pPr lvl="1">
              <a:buFont typeface="Arial" panose="020B0604020202020204" pitchFamily="34" charset="0"/>
              <a:buChar char="•"/>
            </a:pPr>
            <a:r>
              <a:rPr lang="en-US" b="1" dirty="0">
                <a:latin typeface="Arial" panose="020B0604020202020204" pitchFamily="34" charset="0"/>
                <a:cs typeface="Arial" panose="020B0604020202020204" pitchFamily="34" charset="0"/>
              </a:rPr>
              <a:t>Green Circle</a:t>
            </a:r>
            <a:r>
              <a:rPr lang="en-US" dirty="0">
                <a:latin typeface="Arial" panose="020B0604020202020204" pitchFamily="34" charset="0"/>
                <a:cs typeface="Arial" panose="020B0604020202020204" pitchFamily="34" charset="0"/>
              </a:rPr>
              <a:t>: </a:t>
            </a:r>
            <a:r>
              <a:rPr lang="en-US" b="1" dirty="0">
                <a:latin typeface="Arial" panose="020B0604020202020204" pitchFamily="34" charset="0"/>
                <a:cs typeface="Arial" panose="020B0604020202020204" pitchFamily="34" charset="0"/>
              </a:rPr>
              <a:t>Positive feedback or successful elements</a:t>
            </a:r>
            <a:r>
              <a:rPr lang="en-US" dirty="0">
                <a:latin typeface="Arial" panose="020B0604020202020204" pitchFamily="34" charset="0"/>
                <a:cs typeface="Arial" panose="020B0604020202020204" pitchFamily="34" charset="0"/>
              </a:rPr>
              <a:t>. This might represent things that are working well, such as good collaboration, well-executed features, or positive team dynamics.</a:t>
            </a:r>
          </a:p>
          <a:p>
            <a:pPr lvl="1">
              <a:buFont typeface="Arial" panose="020B0604020202020204" pitchFamily="34" charset="0"/>
              <a:buChar char="•"/>
            </a:pPr>
            <a:r>
              <a:rPr lang="en-US" b="1" dirty="0">
                <a:latin typeface="Arial" panose="020B0604020202020204" pitchFamily="34" charset="0"/>
                <a:cs typeface="Arial" panose="020B0604020202020204" pitchFamily="34" charset="0"/>
              </a:rPr>
              <a:t>Yellow Circle</a:t>
            </a:r>
            <a:r>
              <a:rPr lang="en-US" dirty="0">
                <a:latin typeface="Arial" panose="020B0604020202020204" pitchFamily="34" charset="0"/>
                <a:cs typeface="Arial" panose="020B0604020202020204" pitchFamily="34" charset="0"/>
              </a:rPr>
              <a:t>: </a:t>
            </a:r>
            <a:r>
              <a:rPr lang="en-US" b="1" dirty="0">
                <a:latin typeface="Arial" panose="020B0604020202020204" pitchFamily="34" charset="0"/>
                <a:cs typeface="Arial" panose="020B0604020202020204" pitchFamily="34" charset="0"/>
              </a:rPr>
              <a:t>Neutral or areas that need attention</a:t>
            </a:r>
            <a:r>
              <a:rPr lang="en-US" dirty="0">
                <a:latin typeface="Arial" panose="020B0604020202020204" pitchFamily="34" charset="0"/>
                <a:cs typeface="Arial" panose="020B0604020202020204" pitchFamily="34" charset="0"/>
              </a:rPr>
              <a:t>. This could indicate areas where things are neither going well nor badly. For example, teams might be uncertain about a process or feature that’s showing mixed results.</a:t>
            </a:r>
          </a:p>
          <a:p>
            <a:pPr lvl="1">
              <a:buFont typeface="Arial" panose="020B0604020202020204" pitchFamily="34" charset="0"/>
              <a:buChar char="•"/>
            </a:pPr>
            <a:r>
              <a:rPr lang="en-US" b="1" dirty="0">
                <a:latin typeface="Arial" panose="020B0604020202020204" pitchFamily="34" charset="0"/>
                <a:cs typeface="Arial" panose="020B0604020202020204" pitchFamily="34" charset="0"/>
              </a:rPr>
              <a:t>Red Circle</a:t>
            </a:r>
            <a:r>
              <a:rPr lang="en-US" dirty="0">
                <a:latin typeface="Arial" panose="020B0604020202020204" pitchFamily="34" charset="0"/>
                <a:cs typeface="Arial" panose="020B0604020202020204" pitchFamily="34" charset="0"/>
              </a:rPr>
              <a:t>: </a:t>
            </a:r>
            <a:r>
              <a:rPr lang="en-US" b="1" dirty="0">
                <a:latin typeface="Arial" panose="020B0604020202020204" pitchFamily="34" charset="0"/>
                <a:cs typeface="Arial" panose="020B0604020202020204" pitchFamily="34" charset="0"/>
              </a:rPr>
              <a:t>Challenges or negative feedback</a:t>
            </a:r>
            <a:r>
              <a:rPr lang="en-US" dirty="0">
                <a:latin typeface="Arial" panose="020B0604020202020204" pitchFamily="34" charset="0"/>
                <a:cs typeface="Arial" panose="020B0604020202020204" pitchFamily="34" charset="0"/>
              </a:rPr>
              <a:t>. Red often indicates problems, obstacles, or areas needing improvement, such as missed deadlines, low morale, or technical debt.</a:t>
            </a:r>
          </a:p>
          <a:p>
            <a:endParaRPr lang="en-US" sz="2000" dirty="0">
              <a:latin typeface="Arial" panose="020B0604020202020204" pitchFamily="34" charset="0"/>
              <a:cs typeface="Arial" panose="020B0604020202020204" pitchFamily="34" charset="0"/>
            </a:endParaRPr>
          </a:p>
        </p:txBody>
      </p:sp>
      <p:sp>
        <p:nvSpPr>
          <p:cNvPr id="5" name="Slide Number Placeholder 4">
            <a:extLst>
              <a:ext uri="{FF2B5EF4-FFF2-40B4-BE49-F238E27FC236}">
                <a16:creationId xmlns:a16="http://schemas.microsoft.com/office/drawing/2014/main" id="{83DDF447-E273-69EA-9717-D36C48F40507}"/>
              </a:ext>
            </a:extLst>
          </p:cNvPr>
          <p:cNvSpPr>
            <a:spLocks noGrp="1"/>
          </p:cNvSpPr>
          <p:nvPr>
            <p:ph type="sldNum" sz="quarter" idx="12"/>
          </p:nvPr>
        </p:nvSpPr>
        <p:spPr/>
        <p:txBody>
          <a:bodyPr/>
          <a:lstStyle/>
          <a:p>
            <a:fld id="{4267CD5E-26CF-4249-8540-BB1D07FD4227}" type="slidenum">
              <a:rPr lang="en-US" smtClean="0"/>
              <a:t>16</a:t>
            </a:fld>
            <a:endParaRPr lang="en-US"/>
          </a:p>
        </p:txBody>
      </p:sp>
    </p:spTree>
    <p:extLst>
      <p:ext uri="{BB962C8B-B14F-4D97-AF65-F5344CB8AC3E}">
        <p14:creationId xmlns:p14="http://schemas.microsoft.com/office/powerpoint/2010/main" val="8796714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B4B1A5-C381-6290-F798-E63BA4B7C14E}"/>
              </a:ext>
            </a:extLst>
          </p:cNvPr>
          <p:cNvSpPr>
            <a:spLocks noGrp="1"/>
          </p:cNvSpPr>
          <p:nvPr>
            <p:ph type="title"/>
          </p:nvPr>
        </p:nvSpPr>
        <p:spPr/>
        <p:txBody>
          <a:bodyPr>
            <a:normAutofit/>
          </a:bodyPr>
          <a:lstStyle/>
          <a:p>
            <a:r>
              <a:rPr lang="en-US" sz="4400" dirty="0"/>
              <a:t>Quarterly Reflection Survey</a:t>
            </a:r>
          </a:p>
        </p:txBody>
      </p:sp>
      <p:sp>
        <p:nvSpPr>
          <p:cNvPr id="4" name="Content Placeholder 3">
            <a:extLst>
              <a:ext uri="{FF2B5EF4-FFF2-40B4-BE49-F238E27FC236}">
                <a16:creationId xmlns:a16="http://schemas.microsoft.com/office/drawing/2014/main" id="{E19B7E68-1EEB-8740-5354-E832B6D691B8}"/>
              </a:ext>
            </a:extLst>
          </p:cNvPr>
          <p:cNvSpPr>
            <a:spLocks noGrp="1"/>
          </p:cNvSpPr>
          <p:nvPr>
            <p:ph idx="1"/>
          </p:nvPr>
        </p:nvSpPr>
        <p:spPr>
          <a:xfrm>
            <a:off x="644771" y="1481328"/>
            <a:ext cx="10709031" cy="4600819"/>
          </a:xfrm>
        </p:spPr>
        <p:txBody>
          <a:bodyPr>
            <a:normAutofit/>
          </a:bodyPr>
          <a:lstStyle/>
          <a:p>
            <a:pPr>
              <a:buNone/>
            </a:pPr>
            <a:r>
              <a:rPr lang="en-US" sz="2000" b="1" dirty="0">
                <a:latin typeface="Arial" panose="020B0604020202020204" pitchFamily="34" charset="0"/>
                <a:cs typeface="Arial" panose="020B0604020202020204" pitchFamily="34" charset="0"/>
              </a:rPr>
              <a:t>Arrows:</a:t>
            </a:r>
          </a:p>
          <a:p>
            <a:pPr marL="0" indent="0">
              <a:buNone/>
            </a:pPr>
            <a:r>
              <a:rPr lang="en-US" sz="2000" dirty="0">
                <a:latin typeface="Arial" panose="020B0604020202020204" pitchFamily="34" charset="0"/>
                <a:cs typeface="Arial" panose="020B0604020202020204" pitchFamily="34" charset="0"/>
              </a:rPr>
              <a:t>Arrows in a Parking Lot Chart are typically used to represent </a:t>
            </a:r>
            <a:r>
              <a:rPr lang="en-US" sz="2000" b="1" dirty="0">
                <a:latin typeface="Arial" panose="020B0604020202020204" pitchFamily="34" charset="0"/>
                <a:cs typeface="Arial" panose="020B0604020202020204" pitchFamily="34" charset="0"/>
              </a:rPr>
              <a:t>movement or change</a:t>
            </a:r>
            <a:r>
              <a:rPr lang="en-US" sz="2000" dirty="0">
                <a:latin typeface="Arial" panose="020B0604020202020204" pitchFamily="34" charset="0"/>
                <a:cs typeface="Arial" panose="020B0604020202020204" pitchFamily="34" charset="0"/>
              </a:rPr>
              <a:t> over time. </a:t>
            </a:r>
          </a:p>
          <a:p>
            <a:pPr marL="0" indent="0">
              <a:buNone/>
            </a:pPr>
            <a:r>
              <a:rPr lang="en-US" sz="2000" dirty="0">
                <a:latin typeface="Arial" panose="020B0604020202020204" pitchFamily="34" charset="0"/>
                <a:cs typeface="Arial" panose="020B0604020202020204" pitchFamily="34" charset="0"/>
              </a:rPr>
              <a:t>In the context of a Quarterly Reflection Survey, arrows can indicate </a:t>
            </a:r>
            <a:r>
              <a:rPr lang="en-US" sz="2000" b="1" dirty="0">
                <a:latin typeface="Arial" panose="020B0604020202020204" pitchFamily="34" charset="0"/>
                <a:cs typeface="Arial" panose="020B0604020202020204" pitchFamily="34" charset="0"/>
              </a:rPr>
              <a:t>trends</a:t>
            </a:r>
            <a:r>
              <a:rPr lang="en-US" sz="2000" dirty="0">
                <a:latin typeface="Arial" panose="020B0604020202020204" pitchFamily="34" charset="0"/>
                <a:cs typeface="Arial" panose="020B0604020202020204" pitchFamily="34" charset="0"/>
              </a:rPr>
              <a:t>, </a:t>
            </a:r>
            <a:r>
              <a:rPr lang="en-US" sz="2000" b="1" dirty="0">
                <a:latin typeface="Arial" panose="020B0604020202020204" pitchFamily="34" charset="0"/>
                <a:cs typeface="Arial" panose="020B0604020202020204" pitchFamily="34" charset="0"/>
              </a:rPr>
              <a:t>changes in feedback</a:t>
            </a:r>
            <a:r>
              <a:rPr lang="en-US" sz="2000" dirty="0">
                <a:latin typeface="Arial" panose="020B0604020202020204" pitchFamily="34" charset="0"/>
                <a:cs typeface="Arial" panose="020B0604020202020204" pitchFamily="34" charset="0"/>
              </a:rPr>
              <a:t>, or </a:t>
            </a:r>
            <a:r>
              <a:rPr lang="en-US" sz="2000" b="1" dirty="0">
                <a:latin typeface="Arial" panose="020B0604020202020204" pitchFamily="34" charset="0"/>
                <a:cs typeface="Arial" panose="020B0604020202020204" pitchFamily="34" charset="0"/>
              </a:rPr>
              <a:t>actions to be taken</a:t>
            </a:r>
            <a:r>
              <a:rPr lang="en-US" sz="2000" dirty="0">
                <a:latin typeface="Arial" panose="020B0604020202020204" pitchFamily="34" charset="0"/>
                <a:cs typeface="Arial" panose="020B0604020202020204" pitchFamily="34" charset="0"/>
              </a:rPr>
              <a:t>.</a:t>
            </a:r>
            <a:endParaRPr lang="en-US" sz="2000" b="1" dirty="0">
              <a:latin typeface="Arial" panose="020B0604020202020204" pitchFamily="34" charset="0"/>
              <a:cs typeface="Arial" panose="020B0604020202020204" pitchFamily="34" charset="0"/>
            </a:endParaRPr>
          </a:p>
          <a:p>
            <a:pPr>
              <a:buFont typeface="Arial" panose="020B0604020202020204" pitchFamily="34" charset="0"/>
              <a:buChar char="•"/>
            </a:pPr>
            <a:endParaRPr lang="en-US" sz="2000" b="1" dirty="0">
              <a:latin typeface="Arial" panose="020B0604020202020204" pitchFamily="34" charset="0"/>
              <a:cs typeface="Arial" panose="020B0604020202020204" pitchFamily="34" charset="0"/>
            </a:endParaRPr>
          </a:p>
          <a:p>
            <a:pPr lvl="1">
              <a:buFont typeface="Arial" panose="020B0604020202020204" pitchFamily="34" charset="0"/>
              <a:buChar char="•"/>
            </a:pPr>
            <a:r>
              <a:rPr lang="en-US" b="1" dirty="0">
                <a:latin typeface="Arial" panose="020B0604020202020204" pitchFamily="34" charset="0"/>
                <a:cs typeface="Arial" panose="020B0604020202020204" pitchFamily="34" charset="0"/>
              </a:rPr>
              <a:t>Upward Arrow</a:t>
            </a:r>
            <a:r>
              <a:rPr lang="en-US" dirty="0">
                <a:latin typeface="Arial" panose="020B0604020202020204" pitchFamily="34" charset="0"/>
                <a:cs typeface="Arial" panose="020B0604020202020204" pitchFamily="34" charset="0"/>
              </a:rPr>
              <a:t>: Represents </a:t>
            </a:r>
            <a:r>
              <a:rPr lang="en-US" b="1" dirty="0">
                <a:latin typeface="Arial" panose="020B0604020202020204" pitchFamily="34" charset="0"/>
                <a:cs typeface="Arial" panose="020B0604020202020204" pitchFamily="34" charset="0"/>
              </a:rPr>
              <a:t>improvement</a:t>
            </a:r>
            <a:r>
              <a:rPr lang="en-US" dirty="0">
                <a:latin typeface="Arial" panose="020B0604020202020204" pitchFamily="34" charset="0"/>
                <a:cs typeface="Arial" panose="020B0604020202020204" pitchFamily="34" charset="0"/>
              </a:rPr>
              <a:t> or </a:t>
            </a:r>
            <a:r>
              <a:rPr lang="en-US" b="1" dirty="0">
                <a:latin typeface="Arial" panose="020B0604020202020204" pitchFamily="34" charset="0"/>
                <a:cs typeface="Arial" panose="020B0604020202020204" pitchFamily="34" charset="0"/>
              </a:rPr>
              <a:t>progress</a:t>
            </a:r>
            <a:r>
              <a:rPr lang="en-US" dirty="0">
                <a:latin typeface="Arial" panose="020B0604020202020204" pitchFamily="34" charset="0"/>
                <a:cs typeface="Arial" panose="020B0604020202020204" pitchFamily="34" charset="0"/>
              </a:rPr>
              <a:t>. This could indicate that something has gotten better over the quarter, such as improvements in communication, collaboration, or the effectiveness of certain processes.</a:t>
            </a:r>
          </a:p>
          <a:p>
            <a:pPr lvl="1">
              <a:buFont typeface="Arial" panose="020B0604020202020204" pitchFamily="34" charset="0"/>
              <a:buChar char="•"/>
            </a:pPr>
            <a:r>
              <a:rPr lang="en-US" b="1" dirty="0">
                <a:latin typeface="Arial" panose="020B0604020202020204" pitchFamily="34" charset="0"/>
                <a:cs typeface="Arial" panose="020B0604020202020204" pitchFamily="34" charset="0"/>
              </a:rPr>
              <a:t>Downward Arrow</a:t>
            </a:r>
            <a:r>
              <a:rPr lang="en-US" dirty="0">
                <a:latin typeface="Arial" panose="020B0604020202020204" pitchFamily="34" charset="0"/>
                <a:cs typeface="Arial" panose="020B0604020202020204" pitchFamily="34" charset="0"/>
              </a:rPr>
              <a:t>: Represents </a:t>
            </a:r>
            <a:r>
              <a:rPr lang="en-US" b="1" dirty="0">
                <a:latin typeface="Arial" panose="020B0604020202020204" pitchFamily="34" charset="0"/>
                <a:cs typeface="Arial" panose="020B0604020202020204" pitchFamily="34" charset="0"/>
              </a:rPr>
              <a:t>deterioration</a:t>
            </a:r>
            <a:r>
              <a:rPr lang="en-US" dirty="0">
                <a:latin typeface="Arial" panose="020B0604020202020204" pitchFamily="34" charset="0"/>
                <a:cs typeface="Arial" panose="020B0604020202020204" pitchFamily="34" charset="0"/>
              </a:rPr>
              <a:t> or </a:t>
            </a:r>
            <a:r>
              <a:rPr lang="en-US" b="1" dirty="0">
                <a:latin typeface="Arial" panose="020B0604020202020204" pitchFamily="34" charset="0"/>
                <a:cs typeface="Arial" panose="020B0604020202020204" pitchFamily="34" charset="0"/>
              </a:rPr>
              <a:t>decline</a:t>
            </a:r>
            <a:r>
              <a:rPr lang="en-US" dirty="0">
                <a:latin typeface="Arial" panose="020B0604020202020204" pitchFamily="34" charset="0"/>
                <a:cs typeface="Arial" panose="020B0604020202020204" pitchFamily="34" charset="0"/>
              </a:rPr>
              <a:t>. This could point to areas that have worsened, such as dropping team morale or ineffective sprints.</a:t>
            </a:r>
          </a:p>
          <a:p>
            <a:pPr lvl="1">
              <a:buFont typeface="Arial" panose="020B0604020202020204" pitchFamily="34" charset="0"/>
              <a:buChar char="•"/>
            </a:pPr>
            <a:r>
              <a:rPr lang="en-US" b="1" dirty="0">
                <a:latin typeface="Arial" panose="020B0604020202020204" pitchFamily="34" charset="0"/>
                <a:cs typeface="Arial" panose="020B0604020202020204" pitchFamily="34" charset="0"/>
              </a:rPr>
              <a:t>Left/Right Arrow</a:t>
            </a:r>
            <a:r>
              <a:rPr lang="en-US" dirty="0">
                <a:latin typeface="Arial" panose="020B0604020202020204" pitchFamily="34" charset="0"/>
                <a:cs typeface="Arial" panose="020B0604020202020204" pitchFamily="34" charset="0"/>
              </a:rPr>
              <a:t>: Could represent </a:t>
            </a:r>
            <a:r>
              <a:rPr lang="en-US" b="1" dirty="0">
                <a:latin typeface="Arial" panose="020B0604020202020204" pitchFamily="34" charset="0"/>
                <a:cs typeface="Arial" panose="020B0604020202020204" pitchFamily="34" charset="0"/>
              </a:rPr>
              <a:t>no significant change</a:t>
            </a:r>
            <a:r>
              <a:rPr lang="en-US" dirty="0">
                <a:latin typeface="Arial" panose="020B0604020202020204" pitchFamily="34" charset="0"/>
                <a:cs typeface="Arial" panose="020B0604020202020204" pitchFamily="34" charset="0"/>
              </a:rPr>
              <a:t> or </a:t>
            </a:r>
            <a:r>
              <a:rPr lang="en-US" b="1" dirty="0">
                <a:latin typeface="Arial" panose="020B0604020202020204" pitchFamily="34" charset="0"/>
                <a:cs typeface="Arial" panose="020B0604020202020204" pitchFamily="34" charset="0"/>
              </a:rPr>
              <a:t>stability</a:t>
            </a:r>
            <a:r>
              <a:rPr lang="en-US" dirty="0">
                <a:latin typeface="Arial" panose="020B0604020202020204" pitchFamily="34" charset="0"/>
                <a:cs typeface="Arial" panose="020B0604020202020204" pitchFamily="34" charset="0"/>
              </a:rPr>
              <a:t>. If there’s no notable movement, this may indicate that a specific practice, team dynamic, or process remains steady.</a:t>
            </a:r>
          </a:p>
          <a:p>
            <a:endParaRPr lang="en-US" sz="2000" dirty="0">
              <a:latin typeface="Arial" panose="020B0604020202020204" pitchFamily="34" charset="0"/>
              <a:cs typeface="Arial" panose="020B0604020202020204" pitchFamily="34" charset="0"/>
            </a:endParaRPr>
          </a:p>
        </p:txBody>
      </p:sp>
      <p:sp>
        <p:nvSpPr>
          <p:cNvPr id="5" name="Slide Number Placeholder 4">
            <a:extLst>
              <a:ext uri="{FF2B5EF4-FFF2-40B4-BE49-F238E27FC236}">
                <a16:creationId xmlns:a16="http://schemas.microsoft.com/office/drawing/2014/main" id="{93A3FF41-7D7E-6184-B0E7-EF8DC3541BE1}"/>
              </a:ext>
            </a:extLst>
          </p:cNvPr>
          <p:cNvSpPr>
            <a:spLocks noGrp="1"/>
          </p:cNvSpPr>
          <p:nvPr>
            <p:ph type="sldNum" sz="quarter" idx="12"/>
          </p:nvPr>
        </p:nvSpPr>
        <p:spPr/>
        <p:txBody>
          <a:bodyPr/>
          <a:lstStyle/>
          <a:p>
            <a:fld id="{4267CD5E-26CF-4249-8540-BB1D07FD4227}" type="slidenum">
              <a:rPr lang="en-US" smtClean="0"/>
              <a:t>17</a:t>
            </a:fld>
            <a:endParaRPr lang="en-US"/>
          </a:p>
        </p:txBody>
      </p:sp>
    </p:spTree>
    <p:extLst>
      <p:ext uri="{BB962C8B-B14F-4D97-AF65-F5344CB8AC3E}">
        <p14:creationId xmlns:p14="http://schemas.microsoft.com/office/powerpoint/2010/main" val="4948593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81CF4-70E1-21A3-46F1-F8C8FAAD3A15}"/>
              </a:ext>
            </a:extLst>
          </p:cNvPr>
          <p:cNvSpPr>
            <a:spLocks noGrp="1"/>
          </p:cNvSpPr>
          <p:nvPr>
            <p:ph type="title"/>
          </p:nvPr>
        </p:nvSpPr>
        <p:spPr/>
        <p:txBody>
          <a:bodyPr>
            <a:normAutofit/>
          </a:bodyPr>
          <a:lstStyle/>
          <a:p>
            <a:r>
              <a:rPr lang="en-US" sz="4400" dirty="0"/>
              <a:t>Quarterly Reflection Survey</a:t>
            </a:r>
          </a:p>
        </p:txBody>
      </p:sp>
      <p:sp>
        <p:nvSpPr>
          <p:cNvPr id="4" name="Content Placeholder 3">
            <a:extLst>
              <a:ext uri="{FF2B5EF4-FFF2-40B4-BE49-F238E27FC236}">
                <a16:creationId xmlns:a16="http://schemas.microsoft.com/office/drawing/2014/main" id="{D5D18B8F-A113-D657-43BE-61BF42E92BF3}"/>
              </a:ext>
            </a:extLst>
          </p:cNvPr>
          <p:cNvSpPr>
            <a:spLocks noGrp="1"/>
          </p:cNvSpPr>
          <p:nvPr>
            <p:ph idx="1"/>
          </p:nvPr>
        </p:nvSpPr>
        <p:spPr>
          <a:xfrm>
            <a:off x="644771" y="1609344"/>
            <a:ext cx="10709031" cy="4472803"/>
          </a:xfrm>
        </p:spPr>
        <p:txBody>
          <a:bodyPr>
            <a:normAutofit/>
          </a:bodyPr>
          <a:lstStyle/>
          <a:p>
            <a:pPr>
              <a:buNone/>
            </a:pPr>
            <a:r>
              <a:rPr lang="en-US" sz="2000" b="1" dirty="0">
                <a:latin typeface="Arial" panose="020B0604020202020204" pitchFamily="34" charset="0"/>
                <a:cs typeface="Arial" panose="020B0604020202020204" pitchFamily="34" charset="0"/>
              </a:rPr>
              <a:t>In Summary:</a:t>
            </a:r>
          </a:p>
          <a:p>
            <a:pPr>
              <a:buFont typeface="Arial" panose="020B0604020202020204" pitchFamily="34" charset="0"/>
              <a:buChar char="•"/>
            </a:pPr>
            <a:r>
              <a:rPr lang="en-US" b="1" dirty="0">
                <a:latin typeface="Arial" panose="020B0604020202020204" pitchFamily="34" charset="0"/>
                <a:cs typeface="Arial" panose="020B0604020202020204" pitchFamily="34" charset="0"/>
              </a:rPr>
              <a:t>Circle Colors</a:t>
            </a:r>
            <a:r>
              <a:rPr lang="en-US" dirty="0">
                <a:latin typeface="Arial" panose="020B0604020202020204" pitchFamily="34" charset="0"/>
                <a:cs typeface="Arial" panose="020B0604020202020204" pitchFamily="34" charset="0"/>
              </a:rPr>
              <a:t> represent </a:t>
            </a:r>
            <a:r>
              <a:rPr lang="en-US" b="1" dirty="0">
                <a:latin typeface="Arial" panose="020B0604020202020204" pitchFamily="34" charset="0"/>
                <a:cs typeface="Arial" panose="020B0604020202020204" pitchFamily="34" charset="0"/>
              </a:rPr>
              <a:t>different categories</a:t>
            </a:r>
            <a:r>
              <a:rPr lang="en-US" dirty="0">
                <a:latin typeface="Arial" panose="020B0604020202020204" pitchFamily="34" charset="0"/>
                <a:cs typeface="Arial" panose="020B0604020202020204" pitchFamily="34" charset="0"/>
              </a:rPr>
              <a:t> of feedback or themes (e.g., green for positive, yellow for neutral, red for negative).</a:t>
            </a:r>
          </a:p>
          <a:p>
            <a:pPr>
              <a:buFont typeface="Arial" panose="020B0604020202020204" pitchFamily="34" charset="0"/>
              <a:buChar char="•"/>
            </a:pPr>
            <a:r>
              <a:rPr lang="en-US" b="1" dirty="0">
                <a:latin typeface="Arial" panose="020B0604020202020204" pitchFamily="34" charset="0"/>
                <a:cs typeface="Arial" panose="020B0604020202020204" pitchFamily="34" charset="0"/>
              </a:rPr>
              <a:t>Arrows</a:t>
            </a:r>
            <a:r>
              <a:rPr lang="en-US" dirty="0">
                <a:latin typeface="Arial" panose="020B0604020202020204" pitchFamily="34" charset="0"/>
                <a:cs typeface="Arial" panose="020B0604020202020204" pitchFamily="34" charset="0"/>
              </a:rPr>
              <a:t> represent </a:t>
            </a:r>
            <a:r>
              <a:rPr lang="en-US" b="1" dirty="0">
                <a:latin typeface="Arial" panose="020B0604020202020204" pitchFamily="34" charset="0"/>
                <a:cs typeface="Arial" panose="020B0604020202020204" pitchFamily="34" charset="0"/>
              </a:rPr>
              <a:t>changes over time</a:t>
            </a:r>
            <a:r>
              <a:rPr lang="en-US" dirty="0">
                <a:latin typeface="Arial" panose="020B0604020202020204" pitchFamily="34" charset="0"/>
                <a:cs typeface="Arial" panose="020B0604020202020204" pitchFamily="34" charset="0"/>
              </a:rPr>
              <a:t> or </a:t>
            </a:r>
            <a:r>
              <a:rPr lang="en-US" b="1" dirty="0">
                <a:latin typeface="Arial" panose="020B0604020202020204" pitchFamily="34" charset="0"/>
                <a:cs typeface="Arial" panose="020B0604020202020204" pitchFamily="34" charset="0"/>
              </a:rPr>
              <a:t>actions</a:t>
            </a:r>
            <a:r>
              <a:rPr lang="en-US" dirty="0">
                <a:latin typeface="Arial" panose="020B0604020202020204" pitchFamily="34" charset="0"/>
                <a:cs typeface="Arial" panose="020B0604020202020204" pitchFamily="34" charset="0"/>
              </a:rPr>
              <a:t> to be taken in response to feedback, with upward arrows indicating improvement, downward arrows indicating challenges, and side arrows showing stability.</a:t>
            </a:r>
          </a:p>
          <a:p>
            <a:r>
              <a:rPr lang="en-US" dirty="0">
                <a:latin typeface="Arial" panose="020B0604020202020204" pitchFamily="34" charset="0"/>
                <a:cs typeface="Arial" panose="020B0604020202020204" pitchFamily="34" charset="0"/>
              </a:rPr>
              <a:t>This chart helps teams quickly visualize what's working, what needs improvement, and where they should focus their efforts for the next quarter. </a:t>
            </a:r>
          </a:p>
          <a:p>
            <a:endParaRPr lang="en-US" sz="2000" dirty="0">
              <a:latin typeface="Arial" panose="020B0604020202020204" pitchFamily="34" charset="0"/>
              <a:cs typeface="Arial" panose="020B0604020202020204" pitchFamily="34" charset="0"/>
            </a:endParaRPr>
          </a:p>
        </p:txBody>
      </p:sp>
      <p:sp>
        <p:nvSpPr>
          <p:cNvPr id="5" name="Slide Number Placeholder 4">
            <a:extLst>
              <a:ext uri="{FF2B5EF4-FFF2-40B4-BE49-F238E27FC236}">
                <a16:creationId xmlns:a16="http://schemas.microsoft.com/office/drawing/2014/main" id="{1FA01EA0-FD93-2848-EBB7-F8985BAAFAC2}"/>
              </a:ext>
            </a:extLst>
          </p:cNvPr>
          <p:cNvSpPr>
            <a:spLocks noGrp="1"/>
          </p:cNvSpPr>
          <p:nvPr>
            <p:ph type="sldNum" sz="quarter" idx="12"/>
          </p:nvPr>
        </p:nvSpPr>
        <p:spPr/>
        <p:txBody>
          <a:bodyPr/>
          <a:lstStyle/>
          <a:p>
            <a:fld id="{4267CD5E-26CF-4249-8540-BB1D07FD4227}" type="slidenum">
              <a:rPr lang="en-US" smtClean="0"/>
              <a:t>18</a:t>
            </a:fld>
            <a:endParaRPr lang="en-US"/>
          </a:p>
        </p:txBody>
      </p:sp>
    </p:spTree>
    <p:extLst>
      <p:ext uri="{BB962C8B-B14F-4D97-AF65-F5344CB8AC3E}">
        <p14:creationId xmlns:p14="http://schemas.microsoft.com/office/powerpoint/2010/main" val="13961980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A169B7-AFB1-22C9-9567-A3EE80F854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DD3FE1-914D-9199-1A4F-766F93B08B1C}"/>
              </a:ext>
            </a:extLst>
          </p:cNvPr>
          <p:cNvSpPr>
            <a:spLocks noGrp="1"/>
          </p:cNvSpPr>
          <p:nvPr>
            <p:ph type="title"/>
          </p:nvPr>
        </p:nvSpPr>
        <p:spPr>
          <a:xfrm>
            <a:off x="644769" y="365125"/>
            <a:ext cx="10710619" cy="1325563"/>
          </a:xfrm>
        </p:spPr>
        <p:txBody>
          <a:bodyPr anchor="t">
            <a:normAutofit/>
          </a:bodyPr>
          <a:lstStyle/>
          <a:p>
            <a:r>
              <a:rPr lang="en-US" dirty="0"/>
              <a:t>Tribe </a:t>
            </a:r>
          </a:p>
        </p:txBody>
      </p:sp>
      <p:sp>
        <p:nvSpPr>
          <p:cNvPr id="4" name="Content Placeholder 3">
            <a:extLst>
              <a:ext uri="{FF2B5EF4-FFF2-40B4-BE49-F238E27FC236}">
                <a16:creationId xmlns:a16="http://schemas.microsoft.com/office/drawing/2014/main" id="{12993438-3213-16E5-7744-CF41D2C47234}"/>
              </a:ext>
            </a:extLst>
          </p:cNvPr>
          <p:cNvSpPr>
            <a:spLocks noGrp="1"/>
          </p:cNvSpPr>
          <p:nvPr>
            <p:ph sz="half" idx="1"/>
          </p:nvPr>
        </p:nvSpPr>
        <p:spPr>
          <a:xfrm>
            <a:off x="644769" y="1597025"/>
            <a:ext cx="5181600" cy="4351339"/>
          </a:xfrm>
        </p:spPr>
        <p:txBody>
          <a:bodyPr>
            <a:normAutofit/>
          </a:bodyPr>
          <a:lstStyle/>
          <a:p>
            <a:pPr>
              <a:buNone/>
            </a:pPr>
            <a:endParaRPr lang="en-US" sz="2000" dirty="0">
              <a:latin typeface="Arial" panose="020B0604020202020204" pitchFamily="34" charset="0"/>
              <a:cs typeface="Arial" panose="020B0604020202020204" pitchFamily="34" charset="0"/>
            </a:endParaRPr>
          </a:p>
          <a:p>
            <a:pPr>
              <a:buFont typeface="Arial" panose="020B0604020202020204" pitchFamily="34" charset="0"/>
              <a:buChar char="•"/>
            </a:pPr>
            <a:r>
              <a:rPr lang="en-US" sz="2000" dirty="0">
                <a:latin typeface="Arial" panose="020B0604020202020204" pitchFamily="34" charset="0"/>
                <a:cs typeface="Arial" panose="020B0604020202020204" pitchFamily="34" charset="0"/>
              </a:rPr>
              <a:t>A </a:t>
            </a:r>
            <a:r>
              <a:rPr lang="en-US" sz="2000" b="1" dirty="0">
                <a:latin typeface="Arial" panose="020B0604020202020204" pitchFamily="34" charset="0"/>
                <a:cs typeface="Arial" panose="020B0604020202020204" pitchFamily="34" charset="0"/>
              </a:rPr>
              <a:t>Tribe</a:t>
            </a:r>
            <a:r>
              <a:rPr lang="en-US" sz="2000" dirty="0">
                <a:latin typeface="Arial" panose="020B0604020202020204" pitchFamily="34" charset="0"/>
                <a:cs typeface="Arial" panose="020B0604020202020204" pitchFamily="34" charset="0"/>
              </a:rPr>
              <a:t> is a collection of </a:t>
            </a:r>
            <a:r>
              <a:rPr lang="en-US" sz="2000" b="1" dirty="0">
                <a:latin typeface="Arial" panose="020B0604020202020204" pitchFamily="34" charset="0"/>
                <a:cs typeface="Arial" panose="020B0604020202020204" pitchFamily="34" charset="0"/>
              </a:rPr>
              <a:t>related Squads</a:t>
            </a:r>
            <a:r>
              <a:rPr lang="en-US" sz="2000" dirty="0">
                <a:latin typeface="Arial" panose="020B0604020202020204" pitchFamily="34" charset="0"/>
                <a:cs typeface="Arial" panose="020B0604020202020204" pitchFamily="34" charset="0"/>
              </a:rPr>
              <a:t> working on similar areas or features.</a:t>
            </a:r>
          </a:p>
          <a:p>
            <a:pPr>
              <a:buFont typeface="Arial" panose="020B0604020202020204" pitchFamily="34" charset="0"/>
              <a:buChar char="•"/>
            </a:pPr>
            <a:r>
              <a:rPr lang="en-US" sz="2000" dirty="0">
                <a:latin typeface="Arial" panose="020B0604020202020204" pitchFamily="34" charset="0"/>
                <a:cs typeface="Arial" panose="020B0604020202020204" pitchFamily="34" charset="0"/>
              </a:rPr>
              <a:t>Typically consists of </a:t>
            </a:r>
            <a:r>
              <a:rPr lang="en-US" sz="2000" b="1" dirty="0">
                <a:latin typeface="Arial" panose="020B0604020202020204" pitchFamily="34" charset="0"/>
                <a:cs typeface="Arial" panose="020B0604020202020204" pitchFamily="34" charset="0"/>
              </a:rPr>
              <a:t>multiple Squads</a:t>
            </a:r>
            <a:r>
              <a:rPr lang="en-US" sz="2000" dirty="0">
                <a:latin typeface="Arial" panose="020B0604020202020204" pitchFamily="34" charset="0"/>
                <a:cs typeface="Arial" panose="020B0604020202020204" pitchFamily="34" charset="0"/>
              </a:rPr>
              <a:t> that align around a common goal or product domain.</a:t>
            </a:r>
          </a:p>
          <a:p>
            <a:pPr>
              <a:buFont typeface="Arial" panose="020B0604020202020204" pitchFamily="34" charset="0"/>
              <a:buChar char="•"/>
            </a:pPr>
            <a:r>
              <a:rPr lang="en-US" sz="2000" dirty="0">
                <a:latin typeface="Arial" panose="020B0604020202020204" pitchFamily="34" charset="0"/>
                <a:cs typeface="Arial" panose="020B0604020202020204" pitchFamily="34" charset="0"/>
              </a:rPr>
              <a:t>Led by a </a:t>
            </a:r>
            <a:r>
              <a:rPr lang="en-US" sz="2000" b="1" dirty="0">
                <a:latin typeface="Arial" panose="020B0604020202020204" pitchFamily="34" charset="0"/>
                <a:cs typeface="Arial" panose="020B0604020202020204" pitchFamily="34" charset="0"/>
              </a:rPr>
              <a:t>Tribe Lead</a:t>
            </a:r>
            <a:r>
              <a:rPr lang="en-US" sz="2000" dirty="0">
                <a:latin typeface="Arial" panose="020B0604020202020204" pitchFamily="34" charset="0"/>
                <a:cs typeface="Arial" panose="020B0604020202020204" pitchFamily="34" charset="0"/>
              </a:rPr>
              <a:t> to ensure coordination and alignment.</a:t>
            </a:r>
          </a:p>
          <a:p>
            <a:pPr>
              <a:buFont typeface="Arial" panose="020B0604020202020204" pitchFamily="34" charset="0"/>
              <a:buChar char="•"/>
            </a:pPr>
            <a:r>
              <a:rPr lang="en-US" sz="2000" dirty="0">
                <a:latin typeface="Arial" panose="020B0604020202020204" pitchFamily="34" charset="0"/>
                <a:cs typeface="Arial" panose="020B0604020202020204" pitchFamily="34" charset="0"/>
              </a:rPr>
              <a:t>Promotes </a:t>
            </a:r>
            <a:r>
              <a:rPr lang="en-US" sz="2000" b="1" dirty="0">
                <a:latin typeface="Arial" panose="020B0604020202020204" pitchFamily="34" charset="0"/>
                <a:cs typeface="Arial" panose="020B0604020202020204" pitchFamily="34" charset="0"/>
              </a:rPr>
              <a:t>collaboration</a:t>
            </a:r>
            <a:r>
              <a:rPr lang="en-US" sz="2000" dirty="0">
                <a:latin typeface="Arial" panose="020B0604020202020204" pitchFamily="34" charset="0"/>
                <a:cs typeface="Arial" panose="020B0604020202020204" pitchFamily="34" charset="0"/>
              </a:rPr>
              <a:t> between Squads within the same Tribe.</a:t>
            </a:r>
          </a:p>
          <a:p>
            <a:pPr>
              <a:buFont typeface="Arial" panose="020B0604020202020204" pitchFamily="34" charset="0"/>
              <a:buChar char="•"/>
            </a:pPr>
            <a:r>
              <a:rPr lang="en-US" sz="2000" dirty="0">
                <a:latin typeface="Arial" panose="020B0604020202020204" pitchFamily="34" charset="0"/>
                <a:cs typeface="Arial" panose="020B0604020202020204" pitchFamily="34" charset="0"/>
              </a:rPr>
              <a:t>Focuses on </a:t>
            </a:r>
            <a:r>
              <a:rPr lang="en-US" sz="2000" b="1" dirty="0">
                <a:latin typeface="Arial" panose="020B0604020202020204" pitchFamily="34" charset="0"/>
                <a:cs typeface="Arial" panose="020B0604020202020204" pitchFamily="34" charset="0"/>
              </a:rPr>
              <a:t>scaling Agile</a:t>
            </a:r>
            <a:r>
              <a:rPr lang="en-US" sz="2000" dirty="0">
                <a:latin typeface="Arial" panose="020B0604020202020204" pitchFamily="34" charset="0"/>
                <a:cs typeface="Arial" panose="020B0604020202020204" pitchFamily="34" charset="0"/>
              </a:rPr>
              <a:t> and maintaining consistency across teams.</a:t>
            </a:r>
          </a:p>
        </p:txBody>
      </p:sp>
      <p:pic>
        <p:nvPicPr>
          <p:cNvPr id="7" name="Picture 6">
            <a:extLst>
              <a:ext uri="{FF2B5EF4-FFF2-40B4-BE49-F238E27FC236}">
                <a16:creationId xmlns:a16="http://schemas.microsoft.com/office/drawing/2014/main" id="{7C93E080-8062-98BC-3C50-E94E8955A4AF}"/>
              </a:ext>
            </a:extLst>
          </p:cNvPr>
          <p:cNvPicPr>
            <a:picLocks noChangeAspect="1"/>
          </p:cNvPicPr>
          <p:nvPr/>
        </p:nvPicPr>
        <p:blipFill>
          <a:blip r:embed="rId2"/>
          <a:stretch>
            <a:fillRect/>
          </a:stretch>
        </p:blipFill>
        <p:spPr>
          <a:xfrm>
            <a:off x="6244805" y="1825625"/>
            <a:ext cx="5036389" cy="4351339"/>
          </a:xfrm>
          <a:prstGeom prst="rect">
            <a:avLst/>
          </a:prstGeom>
          <a:noFill/>
        </p:spPr>
      </p:pic>
      <p:sp>
        <p:nvSpPr>
          <p:cNvPr id="5" name="Slide Number Placeholder 4">
            <a:extLst>
              <a:ext uri="{FF2B5EF4-FFF2-40B4-BE49-F238E27FC236}">
                <a16:creationId xmlns:a16="http://schemas.microsoft.com/office/drawing/2014/main" id="{4C27FC42-BFCB-B867-448F-0B0541D1C3EC}"/>
              </a:ext>
            </a:extLst>
          </p:cNvPr>
          <p:cNvSpPr>
            <a:spLocks noGrp="1"/>
          </p:cNvSpPr>
          <p:nvPr>
            <p:ph type="sldNum" sz="quarter" idx="12"/>
          </p:nvPr>
        </p:nvSpPr>
        <p:spPr>
          <a:xfrm>
            <a:off x="9375913" y="6276840"/>
            <a:ext cx="2743200" cy="365125"/>
          </a:xfrm>
        </p:spPr>
        <p:txBody>
          <a:bodyPr anchor="ctr">
            <a:normAutofit/>
          </a:bodyPr>
          <a:lstStyle/>
          <a:p>
            <a:pPr>
              <a:spcAft>
                <a:spcPts val="600"/>
              </a:spcAft>
            </a:pPr>
            <a:fld id="{4267CD5E-26CF-4249-8540-BB1D07FD4227}" type="slidenum">
              <a:rPr lang="en-US" smtClean="0"/>
              <a:pPr>
                <a:spcAft>
                  <a:spcPts val="600"/>
                </a:spcAft>
              </a:pPr>
              <a:t>19</a:t>
            </a:fld>
            <a:endParaRPr lang="en-US"/>
          </a:p>
        </p:txBody>
      </p:sp>
    </p:spTree>
    <p:extLst>
      <p:ext uri="{BB962C8B-B14F-4D97-AF65-F5344CB8AC3E}">
        <p14:creationId xmlns:p14="http://schemas.microsoft.com/office/powerpoint/2010/main" val="1588109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0D790B-9BBE-6C89-AFD6-CF03A7DF46D6}"/>
              </a:ext>
            </a:extLst>
          </p:cNvPr>
          <p:cNvSpPr>
            <a:spLocks noGrp="1"/>
          </p:cNvSpPr>
          <p:nvPr>
            <p:ph type="title"/>
          </p:nvPr>
        </p:nvSpPr>
        <p:spPr>
          <a:xfrm>
            <a:off x="644769" y="365125"/>
            <a:ext cx="10710619" cy="1325563"/>
          </a:xfrm>
        </p:spPr>
        <p:txBody>
          <a:bodyPr anchor="t">
            <a:normAutofit/>
          </a:bodyPr>
          <a:lstStyle/>
          <a:p>
            <a:r>
              <a:rPr lang="en-US" dirty="0"/>
              <a:t>Tribe </a:t>
            </a:r>
          </a:p>
        </p:txBody>
      </p:sp>
      <p:sp>
        <p:nvSpPr>
          <p:cNvPr id="4" name="Content Placeholder 3">
            <a:extLst>
              <a:ext uri="{FF2B5EF4-FFF2-40B4-BE49-F238E27FC236}">
                <a16:creationId xmlns:a16="http://schemas.microsoft.com/office/drawing/2014/main" id="{1022A34B-1E49-41B9-4070-5437E1B3AA81}"/>
              </a:ext>
            </a:extLst>
          </p:cNvPr>
          <p:cNvSpPr>
            <a:spLocks noGrp="1"/>
          </p:cNvSpPr>
          <p:nvPr>
            <p:ph sz="half" idx="1"/>
          </p:nvPr>
        </p:nvSpPr>
        <p:spPr>
          <a:xfrm>
            <a:off x="644769" y="1825625"/>
            <a:ext cx="5181600" cy="4351339"/>
          </a:xfrm>
        </p:spPr>
        <p:txBody>
          <a:bodyPr>
            <a:normAutofit/>
          </a:bodyPr>
          <a:lstStyle/>
          <a:p>
            <a:r>
              <a:rPr lang="en-US" sz="2000" dirty="0">
                <a:latin typeface="Arial" panose="020B0604020202020204" pitchFamily="34" charset="0"/>
                <a:cs typeface="Arial" panose="020B0604020202020204" pitchFamily="34" charset="0"/>
              </a:rPr>
              <a:t> Collection of squads in related areas</a:t>
            </a:r>
          </a:p>
          <a:p>
            <a:pPr lvl="1"/>
            <a:r>
              <a:rPr lang="en-US" sz="2000" dirty="0">
                <a:latin typeface="Arial" panose="020B0604020202020204" pitchFamily="34" charset="0"/>
                <a:cs typeface="Arial" panose="020B0604020202020204" pitchFamily="34" charset="0"/>
              </a:rPr>
              <a:t>≦~ 100 people</a:t>
            </a:r>
          </a:p>
          <a:p>
            <a:r>
              <a:rPr lang="en-US" sz="2000" dirty="0">
                <a:latin typeface="Arial" panose="020B0604020202020204" pitchFamily="34" charset="0"/>
                <a:cs typeface="Arial" panose="020B0604020202020204" pitchFamily="34" charset="0"/>
              </a:rPr>
              <a:t> Physically co-located</a:t>
            </a:r>
          </a:p>
          <a:p>
            <a:r>
              <a:rPr lang="en-US" sz="2000" dirty="0">
                <a:latin typeface="Arial" panose="020B0604020202020204" pitchFamily="34" charset="0"/>
                <a:cs typeface="Arial" panose="020B0604020202020204" pitchFamily="34" charset="0"/>
              </a:rPr>
              <a:t> May have a System Owner</a:t>
            </a:r>
          </a:p>
          <a:p>
            <a:pPr lvl="1"/>
            <a:r>
              <a:rPr lang="en-US" sz="2000" dirty="0">
                <a:latin typeface="Arial" panose="020B0604020202020204" pitchFamily="34" charset="0"/>
                <a:cs typeface="Arial" panose="020B0604020202020204" pitchFamily="34" charset="0"/>
              </a:rPr>
              <a:t>Represents Product Owners across Tribe</a:t>
            </a:r>
          </a:p>
          <a:p>
            <a:r>
              <a:rPr lang="en-US" sz="2000" dirty="0">
                <a:latin typeface="Arial" panose="020B0604020202020204" pitchFamily="34" charset="0"/>
                <a:cs typeface="Arial" panose="020B0604020202020204" pitchFamily="34" charset="0"/>
              </a:rPr>
              <a:t> May have a Chief Architect</a:t>
            </a:r>
          </a:p>
          <a:p>
            <a:pPr lvl="1"/>
            <a:r>
              <a:rPr lang="en-US" sz="2000" dirty="0">
                <a:latin typeface="Arial" panose="020B0604020202020204" pitchFamily="34" charset="0"/>
                <a:cs typeface="Arial" panose="020B0604020202020204" pitchFamily="34" charset="0"/>
              </a:rPr>
              <a:t>Responsible for overall architecture and design across Tribe</a:t>
            </a:r>
          </a:p>
        </p:txBody>
      </p:sp>
      <p:pic>
        <p:nvPicPr>
          <p:cNvPr id="7" name="Picture 6">
            <a:extLst>
              <a:ext uri="{FF2B5EF4-FFF2-40B4-BE49-F238E27FC236}">
                <a16:creationId xmlns:a16="http://schemas.microsoft.com/office/drawing/2014/main" id="{2533D9DB-AB61-CADC-6A65-ACA7409CB72E}"/>
              </a:ext>
            </a:extLst>
          </p:cNvPr>
          <p:cNvPicPr>
            <a:picLocks noChangeAspect="1"/>
          </p:cNvPicPr>
          <p:nvPr/>
        </p:nvPicPr>
        <p:blipFill>
          <a:blip r:embed="rId2"/>
          <a:stretch>
            <a:fillRect/>
          </a:stretch>
        </p:blipFill>
        <p:spPr>
          <a:xfrm>
            <a:off x="6244805" y="1825625"/>
            <a:ext cx="5036389" cy="4351339"/>
          </a:xfrm>
          <a:prstGeom prst="rect">
            <a:avLst/>
          </a:prstGeom>
          <a:noFill/>
        </p:spPr>
      </p:pic>
      <p:sp>
        <p:nvSpPr>
          <p:cNvPr id="5" name="Slide Number Placeholder 4">
            <a:extLst>
              <a:ext uri="{FF2B5EF4-FFF2-40B4-BE49-F238E27FC236}">
                <a16:creationId xmlns:a16="http://schemas.microsoft.com/office/drawing/2014/main" id="{5410F82E-97F7-D02F-30A7-3ADA1F35F3E4}"/>
              </a:ext>
            </a:extLst>
          </p:cNvPr>
          <p:cNvSpPr>
            <a:spLocks noGrp="1"/>
          </p:cNvSpPr>
          <p:nvPr>
            <p:ph type="sldNum" sz="quarter" idx="12"/>
          </p:nvPr>
        </p:nvSpPr>
        <p:spPr>
          <a:xfrm>
            <a:off x="9375913" y="6276840"/>
            <a:ext cx="2743200" cy="365125"/>
          </a:xfrm>
        </p:spPr>
        <p:txBody>
          <a:bodyPr anchor="ctr">
            <a:normAutofit/>
          </a:bodyPr>
          <a:lstStyle/>
          <a:p>
            <a:pPr>
              <a:spcAft>
                <a:spcPts val="600"/>
              </a:spcAft>
            </a:pPr>
            <a:fld id="{4267CD5E-26CF-4249-8540-BB1D07FD4227}" type="slidenum">
              <a:rPr lang="en-US" smtClean="0"/>
              <a:pPr>
                <a:spcAft>
                  <a:spcPts val="600"/>
                </a:spcAft>
              </a:pPr>
              <a:t>20</a:t>
            </a:fld>
            <a:endParaRPr lang="en-US"/>
          </a:p>
        </p:txBody>
      </p:sp>
    </p:spTree>
    <p:extLst>
      <p:ext uri="{BB962C8B-B14F-4D97-AF65-F5344CB8AC3E}">
        <p14:creationId xmlns:p14="http://schemas.microsoft.com/office/powerpoint/2010/main" val="26680177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ED3D9-CDCA-81B0-7680-5F64A89382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7F653F-7E7C-D736-D6C6-BC29FF5A5301}"/>
              </a:ext>
            </a:extLst>
          </p:cNvPr>
          <p:cNvSpPr>
            <a:spLocks noGrp="1"/>
          </p:cNvSpPr>
          <p:nvPr>
            <p:ph type="title"/>
          </p:nvPr>
        </p:nvSpPr>
        <p:spPr>
          <a:xfrm>
            <a:off x="644769" y="365125"/>
            <a:ext cx="10710619" cy="1325563"/>
          </a:xfrm>
        </p:spPr>
        <p:txBody>
          <a:bodyPr anchor="t">
            <a:normAutofit/>
          </a:bodyPr>
          <a:lstStyle/>
          <a:p>
            <a:r>
              <a:rPr lang="en-US" dirty="0"/>
              <a:t>Chapter </a:t>
            </a:r>
          </a:p>
        </p:txBody>
      </p:sp>
      <p:sp>
        <p:nvSpPr>
          <p:cNvPr id="3" name="Content Placeholder 2">
            <a:extLst>
              <a:ext uri="{FF2B5EF4-FFF2-40B4-BE49-F238E27FC236}">
                <a16:creationId xmlns:a16="http://schemas.microsoft.com/office/drawing/2014/main" id="{FBF9CA72-05A4-6B17-E072-934CB89D7231}"/>
              </a:ext>
            </a:extLst>
          </p:cNvPr>
          <p:cNvSpPr>
            <a:spLocks noGrp="1"/>
          </p:cNvSpPr>
          <p:nvPr>
            <p:ph sz="half" idx="1"/>
          </p:nvPr>
        </p:nvSpPr>
        <p:spPr>
          <a:xfrm>
            <a:off x="644769" y="1578737"/>
            <a:ext cx="5181600" cy="4351339"/>
          </a:xfrm>
        </p:spPr>
        <p:txBody>
          <a:bodyPr>
            <a:normAutofit/>
          </a:bodyPr>
          <a:lstStyle/>
          <a:p>
            <a:pPr>
              <a:buNone/>
            </a:pPr>
            <a:endParaRPr lang="en-US" sz="2000" dirty="0">
              <a:latin typeface="Arial" panose="020B0604020202020204" pitchFamily="34" charset="0"/>
              <a:cs typeface="Arial" panose="020B0604020202020204" pitchFamily="34" charset="0"/>
            </a:endParaRPr>
          </a:p>
          <a:p>
            <a:pPr>
              <a:buFont typeface="Arial" panose="020B0604020202020204" pitchFamily="34" charset="0"/>
              <a:buChar char="•"/>
            </a:pPr>
            <a:r>
              <a:rPr lang="en-US" sz="2000" dirty="0">
                <a:latin typeface="Arial" panose="020B0604020202020204" pitchFamily="34" charset="0"/>
                <a:cs typeface="Arial" panose="020B0604020202020204" pitchFamily="34" charset="0"/>
              </a:rPr>
              <a:t>A </a:t>
            </a:r>
            <a:r>
              <a:rPr lang="en-US" sz="2000" b="1" dirty="0">
                <a:latin typeface="Arial" panose="020B0604020202020204" pitchFamily="34" charset="0"/>
                <a:cs typeface="Arial" panose="020B0604020202020204" pitchFamily="34" charset="0"/>
              </a:rPr>
              <a:t>Chapter</a:t>
            </a:r>
            <a:r>
              <a:rPr lang="en-US" sz="2000" dirty="0">
                <a:latin typeface="Arial" panose="020B0604020202020204" pitchFamily="34" charset="0"/>
                <a:cs typeface="Arial" panose="020B0604020202020204" pitchFamily="34" charset="0"/>
              </a:rPr>
              <a:t> is a group of individuals with similar </a:t>
            </a:r>
            <a:r>
              <a:rPr lang="en-US" sz="2000" b="1" dirty="0">
                <a:latin typeface="Arial" panose="020B0604020202020204" pitchFamily="34" charset="0"/>
                <a:cs typeface="Arial" panose="020B0604020202020204" pitchFamily="34" charset="0"/>
              </a:rPr>
              <a:t>skills or roles</a:t>
            </a:r>
            <a:r>
              <a:rPr lang="en-US" sz="2000" dirty="0">
                <a:latin typeface="Arial" panose="020B0604020202020204" pitchFamily="34" charset="0"/>
                <a:cs typeface="Arial" panose="020B0604020202020204" pitchFamily="34" charset="0"/>
              </a:rPr>
              <a:t> (e.g., developers, designers) across different Squads.</a:t>
            </a:r>
          </a:p>
          <a:p>
            <a:pPr>
              <a:buFont typeface="Arial" panose="020B0604020202020204" pitchFamily="34" charset="0"/>
              <a:buChar char="•"/>
            </a:pPr>
            <a:r>
              <a:rPr lang="en-US" sz="2000" dirty="0">
                <a:latin typeface="Arial" panose="020B0604020202020204" pitchFamily="34" charset="0"/>
                <a:cs typeface="Arial" panose="020B0604020202020204" pitchFamily="34" charset="0"/>
              </a:rPr>
              <a:t>Led by a </a:t>
            </a:r>
            <a:r>
              <a:rPr lang="en-US" sz="2000" b="1" dirty="0">
                <a:latin typeface="Arial" panose="020B0604020202020204" pitchFamily="34" charset="0"/>
                <a:cs typeface="Arial" panose="020B0604020202020204" pitchFamily="34" charset="0"/>
              </a:rPr>
              <a:t>Chapter Lead</a:t>
            </a:r>
            <a:r>
              <a:rPr lang="en-US" sz="2000" dirty="0">
                <a:latin typeface="Arial" panose="020B0604020202020204" pitchFamily="34" charset="0"/>
                <a:cs typeface="Arial" panose="020B0604020202020204" pitchFamily="34" charset="0"/>
              </a:rPr>
              <a:t> who focuses on career development and technical alignment.</a:t>
            </a:r>
          </a:p>
          <a:p>
            <a:pPr>
              <a:buFont typeface="Arial" panose="020B0604020202020204" pitchFamily="34" charset="0"/>
              <a:buChar char="•"/>
            </a:pPr>
            <a:r>
              <a:rPr lang="en-US" sz="2000" dirty="0">
                <a:latin typeface="Arial" panose="020B0604020202020204" pitchFamily="34" charset="0"/>
                <a:cs typeface="Arial" panose="020B0604020202020204" pitchFamily="34" charset="0"/>
              </a:rPr>
              <a:t>Promotes </a:t>
            </a:r>
            <a:r>
              <a:rPr lang="en-US" sz="2000" b="1" dirty="0">
                <a:latin typeface="Arial" panose="020B0604020202020204" pitchFamily="34" charset="0"/>
                <a:cs typeface="Arial" panose="020B0604020202020204" pitchFamily="34" charset="0"/>
              </a:rPr>
              <a:t>knowledge sharing</a:t>
            </a:r>
            <a:r>
              <a:rPr lang="en-US" sz="2000" dirty="0">
                <a:latin typeface="Arial" panose="020B0604020202020204" pitchFamily="34" charset="0"/>
                <a:cs typeface="Arial" panose="020B0604020202020204" pitchFamily="34" charset="0"/>
              </a:rPr>
              <a:t> and </a:t>
            </a:r>
            <a:r>
              <a:rPr lang="en-US" sz="2000" b="1" dirty="0">
                <a:latin typeface="Arial" panose="020B0604020202020204" pitchFamily="34" charset="0"/>
                <a:cs typeface="Arial" panose="020B0604020202020204" pitchFamily="34" charset="0"/>
              </a:rPr>
              <a:t>best practices</a:t>
            </a:r>
            <a:r>
              <a:rPr lang="en-US" sz="2000" dirty="0">
                <a:latin typeface="Arial" panose="020B0604020202020204" pitchFamily="34" charset="0"/>
                <a:cs typeface="Arial" panose="020B0604020202020204" pitchFamily="34" charset="0"/>
              </a:rPr>
              <a:t> within the same discipline.</a:t>
            </a:r>
          </a:p>
          <a:p>
            <a:pPr>
              <a:buFont typeface="Arial" panose="020B0604020202020204" pitchFamily="34" charset="0"/>
              <a:buChar char="•"/>
            </a:pPr>
            <a:r>
              <a:rPr lang="en-US" sz="2000" dirty="0">
                <a:latin typeface="Arial" panose="020B0604020202020204" pitchFamily="34" charset="0"/>
                <a:cs typeface="Arial" panose="020B0604020202020204" pitchFamily="34" charset="0"/>
              </a:rPr>
              <a:t>Ensures </a:t>
            </a:r>
            <a:r>
              <a:rPr lang="en-US" sz="2000" b="1" dirty="0">
                <a:latin typeface="Arial" panose="020B0604020202020204" pitchFamily="34" charset="0"/>
                <a:cs typeface="Arial" panose="020B0604020202020204" pitchFamily="34" charset="0"/>
              </a:rPr>
              <a:t>consistency</a:t>
            </a:r>
            <a:r>
              <a:rPr lang="en-US" sz="2000" dirty="0">
                <a:latin typeface="Arial" panose="020B0604020202020204" pitchFamily="34" charset="0"/>
                <a:cs typeface="Arial" panose="020B0604020202020204" pitchFamily="34" charset="0"/>
              </a:rPr>
              <a:t> in practices and standards across Squads.</a:t>
            </a:r>
          </a:p>
          <a:p>
            <a:endParaRPr lang="en-US" sz="2000" dirty="0">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879ED031-567C-9869-5FC4-0CB13DEE518F}"/>
              </a:ext>
            </a:extLst>
          </p:cNvPr>
          <p:cNvPicPr>
            <a:picLocks noChangeAspect="1"/>
          </p:cNvPicPr>
          <p:nvPr/>
        </p:nvPicPr>
        <p:blipFill>
          <a:blip r:embed="rId2"/>
          <a:stretch>
            <a:fillRect/>
          </a:stretch>
        </p:blipFill>
        <p:spPr>
          <a:xfrm>
            <a:off x="6172200" y="2511584"/>
            <a:ext cx="5181600" cy="2979420"/>
          </a:xfrm>
          <a:prstGeom prst="rect">
            <a:avLst/>
          </a:prstGeom>
          <a:noFill/>
        </p:spPr>
      </p:pic>
      <p:sp>
        <p:nvSpPr>
          <p:cNvPr id="5" name="Slide Number Placeholder 4">
            <a:extLst>
              <a:ext uri="{FF2B5EF4-FFF2-40B4-BE49-F238E27FC236}">
                <a16:creationId xmlns:a16="http://schemas.microsoft.com/office/drawing/2014/main" id="{542CFC01-C00B-1D1B-2A84-F012347600AA}"/>
              </a:ext>
            </a:extLst>
          </p:cNvPr>
          <p:cNvSpPr>
            <a:spLocks noGrp="1"/>
          </p:cNvSpPr>
          <p:nvPr>
            <p:ph type="sldNum" sz="quarter" idx="12"/>
          </p:nvPr>
        </p:nvSpPr>
        <p:spPr>
          <a:xfrm>
            <a:off x="9375913" y="6276840"/>
            <a:ext cx="2743200" cy="365125"/>
          </a:xfrm>
        </p:spPr>
        <p:txBody>
          <a:bodyPr anchor="ctr">
            <a:normAutofit/>
          </a:bodyPr>
          <a:lstStyle/>
          <a:p>
            <a:pPr>
              <a:spcAft>
                <a:spcPts val="600"/>
              </a:spcAft>
            </a:pPr>
            <a:fld id="{4267CD5E-26CF-4249-8540-BB1D07FD4227}" type="slidenum">
              <a:rPr lang="en-US" smtClean="0"/>
              <a:pPr>
                <a:spcAft>
                  <a:spcPts val="600"/>
                </a:spcAft>
              </a:pPr>
              <a:t>21</a:t>
            </a:fld>
            <a:endParaRPr lang="en-US"/>
          </a:p>
        </p:txBody>
      </p:sp>
    </p:spTree>
    <p:extLst>
      <p:ext uri="{BB962C8B-B14F-4D97-AF65-F5344CB8AC3E}">
        <p14:creationId xmlns:p14="http://schemas.microsoft.com/office/powerpoint/2010/main" val="38368344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07D5E4-EB47-9117-A3B0-797EE7F801EF}"/>
              </a:ext>
            </a:extLst>
          </p:cNvPr>
          <p:cNvSpPr>
            <a:spLocks noGrp="1"/>
          </p:cNvSpPr>
          <p:nvPr>
            <p:ph type="title"/>
          </p:nvPr>
        </p:nvSpPr>
        <p:spPr>
          <a:xfrm>
            <a:off x="644769" y="365125"/>
            <a:ext cx="10710619" cy="1325563"/>
          </a:xfrm>
        </p:spPr>
        <p:txBody>
          <a:bodyPr anchor="t">
            <a:normAutofit/>
          </a:bodyPr>
          <a:lstStyle/>
          <a:p>
            <a:r>
              <a:rPr lang="en-US"/>
              <a:t>Chapter </a:t>
            </a:r>
          </a:p>
        </p:txBody>
      </p:sp>
      <p:sp>
        <p:nvSpPr>
          <p:cNvPr id="3" name="Content Placeholder 2">
            <a:extLst>
              <a:ext uri="{FF2B5EF4-FFF2-40B4-BE49-F238E27FC236}">
                <a16:creationId xmlns:a16="http://schemas.microsoft.com/office/drawing/2014/main" id="{49359734-AA39-5F42-0CCE-16A426D77C29}"/>
              </a:ext>
            </a:extLst>
          </p:cNvPr>
          <p:cNvSpPr>
            <a:spLocks noGrp="1"/>
          </p:cNvSpPr>
          <p:nvPr>
            <p:ph sz="half" idx="1"/>
          </p:nvPr>
        </p:nvSpPr>
        <p:spPr>
          <a:xfrm>
            <a:off x="644769" y="1825625"/>
            <a:ext cx="5181600" cy="4351339"/>
          </a:xfrm>
        </p:spPr>
        <p:txBody>
          <a:bodyPr>
            <a:normAutofit/>
          </a:bodyPr>
          <a:lstStyle/>
          <a:p>
            <a:r>
              <a:rPr lang="en-US" sz="2000" dirty="0">
                <a:latin typeface="Arial" panose="020B0604020202020204" pitchFamily="34" charset="0"/>
                <a:cs typeface="Arial" panose="020B0604020202020204" pitchFamily="34" charset="0"/>
              </a:rPr>
              <a:t>Take advantage of economies of scale without loss of autonomy</a:t>
            </a:r>
          </a:p>
          <a:p>
            <a:r>
              <a:rPr lang="en-US" sz="2000" dirty="0">
                <a:latin typeface="Arial" panose="020B0604020202020204" pitchFamily="34" charset="0"/>
                <a:cs typeface="Arial" panose="020B0604020202020204" pitchFamily="34" charset="0"/>
              </a:rPr>
              <a:t> People with similar interests, e.g. testing, databases, </a:t>
            </a:r>
            <a:r>
              <a:rPr lang="en-US" sz="2000" dirty="0" err="1">
                <a:latin typeface="Arial" panose="020B0604020202020204" pitchFamily="34" charset="0"/>
                <a:cs typeface="Arial" panose="020B0604020202020204" pitchFamily="34" charset="0"/>
              </a:rPr>
              <a:t>etc</a:t>
            </a:r>
            <a:r>
              <a:rPr lang="en-US" sz="2000" dirty="0">
                <a:latin typeface="Arial" panose="020B0604020202020204" pitchFamily="34" charset="0"/>
                <a:cs typeface="Arial" panose="020B0604020202020204" pitchFamily="34" charset="0"/>
              </a:rPr>
              <a:t>…</a:t>
            </a:r>
          </a:p>
          <a:p>
            <a:r>
              <a:rPr lang="en-US" sz="2000" dirty="0">
                <a:latin typeface="Arial" panose="020B0604020202020204" pitchFamily="34" charset="0"/>
                <a:cs typeface="Arial" panose="020B0604020202020204" pitchFamily="34" charset="0"/>
              </a:rPr>
              <a:t> Focus on competencies</a:t>
            </a:r>
          </a:p>
          <a:p>
            <a:r>
              <a:rPr lang="en-US" sz="2000" dirty="0">
                <a:latin typeface="Arial" panose="020B0604020202020204" pitchFamily="34" charset="0"/>
                <a:cs typeface="Arial" panose="020B0604020202020204" pitchFamily="34" charset="0"/>
              </a:rPr>
              <a:t> Chapter lead is line manager</a:t>
            </a:r>
          </a:p>
        </p:txBody>
      </p:sp>
      <p:pic>
        <p:nvPicPr>
          <p:cNvPr id="7" name="Picture 6">
            <a:extLst>
              <a:ext uri="{FF2B5EF4-FFF2-40B4-BE49-F238E27FC236}">
                <a16:creationId xmlns:a16="http://schemas.microsoft.com/office/drawing/2014/main" id="{CE38E7FE-E84F-C9AA-5D61-DDD0F30A55F2}"/>
              </a:ext>
            </a:extLst>
          </p:cNvPr>
          <p:cNvPicPr>
            <a:picLocks noChangeAspect="1"/>
          </p:cNvPicPr>
          <p:nvPr/>
        </p:nvPicPr>
        <p:blipFill>
          <a:blip r:embed="rId2"/>
          <a:stretch>
            <a:fillRect/>
          </a:stretch>
        </p:blipFill>
        <p:spPr>
          <a:xfrm>
            <a:off x="6172200" y="2511584"/>
            <a:ext cx="5181600" cy="2979420"/>
          </a:xfrm>
          <a:prstGeom prst="rect">
            <a:avLst/>
          </a:prstGeom>
          <a:noFill/>
        </p:spPr>
      </p:pic>
      <p:sp>
        <p:nvSpPr>
          <p:cNvPr id="5" name="Slide Number Placeholder 4">
            <a:extLst>
              <a:ext uri="{FF2B5EF4-FFF2-40B4-BE49-F238E27FC236}">
                <a16:creationId xmlns:a16="http://schemas.microsoft.com/office/drawing/2014/main" id="{199DB42B-4EA4-628B-B314-A5214628C30C}"/>
              </a:ext>
            </a:extLst>
          </p:cNvPr>
          <p:cNvSpPr>
            <a:spLocks noGrp="1"/>
          </p:cNvSpPr>
          <p:nvPr>
            <p:ph type="sldNum" sz="quarter" idx="12"/>
          </p:nvPr>
        </p:nvSpPr>
        <p:spPr>
          <a:xfrm>
            <a:off x="9375913" y="6276840"/>
            <a:ext cx="2743200" cy="365125"/>
          </a:xfrm>
        </p:spPr>
        <p:txBody>
          <a:bodyPr anchor="ctr">
            <a:normAutofit/>
          </a:bodyPr>
          <a:lstStyle/>
          <a:p>
            <a:pPr>
              <a:spcAft>
                <a:spcPts val="600"/>
              </a:spcAft>
            </a:pPr>
            <a:fld id="{4267CD5E-26CF-4249-8540-BB1D07FD4227}" type="slidenum">
              <a:rPr lang="en-US" smtClean="0"/>
              <a:pPr>
                <a:spcAft>
                  <a:spcPts val="600"/>
                </a:spcAft>
              </a:pPr>
              <a:t>22</a:t>
            </a:fld>
            <a:endParaRPr lang="en-US"/>
          </a:p>
        </p:txBody>
      </p:sp>
    </p:spTree>
    <p:extLst>
      <p:ext uri="{BB962C8B-B14F-4D97-AF65-F5344CB8AC3E}">
        <p14:creationId xmlns:p14="http://schemas.microsoft.com/office/powerpoint/2010/main" val="241979734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2E9D76-C809-7583-1339-26ABD4F5CB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3539D9-BD58-5E0C-A80F-020330034CB6}"/>
              </a:ext>
            </a:extLst>
          </p:cNvPr>
          <p:cNvSpPr>
            <a:spLocks noGrp="1"/>
          </p:cNvSpPr>
          <p:nvPr>
            <p:ph type="title"/>
          </p:nvPr>
        </p:nvSpPr>
        <p:spPr>
          <a:xfrm>
            <a:off x="644769" y="365125"/>
            <a:ext cx="10710619" cy="1325563"/>
          </a:xfrm>
        </p:spPr>
        <p:txBody>
          <a:bodyPr anchor="t">
            <a:normAutofit/>
          </a:bodyPr>
          <a:lstStyle/>
          <a:p>
            <a:r>
              <a:rPr lang="en-US" dirty="0"/>
              <a:t>Guild – Community of Interest</a:t>
            </a:r>
          </a:p>
        </p:txBody>
      </p:sp>
      <p:pic>
        <p:nvPicPr>
          <p:cNvPr id="7" name="Picture 6">
            <a:extLst>
              <a:ext uri="{FF2B5EF4-FFF2-40B4-BE49-F238E27FC236}">
                <a16:creationId xmlns:a16="http://schemas.microsoft.com/office/drawing/2014/main" id="{CDED5C32-D6FD-CB5F-84E1-D515C3C5A915}"/>
              </a:ext>
            </a:extLst>
          </p:cNvPr>
          <p:cNvPicPr>
            <a:picLocks noChangeAspect="1"/>
          </p:cNvPicPr>
          <p:nvPr/>
        </p:nvPicPr>
        <p:blipFill>
          <a:blip r:embed="rId2"/>
          <a:stretch>
            <a:fillRect/>
          </a:stretch>
        </p:blipFill>
        <p:spPr>
          <a:xfrm>
            <a:off x="644769" y="2511584"/>
            <a:ext cx="5181600" cy="2979420"/>
          </a:xfrm>
          <a:prstGeom prst="rect">
            <a:avLst/>
          </a:prstGeom>
          <a:noFill/>
        </p:spPr>
      </p:pic>
      <p:sp>
        <p:nvSpPr>
          <p:cNvPr id="3" name="Content Placeholder 2">
            <a:extLst>
              <a:ext uri="{FF2B5EF4-FFF2-40B4-BE49-F238E27FC236}">
                <a16:creationId xmlns:a16="http://schemas.microsoft.com/office/drawing/2014/main" id="{A2E1DC39-553D-0BC5-1AE3-629023D0ACAF}"/>
              </a:ext>
            </a:extLst>
          </p:cNvPr>
          <p:cNvSpPr>
            <a:spLocks noGrp="1"/>
          </p:cNvSpPr>
          <p:nvPr>
            <p:ph sz="half" idx="2"/>
          </p:nvPr>
        </p:nvSpPr>
        <p:spPr>
          <a:xfrm>
            <a:off x="6172200" y="1687513"/>
            <a:ext cx="5181600" cy="4351339"/>
          </a:xfrm>
        </p:spPr>
        <p:txBody>
          <a:bodyPr>
            <a:normAutofit fontScale="92500" lnSpcReduction="10000"/>
          </a:bodyPr>
          <a:lstStyle/>
          <a:p>
            <a:pPr>
              <a:buNone/>
            </a:pPr>
            <a:endParaRPr lang="en-US" sz="2000" dirty="0">
              <a:latin typeface="Arial" panose="020B0604020202020204" pitchFamily="34" charset="0"/>
              <a:cs typeface="Arial" panose="020B0604020202020204" pitchFamily="34" charset="0"/>
            </a:endParaRPr>
          </a:p>
          <a:p>
            <a:pPr>
              <a:buFont typeface="Arial" panose="020B0604020202020204" pitchFamily="34" charset="0"/>
              <a:buChar char="•"/>
            </a:pPr>
            <a:r>
              <a:rPr lang="en-US" sz="2000" dirty="0">
                <a:latin typeface="Arial" panose="020B0604020202020204" pitchFamily="34" charset="0"/>
                <a:cs typeface="Arial" panose="020B0604020202020204" pitchFamily="34" charset="0"/>
              </a:rPr>
              <a:t>A </a:t>
            </a:r>
            <a:r>
              <a:rPr lang="en-US" sz="2000" b="1" dirty="0">
                <a:latin typeface="Arial" panose="020B0604020202020204" pitchFamily="34" charset="0"/>
                <a:cs typeface="Arial" panose="020B0604020202020204" pitchFamily="34" charset="0"/>
              </a:rPr>
              <a:t>Guild</a:t>
            </a:r>
            <a:r>
              <a:rPr lang="en-US" sz="2000" dirty="0">
                <a:latin typeface="Arial" panose="020B0604020202020204" pitchFamily="34" charset="0"/>
                <a:cs typeface="Arial" panose="020B0604020202020204" pitchFamily="34" charset="0"/>
              </a:rPr>
              <a:t> is a community of people with </a:t>
            </a:r>
            <a:r>
              <a:rPr lang="en-US" sz="2000" b="1" dirty="0">
                <a:latin typeface="Arial" panose="020B0604020202020204" pitchFamily="34" charset="0"/>
                <a:cs typeface="Arial" panose="020B0604020202020204" pitchFamily="34" charset="0"/>
              </a:rPr>
              <a:t>shared interests</a:t>
            </a:r>
            <a:r>
              <a:rPr lang="en-US" sz="2000" dirty="0">
                <a:latin typeface="Arial" panose="020B0604020202020204" pitchFamily="34" charset="0"/>
                <a:cs typeface="Arial" panose="020B0604020202020204" pitchFamily="34" charset="0"/>
              </a:rPr>
              <a:t> or expertise across different Tribes and Squads.</a:t>
            </a:r>
          </a:p>
          <a:p>
            <a:pPr>
              <a:buFont typeface="Arial" panose="020B0604020202020204" pitchFamily="34" charset="0"/>
              <a:buChar char="•"/>
            </a:pPr>
            <a:r>
              <a:rPr lang="en-US" sz="2000" dirty="0">
                <a:latin typeface="Arial" panose="020B0604020202020204" pitchFamily="34" charset="0"/>
                <a:cs typeface="Arial" panose="020B0604020202020204" pitchFamily="34" charset="0"/>
              </a:rPr>
              <a:t>It’s a </a:t>
            </a:r>
            <a:r>
              <a:rPr lang="en-US" sz="2000" b="1" dirty="0">
                <a:latin typeface="Arial" panose="020B0604020202020204" pitchFamily="34" charset="0"/>
                <a:cs typeface="Arial" panose="020B0604020202020204" pitchFamily="34" charset="0"/>
              </a:rPr>
              <a:t>voluntary group</a:t>
            </a:r>
            <a:r>
              <a:rPr lang="en-US" sz="2000" dirty="0">
                <a:latin typeface="Arial" panose="020B0604020202020204" pitchFamily="34" charset="0"/>
                <a:cs typeface="Arial" panose="020B0604020202020204" pitchFamily="34" charset="0"/>
              </a:rPr>
              <a:t> that focuses on knowledge sharing, learning, and innovation.</a:t>
            </a:r>
          </a:p>
          <a:p>
            <a:pPr>
              <a:buFont typeface="Arial" panose="020B0604020202020204" pitchFamily="34" charset="0"/>
              <a:buChar char="•"/>
            </a:pPr>
            <a:r>
              <a:rPr lang="en-US" sz="2000" dirty="0">
                <a:latin typeface="Arial" panose="020B0604020202020204" pitchFamily="34" charset="0"/>
                <a:cs typeface="Arial" panose="020B0604020202020204" pitchFamily="34" charset="0"/>
              </a:rPr>
              <a:t>Members may come from different disciplines (e.g., backend, frontend, data science).</a:t>
            </a:r>
          </a:p>
          <a:p>
            <a:pPr>
              <a:buFont typeface="Arial" panose="020B0604020202020204" pitchFamily="34" charset="0"/>
              <a:buChar char="•"/>
            </a:pPr>
            <a:r>
              <a:rPr lang="en-US" sz="2000" dirty="0">
                <a:latin typeface="Arial" panose="020B0604020202020204" pitchFamily="34" charset="0"/>
                <a:cs typeface="Arial" panose="020B0604020202020204" pitchFamily="34" charset="0"/>
              </a:rPr>
              <a:t>Led by </a:t>
            </a:r>
            <a:r>
              <a:rPr lang="en-US" sz="2000" b="1" dirty="0">
                <a:latin typeface="Arial" panose="020B0604020202020204" pitchFamily="34" charset="0"/>
                <a:cs typeface="Arial" panose="020B0604020202020204" pitchFamily="34" charset="0"/>
              </a:rPr>
              <a:t>Guild Coordinators</a:t>
            </a:r>
            <a:r>
              <a:rPr lang="en-US" sz="2000" dirty="0">
                <a:latin typeface="Arial" panose="020B0604020202020204" pitchFamily="34" charset="0"/>
                <a:cs typeface="Arial" panose="020B0604020202020204" pitchFamily="34" charset="0"/>
              </a:rPr>
              <a:t>, not managers, to foster collaboration.</a:t>
            </a:r>
          </a:p>
          <a:p>
            <a:pPr>
              <a:buFont typeface="Arial" panose="020B0604020202020204" pitchFamily="34" charset="0"/>
              <a:buChar char="•"/>
            </a:pPr>
            <a:r>
              <a:rPr lang="en-US" sz="2000" dirty="0">
                <a:latin typeface="Arial" panose="020B0604020202020204" pitchFamily="34" charset="0"/>
                <a:cs typeface="Arial" panose="020B0604020202020204" pitchFamily="34" charset="0"/>
              </a:rPr>
              <a:t>Promotes </a:t>
            </a:r>
            <a:r>
              <a:rPr lang="en-US" sz="2000" b="1" dirty="0">
                <a:latin typeface="Arial" panose="020B0604020202020204" pitchFamily="34" charset="0"/>
                <a:cs typeface="Arial" panose="020B0604020202020204" pitchFamily="34" charset="0"/>
              </a:rPr>
              <a:t>cross-team</a:t>
            </a:r>
            <a:r>
              <a:rPr lang="en-US" sz="2000" dirty="0">
                <a:latin typeface="Arial" panose="020B0604020202020204" pitchFamily="34" charset="0"/>
                <a:cs typeface="Arial" panose="020B0604020202020204" pitchFamily="34" charset="0"/>
              </a:rPr>
              <a:t> collaboration and </a:t>
            </a:r>
            <a:r>
              <a:rPr lang="en-US" sz="2000" b="1" dirty="0">
                <a:latin typeface="Arial" panose="020B0604020202020204" pitchFamily="34" charset="0"/>
                <a:cs typeface="Arial" panose="020B0604020202020204" pitchFamily="34" charset="0"/>
              </a:rPr>
              <a:t>continuous improvement</a:t>
            </a:r>
            <a:r>
              <a:rPr lang="en-US" sz="2000" dirty="0">
                <a:latin typeface="Arial" panose="020B0604020202020204" pitchFamily="34" charset="0"/>
                <a:cs typeface="Arial" panose="020B0604020202020204" pitchFamily="34" charset="0"/>
              </a:rPr>
              <a:t> in specific areas of interest.</a:t>
            </a:r>
          </a:p>
          <a:p>
            <a:endParaRPr lang="en-US" sz="2000" dirty="0">
              <a:latin typeface="Arial" panose="020B0604020202020204" pitchFamily="34" charset="0"/>
              <a:cs typeface="Arial" panose="020B0604020202020204" pitchFamily="34" charset="0"/>
            </a:endParaRPr>
          </a:p>
        </p:txBody>
      </p:sp>
      <p:sp>
        <p:nvSpPr>
          <p:cNvPr id="5" name="Slide Number Placeholder 4">
            <a:extLst>
              <a:ext uri="{FF2B5EF4-FFF2-40B4-BE49-F238E27FC236}">
                <a16:creationId xmlns:a16="http://schemas.microsoft.com/office/drawing/2014/main" id="{4F6B2D42-1BC7-5F9B-995A-B7D20CCF8F44}"/>
              </a:ext>
            </a:extLst>
          </p:cNvPr>
          <p:cNvSpPr>
            <a:spLocks noGrp="1"/>
          </p:cNvSpPr>
          <p:nvPr>
            <p:ph type="sldNum" sz="quarter" idx="12"/>
          </p:nvPr>
        </p:nvSpPr>
        <p:spPr>
          <a:xfrm>
            <a:off x="9375913" y="6276840"/>
            <a:ext cx="2743200" cy="365125"/>
          </a:xfrm>
        </p:spPr>
        <p:txBody>
          <a:bodyPr anchor="ctr">
            <a:normAutofit/>
          </a:bodyPr>
          <a:lstStyle/>
          <a:p>
            <a:pPr>
              <a:spcAft>
                <a:spcPts val="600"/>
              </a:spcAft>
            </a:pPr>
            <a:fld id="{4267CD5E-26CF-4249-8540-BB1D07FD4227}" type="slidenum">
              <a:rPr lang="en-US" smtClean="0"/>
              <a:pPr>
                <a:spcAft>
                  <a:spcPts val="600"/>
                </a:spcAft>
              </a:pPr>
              <a:t>23</a:t>
            </a:fld>
            <a:endParaRPr lang="en-US"/>
          </a:p>
        </p:txBody>
      </p:sp>
    </p:spTree>
    <p:extLst>
      <p:ext uri="{BB962C8B-B14F-4D97-AF65-F5344CB8AC3E}">
        <p14:creationId xmlns:p14="http://schemas.microsoft.com/office/powerpoint/2010/main" val="26297300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120013-7EB3-6D13-940A-C09D3278343D}"/>
              </a:ext>
            </a:extLst>
          </p:cNvPr>
          <p:cNvSpPr>
            <a:spLocks noGrp="1"/>
          </p:cNvSpPr>
          <p:nvPr>
            <p:ph type="title"/>
          </p:nvPr>
        </p:nvSpPr>
        <p:spPr>
          <a:xfrm>
            <a:off x="644769" y="365125"/>
            <a:ext cx="10710619" cy="1325563"/>
          </a:xfrm>
        </p:spPr>
        <p:txBody>
          <a:bodyPr anchor="t">
            <a:normAutofit/>
          </a:bodyPr>
          <a:lstStyle/>
          <a:p>
            <a:r>
              <a:rPr lang="en-US"/>
              <a:t>Guild – Community of Interest</a:t>
            </a:r>
          </a:p>
        </p:txBody>
      </p:sp>
      <p:pic>
        <p:nvPicPr>
          <p:cNvPr id="7" name="Picture 6">
            <a:extLst>
              <a:ext uri="{FF2B5EF4-FFF2-40B4-BE49-F238E27FC236}">
                <a16:creationId xmlns:a16="http://schemas.microsoft.com/office/drawing/2014/main" id="{416238B8-4D76-0D4F-B9CC-9D0808BA9496}"/>
              </a:ext>
            </a:extLst>
          </p:cNvPr>
          <p:cNvPicPr>
            <a:picLocks noChangeAspect="1"/>
          </p:cNvPicPr>
          <p:nvPr/>
        </p:nvPicPr>
        <p:blipFill>
          <a:blip r:embed="rId2"/>
          <a:stretch>
            <a:fillRect/>
          </a:stretch>
        </p:blipFill>
        <p:spPr>
          <a:xfrm>
            <a:off x="644769" y="2511584"/>
            <a:ext cx="5181600" cy="2979420"/>
          </a:xfrm>
          <a:prstGeom prst="rect">
            <a:avLst/>
          </a:prstGeom>
          <a:noFill/>
        </p:spPr>
      </p:pic>
      <p:sp>
        <p:nvSpPr>
          <p:cNvPr id="3" name="Content Placeholder 2">
            <a:extLst>
              <a:ext uri="{FF2B5EF4-FFF2-40B4-BE49-F238E27FC236}">
                <a16:creationId xmlns:a16="http://schemas.microsoft.com/office/drawing/2014/main" id="{F34A5B18-5CC8-EC9E-1D00-8FC19DEB4C42}"/>
              </a:ext>
            </a:extLst>
          </p:cNvPr>
          <p:cNvSpPr>
            <a:spLocks noGrp="1"/>
          </p:cNvSpPr>
          <p:nvPr>
            <p:ph sz="half" idx="2"/>
          </p:nvPr>
        </p:nvSpPr>
        <p:spPr>
          <a:xfrm>
            <a:off x="6172200" y="1825625"/>
            <a:ext cx="5181600" cy="4351339"/>
          </a:xfrm>
        </p:spPr>
        <p:txBody>
          <a:bodyPr>
            <a:normAutofit/>
          </a:bodyPr>
          <a:lstStyle/>
          <a:p>
            <a:r>
              <a:rPr lang="en-US" sz="2000" dirty="0">
                <a:latin typeface="Arial" panose="020B0604020202020204" pitchFamily="34" charset="0"/>
                <a:cs typeface="Arial" panose="020B0604020202020204" pitchFamily="34" charset="0"/>
              </a:rPr>
              <a:t>Guild members share a common interest and share information </a:t>
            </a:r>
          </a:p>
          <a:p>
            <a:pPr lvl="1"/>
            <a:r>
              <a:rPr lang="en-US" sz="2000" dirty="0">
                <a:latin typeface="Arial" panose="020B0604020202020204" pitchFamily="34" charset="0"/>
                <a:cs typeface="Arial" panose="020B0604020202020204" pitchFamily="34" charset="0"/>
              </a:rPr>
              <a:t>e.g. database technology, processes, etc.</a:t>
            </a:r>
          </a:p>
          <a:p>
            <a:r>
              <a:rPr lang="en-US" sz="2000" dirty="0">
                <a:latin typeface="Arial" panose="020B0604020202020204" pitchFamily="34" charset="0"/>
                <a:cs typeface="Arial" panose="020B0604020202020204" pitchFamily="34" charset="0"/>
              </a:rPr>
              <a:t> Birds of a Feather (BOF) groups</a:t>
            </a:r>
          </a:p>
        </p:txBody>
      </p:sp>
      <p:sp>
        <p:nvSpPr>
          <p:cNvPr id="5" name="Slide Number Placeholder 4">
            <a:extLst>
              <a:ext uri="{FF2B5EF4-FFF2-40B4-BE49-F238E27FC236}">
                <a16:creationId xmlns:a16="http://schemas.microsoft.com/office/drawing/2014/main" id="{999320F7-2FD6-21D2-C943-413CE800B421}"/>
              </a:ext>
            </a:extLst>
          </p:cNvPr>
          <p:cNvSpPr>
            <a:spLocks noGrp="1"/>
          </p:cNvSpPr>
          <p:nvPr>
            <p:ph type="sldNum" sz="quarter" idx="12"/>
          </p:nvPr>
        </p:nvSpPr>
        <p:spPr>
          <a:xfrm>
            <a:off x="9375913" y="6276840"/>
            <a:ext cx="2743200" cy="365125"/>
          </a:xfrm>
        </p:spPr>
        <p:txBody>
          <a:bodyPr anchor="ctr">
            <a:normAutofit/>
          </a:bodyPr>
          <a:lstStyle/>
          <a:p>
            <a:pPr>
              <a:spcAft>
                <a:spcPts val="600"/>
              </a:spcAft>
            </a:pPr>
            <a:fld id="{4267CD5E-26CF-4249-8540-BB1D07FD4227}" type="slidenum">
              <a:rPr lang="en-US" smtClean="0"/>
              <a:pPr>
                <a:spcAft>
                  <a:spcPts val="600"/>
                </a:spcAft>
              </a:pPr>
              <a:t>24</a:t>
            </a:fld>
            <a:endParaRPr lang="en-US"/>
          </a:p>
        </p:txBody>
      </p:sp>
    </p:spTree>
    <p:extLst>
      <p:ext uri="{BB962C8B-B14F-4D97-AF65-F5344CB8AC3E}">
        <p14:creationId xmlns:p14="http://schemas.microsoft.com/office/powerpoint/2010/main" val="299479600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1FDEA4-3E52-0735-3D5B-D785AB3A7B13}"/>
              </a:ext>
            </a:extLst>
          </p:cNvPr>
          <p:cNvSpPr>
            <a:spLocks noGrp="1"/>
          </p:cNvSpPr>
          <p:nvPr>
            <p:ph type="title"/>
          </p:nvPr>
        </p:nvSpPr>
        <p:spPr/>
        <p:txBody>
          <a:bodyPr>
            <a:normAutofit/>
          </a:bodyPr>
          <a:lstStyle/>
          <a:p>
            <a:r>
              <a:rPr lang="en-US" sz="4400" dirty="0"/>
              <a:t>System Owner </a:t>
            </a:r>
          </a:p>
        </p:txBody>
      </p:sp>
      <p:sp>
        <p:nvSpPr>
          <p:cNvPr id="3" name="Content Placeholder 2">
            <a:extLst>
              <a:ext uri="{FF2B5EF4-FFF2-40B4-BE49-F238E27FC236}">
                <a16:creationId xmlns:a16="http://schemas.microsoft.com/office/drawing/2014/main" id="{67499FAE-1DE8-79A3-0248-A371EA6BA78C}"/>
              </a:ext>
            </a:extLst>
          </p:cNvPr>
          <p:cNvSpPr>
            <a:spLocks noGrp="1"/>
          </p:cNvSpPr>
          <p:nvPr>
            <p:ph sz="half" idx="1"/>
          </p:nvPr>
        </p:nvSpPr>
        <p:spPr>
          <a:xfrm>
            <a:off x="644768" y="1825625"/>
            <a:ext cx="10710619" cy="4351339"/>
          </a:xfrm>
        </p:spPr>
        <p:txBody>
          <a:bodyPr>
            <a:normAutofit/>
          </a:bodyPr>
          <a:lstStyle/>
          <a:p>
            <a:r>
              <a:rPr lang="en-US" sz="2400" dirty="0">
                <a:latin typeface="Arial" panose="020B0604020202020204" pitchFamily="34" charset="0"/>
                <a:cs typeface="Arial" panose="020B0604020202020204" pitchFamily="34" charset="0"/>
              </a:rPr>
              <a:t>A large, complex system requires technical oversight to ensure technical integrity</a:t>
            </a:r>
          </a:p>
          <a:p>
            <a:pPr lvl="1"/>
            <a:r>
              <a:rPr lang="en-US" sz="2000" dirty="0">
                <a:latin typeface="Arial" panose="020B0604020202020204" pitchFamily="34" charset="0"/>
                <a:cs typeface="Arial" panose="020B0604020202020204" pitchFamily="34" charset="0"/>
              </a:rPr>
              <a:t>Need an overall architecture</a:t>
            </a:r>
          </a:p>
          <a:p>
            <a:r>
              <a:rPr lang="en-US" sz="2400" dirty="0">
                <a:latin typeface="Arial" panose="020B0604020202020204" pitchFamily="34" charset="0"/>
                <a:cs typeface="Arial" panose="020B0604020202020204" pitchFamily="34" charset="0"/>
              </a:rPr>
              <a:t> Each major system has a System Owner </a:t>
            </a:r>
          </a:p>
          <a:p>
            <a:r>
              <a:rPr lang="en-US" sz="2400" dirty="0">
                <a:latin typeface="Arial" panose="020B0604020202020204" pitchFamily="34" charset="0"/>
                <a:cs typeface="Arial" panose="020B0604020202020204" pitchFamily="34" charset="0"/>
              </a:rPr>
              <a:t>System Owner coordinates decisions about the system</a:t>
            </a:r>
          </a:p>
          <a:p>
            <a:r>
              <a:rPr lang="en-US" sz="2400" dirty="0">
                <a:latin typeface="Arial" panose="020B0604020202020204" pitchFamily="34" charset="0"/>
                <a:cs typeface="Arial" panose="020B0604020202020204" pitchFamily="34" charset="0"/>
              </a:rPr>
              <a:t>Owns quality, documentation, technical debt, reliability, scalability, etc.</a:t>
            </a:r>
          </a:p>
          <a:p>
            <a:r>
              <a:rPr lang="en-US" sz="2400" dirty="0">
                <a:latin typeface="Arial" panose="020B0604020202020204" pitchFamily="34" charset="0"/>
                <a:cs typeface="Arial" panose="020B0604020202020204" pitchFamily="34" charset="0"/>
              </a:rPr>
              <a:t>Part time responsibility along with development</a:t>
            </a:r>
          </a:p>
        </p:txBody>
      </p:sp>
      <p:sp>
        <p:nvSpPr>
          <p:cNvPr id="5" name="Slide Number Placeholder 4">
            <a:extLst>
              <a:ext uri="{FF2B5EF4-FFF2-40B4-BE49-F238E27FC236}">
                <a16:creationId xmlns:a16="http://schemas.microsoft.com/office/drawing/2014/main" id="{8FF4DFE8-606C-D7CA-FCC6-1CE88A4CDBD8}"/>
              </a:ext>
            </a:extLst>
          </p:cNvPr>
          <p:cNvSpPr>
            <a:spLocks noGrp="1"/>
          </p:cNvSpPr>
          <p:nvPr>
            <p:ph type="sldNum" sz="quarter" idx="12"/>
          </p:nvPr>
        </p:nvSpPr>
        <p:spPr/>
        <p:txBody>
          <a:bodyPr/>
          <a:lstStyle/>
          <a:p>
            <a:fld id="{4267CD5E-26CF-4249-8540-BB1D07FD4227}" type="slidenum">
              <a:rPr lang="en-US" smtClean="0"/>
              <a:t>25</a:t>
            </a:fld>
            <a:endParaRPr lang="en-US"/>
          </a:p>
        </p:txBody>
      </p:sp>
    </p:spTree>
    <p:extLst>
      <p:ext uri="{BB962C8B-B14F-4D97-AF65-F5344CB8AC3E}">
        <p14:creationId xmlns:p14="http://schemas.microsoft.com/office/powerpoint/2010/main" val="169233343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04D851-9A44-7175-1E07-0D05C033FCD4}"/>
              </a:ext>
            </a:extLst>
          </p:cNvPr>
          <p:cNvSpPr>
            <a:spLocks noGrp="1"/>
          </p:cNvSpPr>
          <p:nvPr>
            <p:ph type="title"/>
          </p:nvPr>
        </p:nvSpPr>
        <p:spPr/>
        <p:txBody>
          <a:bodyPr>
            <a:normAutofit/>
          </a:bodyPr>
          <a:lstStyle/>
          <a:p>
            <a:r>
              <a:rPr lang="en-US" sz="4400" dirty="0"/>
              <a:t>Chief Architect </a:t>
            </a:r>
          </a:p>
        </p:txBody>
      </p:sp>
      <p:sp>
        <p:nvSpPr>
          <p:cNvPr id="3" name="Content Placeholder 2">
            <a:extLst>
              <a:ext uri="{FF2B5EF4-FFF2-40B4-BE49-F238E27FC236}">
                <a16:creationId xmlns:a16="http://schemas.microsoft.com/office/drawing/2014/main" id="{F1F466A8-05BC-D620-36D4-1D58D281E043}"/>
              </a:ext>
            </a:extLst>
          </p:cNvPr>
          <p:cNvSpPr>
            <a:spLocks noGrp="1"/>
          </p:cNvSpPr>
          <p:nvPr>
            <p:ph sz="half" idx="1"/>
          </p:nvPr>
        </p:nvSpPr>
        <p:spPr>
          <a:xfrm>
            <a:off x="644768" y="1825625"/>
            <a:ext cx="10710619" cy="4351339"/>
          </a:xfrm>
        </p:spPr>
        <p:txBody>
          <a:bodyPr>
            <a:normAutofit/>
          </a:bodyPr>
          <a:lstStyle/>
          <a:p>
            <a:r>
              <a:rPr lang="en-US" sz="2400" dirty="0">
                <a:latin typeface="Arial" panose="020B0604020202020204" pitchFamily="34" charset="0"/>
                <a:cs typeface="Arial" panose="020B0604020202020204" pitchFamily="34" charset="0"/>
              </a:rPr>
              <a:t>Responsible for high-level architecture across multiple systems</a:t>
            </a:r>
          </a:p>
          <a:p>
            <a:r>
              <a:rPr lang="en-US" sz="2400" dirty="0">
                <a:latin typeface="Arial" panose="020B0604020202020204" pitchFamily="34" charset="0"/>
                <a:cs typeface="Arial" panose="020B0604020202020204" pitchFamily="34" charset="0"/>
              </a:rPr>
              <a:t>Review new development for integrity and alignment</a:t>
            </a:r>
          </a:p>
          <a:p>
            <a:r>
              <a:rPr lang="en-US" sz="2400" dirty="0">
                <a:latin typeface="Arial" panose="020B0604020202020204" pitchFamily="34" charset="0"/>
                <a:cs typeface="Arial" panose="020B0604020202020204" pitchFamily="34" charset="0"/>
              </a:rPr>
              <a:t>Offers advice – squad is ultimately responsible</a:t>
            </a:r>
          </a:p>
        </p:txBody>
      </p:sp>
      <p:sp>
        <p:nvSpPr>
          <p:cNvPr id="5" name="Slide Number Placeholder 4">
            <a:extLst>
              <a:ext uri="{FF2B5EF4-FFF2-40B4-BE49-F238E27FC236}">
                <a16:creationId xmlns:a16="http://schemas.microsoft.com/office/drawing/2014/main" id="{0761CF60-3E83-5A9B-68B7-37F009C79CD4}"/>
              </a:ext>
            </a:extLst>
          </p:cNvPr>
          <p:cNvSpPr>
            <a:spLocks noGrp="1"/>
          </p:cNvSpPr>
          <p:nvPr>
            <p:ph type="sldNum" sz="quarter" idx="12"/>
          </p:nvPr>
        </p:nvSpPr>
        <p:spPr/>
        <p:txBody>
          <a:bodyPr/>
          <a:lstStyle/>
          <a:p>
            <a:fld id="{4267CD5E-26CF-4249-8540-BB1D07FD4227}" type="slidenum">
              <a:rPr lang="en-US" smtClean="0"/>
              <a:t>26</a:t>
            </a:fld>
            <a:endParaRPr lang="en-US"/>
          </a:p>
        </p:txBody>
      </p:sp>
    </p:spTree>
    <p:extLst>
      <p:ext uri="{BB962C8B-B14F-4D97-AF65-F5344CB8AC3E}">
        <p14:creationId xmlns:p14="http://schemas.microsoft.com/office/powerpoint/2010/main" val="298115407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5BDEB2-B7A3-2F98-DF43-F4F11A2DF1EE}"/>
              </a:ext>
            </a:extLst>
          </p:cNvPr>
          <p:cNvSpPr>
            <a:spLocks noGrp="1"/>
          </p:cNvSpPr>
          <p:nvPr>
            <p:ph type="title"/>
          </p:nvPr>
        </p:nvSpPr>
        <p:spPr>
          <a:xfrm>
            <a:off x="644769" y="365125"/>
            <a:ext cx="10710619" cy="1325563"/>
          </a:xfrm>
        </p:spPr>
        <p:txBody>
          <a:bodyPr anchor="t">
            <a:normAutofit/>
          </a:bodyPr>
          <a:lstStyle/>
          <a:p>
            <a:r>
              <a:rPr lang="en-US"/>
              <a:t>Summary of organizational structure</a:t>
            </a:r>
          </a:p>
        </p:txBody>
      </p:sp>
      <p:pic>
        <p:nvPicPr>
          <p:cNvPr id="7" name="Picture 6">
            <a:extLst>
              <a:ext uri="{FF2B5EF4-FFF2-40B4-BE49-F238E27FC236}">
                <a16:creationId xmlns:a16="http://schemas.microsoft.com/office/drawing/2014/main" id="{B73F64D9-2C0A-451C-6B1C-4C9075629709}"/>
              </a:ext>
            </a:extLst>
          </p:cNvPr>
          <p:cNvPicPr>
            <a:picLocks noChangeAspect="1"/>
          </p:cNvPicPr>
          <p:nvPr/>
        </p:nvPicPr>
        <p:blipFill>
          <a:blip r:embed="rId2"/>
          <a:stretch>
            <a:fillRect/>
          </a:stretch>
        </p:blipFill>
        <p:spPr>
          <a:xfrm>
            <a:off x="644769" y="2427857"/>
            <a:ext cx="5181600" cy="3146874"/>
          </a:xfrm>
          <a:prstGeom prst="rect">
            <a:avLst/>
          </a:prstGeom>
          <a:noFill/>
        </p:spPr>
      </p:pic>
      <p:sp>
        <p:nvSpPr>
          <p:cNvPr id="3" name="Content Placeholder 2">
            <a:extLst>
              <a:ext uri="{FF2B5EF4-FFF2-40B4-BE49-F238E27FC236}">
                <a16:creationId xmlns:a16="http://schemas.microsoft.com/office/drawing/2014/main" id="{6F6FB6B3-4026-B501-C648-5C1D92687ADF}"/>
              </a:ext>
            </a:extLst>
          </p:cNvPr>
          <p:cNvSpPr>
            <a:spLocks noGrp="1"/>
          </p:cNvSpPr>
          <p:nvPr>
            <p:ph sz="half" idx="2"/>
          </p:nvPr>
        </p:nvSpPr>
        <p:spPr>
          <a:xfrm>
            <a:off x="6172200" y="1825625"/>
            <a:ext cx="5181600" cy="4351339"/>
          </a:xfrm>
        </p:spPr>
        <p:txBody>
          <a:bodyPr>
            <a:normAutofit/>
          </a:bodyPr>
          <a:lstStyle/>
          <a:p>
            <a:r>
              <a:rPr lang="en-US" sz="2000" dirty="0">
                <a:latin typeface="Arial" panose="020B0604020202020204" pitchFamily="34" charset="0"/>
                <a:cs typeface="Arial" panose="020B0604020202020204" pitchFamily="34" charset="0"/>
              </a:rPr>
              <a:t> Squads</a:t>
            </a:r>
          </a:p>
          <a:p>
            <a:pPr lvl="1"/>
            <a:r>
              <a:rPr lang="en-US" dirty="0">
                <a:latin typeface="Arial" panose="020B0604020202020204" pitchFamily="34" charset="0"/>
                <a:cs typeface="Arial" panose="020B0604020202020204" pitchFamily="34" charset="0"/>
              </a:rPr>
              <a:t>Focus on product delivery and quality</a:t>
            </a:r>
          </a:p>
          <a:p>
            <a:r>
              <a:rPr lang="en-US" sz="2000" dirty="0">
                <a:latin typeface="Arial" panose="020B0604020202020204" pitchFamily="34" charset="0"/>
                <a:cs typeface="Arial" panose="020B0604020202020204" pitchFamily="34" charset="0"/>
              </a:rPr>
              <a:t> Tribes</a:t>
            </a:r>
          </a:p>
          <a:p>
            <a:pPr lvl="1"/>
            <a:r>
              <a:rPr lang="en-US" dirty="0">
                <a:latin typeface="Arial" panose="020B0604020202020204" pitchFamily="34" charset="0"/>
                <a:cs typeface="Arial" panose="020B0604020202020204" pitchFamily="34" charset="0"/>
              </a:rPr>
              <a:t>Lightweight matrix</a:t>
            </a:r>
          </a:p>
          <a:p>
            <a:r>
              <a:rPr lang="en-US" sz="2000" dirty="0">
                <a:latin typeface="Arial" panose="020B0604020202020204" pitchFamily="34" charset="0"/>
                <a:cs typeface="Arial" panose="020B0604020202020204" pitchFamily="34" charset="0"/>
              </a:rPr>
              <a:t> Chapter</a:t>
            </a:r>
          </a:p>
          <a:p>
            <a:pPr lvl="1"/>
            <a:r>
              <a:rPr lang="en-US" dirty="0">
                <a:latin typeface="Arial" panose="020B0604020202020204" pitchFamily="34" charset="0"/>
                <a:cs typeface="Arial" panose="020B0604020202020204" pitchFamily="34" charset="0"/>
              </a:rPr>
              <a:t>Competency area</a:t>
            </a:r>
          </a:p>
          <a:p>
            <a:pPr lvl="2"/>
            <a:r>
              <a:rPr lang="en-US" sz="1800" dirty="0">
                <a:latin typeface="Arial" panose="020B0604020202020204" pitchFamily="34" charset="0"/>
                <a:cs typeface="Arial" panose="020B0604020202020204" pitchFamily="34" charset="0"/>
              </a:rPr>
              <a:t>E.g. Agile Methods, web development, …</a:t>
            </a:r>
          </a:p>
          <a:p>
            <a:pPr lvl="1"/>
            <a:r>
              <a:rPr lang="en-US" dirty="0">
                <a:latin typeface="Arial" panose="020B0604020202020204" pitchFamily="34" charset="0"/>
                <a:cs typeface="Arial" panose="020B0604020202020204" pitchFamily="34" charset="0"/>
              </a:rPr>
              <a:t>Chapter Leader is the line manager</a:t>
            </a:r>
          </a:p>
          <a:p>
            <a:r>
              <a:rPr lang="en-US" sz="2000" dirty="0">
                <a:latin typeface="Arial" panose="020B0604020202020204" pitchFamily="34" charset="0"/>
                <a:cs typeface="Arial" panose="020B0604020202020204" pitchFamily="34" charset="0"/>
              </a:rPr>
              <a:t> Guild</a:t>
            </a:r>
          </a:p>
          <a:p>
            <a:pPr lvl="1"/>
            <a:r>
              <a:rPr lang="en-US" dirty="0">
                <a:latin typeface="Arial" panose="020B0604020202020204" pitchFamily="34" charset="0"/>
                <a:cs typeface="Arial" panose="020B0604020202020204" pitchFamily="34" charset="0"/>
              </a:rPr>
              <a:t>Lightweight community of interest across the company</a:t>
            </a:r>
          </a:p>
          <a:p>
            <a:pPr lvl="1"/>
            <a:r>
              <a:rPr lang="en-US" dirty="0">
                <a:latin typeface="Arial" panose="020B0604020202020204" pitchFamily="34" charset="0"/>
                <a:cs typeface="Arial" panose="020B0604020202020204" pitchFamily="34" charset="0"/>
              </a:rPr>
              <a:t>Flexible membership</a:t>
            </a:r>
          </a:p>
        </p:txBody>
      </p:sp>
      <p:sp>
        <p:nvSpPr>
          <p:cNvPr id="5" name="Slide Number Placeholder 4">
            <a:extLst>
              <a:ext uri="{FF2B5EF4-FFF2-40B4-BE49-F238E27FC236}">
                <a16:creationId xmlns:a16="http://schemas.microsoft.com/office/drawing/2014/main" id="{B326C80A-6BA6-A58B-F86A-015883E17955}"/>
              </a:ext>
            </a:extLst>
          </p:cNvPr>
          <p:cNvSpPr>
            <a:spLocks noGrp="1"/>
          </p:cNvSpPr>
          <p:nvPr>
            <p:ph type="sldNum" sz="quarter" idx="12"/>
          </p:nvPr>
        </p:nvSpPr>
        <p:spPr>
          <a:xfrm>
            <a:off x="9375913" y="6276840"/>
            <a:ext cx="2743200" cy="365125"/>
          </a:xfrm>
        </p:spPr>
        <p:txBody>
          <a:bodyPr anchor="ctr">
            <a:normAutofit/>
          </a:bodyPr>
          <a:lstStyle/>
          <a:p>
            <a:pPr>
              <a:spcAft>
                <a:spcPts val="600"/>
              </a:spcAft>
            </a:pPr>
            <a:fld id="{4267CD5E-26CF-4249-8540-BB1D07FD4227}" type="slidenum">
              <a:rPr lang="en-US" smtClean="0"/>
              <a:pPr>
                <a:spcAft>
                  <a:spcPts val="600"/>
                </a:spcAft>
              </a:pPr>
              <a:t>27</a:t>
            </a:fld>
            <a:endParaRPr lang="en-US"/>
          </a:p>
        </p:txBody>
      </p:sp>
      <p:sp>
        <p:nvSpPr>
          <p:cNvPr id="8" name="TextBox 7">
            <a:extLst>
              <a:ext uri="{FF2B5EF4-FFF2-40B4-BE49-F238E27FC236}">
                <a16:creationId xmlns:a16="http://schemas.microsoft.com/office/drawing/2014/main" id="{68549B8A-6E77-501B-35FF-02A1CC899188}"/>
              </a:ext>
            </a:extLst>
          </p:cNvPr>
          <p:cNvSpPr txBox="1"/>
          <p:nvPr/>
        </p:nvSpPr>
        <p:spPr>
          <a:xfrm>
            <a:off x="485775" y="2266950"/>
            <a:ext cx="495300" cy="476250"/>
          </a:xfrm>
          <a:prstGeom prst="rect">
            <a:avLst/>
          </a:prstGeom>
          <a:solidFill>
            <a:schemeClr val="bg1"/>
          </a:solidFill>
        </p:spPr>
        <p:txBody>
          <a:bodyPr wrap="square" rtlCol="0">
            <a:spAutoFit/>
          </a:bodyPr>
          <a:lstStyle/>
          <a:p>
            <a:endParaRPr lang="en-US" dirty="0"/>
          </a:p>
        </p:txBody>
      </p:sp>
    </p:spTree>
    <p:extLst>
      <p:ext uri="{BB962C8B-B14F-4D97-AF65-F5344CB8AC3E}">
        <p14:creationId xmlns:p14="http://schemas.microsoft.com/office/powerpoint/2010/main" val="59203040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613F3E-5C24-126F-E3F8-D68F44E8A33D}"/>
              </a:ext>
            </a:extLst>
          </p:cNvPr>
          <p:cNvSpPr>
            <a:spLocks noGrp="1"/>
          </p:cNvSpPr>
          <p:nvPr>
            <p:ph type="title"/>
          </p:nvPr>
        </p:nvSpPr>
        <p:spPr>
          <a:xfrm>
            <a:off x="644769" y="365125"/>
            <a:ext cx="10710619" cy="1325563"/>
          </a:xfrm>
        </p:spPr>
        <p:txBody>
          <a:bodyPr anchor="t">
            <a:normAutofit/>
          </a:bodyPr>
          <a:lstStyle/>
          <a:p>
            <a:r>
              <a:rPr lang="en-US"/>
              <a:t>Release Management at Spotify</a:t>
            </a:r>
          </a:p>
        </p:txBody>
      </p:sp>
      <p:sp>
        <p:nvSpPr>
          <p:cNvPr id="3" name="Content Placeholder 2">
            <a:extLst>
              <a:ext uri="{FF2B5EF4-FFF2-40B4-BE49-F238E27FC236}">
                <a16:creationId xmlns:a16="http://schemas.microsoft.com/office/drawing/2014/main" id="{C63F4A30-1935-72A3-4FE5-493FA20930AC}"/>
              </a:ext>
            </a:extLst>
          </p:cNvPr>
          <p:cNvSpPr>
            <a:spLocks noGrp="1"/>
          </p:cNvSpPr>
          <p:nvPr>
            <p:ph sz="half" idx="1"/>
          </p:nvPr>
        </p:nvSpPr>
        <p:spPr>
          <a:xfrm>
            <a:off x="644769" y="1825625"/>
            <a:ext cx="5181600" cy="4351339"/>
          </a:xfrm>
        </p:spPr>
        <p:txBody>
          <a:bodyPr>
            <a:normAutofit/>
          </a:bodyPr>
          <a:lstStyle/>
          <a:p>
            <a:r>
              <a:rPr lang="en-US" sz="2400" dirty="0">
                <a:latin typeface="Arial" panose="020B0604020202020204" pitchFamily="34" charset="0"/>
                <a:cs typeface="Arial" panose="020B0604020202020204" pitchFamily="34" charset="0"/>
              </a:rPr>
              <a:t>“Think it, build it, ship it, tweak it”</a:t>
            </a:r>
          </a:p>
          <a:p>
            <a:pPr lvl="1"/>
            <a:r>
              <a:rPr lang="en-US" sz="2000" dirty="0">
                <a:latin typeface="Arial" panose="020B0604020202020204" pitchFamily="34" charset="0"/>
                <a:cs typeface="Arial" panose="020B0604020202020204" pitchFamily="34" charset="0"/>
              </a:rPr>
              <a:t>Focus on frequent releases with user feedback to choose best alternative</a:t>
            </a:r>
          </a:p>
          <a:p>
            <a:r>
              <a:rPr lang="en-US" sz="2400" dirty="0">
                <a:latin typeface="Arial" panose="020B0604020202020204" pitchFamily="34" charset="0"/>
                <a:cs typeface="Arial" panose="020B0604020202020204" pitchFamily="34" charset="0"/>
              </a:rPr>
              <a:t> Weekly releases to production</a:t>
            </a:r>
          </a:p>
          <a:p>
            <a:r>
              <a:rPr lang="en-US" sz="2400" dirty="0">
                <a:latin typeface="Arial" panose="020B0604020202020204" pitchFamily="34" charset="0"/>
                <a:cs typeface="Arial" panose="020B0604020202020204" pitchFamily="34" charset="0"/>
              </a:rPr>
              <a:t> </a:t>
            </a:r>
            <a:r>
              <a:rPr lang="en-US" sz="2400" b="1" dirty="0">
                <a:latin typeface="Arial" panose="020B0604020202020204" pitchFamily="34" charset="0"/>
                <a:cs typeface="Arial" panose="020B0604020202020204" pitchFamily="34" charset="0"/>
              </a:rPr>
              <a:t>Release early and often</a:t>
            </a:r>
          </a:p>
        </p:txBody>
      </p:sp>
      <p:pic>
        <p:nvPicPr>
          <p:cNvPr id="7" name="Content Placeholder 6">
            <a:extLst>
              <a:ext uri="{FF2B5EF4-FFF2-40B4-BE49-F238E27FC236}">
                <a16:creationId xmlns:a16="http://schemas.microsoft.com/office/drawing/2014/main" id="{8C7BFFE5-E4A9-CA55-D608-EFB9DB9AFB36}"/>
              </a:ext>
            </a:extLst>
          </p:cNvPr>
          <p:cNvPicPr>
            <a:picLocks noGrp="1" noChangeAspect="1"/>
          </p:cNvPicPr>
          <p:nvPr>
            <p:ph sz="half" idx="2"/>
          </p:nvPr>
        </p:nvPicPr>
        <p:blipFill>
          <a:blip r:embed="rId2"/>
          <a:stretch>
            <a:fillRect/>
          </a:stretch>
        </p:blipFill>
        <p:spPr>
          <a:xfrm>
            <a:off x="6172200" y="1889793"/>
            <a:ext cx="5181600" cy="4223003"/>
          </a:xfrm>
          <a:noFill/>
        </p:spPr>
      </p:pic>
      <p:sp>
        <p:nvSpPr>
          <p:cNvPr id="5" name="Slide Number Placeholder 4">
            <a:extLst>
              <a:ext uri="{FF2B5EF4-FFF2-40B4-BE49-F238E27FC236}">
                <a16:creationId xmlns:a16="http://schemas.microsoft.com/office/drawing/2014/main" id="{3E3466B3-087B-28F8-5BD5-0E97377BB012}"/>
              </a:ext>
            </a:extLst>
          </p:cNvPr>
          <p:cNvSpPr>
            <a:spLocks noGrp="1"/>
          </p:cNvSpPr>
          <p:nvPr>
            <p:ph type="sldNum" sz="quarter" idx="12"/>
          </p:nvPr>
        </p:nvSpPr>
        <p:spPr>
          <a:xfrm>
            <a:off x="9375913" y="6276840"/>
            <a:ext cx="2743200" cy="365125"/>
          </a:xfrm>
        </p:spPr>
        <p:txBody>
          <a:bodyPr anchor="ctr">
            <a:normAutofit/>
          </a:bodyPr>
          <a:lstStyle/>
          <a:p>
            <a:pPr>
              <a:spcAft>
                <a:spcPts val="600"/>
              </a:spcAft>
            </a:pPr>
            <a:fld id="{4267CD5E-26CF-4249-8540-BB1D07FD4227}" type="slidenum">
              <a:rPr lang="en-US" smtClean="0"/>
              <a:pPr>
                <a:spcAft>
                  <a:spcPts val="600"/>
                </a:spcAft>
              </a:pPr>
              <a:t>28</a:t>
            </a:fld>
            <a:endParaRPr lang="en-US"/>
          </a:p>
        </p:txBody>
      </p:sp>
      <p:sp>
        <p:nvSpPr>
          <p:cNvPr id="8" name="TextBox 7">
            <a:extLst>
              <a:ext uri="{FF2B5EF4-FFF2-40B4-BE49-F238E27FC236}">
                <a16:creationId xmlns:a16="http://schemas.microsoft.com/office/drawing/2014/main" id="{3EB39E9C-3011-10AF-90F4-26C0B0269621}"/>
              </a:ext>
            </a:extLst>
          </p:cNvPr>
          <p:cNvSpPr txBox="1"/>
          <p:nvPr/>
        </p:nvSpPr>
        <p:spPr>
          <a:xfrm>
            <a:off x="10981944" y="2048256"/>
            <a:ext cx="565287" cy="3182112"/>
          </a:xfrm>
          <a:prstGeom prst="rect">
            <a:avLst/>
          </a:prstGeom>
          <a:solidFill>
            <a:schemeClr val="bg1"/>
          </a:solidFill>
          <a:ln>
            <a:solidFill>
              <a:schemeClr val="bg1"/>
            </a:solidFill>
          </a:ln>
        </p:spPr>
        <p:txBody>
          <a:bodyPr wrap="square" rtlCol="0">
            <a:spAutoFit/>
          </a:bodyPr>
          <a:lstStyle/>
          <a:p>
            <a:endParaRPr lang="en-US" dirty="0"/>
          </a:p>
        </p:txBody>
      </p:sp>
    </p:spTree>
    <p:extLst>
      <p:ext uri="{BB962C8B-B14F-4D97-AF65-F5344CB8AC3E}">
        <p14:creationId xmlns:p14="http://schemas.microsoft.com/office/powerpoint/2010/main" val="168402036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6BCE89-E2A0-DC25-BFA3-6BB8E2808346}"/>
              </a:ext>
            </a:extLst>
          </p:cNvPr>
          <p:cNvSpPr>
            <a:spLocks noGrp="1"/>
          </p:cNvSpPr>
          <p:nvPr>
            <p:ph type="title"/>
          </p:nvPr>
        </p:nvSpPr>
        <p:spPr>
          <a:xfrm>
            <a:off x="644769" y="365125"/>
            <a:ext cx="10710619" cy="1325563"/>
          </a:xfrm>
        </p:spPr>
        <p:txBody>
          <a:bodyPr anchor="t">
            <a:normAutofit/>
          </a:bodyPr>
          <a:lstStyle/>
          <a:p>
            <a:r>
              <a:rPr lang="en-US"/>
              <a:t>Release Management at Spotify </a:t>
            </a:r>
          </a:p>
        </p:txBody>
      </p:sp>
      <p:pic>
        <p:nvPicPr>
          <p:cNvPr id="6" name="Content Placeholder 6">
            <a:extLst>
              <a:ext uri="{FF2B5EF4-FFF2-40B4-BE49-F238E27FC236}">
                <a16:creationId xmlns:a16="http://schemas.microsoft.com/office/drawing/2014/main" id="{C7259FC5-5CB7-F62A-6BD0-EF62ACE37960}"/>
              </a:ext>
            </a:extLst>
          </p:cNvPr>
          <p:cNvPicPr>
            <a:picLocks noChangeAspect="1"/>
          </p:cNvPicPr>
          <p:nvPr/>
        </p:nvPicPr>
        <p:blipFill>
          <a:blip r:embed="rId2"/>
          <a:stretch>
            <a:fillRect/>
          </a:stretch>
        </p:blipFill>
        <p:spPr>
          <a:xfrm>
            <a:off x="644769" y="1889793"/>
            <a:ext cx="5181600" cy="4223003"/>
          </a:xfrm>
          <a:prstGeom prst="rect">
            <a:avLst/>
          </a:prstGeom>
          <a:noFill/>
        </p:spPr>
      </p:pic>
      <p:sp>
        <p:nvSpPr>
          <p:cNvPr id="3" name="Content Placeholder 2">
            <a:extLst>
              <a:ext uri="{FF2B5EF4-FFF2-40B4-BE49-F238E27FC236}">
                <a16:creationId xmlns:a16="http://schemas.microsoft.com/office/drawing/2014/main" id="{E07A7929-C009-308B-F49C-1FE1B2FBC87B}"/>
              </a:ext>
            </a:extLst>
          </p:cNvPr>
          <p:cNvSpPr>
            <a:spLocks noGrp="1"/>
          </p:cNvSpPr>
          <p:nvPr>
            <p:ph sz="half" idx="2"/>
          </p:nvPr>
        </p:nvSpPr>
        <p:spPr>
          <a:xfrm>
            <a:off x="6172200" y="1825625"/>
            <a:ext cx="5181600" cy="4351339"/>
          </a:xfrm>
        </p:spPr>
        <p:txBody>
          <a:bodyPr>
            <a:normAutofit/>
          </a:bodyPr>
          <a:lstStyle/>
          <a:p>
            <a:r>
              <a:rPr lang="en-US" sz="2000" dirty="0">
                <a:latin typeface="Arial" panose="020B0604020202020204" pitchFamily="34" charset="0"/>
                <a:cs typeface="Arial" panose="020B0604020202020204" pitchFamily="34" charset="0"/>
              </a:rPr>
              <a:t>Agile Release Trains</a:t>
            </a:r>
          </a:p>
          <a:p>
            <a:r>
              <a:rPr lang="en-US" sz="2000" dirty="0">
                <a:latin typeface="Arial" panose="020B0604020202020204" pitchFamily="34" charset="0"/>
                <a:cs typeface="Arial" panose="020B0604020202020204" pitchFamily="34" charset="0"/>
              </a:rPr>
              <a:t>Each squad makes their own releases without central control</a:t>
            </a:r>
          </a:p>
          <a:p>
            <a:r>
              <a:rPr lang="en-US" sz="2000" dirty="0">
                <a:latin typeface="Arial" panose="020B0604020202020204" pitchFamily="34" charset="0"/>
                <a:cs typeface="Arial" panose="020B0604020202020204" pitchFamily="34" charset="0"/>
              </a:rPr>
              <a:t>All complete features and some incomplete features</a:t>
            </a:r>
          </a:p>
          <a:p>
            <a:r>
              <a:rPr lang="en-US" sz="2000" dirty="0">
                <a:latin typeface="Arial" panose="020B0604020202020204" pitchFamily="34" charset="0"/>
                <a:cs typeface="Arial" panose="020B0604020202020204" pitchFamily="34" charset="0"/>
              </a:rPr>
              <a:t>Incomplete features are not visible to users through </a:t>
            </a:r>
            <a:r>
              <a:rPr lang="en-US" sz="2000" b="1" dirty="0">
                <a:latin typeface="Arial" panose="020B0604020202020204" pitchFamily="34" charset="0"/>
                <a:cs typeface="Arial" panose="020B0604020202020204" pitchFamily="34" charset="0"/>
              </a:rPr>
              <a:t>Feature Toggles</a:t>
            </a:r>
          </a:p>
          <a:p>
            <a:r>
              <a:rPr lang="en-US" sz="2000" dirty="0">
                <a:latin typeface="Arial" panose="020B0604020202020204" pitchFamily="34" charset="0"/>
                <a:cs typeface="Arial" panose="020B0604020202020204" pitchFamily="34" charset="0"/>
              </a:rPr>
              <a:t>Identifies integration issues early</a:t>
            </a:r>
          </a:p>
          <a:p>
            <a:r>
              <a:rPr lang="en-US" sz="2000" dirty="0">
                <a:latin typeface="Arial" panose="020B0604020202020204" pitchFamily="34" charset="0"/>
                <a:cs typeface="Arial" panose="020B0604020202020204" pitchFamily="34" charset="0"/>
              </a:rPr>
              <a:t>New features are rolled out to few users at a time until proven</a:t>
            </a:r>
          </a:p>
          <a:p>
            <a:pPr lvl="1"/>
            <a:r>
              <a:rPr lang="en-US" sz="2000" dirty="0">
                <a:latin typeface="Arial" panose="020B0604020202020204" pitchFamily="34" charset="0"/>
                <a:cs typeface="Arial" panose="020B0604020202020204" pitchFamily="34" charset="0"/>
              </a:rPr>
              <a:t>Limited blast radius</a:t>
            </a:r>
          </a:p>
        </p:txBody>
      </p:sp>
      <p:sp>
        <p:nvSpPr>
          <p:cNvPr id="5" name="Slide Number Placeholder 4">
            <a:extLst>
              <a:ext uri="{FF2B5EF4-FFF2-40B4-BE49-F238E27FC236}">
                <a16:creationId xmlns:a16="http://schemas.microsoft.com/office/drawing/2014/main" id="{304584A8-31D9-768A-FFCB-CEF715F9754A}"/>
              </a:ext>
            </a:extLst>
          </p:cNvPr>
          <p:cNvSpPr>
            <a:spLocks noGrp="1"/>
          </p:cNvSpPr>
          <p:nvPr>
            <p:ph type="sldNum" sz="quarter" idx="12"/>
          </p:nvPr>
        </p:nvSpPr>
        <p:spPr>
          <a:xfrm>
            <a:off x="9375913" y="6276840"/>
            <a:ext cx="2743200" cy="365125"/>
          </a:xfrm>
        </p:spPr>
        <p:txBody>
          <a:bodyPr anchor="ctr">
            <a:normAutofit/>
          </a:bodyPr>
          <a:lstStyle/>
          <a:p>
            <a:pPr>
              <a:spcAft>
                <a:spcPts val="600"/>
              </a:spcAft>
            </a:pPr>
            <a:fld id="{4267CD5E-26CF-4249-8540-BB1D07FD4227}" type="slidenum">
              <a:rPr lang="en-US" smtClean="0"/>
              <a:pPr>
                <a:spcAft>
                  <a:spcPts val="600"/>
                </a:spcAft>
              </a:pPr>
              <a:t>29</a:t>
            </a:fld>
            <a:endParaRPr lang="en-US"/>
          </a:p>
        </p:txBody>
      </p:sp>
      <p:sp>
        <p:nvSpPr>
          <p:cNvPr id="7" name="TextBox 6">
            <a:extLst>
              <a:ext uri="{FF2B5EF4-FFF2-40B4-BE49-F238E27FC236}">
                <a16:creationId xmlns:a16="http://schemas.microsoft.com/office/drawing/2014/main" id="{B13FF115-FEBC-B731-1C43-56A35E2DEF65}"/>
              </a:ext>
            </a:extLst>
          </p:cNvPr>
          <p:cNvSpPr txBox="1"/>
          <p:nvPr/>
        </p:nvSpPr>
        <p:spPr>
          <a:xfrm>
            <a:off x="5433997" y="2238756"/>
            <a:ext cx="565287" cy="3182112"/>
          </a:xfrm>
          <a:prstGeom prst="rect">
            <a:avLst/>
          </a:prstGeom>
          <a:solidFill>
            <a:schemeClr val="bg1"/>
          </a:solidFill>
          <a:ln>
            <a:solidFill>
              <a:schemeClr val="bg1"/>
            </a:solidFill>
          </a:ln>
        </p:spPr>
        <p:txBody>
          <a:bodyPr wrap="square" rtlCol="0">
            <a:spAutoFit/>
          </a:bodyPr>
          <a:lstStyle/>
          <a:p>
            <a:endParaRPr lang="en-US" dirty="0"/>
          </a:p>
        </p:txBody>
      </p:sp>
    </p:spTree>
    <p:extLst>
      <p:ext uri="{BB962C8B-B14F-4D97-AF65-F5344CB8AC3E}">
        <p14:creationId xmlns:p14="http://schemas.microsoft.com/office/powerpoint/2010/main" val="250122389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9215F5-9B41-E130-2CEC-7D92B98B330C}"/>
              </a:ext>
            </a:extLst>
          </p:cNvPr>
          <p:cNvSpPr>
            <a:spLocks noGrp="1"/>
          </p:cNvSpPr>
          <p:nvPr>
            <p:ph type="title"/>
          </p:nvPr>
        </p:nvSpPr>
        <p:spPr>
          <a:xfrm>
            <a:off x="644769" y="365125"/>
            <a:ext cx="10710619" cy="1325563"/>
          </a:xfrm>
        </p:spPr>
        <p:txBody>
          <a:bodyPr anchor="t">
            <a:normAutofit/>
          </a:bodyPr>
          <a:lstStyle/>
          <a:p>
            <a:r>
              <a:rPr lang="en-US" dirty="0"/>
              <a:t>Practices at Spotify </a:t>
            </a:r>
          </a:p>
        </p:txBody>
      </p:sp>
      <p:sp>
        <p:nvSpPr>
          <p:cNvPr id="3" name="Content Placeholder 2">
            <a:extLst>
              <a:ext uri="{FF2B5EF4-FFF2-40B4-BE49-F238E27FC236}">
                <a16:creationId xmlns:a16="http://schemas.microsoft.com/office/drawing/2014/main" id="{29E55FA7-51E3-9614-A6DA-EFFE34F6BAE3}"/>
              </a:ext>
            </a:extLst>
          </p:cNvPr>
          <p:cNvSpPr>
            <a:spLocks noGrp="1"/>
          </p:cNvSpPr>
          <p:nvPr>
            <p:ph sz="half" idx="1"/>
          </p:nvPr>
        </p:nvSpPr>
        <p:spPr>
          <a:xfrm>
            <a:off x="644769" y="1825625"/>
            <a:ext cx="5181600" cy="4351339"/>
          </a:xfrm>
        </p:spPr>
        <p:txBody>
          <a:bodyPr>
            <a:normAutofit/>
          </a:bodyPr>
          <a:lstStyle/>
          <a:p>
            <a:r>
              <a:rPr lang="en-US" sz="2400" dirty="0">
                <a:latin typeface="Arial" panose="020B0604020202020204" pitchFamily="34" charset="0"/>
                <a:cs typeface="Arial" panose="020B0604020202020204" pitchFamily="34" charset="0"/>
              </a:rPr>
              <a:t>Agile Release Trains</a:t>
            </a:r>
          </a:p>
          <a:p>
            <a:r>
              <a:rPr lang="en-US" sz="2400" dirty="0">
                <a:latin typeface="Arial" panose="020B0604020202020204" pitchFamily="34" charset="0"/>
                <a:cs typeface="Arial" panose="020B0604020202020204" pitchFamily="34" charset="0"/>
              </a:rPr>
              <a:t>Visualize progress, e.g. Kanban</a:t>
            </a:r>
          </a:p>
          <a:p>
            <a:r>
              <a:rPr lang="en-US" sz="2400" dirty="0">
                <a:latin typeface="Arial" panose="020B0604020202020204" pitchFamily="34" charset="0"/>
                <a:cs typeface="Arial" panose="020B0604020202020204" pitchFamily="34" charset="0"/>
              </a:rPr>
              <a:t>Weekly demos/Story Telling</a:t>
            </a:r>
          </a:p>
          <a:p>
            <a:r>
              <a:rPr lang="en-US" sz="2400" dirty="0">
                <a:latin typeface="Arial" panose="020B0604020202020204" pitchFamily="34" charset="0"/>
                <a:cs typeface="Arial" panose="020B0604020202020204" pitchFamily="34" charset="0"/>
              </a:rPr>
              <a:t>Daily sync (stand up meetings)</a:t>
            </a:r>
          </a:p>
          <a:p>
            <a:r>
              <a:rPr lang="en-US" sz="2400" dirty="0">
                <a:latin typeface="Arial" panose="020B0604020202020204" pitchFamily="34" charset="0"/>
                <a:cs typeface="Arial" panose="020B0604020202020204" pitchFamily="34" charset="0"/>
              </a:rPr>
              <a:t>Break big projects into small projects with frequent releases</a:t>
            </a:r>
          </a:p>
          <a:p>
            <a:r>
              <a:rPr lang="en-US" sz="2400" dirty="0">
                <a:latin typeface="Arial" panose="020B0604020202020204" pitchFamily="34" charset="0"/>
                <a:cs typeface="Arial" panose="020B0604020202020204" pitchFamily="34" charset="0"/>
              </a:rPr>
              <a:t>Boot camp </a:t>
            </a:r>
          </a:p>
          <a:p>
            <a:r>
              <a:rPr lang="en-US" sz="2400" dirty="0">
                <a:latin typeface="Arial" panose="020B0604020202020204" pitchFamily="34" charset="0"/>
                <a:cs typeface="Arial" panose="020B0604020202020204" pitchFamily="34" charset="0"/>
              </a:rPr>
              <a:t>Hack Time</a:t>
            </a:r>
          </a:p>
        </p:txBody>
      </p:sp>
      <p:pic>
        <p:nvPicPr>
          <p:cNvPr id="7" name="Content Placeholder 6">
            <a:extLst>
              <a:ext uri="{FF2B5EF4-FFF2-40B4-BE49-F238E27FC236}">
                <a16:creationId xmlns:a16="http://schemas.microsoft.com/office/drawing/2014/main" id="{8B33E378-C775-937E-1832-246EF77766FF}"/>
              </a:ext>
            </a:extLst>
          </p:cNvPr>
          <p:cNvPicPr>
            <a:picLocks noGrp="1" noChangeAspect="1"/>
          </p:cNvPicPr>
          <p:nvPr>
            <p:ph sz="half" idx="2"/>
          </p:nvPr>
        </p:nvPicPr>
        <p:blipFill>
          <a:blip r:embed="rId2"/>
          <a:srcRect r="25990" b="-3"/>
          <a:stretch/>
        </p:blipFill>
        <p:spPr>
          <a:xfrm>
            <a:off x="6172200" y="1825625"/>
            <a:ext cx="5181600" cy="4351339"/>
          </a:xfrm>
          <a:noFill/>
        </p:spPr>
      </p:pic>
      <p:sp>
        <p:nvSpPr>
          <p:cNvPr id="5" name="Slide Number Placeholder 4">
            <a:extLst>
              <a:ext uri="{FF2B5EF4-FFF2-40B4-BE49-F238E27FC236}">
                <a16:creationId xmlns:a16="http://schemas.microsoft.com/office/drawing/2014/main" id="{64782F9A-2EA9-7A1C-6FFB-A583367033E7}"/>
              </a:ext>
            </a:extLst>
          </p:cNvPr>
          <p:cNvSpPr>
            <a:spLocks noGrp="1"/>
          </p:cNvSpPr>
          <p:nvPr>
            <p:ph type="sldNum" sz="quarter" idx="12"/>
          </p:nvPr>
        </p:nvSpPr>
        <p:spPr>
          <a:xfrm>
            <a:off x="9375913" y="6276840"/>
            <a:ext cx="2743200" cy="365125"/>
          </a:xfrm>
        </p:spPr>
        <p:txBody>
          <a:bodyPr anchor="ctr">
            <a:normAutofit/>
          </a:bodyPr>
          <a:lstStyle/>
          <a:p>
            <a:pPr>
              <a:spcAft>
                <a:spcPts val="600"/>
              </a:spcAft>
            </a:pPr>
            <a:fld id="{4267CD5E-26CF-4249-8540-BB1D07FD4227}" type="slidenum">
              <a:rPr lang="en-US" smtClean="0"/>
              <a:pPr>
                <a:spcAft>
                  <a:spcPts val="600"/>
                </a:spcAft>
              </a:pPr>
              <a:t>30</a:t>
            </a:fld>
            <a:endParaRPr lang="en-US"/>
          </a:p>
        </p:txBody>
      </p:sp>
    </p:spTree>
    <p:extLst>
      <p:ext uri="{BB962C8B-B14F-4D97-AF65-F5344CB8AC3E}">
        <p14:creationId xmlns:p14="http://schemas.microsoft.com/office/powerpoint/2010/main" val="416644502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BBE7A7-76C9-9E7A-AE7B-2269DFC5DE5F}"/>
              </a:ext>
            </a:extLst>
          </p:cNvPr>
          <p:cNvSpPr>
            <a:spLocks noGrp="1"/>
          </p:cNvSpPr>
          <p:nvPr>
            <p:ph type="title"/>
          </p:nvPr>
        </p:nvSpPr>
        <p:spPr>
          <a:xfrm>
            <a:off x="644769" y="365125"/>
            <a:ext cx="10710619" cy="649859"/>
          </a:xfrm>
        </p:spPr>
        <p:txBody>
          <a:bodyPr/>
          <a:lstStyle/>
          <a:p>
            <a:r>
              <a:rPr lang="en-US" dirty="0"/>
              <a:t>Practices at Spotify </a:t>
            </a:r>
          </a:p>
        </p:txBody>
      </p:sp>
      <p:sp>
        <p:nvSpPr>
          <p:cNvPr id="3" name="Content Placeholder 2">
            <a:extLst>
              <a:ext uri="{FF2B5EF4-FFF2-40B4-BE49-F238E27FC236}">
                <a16:creationId xmlns:a16="http://schemas.microsoft.com/office/drawing/2014/main" id="{B24E9562-222D-FD5A-F643-CB1CE8DE157D}"/>
              </a:ext>
            </a:extLst>
          </p:cNvPr>
          <p:cNvSpPr>
            <a:spLocks noGrp="1"/>
          </p:cNvSpPr>
          <p:nvPr>
            <p:ph sz="half" idx="1"/>
          </p:nvPr>
        </p:nvSpPr>
        <p:spPr/>
        <p:txBody>
          <a:bodyPr/>
          <a:lstStyle/>
          <a:p>
            <a:pPr>
              <a:buFont typeface="Arial" panose="020B0604020202020204" pitchFamily="34" charset="0"/>
              <a:buChar char="•"/>
            </a:pPr>
            <a:r>
              <a:rPr lang="en-US" sz="1800" b="1" dirty="0">
                <a:latin typeface="Arial" panose="020B0604020202020204" pitchFamily="34" charset="0"/>
                <a:cs typeface="Arial" panose="020B0604020202020204" pitchFamily="34" charset="0"/>
              </a:rPr>
              <a:t>Hack time</a:t>
            </a:r>
            <a:r>
              <a:rPr lang="en-US" sz="1800" dirty="0">
                <a:latin typeface="Arial" panose="020B0604020202020204" pitchFamily="34" charset="0"/>
                <a:cs typeface="Arial" panose="020B0604020202020204" pitchFamily="34" charset="0"/>
              </a:rPr>
              <a:t> refers to informal or experimental coding outside regular tasks.</a:t>
            </a:r>
          </a:p>
          <a:p>
            <a:pPr>
              <a:buFont typeface="Arial" panose="020B0604020202020204" pitchFamily="34" charset="0"/>
              <a:buChar char="•"/>
            </a:pPr>
            <a:r>
              <a:rPr lang="en-US" sz="1800" dirty="0">
                <a:latin typeface="Arial" panose="020B0604020202020204" pitchFamily="34" charset="0"/>
                <a:cs typeface="Arial" panose="020B0604020202020204" pitchFamily="34" charset="0"/>
              </a:rPr>
              <a:t>Involves </a:t>
            </a:r>
            <a:r>
              <a:rPr lang="en-US" sz="1800" b="1" dirty="0">
                <a:latin typeface="Arial" panose="020B0604020202020204" pitchFamily="34" charset="0"/>
                <a:cs typeface="Arial" panose="020B0604020202020204" pitchFamily="34" charset="0"/>
              </a:rPr>
              <a:t>exploratory programming</a:t>
            </a:r>
            <a:r>
              <a:rPr lang="en-US" sz="1800" dirty="0">
                <a:latin typeface="Arial" panose="020B0604020202020204" pitchFamily="34" charset="0"/>
                <a:cs typeface="Arial" panose="020B0604020202020204" pitchFamily="34" charset="0"/>
              </a:rPr>
              <a:t> or prototyping new ideas.</a:t>
            </a:r>
          </a:p>
          <a:p>
            <a:pPr>
              <a:buFont typeface="Arial" panose="020B0604020202020204" pitchFamily="34" charset="0"/>
              <a:buChar char="•"/>
            </a:pPr>
            <a:r>
              <a:rPr lang="en-US" sz="1800" dirty="0">
                <a:latin typeface="Arial" panose="020B0604020202020204" pitchFamily="34" charset="0"/>
                <a:cs typeface="Arial" panose="020B0604020202020204" pitchFamily="34" charset="0"/>
              </a:rPr>
              <a:t>Can be for </a:t>
            </a:r>
            <a:r>
              <a:rPr lang="en-US" sz="1800" b="1" dirty="0">
                <a:latin typeface="Arial" panose="020B0604020202020204" pitchFamily="34" charset="0"/>
                <a:cs typeface="Arial" panose="020B0604020202020204" pitchFamily="34" charset="0"/>
              </a:rPr>
              <a:t>personal projects</a:t>
            </a:r>
            <a:r>
              <a:rPr lang="en-US" sz="1800" dirty="0">
                <a:latin typeface="Arial" panose="020B0604020202020204" pitchFamily="34" charset="0"/>
                <a:cs typeface="Arial" panose="020B0604020202020204" pitchFamily="34" charset="0"/>
              </a:rPr>
              <a:t>, learning, or side experiments.</a:t>
            </a:r>
          </a:p>
          <a:p>
            <a:pPr>
              <a:buFont typeface="Arial" panose="020B0604020202020204" pitchFamily="34" charset="0"/>
              <a:buChar char="•"/>
            </a:pPr>
            <a:r>
              <a:rPr lang="en-US" sz="1800" dirty="0">
                <a:latin typeface="Arial" panose="020B0604020202020204" pitchFamily="34" charset="0"/>
                <a:cs typeface="Arial" panose="020B0604020202020204" pitchFamily="34" charset="0"/>
              </a:rPr>
              <a:t>Some companies allocate </a:t>
            </a:r>
            <a:r>
              <a:rPr lang="en-US" sz="1800" b="1" dirty="0">
                <a:latin typeface="Arial" panose="020B0604020202020204" pitchFamily="34" charset="0"/>
                <a:cs typeface="Arial" panose="020B0604020202020204" pitchFamily="34" charset="0"/>
              </a:rPr>
              <a:t>hack time</a:t>
            </a:r>
            <a:r>
              <a:rPr lang="en-US" sz="1800" dirty="0">
                <a:latin typeface="Arial" panose="020B0604020202020204" pitchFamily="34" charset="0"/>
                <a:cs typeface="Arial" panose="020B0604020202020204" pitchFamily="34" charset="0"/>
              </a:rPr>
              <a:t> for innovation and creativity.</a:t>
            </a:r>
          </a:p>
          <a:p>
            <a:endParaRPr lang="en-US" dirty="0"/>
          </a:p>
        </p:txBody>
      </p:sp>
      <p:sp>
        <p:nvSpPr>
          <p:cNvPr id="4" name="Content Placeholder 3">
            <a:extLst>
              <a:ext uri="{FF2B5EF4-FFF2-40B4-BE49-F238E27FC236}">
                <a16:creationId xmlns:a16="http://schemas.microsoft.com/office/drawing/2014/main" id="{1127F51F-7C56-74B3-0F01-C26B36CD96C7}"/>
              </a:ext>
            </a:extLst>
          </p:cNvPr>
          <p:cNvSpPr>
            <a:spLocks noGrp="1"/>
          </p:cNvSpPr>
          <p:nvPr>
            <p:ph sz="half" idx="2"/>
          </p:nvPr>
        </p:nvSpPr>
        <p:spPr/>
        <p:txBody>
          <a:bodyPr>
            <a:normAutofit fontScale="92500"/>
          </a:bodyPr>
          <a:lstStyle/>
          <a:p>
            <a:r>
              <a:rPr lang="en-US" b="1" dirty="0">
                <a:latin typeface="Arial" panose="020B0604020202020204" pitchFamily="34" charset="0"/>
                <a:cs typeface="Arial" panose="020B0604020202020204" pitchFamily="34" charset="0"/>
              </a:rPr>
              <a:t>Intensive training programs </a:t>
            </a:r>
            <a:r>
              <a:rPr lang="en-US" dirty="0">
                <a:latin typeface="Arial" panose="020B0604020202020204" pitchFamily="34" charset="0"/>
                <a:cs typeface="Arial" panose="020B0604020202020204" pitchFamily="34" charset="0"/>
              </a:rPr>
              <a:t>focused on teaching coding and software development skills.</a:t>
            </a:r>
          </a:p>
          <a:p>
            <a:r>
              <a:rPr lang="en-US" dirty="0">
                <a:latin typeface="Arial" panose="020B0604020202020204" pitchFamily="34" charset="0"/>
                <a:cs typeface="Arial" panose="020B0604020202020204" pitchFamily="34" charset="0"/>
              </a:rPr>
              <a:t>Typically </a:t>
            </a:r>
            <a:r>
              <a:rPr lang="en-US" b="1" dirty="0">
                <a:latin typeface="Arial" panose="020B0604020202020204" pitchFamily="34" charset="0"/>
                <a:cs typeface="Arial" panose="020B0604020202020204" pitchFamily="34" charset="0"/>
              </a:rPr>
              <a:t>short-term</a:t>
            </a:r>
            <a:r>
              <a:rPr lang="en-US" dirty="0">
                <a:latin typeface="Arial" panose="020B0604020202020204" pitchFamily="34" charset="0"/>
                <a:cs typeface="Arial" panose="020B0604020202020204" pitchFamily="34" charset="0"/>
              </a:rPr>
              <a:t> (ranging from a few weeks to a few months).</a:t>
            </a:r>
          </a:p>
          <a:p>
            <a:r>
              <a:rPr lang="en-US" dirty="0">
                <a:latin typeface="Arial" panose="020B0604020202020204" pitchFamily="34" charset="0"/>
                <a:cs typeface="Arial" panose="020B0604020202020204" pitchFamily="34" charset="0"/>
              </a:rPr>
              <a:t>Designed for </a:t>
            </a:r>
            <a:r>
              <a:rPr lang="en-US" b="1" dirty="0">
                <a:latin typeface="Arial" panose="020B0604020202020204" pitchFamily="34" charset="0"/>
                <a:cs typeface="Arial" panose="020B0604020202020204" pitchFamily="34" charset="0"/>
              </a:rPr>
              <a:t>beginners</a:t>
            </a:r>
            <a:r>
              <a:rPr lang="en-US" dirty="0">
                <a:latin typeface="Arial" panose="020B0604020202020204" pitchFamily="34" charset="0"/>
                <a:cs typeface="Arial" panose="020B0604020202020204" pitchFamily="34" charset="0"/>
              </a:rPr>
              <a:t> or those looking to switch careers into tech.</a:t>
            </a:r>
          </a:p>
          <a:p>
            <a:r>
              <a:rPr lang="en-US" dirty="0">
                <a:latin typeface="Arial" panose="020B0604020202020204" pitchFamily="34" charset="0"/>
                <a:cs typeface="Arial" panose="020B0604020202020204" pitchFamily="34" charset="0"/>
              </a:rPr>
              <a:t>Emphasize </a:t>
            </a:r>
            <a:r>
              <a:rPr lang="en-US" b="1" dirty="0">
                <a:latin typeface="Arial" panose="020B0604020202020204" pitchFamily="34" charset="0"/>
                <a:cs typeface="Arial" panose="020B0604020202020204" pitchFamily="34" charset="0"/>
              </a:rPr>
              <a:t>hands-on learning </a:t>
            </a:r>
            <a:r>
              <a:rPr lang="en-US" dirty="0">
                <a:latin typeface="Arial" panose="020B0604020202020204" pitchFamily="34" charset="0"/>
                <a:cs typeface="Arial" panose="020B0604020202020204" pitchFamily="34" charset="0"/>
              </a:rPr>
              <a:t>with real-world projects.</a:t>
            </a:r>
          </a:p>
          <a:p>
            <a:r>
              <a:rPr lang="en-US" dirty="0">
                <a:latin typeface="Arial" panose="020B0604020202020204" pitchFamily="34" charset="0"/>
                <a:cs typeface="Arial" panose="020B0604020202020204" pitchFamily="34" charset="0"/>
              </a:rPr>
              <a:t>Cover key topics like </a:t>
            </a:r>
            <a:r>
              <a:rPr lang="en-US" b="1" dirty="0">
                <a:latin typeface="Arial" panose="020B0604020202020204" pitchFamily="34" charset="0"/>
                <a:cs typeface="Arial" panose="020B0604020202020204" pitchFamily="34" charset="0"/>
              </a:rPr>
              <a:t>web development, data structures, algorithms, and programming languages</a:t>
            </a:r>
            <a:r>
              <a:rPr lang="en-US" dirty="0">
                <a:latin typeface="Arial" panose="020B0604020202020204" pitchFamily="34" charset="0"/>
                <a:cs typeface="Arial" panose="020B0604020202020204" pitchFamily="34" charset="0"/>
              </a:rPr>
              <a:t> (e.g., JavaScript, Python).</a:t>
            </a:r>
          </a:p>
          <a:p>
            <a:r>
              <a:rPr lang="en-US" dirty="0">
                <a:latin typeface="Arial" panose="020B0604020202020204" pitchFamily="34" charset="0"/>
                <a:cs typeface="Arial" panose="020B0604020202020204" pitchFamily="34" charset="0"/>
              </a:rPr>
              <a:t>Often include </a:t>
            </a:r>
            <a:r>
              <a:rPr lang="en-US" b="1" dirty="0">
                <a:latin typeface="Arial" panose="020B0604020202020204" pitchFamily="34" charset="0"/>
                <a:cs typeface="Arial" panose="020B0604020202020204" pitchFamily="34" charset="0"/>
              </a:rPr>
              <a:t>job placement assistance </a:t>
            </a:r>
            <a:r>
              <a:rPr lang="en-US" dirty="0">
                <a:latin typeface="Arial" panose="020B0604020202020204" pitchFamily="34" charset="0"/>
                <a:cs typeface="Arial" panose="020B0604020202020204" pitchFamily="34" charset="0"/>
              </a:rPr>
              <a:t>or career support.</a:t>
            </a:r>
          </a:p>
          <a:p>
            <a:r>
              <a:rPr lang="en-US" dirty="0">
                <a:latin typeface="Arial" panose="020B0604020202020204" pitchFamily="34" charset="0"/>
                <a:cs typeface="Arial" panose="020B0604020202020204" pitchFamily="34" charset="0"/>
              </a:rPr>
              <a:t>Aimed at preparing students for </a:t>
            </a:r>
            <a:r>
              <a:rPr lang="en-US" b="1" dirty="0">
                <a:latin typeface="Arial" panose="020B0604020202020204" pitchFamily="34" charset="0"/>
                <a:cs typeface="Arial" panose="020B0604020202020204" pitchFamily="34" charset="0"/>
              </a:rPr>
              <a:t>junior developer </a:t>
            </a:r>
            <a:r>
              <a:rPr lang="en-US" dirty="0">
                <a:latin typeface="Arial" panose="020B0604020202020204" pitchFamily="34" charset="0"/>
                <a:cs typeface="Arial" panose="020B0604020202020204" pitchFamily="34" charset="0"/>
              </a:rPr>
              <a:t>roles quickly.</a:t>
            </a:r>
          </a:p>
        </p:txBody>
      </p:sp>
      <p:sp>
        <p:nvSpPr>
          <p:cNvPr id="5" name="Slide Number Placeholder 4">
            <a:extLst>
              <a:ext uri="{FF2B5EF4-FFF2-40B4-BE49-F238E27FC236}">
                <a16:creationId xmlns:a16="http://schemas.microsoft.com/office/drawing/2014/main" id="{B8775E88-AA71-D24B-0E35-0656057BB0AC}"/>
              </a:ext>
            </a:extLst>
          </p:cNvPr>
          <p:cNvSpPr>
            <a:spLocks noGrp="1"/>
          </p:cNvSpPr>
          <p:nvPr>
            <p:ph type="sldNum" sz="quarter" idx="12"/>
          </p:nvPr>
        </p:nvSpPr>
        <p:spPr/>
        <p:txBody>
          <a:bodyPr/>
          <a:lstStyle/>
          <a:p>
            <a:fld id="{4267CD5E-26CF-4249-8540-BB1D07FD4227}" type="slidenum">
              <a:rPr lang="en-US" smtClean="0"/>
              <a:t>31</a:t>
            </a:fld>
            <a:endParaRPr lang="en-US"/>
          </a:p>
        </p:txBody>
      </p:sp>
      <p:sp>
        <p:nvSpPr>
          <p:cNvPr id="7" name="TextBox 6">
            <a:extLst>
              <a:ext uri="{FF2B5EF4-FFF2-40B4-BE49-F238E27FC236}">
                <a16:creationId xmlns:a16="http://schemas.microsoft.com/office/drawing/2014/main" id="{F3145F96-DB7F-2F30-C825-88E01F41CC50}"/>
              </a:ext>
            </a:extLst>
          </p:cNvPr>
          <p:cNvSpPr txBox="1"/>
          <p:nvPr/>
        </p:nvSpPr>
        <p:spPr>
          <a:xfrm>
            <a:off x="2403465" y="1325880"/>
            <a:ext cx="1664208" cy="369332"/>
          </a:xfrm>
          <a:prstGeom prst="rect">
            <a:avLst/>
          </a:prstGeom>
          <a:noFill/>
        </p:spPr>
        <p:txBody>
          <a:bodyPr wrap="square" rtlCol="0">
            <a:spAutoFit/>
          </a:bodyPr>
          <a:lstStyle/>
          <a:p>
            <a:r>
              <a:rPr lang="en-US" b="1" dirty="0"/>
              <a:t>Hack Time</a:t>
            </a:r>
          </a:p>
        </p:txBody>
      </p:sp>
      <p:sp>
        <p:nvSpPr>
          <p:cNvPr id="8" name="TextBox 7">
            <a:extLst>
              <a:ext uri="{FF2B5EF4-FFF2-40B4-BE49-F238E27FC236}">
                <a16:creationId xmlns:a16="http://schemas.microsoft.com/office/drawing/2014/main" id="{737180E5-7A87-44EA-F316-5A537EE78CBB}"/>
              </a:ext>
            </a:extLst>
          </p:cNvPr>
          <p:cNvSpPr txBox="1"/>
          <p:nvPr/>
        </p:nvSpPr>
        <p:spPr>
          <a:xfrm>
            <a:off x="7930896" y="1322832"/>
            <a:ext cx="1664208" cy="369332"/>
          </a:xfrm>
          <a:prstGeom prst="rect">
            <a:avLst/>
          </a:prstGeom>
          <a:noFill/>
        </p:spPr>
        <p:txBody>
          <a:bodyPr wrap="square" rtlCol="0">
            <a:spAutoFit/>
          </a:bodyPr>
          <a:lstStyle/>
          <a:p>
            <a:r>
              <a:rPr lang="en-US" b="1" dirty="0"/>
              <a:t>Boot Camp</a:t>
            </a:r>
          </a:p>
        </p:txBody>
      </p:sp>
    </p:spTree>
    <p:extLst>
      <p:ext uri="{BB962C8B-B14F-4D97-AF65-F5344CB8AC3E}">
        <p14:creationId xmlns:p14="http://schemas.microsoft.com/office/powerpoint/2010/main" val="210123288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C800B2-4F71-7793-BF88-D2EE33A5BD8C}"/>
              </a:ext>
            </a:extLst>
          </p:cNvPr>
          <p:cNvSpPr>
            <a:spLocks noGrp="1"/>
          </p:cNvSpPr>
          <p:nvPr>
            <p:ph type="title"/>
          </p:nvPr>
        </p:nvSpPr>
        <p:spPr>
          <a:xfrm>
            <a:off x="644769" y="365125"/>
            <a:ext cx="10710619" cy="1325563"/>
          </a:xfrm>
        </p:spPr>
        <p:txBody>
          <a:bodyPr anchor="t">
            <a:normAutofit/>
          </a:bodyPr>
          <a:lstStyle/>
          <a:p>
            <a:r>
              <a:rPr lang="en-US"/>
              <a:t>Spotify Strategies </a:t>
            </a:r>
          </a:p>
        </p:txBody>
      </p:sp>
      <p:sp>
        <p:nvSpPr>
          <p:cNvPr id="3" name="Content Placeholder 2">
            <a:extLst>
              <a:ext uri="{FF2B5EF4-FFF2-40B4-BE49-F238E27FC236}">
                <a16:creationId xmlns:a16="http://schemas.microsoft.com/office/drawing/2014/main" id="{4D521A3B-8807-F0A6-E673-57F4621696FC}"/>
              </a:ext>
            </a:extLst>
          </p:cNvPr>
          <p:cNvSpPr>
            <a:spLocks noGrp="1"/>
          </p:cNvSpPr>
          <p:nvPr>
            <p:ph sz="half" idx="1"/>
          </p:nvPr>
        </p:nvSpPr>
        <p:spPr>
          <a:xfrm>
            <a:off x="644769" y="1825625"/>
            <a:ext cx="5181600" cy="4351339"/>
          </a:xfrm>
        </p:spPr>
        <p:txBody>
          <a:bodyPr>
            <a:normAutofit/>
          </a:bodyPr>
          <a:lstStyle/>
          <a:p>
            <a:r>
              <a:rPr lang="en-US" sz="2000" dirty="0">
                <a:latin typeface="Arial" panose="020B0604020202020204" pitchFamily="34" charset="0"/>
                <a:cs typeface="Arial" panose="020B0604020202020204" pitchFamily="34" charset="0"/>
              </a:rPr>
              <a:t> Emphasis on culture</a:t>
            </a:r>
          </a:p>
          <a:p>
            <a:pPr lvl="1"/>
            <a:r>
              <a:rPr lang="en-US" dirty="0">
                <a:latin typeface="Arial" panose="020B0604020202020204" pitchFamily="34" charset="0"/>
                <a:cs typeface="Arial" panose="020B0604020202020204" pitchFamily="34" charset="0"/>
              </a:rPr>
              <a:t>“Healthy Culture heals Broken Process”</a:t>
            </a:r>
          </a:p>
          <a:p>
            <a:pPr lvl="1"/>
            <a:r>
              <a:rPr lang="en-US" dirty="0">
                <a:latin typeface="Arial" panose="020B0604020202020204" pitchFamily="34" charset="0"/>
                <a:cs typeface="Arial" panose="020B0604020202020204" pitchFamily="34" charset="0"/>
              </a:rPr>
              <a:t>Eliminate waste</a:t>
            </a:r>
          </a:p>
          <a:p>
            <a:pPr lvl="1"/>
            <a:r>
              <a:rPr lang="en-US" dirty="0">
                <a:latin typeface="Arial" panose="020B0604020202020204" pitchFamily="34" charset="0"/>
                <a:cs typeface="Arial" panose="020B0604020202020204" pitchFamily="34" charset="0"/>
              </a:rPr>
              <a:t>Balance between chaos and bureaucracy</a:t>
            </a:r>
          </a:p>
          <a:p>
            <a:r>
              <a:rPr lang="en-US" sz="2000" dirty="0">
                <a:latin typeface="Arial" panose="020B0604020202020204" pitchFamily="34" charset="0"/>
                <a:cs typeface="Arial" panose="020B0604020202020204" pitchFamily="34" charset="0"/>
              </a:rPr>
              <a:t>Emphasis on innovation</a:t>
            </a:r>
          </a:p>
          <a:p>
            <a:pPr lvl="1"/>
            <a:r>
              <a:rPr lang="en-US" dirty="0">
                <a:latin typeface="Arial" panose="020B0604020202020204" pitchFamily="34" charset="0"/>
                <a:cs typeface="Arial" panose="020B0604020202020204" pitchFamily="34" charset="0"/>
              </a:rPr>
              <a:t>Trade innovation for predictability</a:t>
            </a:r>
          </a:p>
          <a:p>
            <a:pPr lvl="1"/>
            <a:r>
              <a:rPr lang="en-US" dirty="0">
                <a:latin typeface="Arial" panose="020B0604020202020204" pitchFamily="34" charset="0"/>
                <a:cs typeface="Arial" panose="020B0604020202020204" pitchFamily="34" charset="0"/>
              </a:rPr>
              <a:t>Experiment-friendly culture</a:t>
            </a:r>
          </a:p>
          <a:p>
            <a:pPr lvl="1"/>
            <a:r>
              <a:rPr lang="en-US" dirty="0">
                <a:latin typeface="Arial" panose="020B0604020202020204" pitchFamily="34" charset="0"/>
                <a:cs typeface="Arial" panose="020B0604020202020204" pitchFamily="34" charset="0"/>
              </a:rPr>
              <a:t>Limited Blast Radius of failure</a:t>
            </a:r>
          </a:p>
          <a:p>
            <a:pPr lvl="2"/>
            <a:r>
              <a:rPr lang="en-US" sz="1800" dirty="0">
                <a:latin typeface="Arial" panose="020B0604020202020204" pitchFamily="34" charset="0"/>
                <a:cs typeface="Arial" panose="020B0604020202020204" pitchFamily="34" charset="0"/>
              </a:rPr>
              <a:t>Gradual rollout with feature toggles</a:t>
            </a:r>
          </a:p>
          <a:p>
            <a:r>
              <a:rPr lang="en-US" sz="2000" dirty="0">
                <a:latin typeface="Arial" panose="020B0604020202020204" pitchFamily="34" charset="0"/>
                <a:cs typeface="Arial" panose="020B0604020202020204" pitchFamily="34" charset="0"/>
              </a:rPr>
              <a:t>Fail Fast, Learn Fast, Improve Fast</a:t>
            </a:r>
          </a:p>
        </p:txBody>
      </p:sp>
      <p:pic>
        <p:nvPicPr>
          <p:cNvPr id="7" name="Content Placeholder 6">
            <a:extLst>
              <a:ext uri="{FF2B5EF4-FFF2-40B4-BE49-F238E27FC236}">
                <a16:creationId xmlns:a16="http://schemas.microsoft.com/office/drawing/2014/main" id="{8A21B72B-467F-E223-F028-E355177DE175}"/>
              </a:ext>
            </a:extLst>
          </p:cNvPr>
          <p:cNvPicPr>
            <a:picLocks noGrp="1" noChangeAspect="1"/>
          </p:cNvPicPr>
          <p:nvPr>
            <p:ph sz="half" idx="2"/>
          </p:nvPr>
        </p:nvPicPr>
        <p:blipFill>
          <a:blip r:embed="rId2"/>
          <a:stretch>
            <a:fillRect/>
          </a:stretch>
        </p:blipFill>
        <p:spPr>
          <a:xfrm>
            <a:off x="6172200" y="2246028"/>
            <a:ext cx="5181600" cy="3510533"/>
          </a:xfrm>
          <a:noFill/>
        </p:spPr>
      </p:pic>
      <p:sp>
        <p:nvSpPr>
          <p:cNvPr id="5" name="Slide Number Placeholder 4">
            <a:extLst>
              <a:ext uri="{FF2B5EF4-FFF2-40B4-BE49-F238E27FC236}">
                <a16:creationId xmlns:a16="http://schemas.microsoft.com/office/drawing/2014/main" id="{98C2CAEB-3F0C-4A0D-942F-ED09C487BED0}"/>
              </a:ext>
            </a:extLst>
          </p:cNvPr>
          <p:cNvSpPr>
            <a:spLocks noGrp="1"/>
          </p:cNvSpPr>
          <p:nvPr>
            <p:ph type="sldNum" sz="quarter" idx="12"/>
          </p:nvPr>
        </p:nvSpPr>
        <p:spPr>
          <a:xfrm>
            <a:off x="9375913" y="6276840"/>
            <a:ext cx="2743200" cy="365125"/>
          </a:xfrm>
        </p:spPr>
        <p:txBody>
          <a:bodyPr anchor="ctr">
            <a:normAutofit/>
          </a:bodyPr>
          <a:lstStyle/>
          <a:p>
            <a:pPr>
              <a:spcAft>
                <a:spcPts val="600"/>
              </a:spcAft>
            </a:pPr>
            <a:fld id="{4267CD5E-26CF-4249-8540-BB1D07FD4227}" type="slidenum">
              <a:rPr lang="en-US" smtClean="0"/>
              <a:pPr>
                <a:spcAft>
                  <a:spcPts val="600"/>
                </a:spcAft>
              </a:pPr>
              <a:t>32</a:t>
            </a:fld>
            <a:endParaRPr lang="en-US"/>
          </a:p>
        </p:txBody>
      </p:sp>
    </p:spTree>
    <p:extLst>
      <p:ext uri="{BB962C8B-B14F-4D97-AF65-F5344CB8AC3E}">
        <p14:creationId xmlns:p14="http://schemas.microsoft.com/office/powerpoint/2010/main" val="236875715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6D1C3A-193A-4DC2-C468-94F346D83B77}"/>
              </a:ext>
            </a:extLst>
          </p:cNvPr>
          <p:cNvSpPr>
            <a:spLocks noGrp="1"/>
          </p:cNvSpPr>
          <p:nvPr>
            <p:ph type="title"/>
          </p:nvPr>
        </p:nvSpPr>
        <p:spPr/>
        <p:txBody>
          <a:bodyPr>
            <a:normAutofit/>
          </a:bodyPr>
          <a:lstStyle/>
          <a:p>
            <a:r>
              <a:rPr lang="en-US" sz="4400" dirty="0"/>
              <a:t>Takeaways from Lecture Slides</a:t>
            </a:r>
          </a:p>
        </p:txBody>
      </p:sp>
      <p:sp>
        <p:nvSpPr>
          <p:cNvPr id="4" name="Content Placeholder 3">
            <a:extLst>
              <a:ext uri="{FF2B5EF4-FFF2-40B4-BE49-F238E27FC236}">
                <a16:creationId xmlns:a16="http://schemas.microsoft.com/office/drawing/2014/main" id="{6D76A1AB-1B25-0263-B007-ABCA766C4BDD}"/>
              </a:ext>
            </a:extLst>
          </p:cNvPr>
          <p:cNvSpPr>
            <a:spLocks noGrp="1"/>
          </p:cNvSpPr>
          <p:nvPr>
            <p:ph idx="1"/>
          </p:nvPr>
        </p:nvSpPr>
        <p:spPr/>
        <p:txBody>
          <a:bodyPr>
            <a:normAutofit/>
          </a:bodyPr>
          <a:lstStyle/>
          <a:p>
            <a:pPr marL="0" indent="0">
              <a:spcAft>
                <a:spcPts val="450"/>
              </a:spcAft>
              <a:buNone/>
            </a:pPr>
            <a:r>
              <a:rPr lang="en-US" sz="2000" b="0" i="0" dirty="0">
                <a:solidFill>
                  <a:srgbClr val="363D45"/>
                </a:solidFill>
                <a:effectLst/>
                <a:latin typeface="Arial" panose="020B0604020202020204" pitchFamily="34" charset="0"/>
                <a:cs typeface="Arial" panose="020B0604020202020204" pitchFamily="34" charset="0"/>
              </a:rPr>
              <a:t>As you listen, consider the following:</a:t>
            </a:r>
          </a:p>
          <a:p>
            <a:pPr algn="l">
              <a:spcAft>
                <a:spcPts val="450"/>
              </a:spcAft>
              <a:buFont typeface="Arial" panose="020B0604020202020204" pitchFamily="34" charset="0"/>
              <a:buChar char="•"/>
            </a:pPr>
            <a:r>
              <a:rPr lang="en-US" b="0" i="0" dirty="0">
                <a:solidFill>
                  <a:srgbClr val="363D45"/>
                </a:solidFill>
                <a:effectLst/>
                <a:latin typeface="Arial" panose="020B0604020202020204" pitchFamily="34" charset="0"/>
                <a:cs typeface="Arial" panose="020B0604020202020204" pitchFamily="34" charset="0"/>
              </a:rPr>
              <a:t>How does Spotify handle code not ready for production?</a:t>
            </a:r>
          </a:p>
          <a:p>
            <a:pPr algn="l">
              <a:spcAft>
                <a:spcPts val="450"/>
              </a:spcAft>
              <a:buFont typeface="Arial" panose="020B0604020202020204" pitchFamily="34" charset="0"/>
              <a:buChar char="•"/>
            </a:pPr>
            <a:r>
              <a:rPr lang="en-US" b="0" i="0" dirty="0">
                <a:solidFill>
                  <a:srgbClr val="363D45"/>
                </a:solidFill>
                <a:effectLst/>
                <a:latin typeface="Arial" panose="020B0604020202020204" pitchFamily="34" charset="0"/>
                <a:cs typeface="Arial" panose="020B0604020202020204" pitchFamily="34" charset="0"/>
              </a:rPr>
              <a:t>How does Spotify release new features?</a:t>
            </a:r>
          </a:p>
          <a:p>
            <a:endParaRPr lang="en-US" sz="2000" dirty="0">
              <a:latin typeface="Arial" panose="020B0604020202020204" pitchFamily="34" charset="0"/>
              <a:cs typeface="Arial" panose="020B0604020202020204" pitchFamily="34" charset="0"/>
            </a:endParaRPr>
          </a:p>
          <a:p>
            <a:pPr algn="l">
              <a:spcBef>
                <a:spcPts val="450"/>
              </a:spcBef>
              <a:spcAft>
                <a:spcPts val="450"/>
              </a:spcAft>
              <a:buNone/>
            </a:pPr>
            <a:r>
              <a:rPr lang="en-US" sz="2000" b="0" i="0" dirty="0">
                <a:solidFill>
                  <a:srgbClr val="363D45"/>
                </a:solidFill>
                <a:effectLst/>
                <a:latin typeface="Arial" panose="020B0604020202020204" pitchFamily="34" charset="0"/>
                <a:cs typeface="Arial" panose="020B0604020202020204" pitchFamily="34" charset="0"/>
              </a:rPr>
              <a:t>Reflection</a:t>
            </a:r>
          </a:p>
          <a:p>
            <a:pPr algn="l">
              <a:spcBef>
                <a:spcPts val="900"/>
              </a:spcBef>
              <a:spcAft>
                <a:spcPts val="900"/>
              </a:spcAft>
            </a:pPr>
            <a:r>
              <a:rPr lang="en-US" b="0" i="0" dirty="0">
                <a:solidFill>
                  <a:srgbClr val="363D45"/>
                </a:solidFill>
                <a:effectLst/>
                <a:latin typeface="Arial" panose="020B0604020202020204" pitchFamily="34" charset="0"/>
                <a:cs typeface="Arial" panose="020B0604020202020204" pitchFamily="34" charset="0"/>
              </a:rPr>
              <a:t>How does Spotify promote creativity? Do you think they do enough?</a:t>
            </a:r>
          </a:p>
          <a:p>
            <a:endParaRPr lang="en-US" sz="2000" dirty="0">
              <a:latin typeface="Arial" panose="020B0604020202020204" pitchFamily="34" charset="0"/>
              <a:cs typeface="Arial" panose="020B0604020202020204" pitchFamily="34" charset="0"/>
            </a:endParaRPr>
          </a:p>
        </p:txBody>
      </p:sp>
      <p:sp>
        <p:nvSpPr>
          <p:cNvPr id="5" name="Slide Number Placeholder 4">
            <a:extLst>
              <a:ext uri="{FF2B5EF4-FFF2-40B4-BE49-F238E27FC236}">
                <a16:creationId xmlns:a16="http://schemas.microsoft.com/office/drawing/2014/main" id="{973722FE-5ED0-834A-D80D-0FF1DB66E16E}"/>
              </a:ext>
            </a:extLst>
          </p:cNvPr>
          <p:cNvSpPr>
            <a:spLocks noGrp="1"/>
          </p:cNvSpPr>
          <p:nvPr>
            <p:ph type="sldNum" sz="quarter" idx="12"/>
          </p:nvPr>
        </p:nvSpPr>
        <p:spPr/>
        <p:txBody>
          <a:bodyPr/>
          <a:lstStyle/>
          <a:p>
            <a:fld id="{4267CD5E-26CF-4249-8540-BB1D07FD4227}" type="slidenum">
              <a:rPr lang="en-US" smtClean="0"/>
              <a:t>33</a:t>
            </a:fld>
            <a:endParaRPr lang="en-US"/>
          </a:p>
        </p:txBody>
      </p:sp>
    </p:spTree>
    <p:extLst>
      <p:ext uri="{BB962C8B-B14F-4D97-AF65-F5344CB8AC3E}">
        <p14:creationId xmlns:p14="http://schemas.microsoft.com/office/powerpoint/2010/main" val="397330684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a:latin typeface="Arial" panose="020B0604020202090204"/>
                <a:sym typeface="+mn-ea"/>
              </a:rPr>
              <a:t>Questions?</a:t>
            </a:r>
            <a:endParaRPr lang="en-US"/>
          </a:p>
        </p:txBody>
      </p:sp>
      <p:sp>
        <p:nvSpPr>
          <p:cNvPr id="3" name="Slide Number Placeholder 2"/>
          <p:cNvSpPr>
            <a:spLocks noGrp="1"/>
          </p:cNvSpPr>
          <p:nvPr>
            <p:ph type="sldNum" sz="quarter" idx="12"/>
          </p:nvPr>
        </p:nvSpPr>
        <p:spPr/>
        <p:txBody>
          <a:bodyPr/>
          <a:lstStyle/>
          <a:p>
            <a:fld id="{4267CD5E-26CF-4249-8540-BB1D07FD4227}" type="slidenum">
              <a:rPr lang="en-US" smtClean="0"/>
              <a:t>34</a:t>
            </a:fld>
            <a:endParaRPr lang="en-US"/>
          </a:p>
        </p:txBody>
      </p:sp>
      <p:pic>
        <p:nvPicPr>
          <p:cNvPr id="6" name="Content Placeholder 5"/>
          <p:cNvPicPr>
            <a:picLocks noGrp="1" noChangeAspect="1"/>
          </p:cNvPicPr>
          <p:nvPr>
            <p:ph idx="1"/>
          </p:nvPr>
        </p:nvPicPr>
        <p:blipFill>
          <a:blip r:embed="rId2"/>
          <a:stretch>
            <a:fillRect/>
          </a:stretch>
        </p:blipFill>
        <p:spPr>
          <a:xfrm>
            <a:off x="3736975" y="2432050"/>
            <a:ext cx="4523105" cy="342011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479589682"/>
      </p:ext>
    </p:extLst>
  </p:cSld>
  <p:clrMapOvr>
    <a:masterClrMapping/>
  </p:clrMapOvr>
</p:sld>
</file>

<file path=ppt/theme/theme1.xml><?xml version="1.0" encoding="utf-8"?>
<a:theme xmlns:a="http://schemas.openxmlformats.org/drawingml/2006/main" name="Office Theme">
  <a:themeElements>
    <a:clrScheme name="Stevens">
      <a:dk1>
        <a:srgbClr val="363D45"/>
      </a:dk1>
      <a:lt1>
        <a:srgbClr val="FFFFFF"/>
      </a:lt1>
      <a:dk2>
        <a:srgbClr val="00427F"/>
      </a:dk2>
      <a:lt2>
        <a:srgbClr val="E3E5E6"/>
      </a:lt2>
      <a:accent1>
        <a:srgbClr val="A32537"/>
      </a:accent1>
      <a:accent2>
        <a:srgbClr val="4895CF"/>
      </a:accent2>
      <a:accent3>
        <a:srgbClr val="EBC73A"/>
      </a:accent3>
      <a:accent4>
        <a:srgbClr val="E6832E"/>
      </a:accent4>
      <a:accent5>
        <a:srgbClr val="E7F2FB"/>
      </a:accent5>
      <a:accent6>
        <a:srgbClr val="FFF2E8"/>
      </a:accent6>
      <a:hlink>
        <a:srgbClr val="0000FF"/>
      </a:hlink>
      <a:folHlink>
        <a:srgbClr val="800080"/>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27783</TotalTime>
  <Words>2049</Words>
  <Application>Microsoft Office PowerPoint</Application>
  <PresentationFormat>Widescreen</PresentationFormat>
  <Paragraphs>277</Paragraphs>
  <Slides>35</Slides>
  <Notes>1</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35</vt:i4>
      </vt:variant>
    </vt:vector>
  </HeadingPairs>
  <TitlesOfParts>
    <vt:vector size="47" baseType="lpstr">
      <vt:lpstr>Arial</vt:lpstr>
      <vt:lpstr>Arial Bold</vt:lpstr>
      <vt:lpstr>Calibri</vt:lpstr>
      <vt:lpstr>IBM Plex Sans</vt:lpstr>
      <vt:lpstr>IBM Plex Sans Light</vt:lpstr>
      <vt:lpstr>IBM Plex Sans SemiBold</vt:lpstr>
      <vt:lpstr>Lato Extended</vt:lpstr>
      <vt:lpstr>Saira Condensed Condensed Light</vt:lpstr>
      <vt:lpstr>Saira Condensed Condensed SemiBold</vt:lpstr>
      <vt:lpstr>System Font Regular</vt:lpstr>
      <vt:lpstr>Wingdings</vt:lpstr>
      <vt:lpstr>Office Theme</vt:lpstr>
      <vt:lpstr>SSW-555: Agile Methods for Software Development</vt:lpstr>
      <vt:lpstr>Acknowledgements</vt:lpstr>
      <vt:lpstr>Today's topics</vt:lpstr>
      <vt:lpstr>Takeaways from video 1 </vt:lpstr>
      <vt:lpstr>Takeaways from video 2 </vt:lpstr>
      <vt:lpstr>Takeaways from Lecture Slides</vt:lpstr>
      <vt:lpstr>Overview</vt:lpstr>
      <vt:lpstr>Spotify: Music Streaming Service</vt:lpstr>
      <vt:lpstr>Agile practices at Spotify </vt:lpstr>
      <vt:lpstr>Spotify organizational structure</vt:lpstr>
      <vt:lpstr>Squad</vt:lpstr>
      <vt:lpstr>Squad</vt:lpstr>
      <vt:lpstr>Squad Roles </vt:lpstr>
      <vt:lpstr>Quarterly Reflection Survey</vt:lpstr>
      <vt:lpstr>Quarterly Reflection Survey</vt:lpstr>
      <vt:lpstr>Quarterly Reflection Survey</vt:lpstr>
      <vt:lpstr>Quarterly Reflection Survey</vt:lpstr>
      <vt:lpstr>Quarterly Reflection Survey</vt:lpstr>
      <vt:lpstr>Tribe </vt:lpstr>
      <vt:lpstr>Tribe </vt:lpstr>
      <vt:lpstr>Chapter </vt:lpstr>
      <vt:lpstr>Chapter </vt:lpstr>
      <vt:lpstr>Guild – Community of Interest</vt:lpstr>
      <vt:lpstr>Guild – Community of Interest</vt:lpstr>
      <vt:lpstr>System Owner </vt:lpstr>
      <vt:lpstr>Chief Architect </vt:lpstr>
      <vt:lpstr>Summary of organizational structure</vt:lpstr>
      <vt:lpstr>Release Management at Spotify</vt:lpstr>
      <vt:lpstr>Release Management at Spotify </vt:lpstr>
      <vt:lpstr>Practices at Spotify </vt:lpstr>
      <vt:lpstr>Practices at Spotify </vt:lpstr>
      <vt:lpstr>Spotify Strategies </vt:lpstr>
      <vt:lpstr>Takeaways from Lecture Slides</vt:lpstr>
      <vt:lpstr>Questions?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TITLE  LOREM IPSUM DOLOR</dc:title>
  <dc:creator>Ivan Caro</dc:creator>
  <cp:lastModifiedBy>Nafiseh Ghorbani Renani</cp:lastModifiedBy>
  <cp:revision>244</cp:revision>
  <dcterms:created xsi:type="dcterms:W3CDTF">2022-11-18T01:51:09Z</dcterms:created>
  <dcterms:modified xsi:type="dcterms:W3CDTF">2026-04-23T21:36:25Z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1033-3.1.2.5330</vt:lpwstr>
  </property>
  <property fmtid="{D5CDD505-2E9C-101B-9397-08002B2CF9AE}" pid="3" name="MSIP_Label_a73fd474-4f3c-44ed-88fb-5cc4bd2471bf_Enabled">
    <vt:lpwstr>true</vt:lpwstr>
  </property>
  <property fmtid="{D5CDD505-2E9C-101B-9397-08002B2CF9AE}" pid="4" name="MSIP_Label_a73fd474-4f3c-44ed-88fb-5cc4bd2471bf_SetDate">
    <vt:lpwstr>2022-11-18T04:31:57Z</vt:lpwstr>
  </property>
  <property fmtid="{D5CDD505-2E9C-101B-9397-08002B2CF9AE}" pid="5" name="MSIP_Label_a73fd474-4f3c-44ed-88fb-5cc4bd2471bf_Method">
    <vt:lpwstr>Standard</vt:lpwstr>
  </property>
  <property fmtid="{D5CDD505-2E9C-101B-9397-08002B2CF9AE}" pid="6" name="MSIP_Label_a73fd474-4f3c-44ed-88fb-5cc4bd2471bf_Name">
    <vt:lpwstr>defa4170-0d19-0005-0004-bc88714345d2</vt:lpwstr>
  </property>
  <property fmtid="{D5CDD505-2E9C-101B-9397-08002B2CF9AE}" pid="7" name="MSIP_Label_a73fd474-4f3c-44ed-88fb-5cc4bd2471bf_SiteId">
    <vt:lpwstr>8d1a69ec-03b5-4345-ae21-dad112f5fb4f</vt:lpwstr>
  </property>
  <property fmtid="{D5CDD505-2E9C-101B-9397-08002B2CF9AE}" pid="8" name="MSIP_Label_a73fd474-4f3c-44ed-88fb-5cc4bd2471bf_ActionId">
    <vt:lpwstr>d8483dea-d78e-4bdd-b403-4d95796a875e</vt:lpwstr>
  </property>
  <property fmtid="{D5CDD505-2E9C-101B-9397-08002B2CF9AE}" pid="9" name="MSIP_Label_a73fd474-4f3c-44ed-88fb-5cc4bd2471bf_ContentBits">
    <vt:lpwstr>0</vt:lpwstr>
  </property>
</Properties>
</file>